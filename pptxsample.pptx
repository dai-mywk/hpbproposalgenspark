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slideLayout" Target="../slideLayouts/slideLayout1.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slideLayout" Target="../slideLayouts/slideLayout1.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slideLayout" Target="../slideLayouts/slideLayout1.xml"/><Relationship Id="rId2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slideLayout" Target="../slideLayouts/slideLayout1.xml"/><Relationship Id="rId2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slideLayout" Target="../slideLayouts/slideLayout1.xml"/><Relationship Id="rId2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slideLayout" Target="../slideLayouts/slideLayout1.xml"/><Relationship Id="rId1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slideLayout" Target="../slideLayouts/slideLayout1.xml"/><Relationship Id="rId1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image" Target="../media/image-25-13.png"/><Relationship Id="rId14" Type="http://schemas.openxmlformats.org/officeDocument/2006/relationships/image" Target="../media/image-25-14.png"/><Relationship Id="rId15" Type="http://schemas.openxmlformats.org/officeDocument/2006/relationships/image" Target="../media/image-25-15.png"/><Relationship Id="rId16" Type="http://schemas.openxmlformats.org/officeDocument/2006/relationships/image" Target="../media/image-25-16.png"/><Relationship Id="rId17" Type="http://schemas.openxmlformats.org/officeDocument/2006/relationships/image" Target="../media/image-25-17.png"/><Relationship Id="rId18" Type="http://schemas.openxmlformats.org/officeDocument/2006/relationships/slideLayout" Target="../slideLayouts/slideLayout1.xml"/><Relationship Id="rId1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image" Target="../media/image-29-15.png"/><Relationship Id="rId16" Type="http://schemas.openxmlformats.org/officeDocument/2006/relationships/image" Target="../media/image-29-16.png"/><Relationship Id="rId17" Type="http://schemas.openxmlformats.org/officeDocument/2006/relationships/image" Target="../media/image-29-17.png"/><Relationship Id="rId18" Type="http://schemas.openxmlformats.org/officeDocument/2006/relationships/slideLayout" Target="../slideLayouts/slideLayout1.xml"/><Relationship Id="rId1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1.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image" Target="../media/image-34-12.png"/><Relationship Id="rId13" Type="http://schemas.openxmlformats.org/officeDocument/2006/relationships/image" Target="../media/image-34-13.png"/><Relationship Id="rId14" Type="http://schemas.openxmlformats.org/officeDocument/2006/relationships/slideLayout" Target="../slideLayouts/slideLayout1.xml"/><Relationship Id="rId1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slideLayout" Target="../slideLayouts/slideLayout1.xml"/><Relationship Id="rId9"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5283403" y="0"/>
            <a:ext cx="8134502" cy="6858000"/>
          </a:xfrm>
          <a:prstGeom prst="rect">
            <a:avLst/>
          </a:prstGeom>
          <a:solidFill>
            <a:srgbClr val="EFF6FF">
              <a:alpha val="50000"/>
            </a:srgbClr>
          </a:solidFill>
          <a:ln/>
        </p:spPr>
      </p:sp>
      <p:sp>
        <p:nvSpPr>
          <p:cNvPr id="5" name="Shape 3"/>
          <p:cNvSpPr/>
          <p:nvPr/>
        </p:nvSpPr>
        <p:spPr>
          <a:xfrm>
            <a:off x="0" y="3429000"/>
            <a:ext cx="4067251" cy="3429000"/>
          </a:xfrm>
          <a:prstGeom prst="rect">
            <a:avLst/>
          </a:prstGeom>
          <a:solidFill>
            <a:srgbClr val="DBEAFE">
              <a:alpha val="30000"/>
            </a:srgbClr>
          </a:solidFill>
          <a:ln/>
        </p:spPr>
      </p:sp>
      <p:sp>
        <p:nvSpPr>
          <p:cNvPr id="6" name="Shape 4"/>
          <p:cNvSpPr/>
          <p:nvPr/>
        </p:nvSpPr>
        <p:spPr>
          <a:xfrm>
            <a:off x="0" y="6743700"/>
            <a:ext cx="12191695" cy="114300"/>
          </a:xfrm>
          <a:prstGeom prst="rect">
            <a:avLst/>
          </a:prstGeom>
          <a:solidFill>
            <a:srgbClr val="0056B3"/>
          </a:solidFill>
          <a:ln/>
        </p:spPr>
      </p:sp>
      <p:sp>
        <p:nvSpPr>
          <p:cNvPr id="7" name="Shape 5"/>
          <p:cNvSpPr/>
          <p:nvPr/>
        </p:nvSpPr>
        <p:spPr>
          <a:xfrm>
            <a:off x="609905" y="1509674"/>
            <a:ext cx="1505102" cy="286207"/>
          </a:xfrm>
          <a:prstGeom prst="roundRect">
            <a:avLst>
              <a:gd name="adj" fmla="val 319489"/>
            </a:avLst>
          </a:prstGeom>
          <a:solidFill>
            <a:srgbClr val="DBEAFE"/>
          </a:solidFill>
          <a:ln w="12700">
            <a:solidFill>
              <a:srgbClr val="BFDBFE"/>
            </a:solidFill>
            <a:prstDash val="solid"/>
          </a:ln>
        </p:spPr>
      </p:sp>
      <p:sp>
        <p:nvSpPr>
          <p:cNvPr id="8" name="Shape 6"/>
          <p:cNvSpPr/>
          <p:nvPr/>
        </p:nvSpPr>
        <p:spPr>
          <a:xfrm>
            <a:off x="609905" y="3834079"/>
            <a:ext cx="38405" cy="895198"/>
          </a:xfrm>
          <a:prstGeom prst="rect">
            <a:avLst/>
          </a:prstGeom>
          <a:solidFill>
            <a:srgbClr val="E5E7EB"/>
          </a:solidFill>
          <a:ln/>
        </p:spPr>
      </p:sp>
      <p:sp>
        <p:nvSpPr>
          <p:cNvPr id="9" name="Shape 7"/>
          <p:cNvSpPr/>
          <p:nvPr/>
        </p:nvSpPr>
        <p:spPr>
          <a:xfrm>
            <a:off x="609905" y="5186477"/>
            <a:ext cx="6133795" cy="9144"/>
          </a:xfrm>
          <a:prstGeom prst="rect">
            <a:avLst/>
          </a:prstGeom>
          <a:solidFill>
            <a:srgbClr val="E5E7EB"/>
          </a:solidFill>
          <a:ln/>
        </p:spPr>
      </p:sp>
      <p:pic>
        <p:nvPicPr>
          <p:cNvPr id="10" name="Image 0" descr="preencoded.png">    </p:cNvPr>
          <p:cNvPicPr>
            <a:picLocks noChangeAspect="1"/>
          </p:cNvPicPr>
          <p:nvPr/>
        </p:nvPicPr>
        <p:blipFill>
          <a:blip r:embed="rId1"/>
          <a:srcRect l="0" r="0" t="-100" b="-100"/>
          <a:stretch/>
        </p:blipFill>
        <p:spPr>
          <a:xfrm>
            <a:off x="609905" y="5747918"/>
            <a:ext cx="114300" cy="152705"/>
          </a:xfrm>
          <a:prstGeom prst="rect">
            <a:avLst/>
          </a:prstGeom>
        </p:spPr>
      </p:pic>
      <p:pic>
        <p:nvPicPr>
          <p:cNvPr id="11" name="Image 1" descr="preencoded.png">    </p:cNvPr>
          <p:cNvPicPr>
            <a:picLocks noChangeAspect="1"/>
          </p:cNvPicPr>
          <p:nvPr/>
        </p:nvPicPr>
        <p:blipFill>
          <a:blip r:embed="rId2"/>
          <a:srcRect l="0" r="0" t="-43" b="-43"/>
          <a:stretch/>
        </p:blipFill>
        <p:spPr>
          <a:xfrm>
            <a:off x="3143707" y="5747918"/>
            <a:ext cx="133502" cy="152705"/>
          </a:xfrm>
          <a:prstGeom prst="rect">
            <a:avLst/>
          </a:prstGeom>
        </p:spPr>
      </p:pic>
      <p:sp>
        <p:nvSpPr>
          <p:cNvPr id="12" name="Text 8"/>
          <p:cNvSpPr txBox="1"/>
          <p:nvPr/>
        </p:nvSpPr>
        <p:spPr>
          <a:xfrm>
            <a:off x="771754" y="1567282"/>
            <a:ext cx="1267358" cy="162763"/>
          </a:xfrm>
          <a:prstGeom prst="rect">
            <a:avLst/>
          </a:prstGeom>
          <a:noFill/>
          <a:ln/>
        </p:spPr>
        <p:txBody>
          <a:bodyPr wrap="square" lIns="0" tIns="0" rIns="0" bIns="0" rtlCol="0" anchor="ctr"/>
          <a:lstStyle/>
          <a:p>
            <a:pPr algn="l" indent="0" marL="0">
              <a:buNone/>
            </a:pPr>
            <a:r>
              <a:rPr lang="en-US" sz="900" b="1" dirty="0">
                <a:solidFill>
                  <a:srgbClr val="1D4ED8"/>
                </a:solidFill>
                <a:latin typeface="Noto Sans JP" pitchFamily="34" charset="0"/>
                <a:ea typeface="Noto Sans JP" pitchFamily="34" charset="-122"/>
                <a:cs typeface="Noto Sans JP" pitchFamily="34" charset="-120"/>
              </a:rPr>
              <a:t>TECHNICAL REPORT</a:t>
            </a:r>
            <a:endParaRPr lang="en-US" sz="900" dirty="0"/>
          </a:p>
        </p:txBody>
      </p:sp>
      <p:pic>
        <p:nvPicPr>
          <p:cNvPr id="13" name="Image 2" descr="preencoded.png">    </p:cNvPr>
          <p:cNvPicPr>
            <a:picLocks noChangeAspect="1"/>
          </p:cNvPicPr>
          <p:nvPr/>
        </p:nvPicPr>
        <p:blipFill>
          <a:blip r:embed="rId3"/>
          <a:srcRect l="0" r="0" t="0" b="0"/>
          <a:stretch/>
        </p:blipFill>
        <p:spPr>
          <a:xfrm>
            <a:off x="2219249" y="1592885"/>
            <a:ext cx="133502" cy="133502"/>
          </a:xfrm>
          <a:prstGeom prst="rect">
            <a:avLst/>
          </a:prstGeom>
        </p:spPr>
      </p:pic>
      <p:sp>
        <p:nvSpPr>
          <p:cNvPr id="14" name="Text 9"/>
          <p:cNvSpPr txBox="1"/>
          <p:nvPr/>
        </p:nvSpPr>
        <p:spPr>
          <a:xfrm>
            <a:off x="2391156" y="1557223"/>
            <a:ext cx="795528"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Version 1.0</a:t>
            </a:r>
            <a:endParaRPr lang="en-US" sz="1000" dirty="0"/>
          </a:p>
        </p:txBody>
      </p:sp>
      <p:sp>
        <p:nvSpPr>
          <p:cNvPr id="15" name="Text 10"/>
          <p:cNvSpPr txBox="1"/>
          <p:nvPr/>
        </p:nvSpPr>
        <p:spPr>
          <a:xfrm>
            <a:off x="609905" y="2042770"/>
            <a:ext cx="6143854" cy="1543507"/>
          </a:xfrm>
          <a:prstGeom prst="rect">
            <a:avLst/>
          </a:prstGeom>
          <a:noFill/>
          <a:ln/>
        </p:spPr>
        <p:txBody>
          <a:bodyPr wrap="square" lIns="0" tIns="0" rIns="0" bIns="0" rtlCol="0" anchor="ctr"/>
          <a:lstStyle/>
          <a:p>
            <a:pPr algn="l" indent="0" marL="0">
              <a:buNone/>
            </a:pPr>
            <a:r>
              <a:rPr lang="en-US" sz="4500" b="1" dirty="0">
                <a:solidFill>
                  <a:srgbClr val="1F2937"/>
                </a:solidFill>
                <a:latin typeface="Noto Sans JP" pitchFamily="34" charset="0"/>
                <a:ea typeface="Noto Sans JP" pitchFamily="34" charset="-122"/>
                <a:cs typeface="Noto Sans JP" pitchFamily="34" charset="-120"/>
              </a:rPr>
              <a:t>スライド生成プロセス 徹底解説</a:t>
            </a:r>
            <a:endParaRPr lang="en-US" sz="4500" dirty="0"/>
          </a:p>
        </p:txBody>
      </p:sp>
      <p:sp>
        <p:nvSpPr>
          <p:cNvPr id="16" name="Text 11"/>
          <p:cNvSpPr txBox="1"/>
          <p:nvPr/>
        </p:nvSpPr>
        <p:spPr>
          <a:xfrm>
            <a:off x="952805" y="3929177"/>
            <a:ext cx="5744261" cy="705002"/>
          </a:xfrm>
          <a:prstGeom prst="rect">
            <a:avLst/>
          </a:prstGeom>
          <a:noFill/>
          <a:ln/>
        </p:spPr>
        <p:txBody>
          <a:bodyPr wrap="square" lIns="0" tIns="0" rIns="0" bIns="0" rtlCol="0" anchor="ctr"/>
          <a:lstStyle/>
          <a:p>
            <a:pPr algn="l" indent="0" marL="0">
              <a:buNone/>
            </a:pPr>
            <a:r>
              <a:rPr lang="en-US" sz="1800" dirty="0">
                <a:solidFill>
                  <a:srgbClr val="4B5563"/>
                </a:solidFill>
                <a:latin typeface="Noto Sans JP" pitchFamily="34" charset="0"/>
                <a:ea typeface="Noto Sans JP" pitchFamily="34" charset="-122"/>
                <a:cs typeface="Noto Sans JP" pitchFamily="34" charset="-120"/>
              </a:rPr>
              <a:t>品質保証の観点から見る、 23枚の提案資料ができるまで</a:t>
            </a:r>
            <a:endParaRPr lang="en-US" sz="1800" dirty="0"/>
          </a:p>
        </p:txBody>
      </p:sp>
      <p:sp>
        <p:nvSpPr>
          <p:cNvPr id="17" name="Text 12"/>
          <p:cNvSpPr txBox="1"/>
          <p:nvPr/>
        </p:nvSpPr>
        <p:spPr>
          <a:xfrm>
            <a:off x="609905" y="5490972"/>
            <a:ext cx="11247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DOCUMENT TYPE</a:t>
            </a:r>
            <a:endParaRPr lang="en-US" sz="900" dirty="0"/>
          </a:p>
        </p:txBody>
      </p:sp>
      <p:sp>
        <p:nvSpPr>
          <p:cNvPr id="18" name="Text 13"/>
          <p:cNvSpPr txBox="1"/>
          <p:nvPr/>
        </p:nvSpPr>
        <p:spPr>
          <a:xfrm>
            <a:off x="800100" y="5700370"/>
            <a:ext cx="2015338" cy="247802"/>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プロセス可視化レポート</a:t>
            </a:r>
            <a:endParaRPr lang="en-US" sz="1300" dirty="0"/>
          </a:p>
        </p:txBody>
      </p:sp>
      <p:sp>
        <p:nvSpPr>
          <p:cNvPr id="19" name="Text 14"/>
          <p:cNvSpPr txBox="1"/>
          <p:nvPr/>
        </p:nvSpPr>
        <p:spPr>
          <a:xfrm>
            <a:off x="3143707" y="5490972"/>
            <a:ext cx="1219810"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GENERATION DATE</a:t>
            </a:r>
            <a:endParaRPr lang="en-US" sz="900" dirty="0"/>
          </a:p>
        </p:txBody>
      </p:sp>
      <p:sp>
        <p:nvSpPr>
          <p:cNvPr id="20" name="Text 15"/>
          <p:cNvSpPr txBox="1"/>
          <p:nvPr/>
        </p:nvSpPr>
        <p:spPr>
          <a:xfrm>
            <a:off x="3353105" y="5700370"/>
            <a:ext cx="1252728" cy="247802"/>
          </a:xfrm>
          <a:prstGeom prst="rect">
            <a:avLst/>
          </a:prstGeom>
          <a:noFill/>
          <a:ln/>
        </p:spPr>
        <p:txBody>
          <a:bodyPr wrap="square" lIns="0" tIns="0" rIns="0" bIns="0" rtlCol="0" anchor="ctr"/>
          <a:lstStyle/>
          <a:p>
            <a:pPr algn="l" indent="0" marL="0">
              <a:buNone/>
            </a:pPr>
            <a:r>
              <a:rPr lang="en-US" sz="1300" b="1" dirty="0">
                <a:solidFill>
                  <a:srgbClr val="374151"/>
                </a:solidFill>
                <a:latin typeface="Noto Sans JP" pitchFamily="34" charset="0"/>
                <a:ea typeface="Noto Sans JP" pitchFamily="34" charset="-122"/>
                <a:cs typeface="Noto Sans JP" pitchFamily="34" charset="-120"/>
              </a:rPr>
              <a:t>2026年1月3日</a:t>
            </a:r>
            <a:endParaRPr lang="en-US" sz="1300" dirty="0"/>
          </a:p>
        </p:txBody>
      </p:sp>
      <p:sp>
        <p:nvSpPr>
          <p:cNvPr id="21" name="Shape 16"/>
          <p:cNvSpPr/>
          <p:nvPr/>
        </p:nvSpPr>
        <p:spPr>
          <a:xfrm>
            <a:off x="9296705" y="1509674"/>
            <a:ext cx="2438705" cy="1009498"/>
          </a:xfrm>
          <a:prstGeom prst="roundRect">
            <a:avLst>
              <a:gd name="adj" fmla="val 10254"/>
            </a:avLst>
          </a:prstGeom>
          <a:solidFill>
            <a:srgbClr val="FFFFFF">
              <a:alpha val="90000"/>
            </a:srgbClr>
          </a:solidFill>
          <a:ln w="12700">
            <a:solidFill>
              <a:srgbClr val="FFFFFF">
                <a:alpha val="20000"/>
              </a:srgbClr>
            </a:solidFill>
            <a:prstDash val="solid"/>
          </a:ln>
          <a:effectLst>
            <a:outerShdw sx="100000" sy="100000" kx="0" ky="0" algn="bl" rotWithShape="0" blurRad="12700" dist="12700" dir="16200000">
              <a:srgbClr val="000000">
                <a:alpha val="75000"/>
              </a:srgbClr>
            </a:outerShdw>
          </a:effectLst>
        </p:spPr>
      </p:sp>
      <p:pic>
        <p:nvPicPr>
          <p:cNvPr id="22" name="Image 3" descr="preencoded.png">    </p:cNvPr>
          <p:cNvPicPr>
            <a:picLocks noChangeAspect="1"/>
          </p:cNvPicPr>
          <p:nvPr/>
        </p:nvPicPr>
        <p:blipFill>
          <a:blip r:embed="rId4"/>
          <a:srcRect l="0" r="0" t="0" b="0"/>
          <a:stretch/>
        </p:blipFill>
        <p:spPr>
          <a:xfrm>
            <a:off x="11382451" y="1709928"/>
            <a:ext cx="152705" cy="152705"/>
          </a:xfrm>
          <a:prstGeom prst="rect">
            <a:avLst/>
          </a:prstGeom>
        </p:spPr>
      </p:pic>
      <p:sp>
        <p:nvSpPr>
          <p:cNvPr id="23" name="Shape 17"/>
          <p:cNvSpPr/>
          <p:nvPr/>
        </p:nvSpPr>
        <p:spPr>
          <a:xfrm>
            <a:off x="9496044" y="1938528"/>
            <a:ext cx="342900" cy="381305"/>
          </a:xfrm>
          <a:prstGeom prst="roundRect">
            <a:avLst>
              <a:gd name="adj" fmla="val 29630"/>
            </a:avLst>
          </a:prstGeom>
          <a:solidFill>
            <a:srgbClr val="DBEAFE"/>
          </a:solidFill>
          <a:ln/>
        </p:spPr>
      </p:sp>
      <p:sp>
        <p:nvSpPr>
          <p:cNvPr id="24" name="Text 18"/>
          <p:cNvSpPr txBox="1"/>
          <p:nvPr/>
        </p:nvSpPr>
        <p:spPr>
          <a:xfrm>
            <a:off x="9496044" y="1699870"/>
            <a:ext cx="5623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PHASE 1</a:t>
            </a:r>
            <a:endParaRPr lang="en-US" sz="900" dirty="0"/>
          </a:p>
        </p:txBody>
      </p:sp>
      <p:pic>
        <p:nvPicPr>
          <p:cNvPr id="25" name="Image 4" descr="preencoded.png">    </p:cNvPr>
          <p:cNvPicPr>
            <a:picLocks noChangeAspect="1"/>
          </p:cNvPicPr>
          <p:nvPr/>
        </p:nvPicPr>
        <p:blipFill>
          <a:blip r:embed="rId5"/>
          <a:srcRect l="0" r="0" t="-180" b="-180"/>
          <a:stretch/>
        </p:blipFill>
        <p:spPr>
          <a:xfrm>
            <a:off x="9572854" y="2061972"/>
            <a:ext cx="190195" cy="152705"/>
          </a:xfrm>
          <a:prstGeom prst="rect">
            <a:avLst/>
          </a:prstGeom>
        </p:spPr>
      </p:pic>
      <p:sp>
        <p:nvSpPr>
          <p:cNvPr id="26" name="Text 19"/>
          <p:cNvSpPr txBox="1"/>
          <p:nvPr/>
        </p:nvSpPr>
        <p:spPr>
          <a:xfrm>
            <a:off x="9953244" y="1938528"/>
            <a:ext cx="734263"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要求定義</a:t>
            </a:r>
            <a:endParaRPr lang="en-US" sz="1200" dirty="0"/>
          </a:p>
        </p:txBody>
      </p:sp>
      <p:sp>
        <p:nvSpPr>
          <p:cNvPr id="27" name="Text 20"/>
          <p:cNvSpPr txBox="1"/>
          <p:nvPr/>
        </p:nvSpPr>
        <p:spPr>
          <a:xfrm>
            <a:off x="9953244" y="2157070"/>
            <a:ext cx="1019556"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ヒアリング &amp; 分析</a:t>
            </a:r>
            <a:endParaRPr lang="en-US" sz="900" dirty="0"/>
          </a:p>
        </p:txBody>
      </p:sp>
      <p:sp>
        <p:nvSpPr>
          <p:cNvPr id="28" name="Shape 21"/>
          <p:cNvSpPr/>
          <p:nvPr/>
        </p:nvSpPr>
        <p:spPr>
          <a:xfrm>
            <a:off x="9296705" y="3338474"/>
            <a:ext cx="2438705" cy="1009498"/>
          </a:xfrm>
          <a:prstGeom prst="roundRect">
            <a:avLst>
              <a:gd name="adj" fmla="val 10254"/>
            </a:avLst>
          </a:prstGeom>
          <a:solidFill>
            <a:srgbClr val="FFFFFF">
              <a:alpha val="90000"/>
            </a:srgbClr>
          </a:solidFill>
          <a:ln w="12700">
            <a:solidFill>
              <a:srgbClr val="FFFFFF">
                <a:alpha val="20000"/>
              </a:srgbClr>
            </a:solidFill>
            <a:prstDash val="solid"/>
          </a:ln>
          <a:effectLst>
            <a:outerShdw sx="100000" sy="100000" kx="0" ky="0" algn="bl" rotWithShape="0" blurRad="12700" dist="12700" dir="16200000">
              <a:srgbClr val="000000">
                <a:alpha val="75000"/>
              </a:srgbClr>
            </a:outerShdw>
          </a:effectLst>
        </p:spPr>
      </p:sp>
      <p:pic>
        <p:nvPicPr>
          <p:cNvPr id="29" name="Image 5" descr="preencoded.png">    </p:cNvPr>
          <p:cNvPicPr>
            <a:picLocks noChangeAspect="1"/>
          </p:cNvPicPr>
          <p:nvPr/>
        </p:nvPicPr>
        <p:blipFill>
          <a:blip r:embed="rId6"/>
          <a:srcRect l="0" r="0" t="0" b="0"/>
          <a:stretch/>
        </p:blipFill>
        <p:spPr>
          <a:xfrm>
            <a:off x="11382451" y="3538728"/>
            <a:ext cx="152705" cy="152705"/>
          </a:xfrm>
          <a:prstGeom prst="rect">
            <a:avLst/>
          </a:prstGeom>
        </p:spPr>
      </p:pic>
      <p:sp>
        <p:nvSpPr>
          <p:cNvPr id="30" name="Shape 22"/>
          <p:cNvSpPr/>
          <p:nvPr/>
        </p:nvSpPr>
        <p:spPr>
          <a:xfrm>
            <a:off x="9496044" y="3767328"/>
            <a:ext cx="323698" cy="381305"/>
          </a:xfrm>
          <a:prstGeom prst="roundRect">
            <a:avLst>
              <a:gd name="adj" fmla="val 33234"/>
            </a:avLst>
          </a:prstGeom>
          <a:solidFill>
            <a:srgbClr val="EDE9FE"/>
          </a:solidFill>
          <a:ln/>
        </p:spPr>
      </p:sp>
      <p:sp>
        <p:nvSpPr>
          <p:cNvPr id="31" name="Text 23"/>
          <p:cNvSpPr txBox="1"/>
          <p:nvPr/>
        </p:nvSpPr>
        <p:spPr>
          <a:xfrm>
            <a:off x="9496044" y="3528670"/>
            <a:ext cx="6675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PHASE 4-5</a:t>
            </a:r>
            <a:endParaRPr lang="en-US" sz="900" dirty="0"/>
          </a:p>
        </p:txBody>
      </p:sp>
      <p:pic>
        <p:nvPicPr>
          <p:cNvPr id="32" name="Image 6" descr="preencoded.png">    </p:cNvPr>
          <p:cNvPicPr>
            <a:picLocks noChangeAspect="1"/>
          </p:cNvPicPr>
          <p:nvPr/>
        </p:nvPicPr>
        <p:blipFill>
          <a:blip r:embed="rId7"/>
          <a:srcRect l="-33" r="-33" t="0" b="0"/>
          <a:stretch/>
        </p:blipFill>
        <p:spPr>
          <a:xfrm>
            <a:off x="9572854" y="3890772"/>
            <a:ext cx="171907" cy="152705"/>
          </a:xfrm>
          <a:prstGeom prst="rect">
            <a:avLst/>
          </a:prstGeom>
        </p:spPr>
      </p:pic>
      <p:sp>
        <p:nvSpPr>
          <p:cNvPr id="33" name="Text 24"/>
          <p:cNvSpPr txBox="1"/>
          <p:nvPr/>
        </p:nvSpPr>
        <p:spPr>
          <a:xfrm>
            <a:off x="9934042" y="3767328"/>
            <a:ext cx="121981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制作 &amp; 品質保証</a:t>
            </a:r>
            <a:endParaRPr lang="en-US" sz="1200" dirty="0"/>
          </a:p>
        </p:txBody>
      </p:sp>
      <p:sp>
        <p:nvSpPr>
          <p:cNvPr id="34" name="Text 25"/>
          <p:cNvSpPr txBox="1"/>
          <p:nvPr/>
        </p:nvSpPr>
        <p:spPr>
          <a:xfrm>
            <a:off x="9934042" y="3985870"/>
            <a:ext cx="905256"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生成 &amp; レビュー</a:t>
            </a:r>
            <a:endParaRPr lang="en-US" sz="900" dirty="0"/>
          </a:p>
        </p:txBody>
      </p:sp>
      <p:sp>
        <p:nvSpPr>
          <p:cNvPr id="35" name="Shape 26"/>
          <p:cNvSpPr/>
          <p:nvPr/>
        </p:nvSpPr>
        <p:spPr>
          <a:xfrm>
            <a:off x="10343693" y="2119579"/>
            <a:ext cx="19202" cy="457200"/>
          </a:xfrm>
          <a:prstGeom prst="rect">
            <a:avLst/>
          </a:prstGeom>
          <a:solidFill>
            <a:srgbClr val="D1D5DB"/>
          </a:solidFill>
          <a:ln/>
        </p:spPr>
      </p:sp>
      <p:sp>
        <p:nvSpPr>
          <p:cNvPr id="36" name="Shape 27"/>
          <p:cNvSpPr/>
          <p:nvPr/>
        </p:nvSpPr>
        <p:spPr>
          <a:xfrm>
            <a:off x="10343693" y="3033979"/>
            <a:ext cx="19202" cy="457200"/>
          </a:xfrm>
          <a:prstGeom prst="rect">
            <a:avLst/>
          </a:prstGeom>
          <a:solidFill>
            <a:srgbClr val="D1D5DB"/>
          </a:solidFill>
          <a:ln/>
        </p:spPr>
      </p:sp>
      <p:sp>
        <p:nvSpPr>
          <p:cNvPr id="37" name="Shape 28"/>
          <p:cNvSpPr/>
          <p:nvPr/>
        </p:nvSpPr>
        <p:spPr>
          <a:xfrm>
            <a:off x="8686800" y="2424074"/>
            <a:ext cx="2438705" cy="1009498"/>
          </a:xfrm>
          <a:prstGeom prst="roundRect">
            <a:avLst>
              <a:gd name="adj" fmla="val 10254"/>
            </a:avLst>
          </a:prstGeom>
          <a:solidFill>
            <a:srgbClr val="FFFFFF">
              <a:alpha val="90000"/>
            </a:srgbClr>
          </a:solidFill>
          <a:ln w="12700">
            <a:solidFill>
              <a:srgbClr val="FFFFFF">
                <a:alpha val="20000"/>
              </a:srgbClr>
            </a:solidFill>
            <a:prstDash val="solid"/>
          </a:ln>
          <a:effectLst>
            <a:outerShdw sx="100000" sy="100000" kx="0" ky="0" algn="bl" rotWithShape="0" blurRad="12700" dist="12700" dir="16200000">
              <a:srgbClr val="000000">
                <a:alpha val="75000"/>
              </a:srgbClr>
            </a:outerShdw>
          </a:effectLst>
        </p:spPr>
      </p:sp>
      <p:sp>
        <p:nvSpPr>
          <p:cNvPr id="38" name="Shape 29"/>
          <p:cNvSpPr/>
          <p:nvPr/>
        </p:nvSpPr>
        <p:spPr>
          <a:xfrm>
            <a:off x="8887054" y="2852928"/>
            <a:ext cx="286207" cy="381305"/>
          </a:xfrm>
          <a:prstGeom prst="roundRect">
            <a:avLst>
              <a:gd name="adj" fmla="val 42599"/>
            </a:avLst>
          </a:prstGeom>
          <a:solidFill>
            <a:srgbClr val="DBEAFE"/>
          </a:solidFill>
          <a:ln/>
        </p:spPr>
      </p:sp>
      <p:sp>
        <p:nvSpPr>
          <p:cNvPr id="39" name="Text 30"/>
          <p:cNvSpPr txBox="1"/>
          <p:nvPr/>
        </p:nvSpPr>
        <p:spPr>
          <a:xfrm>
            <a:off x="8887054" y="2614270"/>
            <a:ext cx="667512"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PHASE 2-3</a:t>
            </a:r>
            <a:endParaRPr lang="en-US" sz="900" dirty="0"/>
          </a:p>
        </p:txBody>
      </p:sp>
      <p:pic>
        <p:nvPicPr>
          <p:cNvPr id="40" name="Image 7" descr="preencoded.png">    </p:cNvPr>
          <p:cNvPicPr>
            <a:picLocks noChangeAspect="1"/>
          </p:cNvPicPr>
          <p:nvPr/>
        </p:nvPicPr>
        <p:blipFill>
          <a:blip r:embed="rId8"/>
          <a:srcRect l="0" r="0" t="-43" b="-43"/>
          <a:stretch/>
        </p:blipFill>
        <p:spPr>
          <a:xfrm>
            <a:off x="8962949" y="2976372"/>
            <a:ext cx="133502" cy="152705"/>
          </a:xfrm>
          <a:prstGeom prst="rect">
            <a:avLst/>
          </a:prstGeom>
        </p:spPr>
      </p:pic>
      <p:sp>
        <p:nvSpPr>
          <p:cNvPr id="41" name="Text 31"/>
          <p:cNvSpPr txBox="1"/>
          <p:nvPr/>
        </p:nvSpPr>
        <p:spPr>
          <a:xfrm>
            <a:off x="9286646" y="2852928"/>
            <a:ext cx="137160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データ収集 &amp; 設計</a:t>
            </a:r>
            <a:endParaRPr lang="en-US" sz="1200" dirty="0"/>
          </a:p>
        </p:txBody>
      </p:sp>
      <p:sp>
        <p:nvSpPr>
          <p:cNvPr id="42" name="Text 32"/>
          <p:cNvSpPr txBox="1"/>
          <p:nvPr/>
        </p:nvSpPr>
        <p:spPr>
          <a:xfrm>
            <a:off x="9286646" y="3071470"/>
            <a:ext cx="1248156"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クローリング &amp; 構造化</a:t>
            </a:r>
            <a:endParaRPr lang="en-US" sz="900" dirty="0"/>
          </a:p>
        </p:txBody>
      </p:sp>
      <p:pic>
        <p:nvPicPr>
          <p:cNvPr id="43" name="Image 8" descr="preencoded.png">    </p:cNvPr>
          <p:cNvPicPr>
            <a:picLocks noChangeAspect="1"/>
          </p:cNvPicPr>
          <p:nvPr/>
        </p:nvPicPr>
        <p:blipFill>
          <a:blip r:embed="rId9"/>
          <a:srcRect l="0" r="0" t="0" b="0"/>
          <a:stretch/>
        </p:blipFill>
        <p:spPr>
          <a:xfrm>
            <a:off x="10810951" y="2643530"/>
            <a:ext cx="123444" cy="123444"/>
          </a:xfrm>
          <a:prstGeom prst="rect">
            <a:avLst/>
          </a:prstGeom>
        </p:spPr>
      </p:pic>
      <p:sp>
        <p:nvSpPr>
          <p:cNvPr id="44" name="Shape 33"/>
          <p:cNvSpPr/>
          <p:nvPr/>
        </p:nvSpPr>
        <p:spPr>
          <a:xfrm>
            <a:off x="609905" y="457200"/>
            <a:ext cx="381305" cy="381305"/>
          </a:xfrm>
          <a:prstGeom prst="roundRect">
            <a:avLst>
              <a:gd name="adj" fmla="val 47962"/>
            </a:avLst>
          </a:prstGeom>
          <a:solidFill>
            <a:srgbClr val="0056B3"/>
          </a:solidFill>
          <a:ln/>
          <a:effectLst>
            <a:outerShdw sx="100000" sy="100000" kx="0" ky="0" algn="bl" rotWithShape="0" blurRad="12700" dist="12700" dir="16200000">
              <a:srgbClr val="000000">
                <a:alpha val="75000"/>
              </a:srgbClr>
            </a:outerShdw>
          </a:effectLst>
        </p:spPr>
      </p:sp>
      <p:pic>
        <p:nvPicPr>
          <p:cNvPr id="45" name="Image 9" descr="preencoded.png">    </p:cNvPr>
          <p:cNvPicPr>
            <a:picLocks noChangeAspect="1"/>
          </p:cNvPicPr>
          <p:nvPr/>
        </p:nvPicPr>
        <p:blipFill>
          <a:blip r:embed="rId10"/>
          <a:srcRect l="0" r="0" t="0" b="0"/>
          <a:stretch/>
        </p:blipFill>
        <p:spPr>
          <a:xfrm>
            <a:off x="681228" y="552298"/>
            <a:ext cx="237744" cy="190195"/>
          </a:xfrm>
          <a:prstGeom prst="rect">
            <a:avLst/>
          </a:prstGeom>
        </p:spPr>
      </p:pic>
      <p:sp>
        <p:nvSpPr>
          <p:cNvPr id="46" name="Text 34"/>
          <p:cNvSpPr txBox="1"/>
          <p:nvPr/>
        </p:nvSpPr>
        <p:spPr>
          <a:xfrm>
            <a:off x="1104595" y="476402"/>
            <a:ext cx="1877263"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PROCESS DOCUMENTATION</a:t>
            </a:r>
            <a:endParaRPr lang="en-US" sz="900" dirty="0"/>
          </a:p>
        </p:txBody>
      </p:sp>
      <p:sp>
        <p:nvSpPr>
          <p:cNvPr id="47" name="Text 35"/>
          <p:cNvSpPr txBox="1"/>
          <p:nvPr/>
        </p:nvSpPr>
        <p:spPr>
          <a:xfrm>
            <a:off x="1104595" y="599846"/>
            <a:ext cx="191932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QUALITY ASSURANCE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457200" y="1228954"/>
            <a:ext cx="1524305" cy="237744"/>
          </a:xfrm>
          <a:prstGeom prst="roundRect">
            <a:avLst>
              <a:gd name="adj" fmla="val 61538"/>
            </a:avLst>
          </a:prstGeom>
          <a:solidFill>
            <a:srgbClr val="EFF6FF"/>
          </a:solidFill>
          <a:ln/>
        </p:spPr>
      </p:sp>
      <p:sp>
        <p:nvSpPr>
          <p:cNvPr id="5" name="Text 3"/>
          <p:cNvSpPr txBox="1"/>
          <p:nvPr/>
        </p:nvSpPr>
        <p:spPr>
          <a:xfrm>
            <a:off x="533095" y="1266444"/>
            <a:ext cx="1457554" cy="162763"/>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TABLE OF CONTENTS</a:t>
            </a:r>
            <a:endParaRPr lang="en-US" sz="900" dirty="0"/>
          </a:p>
        </p:txBody>
      </p:sp>
      <p:sp>
        <p:nvSpPr>
          <p:cNvPr id="6" name="Text 4"/>
          <p:cNvSpPr txBox="1"/>
          <p:nvPr/>
        </p:nvSpPr>
        <p:spPr>
          <a:xfrm>
            <a:off x="457200" y="1524305"/>
            <a:ext cx="952805" cy="495605"/>
          </a:xfrm>
          <a:prstGeom prst="rect">
            <a:avLst/>
          </a:prstGeom>
          <a:noFill/>
          <a:ln/>
        </p:spPr>
        <p:txBody>
          <a:bodyPr wrap="square" lIns="0" tIns="0" rIns="0" bIns="0" rtlCol="0" anchor="ctr"/>
          <a:lstStyle/>
          <a:p>
            <a:pPr algn="l" indent="0" marL="0">
              <a:buNone/>
            </a:pPr>
            <a:r>
              <a:rPr lang="en-US" sz="2700" b="1" dirty="0">
                <a:solidFill>
                  <a:srgbClr val="1F2937"/>
                </a:solidFill>
                <a:latin typeface="Noto Sans JP" pitchFamily="34" charset="0"/>
                <a:ea typeface="Noto Sans JP" pitchFamily="34" charset="-122"/>
                <a:cs typeface="Noto Sans JP" pitchFamily="34" charset="-120"/>
              </a:rPr>
              <a:t>目次</a:t>
            </a:r>
            <a:endParaRPr lang="en-US" sz="2700" dirty="0"/>
          </a:p>
        </p:txBody>
      </p:sp>
      <p:sp>
        <p:nvSpPr>
          <p:cNvPr id="7" name="Text 5"/>
          <p:cNvSpPr txBox="1"/>
          <p:nvPr/>
        </p:nvSpPr>
        <p:spPr>
          <a:xfrm>
            <a:off x="457200" y="2229307"/>
            <a:ext cx="2500884" cy="409651"/>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本資料では、高品質な営業提案スライドを作成するための</a:t>
            </a:r>
            <a:endParaRPr lang="en-US" sz="1000" dirty="0"/>
          </a:p>
        </p:txBody>
      </p:sp>
      <p:sp>
        <p:nvSpPr>
          <p:cNvPr id="8" name="Text 6"/>
          <p:cNvSpPr txBox="1"/>
          <p:nvPr/>
        </p:nvSpPr>
        <p:spPr>
          <a:xfrm>
            <a:off x="457200" y="2661818"/>
            <a:ext cx="2500884" cy="409651"/>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プロセス、技術、品質保証の手法について</a:t>
            </a:r>
            <a:endParaRPr lang="en-US" sz="1000" dirty="0"/>
          </a:p>
        </p:txBody>
      </p:sp>
      <p:sp>
        <p:nvSpPr>
          <p:cNvPr id="9" name="Text 7"/>
          <p:cNvSpPr txBox="1"/>
          <p:nvPr/>
        </p:nvSpPr>
        <p:spPr>
          <a:xfrm>
            <a:off x="457200" y="3095244"/>
            <a:ext cx="1709928"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全11章構成で解説します。</a:t>
            </a:r>
            <a:endParaRPr lang="en-US" sz="1000" dirty="0"/>
          </a:p>
        </p:txBody>
      </p:sp>
      <p:sp>
        <p:nvSpPr>
          <p:cNvPr id="10" name="Shape 8"/>
          <p:cNvSpPr/>
          <p:nvPr/>
        </p:nvSpPr>
        <p:spPr>
          <a:xfrm>
            <a:off x="457200" y="3607308"/>
            <a:ext cx="457200" cy="38405"/>
          </a:xfrm>
          <a:prstGeom prst="rect">
            <a:avLst/>
          </a:prstGeom>
          <a:solidFill>
            <a:srgbClr val="2563EB"/>
          </a:solidFill>
          <a:ln/>
        </p:spPr>
      </p:sp>
      <p:pic>
        <p:nvPicPr>
          <p:cNvPr id="11" name="Image 0" descr="preencoded.png">    </p:cNvPr>
          <p:cNvPicPr>
            <a:picLocks noChangeAspect="1"/>
          </p:cNvPicPr>
          <p:nvPr/>
        </p:nvPicPr>
        <p:blipFill>
          <a:blip r:embed="rId1">
            <a:alphaModFix amt="50000"/>
          </a:blip>
          <a:srcRect l="-13" r="-13" t="0" b="0"/>
          <a:stretch/>
        </p:blipFill>
        <p:spPr>
          <a:xfrm>
            <a:off x="457200" y="5333695"/>
            <a:ext cx="1371600" cy="1218895"/>
          </a:xfrm>
          <a:prstGeom prst="rect">
            <a:avLst/>
          </a:prstGeom>
        </p:spPr>
      </p:pic>
      <p:sp>
        <p:nvSpPr>
          <p:cNvPr id="12" name="Shape 9"/>
          <p:cNvSpPr/>
          <p:nvPr/>
        </p:nvSpPr>
        <p:spPr>
          <a:xfrm>
            <a:off x="3276295" y="1067105"/>
            <a:ext cx="9144" cy="5486400"/>
          </a:xfrm>
          <a:prstGeom prst="rect">
            <a:avLst/>
          </a:prstGeom>
          <a:solidFill>
            <a:srgbClr val="F3F4F6"/>
          </a:solidFill>
          <a:ln/>
        </p:spPr>
      </p:sp>
      <p:sp>
        <p:nvSpPr>
          <p:cNvPr id="13" name="Shape 10"/>
          <p:cNvSpPr/>
          <p:nvPr/>
        </p:nvSpPr>
        <p:spPr>
          <a:xfrm>
            <a:off x="3590849" y="1067105"/>
            <a:ext cx="4000500" cy="629107"/>
          </a:xfrm>
          <a:prstGeom prst="roundRect">
            <a:avLst>
              <a:gd name="adj" fmla="val 17618"/>
            </a:avLst>
          </a:prstGeom>
          <a:solidFill>
            <a:srgbClr val="FFFFFF"/>
          </a:solidFill>
          <a:ln w="12700">
            <a:solidFill>
              <a:srgbClr val="F3F4F6"/>
            </a:solidFill>
            <a:prstDash val="solid"/>
          </a:ln>
        </p:spPr>
      </p:sp>
      <p:sp>
        <p:nvSpPr>
          <p:cNvPr id="14" name="Shape 11"/>
          <p:cNvSpPr/>
          <p:nvPr/>
        </p:nvSpPr>
        <p:spPr>
          <a:xfrm>
            <a:off x="3715207" y="1190549"/>
            <a:ext cx="381305" cy="381305"/>
          </a:xfrm>
          <a:prstGeom prst="roundRect">
            <a:avLst>
              <a:gd name="adj" fmla="val 239808"/>
            </a:avLst>
          </a:prstGeom>
          <a:solidFill>
            <a:srgbClr val="F9FAFB"/>
          </a:solidFill>
          <a:ln/>
        </p:spPr>
      </p:sp>
      <p:sp>
        <p:nvSpPr>
          <p:cNvPr id="15" name="Text 12"/>
          <p:cNvSpPr txBox="1"/>
          <p:nvPr/>
        </p:nvSpPr>
        <p:spPr>
          <a:xfrm>
            <a:off x="3801161" y="1257300"/>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01</a:t>
            </a:r>
            <a:endParaRPr lang="en-US" sz="1300" dirty="0"/>
          </a:p>
        </p:txBody>
      </p:sp>
      <p:sp>
        <p:nvSpPr>
          <p:cNvPr id="16" name="Text 13"/>
          <p:cNvSpPr txBox="1"/>
          <p:nvPr/>
        </p:nvSpPr>
        <p:spPr>
          <a:xfrm>
            <a:off x="4209898" y="1190549"/>
            <a:ext cx="1495958"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全体プロセスフロー</a:t>
            </a:r>
            <a:endParaRPr lang="en-US" sz="1200" dirty="0"/>
          </a:p>
        </p:txBody>
      </p:sp>
      <p:sp>
        <p:nvSpPr>
          <p:cNvPr id="17" name="Text 14"/>
          <p:cNvSpPr txBox="1"/>
          <p:nvPr/>
        </p:nvSpPr>
        <p:spPr>
          <a:xfrm>
            <a:off x="4209898" y="1410005"/>
            <a:ext cx="15243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5つのフェーズと承認ゲート</a:t>
            </a:r>
            <a:endParaRPr lang="en-US" sz="900" dirty="0"/>
          </a:p>
        </p:txBody>
      </p:sp>
      <p:sp>
        <p:nvSpPr>
          <p:cNvPr id="18" name="Shape 15"/>
          <p:cNvSpPr/>
          <p:nvPr/>
        </p:nvSpPr>
        <p:spPr>
          <a:xfrm>
            <a:off x="3590849" y="1848002"/>
            <a:ext cx="4000500" cy="629107"/>
          </a:xfrm>
          <a:prstGeom prst="roundRect">
            <a:avLst>
              <a:gd name="adj" fmla="val 17618"/>
            </a:avLst>
          </a:prstGeom>
          <a:solidFill>
            <a:srgbClr val="FFFFFF"/>
          </a:solidFill>
          <a:ln w="12700">
            <a:solidFill>
              <a:srgbClr val="F3F4F6"/>
            </a:solidFill>
            <a:prstDash val="solid"/>
          </a:ln>
        </p:spPr>
      </p:sp>
      <p:sp>
        <p:nvSpPr>
          <p:cNvPr id="19" name="Shape 16"/>
          <p:cNvSpPr/>
          <p:nvPr/>
        </p:nvSpPr>
        <p:spPr>
          <a:xfrm>
            <a:off x="3715207" y="1971446"/>
            <a:ext cx="381305" cy="381305"/>
          </a:xfrm>
          <a:prstGeom prst="roundRect">
            <a:avLst>
              <a:gd name="adj" fmla="val 239808"/>
            </a:avLst>
          </a:prstGeom>
          <a:solidFill>
            <a:srgbClr val="F9FAFB"/>
          </a:solidFill>
          <a:ln/>
        </p:spPr>
      </p:sp>
      <p:sp>
        <p:nvSpPr>
          <p:cNvPr id="20" name="Text 17"/>
          <p:cNvSpPr txBox="1"/>
          <p:nvPr/>
        </p:nvSpPr>
        <p:spPr>
          <a:xfrm>
            <a:off x="3801161" y="2038198"/>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02</a:t>
            </a:r>
            <a:endParaRPr lang="en-US" sz="1300" dirty="0"/>
          </a:p>
        </p:txBody>
      </p:sp>
      <p:sp>
        <p:nvSpPr>
          <p:cNvPr id="21" name="Text 18"/>
          <p:cNvSpPr txBox="1"/>
          <p:nvPr/>
        </p:nvSpPr>
        <p:spPr>
          <a:xfrm>
            <a:off x="4209898" y="1971446"/>
            <a:ext cx="1390802"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1: 要求定義</a:t>
            </a:r>
            <a:endParaRPr lang="en-US" sz="1200" dirty="0"/>
          </a:p>
        </p:txBody>
      </p:sp>
      <p:sp>
        <p:nvSpPr>
          <p:cNvPr id="22" name="Text 19"/>
          <p:cNvSpPr txBox="1"/>
          <p:nvPr/>
        </p:nvSpPr>
        <p:spPr>
          <a:xfrm>
            <a:off x="4209898" y="2190902"/>
            <a:ext cx="13533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目的と成功基準の明確化</a:t>
            </a:r>
            <a:endParaRPr lang="en-US" sz="900" dirty="0"/>
          </a:p>
        </p:txBody>
      </p:sp>
      <p:sp>
        <p:nvSpPr>
          <p:cNvPr id="23" name="Shape 20"/>
          <p:cNvSpPr/>
          <p:nvPr/>
        </p:nvSpPr>
        <p:spPr>
          <a:xfrm>
            <a:off x="3590849" y="2628900"/>
            <a:ext cx="4000500" cy="629107"/>
          </a:xfrm>
          <a:prstGeom prst="roundRect">
            <a:avLst>
              <a:gd name="adj" fmla="val 17618"/>
            </a:avLst>
          </a:prstGeom>
          <a:solidFill>
            <a:srgbClr val="FFFFFF"/>
          </a:solidFill>
          <a:ln w="12700">
            <a:solidFill>
              <a:srgbClr val="F3F4F6"/>
            </a:solidFill>
            <a:prstDash val="solid"/>
          </a:ln>
        </p:spPr>
      </p:sp>
      <p:sp>
        <p:nvSpPr>
          <p:cNvPr id="24" name="Shape 21"/>
          <p:cNvSpPr/>
          <p:nvPr/>
        </p:nvSpPr>
        <p:spPr>
          <a:xfrm>
            <a:off x="3715207" y="2752344"/>
            <a:ext cx="381305" cy="381305"/>
          </a:xfrm>
          <a:prstGeom prst="roundRect">
            <a:avLst>
              <a:gd name="adj" fmla="val 239808"/>
            </a:avLst>
          </a:prstGeom>
          <a:solidFill>
            <a:srgbClr val="F9FAFB"/>
          </a:solidFill>
          <a:ln/>
        </p:spPr>
      </p:sp>
      <p:sp>
        <p:nvSpPr>
          <p:cNvPr id="25" name="Text 22"/>
          <p:cNvSpPr txBox="1"/>
          <p:nvPr/>
        </p:nvSpPr>
        <p:spPr>
          <a:xfrm>
            <a:off x="3801161" y="2819095"/>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03</a:t>
            </a:r>
            <a:endParaRPr lang="en-US" sz="1300" dirty="0"/>
          </a:p>
        </p:txBody>
      </p:sp>
      <p:sp>
        <p:nvSpPr>
          <p:cNvPr id="26" name="Text 23"/>
          <p:cNvSpPr txBox="1"/>
          <p:nvPr/>
        </p:nvSpPr>
        <p:spPr>
          <a:xfrm>
            <a:off x="4209898" y="2752344"/>
            <a:ext cx="1543507"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2: データ収集</a:t>
            </a:r>
            <a:endParaRPr lang="en-US" sz="1200" dirty="0"/>
          </a:p>
        </p:txBody>
      </p:sp>
      <p:sp>
        <p:nvSpPr>
          <p:cNvPr id="27" name="Text 24"/>
          <p:cNvSpPr txBox="1"/>
          <p:nvPr/>
        </p:nvSpPr>
        <p:spPr>
          <a:xfrm>
            <a:off x="4209898" y="2971800"/>
            <a:ext cx="1562710"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ベンチマークURLと競合探索</a:t>
            </a:r>
            <a:endParaRPr lang="en-US" sz="900" dirty="0"/>
          </a:p>
        </p:txBody>
      </p:sp>
      <p:sp>
        <p:nvSpPr>
          <p:cNvPr id="28" name="Shape 25"/>
          <p:cNvSpPr/>
          <p:nvPr/>
        </p:nvSpPr>
        <p:spPr>
          <a:xfrm>
            <a:off x="3590849" y="3409798"/>
            <a:ext cx="4000500" cy="629107"/>
          </a:xfrm>
          <a:prstGeom prst="roundRect">
            <a:avLst>
              <a:gd name="adj" fmla="val 17618"/>
            </a:avLst>
          </a:prstGeom>
          <a:solidFill>
            <a:srgbClr val="FFFFFF"/>
          </a:solidFill>
          <a:ln w="12700">
            <a:solidFill>
              <a:srgbClr val="F3F4F6"/>
            </a:solidFill>
            <a:prstDash val="solid"/>
          </a:ln>
        </p:spPr>
      </p:sp>
      <p:sp>
        <p:nvSpPr>
          <p:cNvPr id="29" name="Shape 26"/>
          <p:cNvSpPr/>
          <p:nvPr/>
        </p:nvSpPr>
        <p:spPr>
          <a:xfrm>
            <a:off x="3715207" y="3534156"/>
            <a:ext cx="381305" cy="381305"/>
          </a:xfrm>
          <a:prstGeom prst="roundRect">
            <a:avLst>
              <a:gd name="adj" fmla="val 239808"/>
            </a:avLst>
          </a:prstGeom>
          <a:solidFill>
            <a:srgbClr val="F9FAFB"/>
          </a:solidFill>
          <a:ln/>
        </p:spPr>
      </p:sp>
      <p:sp>
        <p:nvSpPr>
          <p:cNvPr id="30" name="Text 27"/>
          <p:cNvSpPr txBox="1"/>
          <p:nvPr/>
        </p:nvSpPr>
        <p:spPr>
          <a:xfrm>
            <a:off x="3801161" y="3600907"/>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04</a:t>
            </a:r>
            <a:endParaRPr lang="en-US" sz="1300" dirty="0"/>
          </a:p>
        </p:txBody>
      </p:sp>
      <p:sp>
        <p:nvSpPr>
          <p:cNvPr id="31" name="Text 28"/>
          <p:cNvSpPr txBox="1"/>
          <p:nvPr/>
        </p:nvSpPr>
        <p:spPr>
          <a:xfrm>
            <a:off x="4209898" y="3534156"/>
            <a:ext cx="1086307"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3: 設計</a:t>
            </a:r>
            <a:endParaRPr lang="en-US" sz="1200" dirty="0"/>
          </a:p>
        </p:txBody>
      </p:sp>
      <p:sp>
        <p:nvSpPr>
          <p:cNvPr id="32" name="Text 29"/>
          <p:cNvSpPr txBox="1"/>
          <p:nvPr/>
        </p:nvSpPr>
        <p:spPr>
          <a:xfrm>
            <a:off x="4209898" y="3752698"/>
            <a:ext cx="1457554"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構成案とテンプレート戦略</a:t>
            </a:r>
            <a:endParaRPr lang="en-US" sz="900" dirty="0"/>
          </a:p>
        </p:txBody>
      </p:sp>
      <p:sp>
        <p:nvSpPr>
          <p:cNvPr id="33" name="Shape 30"/>
          <p:cNvSpPr/>
          <p:nvPr/>
        </p:nvSpPr>
        <p:spPr>
          <a:xfrm>
            <a:off x="3590849" y="4190695"/>
            <a:ext cx="4000500" cy="629107"/>
          </a:xfrm>
          <a:prstGeom prst="roundRect">
            <a:avLst>
              <a:gd name="adj" fmla="val 17618"/>
            </a:avLst>
          </a:prstGeom>
          <a:solidFill>
            <a:srgbClr val="FFFFFF"/>
          </a:solidFill>
          <a:ln w="12700">
            <a:solidFill>
              <a:srgbClr val="F3F4F6"/>
            </a:solidFill>
            <a:prstDash val="solid"/>
          </a:ln>
        </p:spPr>
      </p:sp>
      <p:sp>
        <p:nvSpPr>
          <p:cNvPr id="34" name="Shape 31"/>
          <p:cNvSpPr/>
          <p:nvPr/>
        </p:nvSpPr>
        <p:spPr>
          <a:xfrm>
            <a:off x="3715207" y="4315054"/>
            <a:ext cx="381305" cy="381305"/>
          </a:xfrm>
          <a:prstGeom prst="roundRect">
            <a:avLst>
              <a:gd name="adj" fmla="val 239808"/>
            </a:avLst>
          </a:prstGeom>
          <a:solidFill>
            <a:srgbClr val="F9FAFB"/>
          </a:solidFill>
          <a:ln/>
        </p:spPr>
      </p:sp>
      <p:sp>
        <p:nvSpPr>
          <p:cNvPr id="35" name="Text 32"/>
          <p:cNvSpPr txBox="1"/>
          <p:nvPr/>
        </p:nvSpPr>
        <p:spPr>
          <a:xfrm>
            <a:off x="3801161" y="4381805"/>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05</a:t>
            </a:r>
            <a:endParaRPr lang="en-US" sz="1300" dirty="0"/>
          </a:p>
        </p:txBody>
      </p:sp>
      <p:sp>
        <p:nvSpPr>
          <p:cNvPr id="36" name="Text 33"/>
          <p:cNvSpPr txBox="1"/>
          <p:nvPr/>
        </p:nvSpPr>
        <p:spPr>
          <a:xfrm>
            <a:off x="4209898" y="4315054"/>
            <a:ext cx="1629461"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4: 制作（1/3）</a:t>
            </a:r>
            <a:endParaRPr lang="en-US" sz="1200" dirty="0"/>
          </a:p>
        </p:txBody>
      </p:sp>
      <p:sp>
        <p:nvSpPr>
          <p:cNvPr id="37" name="Text 34"/>
          <p:cNvSpPr txBox="1"/>
          <p:nvPr/>
        </p:nvSpPr>
        <p:spPr>
          <a:xfrm>
            <a:off x="4209898" y="4533595"/>
            <a:ext cx="1305763"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P1-7: ベンチマーク分析</a:t>
            </a:r>
            <a:endParaRPr lang="en-US" sz="900" dirty="0"/>
          </a:p>
        </p:txBody>
      </p:sp>
      <p:sp>
        <p:nvSpPr>
          <p:cNvPr id="38" name="Shape 35"/>
          <p:cNvSpPr/>
          <p:nvPr/>
        </p:nvSpPr>
        <p:spPr>
          <a:xfrm>
            <a:off x="3590849" y="4972507"/>
            <a:ext cx="4000500" cy="629107"/>
          </a:xfrm>
          <a:prstGeom prst="roundRect">
            <a:avLst>
              <a:gd name="adj" fmla="val 17618"/>
            </a:avLst>
          </a:prstGeom>
          <a:solidFill>
            <a:srgbClr val="FFFFFF"/>
          </a:solidFill>
          <a:ln w="12700">
            <a:solidFill>
              <a:srgbClr val="F3F4F6"/>
            </a:solidFill>
            <a:prstDash val="solid"/>
          </a:ln>
        </p:spPr>
      </p:sp>
      <p:sp>
        <p:nvSpPr>
          <p:cNvPr id="39" name="Shape 36"/>
          <p:cNvSpPr/>
          <p:nvPr/>
        </p:nvSpPr>
        <p:spPr>
          <a:xfrm>
            <a:off x="3715207" y="5095951"/>
            <a:ext cx="381305" cy="381305"/>
          </a:xfrm>
          <a:prstGeom prst="roundRect">
            <a:avLst>
              <a:gd name="adj" fmla="val 239808"/>
            </a:avLst>
          </a:prstGeom>
          <a:solidFill>
            <a:srgbClr val="F9FAFB"/>
          </a:solidFill>
          <a:ln/>
        </p:spPr>
      </p:sp>
      <p:sp>
        <p:nvSpPr>
          <p:cNvPr id="40" name="Text 37"/>
          <p:cNvSpPr txBox="1"/>
          <p:nvPr/>
        </p:nvSpPr>
        <p:spPr>
          <a:xfrm>
            <a:off x="3801161" y="5162702"/>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06</a:t>
            </a:r>
            <a:endParaRPr lang="en-US" sz="1300" dirty="0"/>
          </a:p>
        </p:txBody>
      </p:sp>
      <p:sp>
        <p:nvSpPr>
          <p:cNvPr id="41" name="Text 38"/>
          <p:cNvSpPr txBox="1"/>
          <p:nvPr/>
        </p:nvSpPr>
        <p:spPr>
          <a:xfrm>
            <a:off x="4209898" y="5095951"/>
            <a:ext cx="1629461"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4: 制作（2/3）</a:t>
            </a:r>
            <a:endParaRPr lang="en-US" sz="1200" dirty="0"/>
          </a:p>
        </p:txBody>
      </p:sp>
      <p:sp>
        <p:nvSpPr>
          <p:cNvPr id="42" name="Text 39"/>
          <p:cNvSpPr txBox="1"/>
          <p:nvPr/>
        </p:nvSpPr>
        <p:spPr>
          <a:xfrm>
            <a:off x="4209898" y="5315407"/>
            <a:ext cx="1248156"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P8-19: 競合分析・提案</a:t>
            </a:r>
            <a:endParaRPr lang="en-US" sz="900" dirty="0"/>
          </a:p>
        </p:txBody>
      </p:sp>
      <p:sp>
        <p:nvSpPr>
          <p:cNvPr id="43" name="Shape 40"/>
          <p:cNvSpPr/>
          <p:nvPr/>
        </p:nvSpPr>
        <p:spPr>
          <a:xfrm>
            <a:off x="7739482" y="1067105"/>
            <a:ext cx="4000500" cy="629107"/>
          </a:xfrm>
          <a:prstGeom prst="roundRect">
            <a:avLst>
              <a:gd name="adj" fmla="val 17618"/>
            </a:avLst>
          </a:prstGeom>
          <a:solidFill>
            <a:srgbClr val="FFFFFF"/>
          </a:solidFill>
          <a:ln w="12700">
            <a:solidFill>
              <a:srgbClr val="F3F4F6"/>
            </a:solidFill>
            <a:prstDash val="solid"/>
          </a:ln>
        </p:spPr>
      </p:sp>
      <p:sp>
        <p:nvSpPr>
          <p:cNvPr id="44" name="Shape 41"/>
          <p:cNvSpPr/>
          <p:nvPr/>
        </p:nvSpPr>
        <p:spPr>
          <a:xfrm>
            <a:off x="7862926" y="1190549"/>
            <a:ext cx="381305" cy="381305"/>
          </a:xfrm>
          <a:prstGeom prst="roundRect">
            <a:avLst>
              <a:gd name="adj" fmla="val 239808"/>
            </a:avLst>
          </a:prstGeom>
          <a:solidFill>
            <a:srgbClr val="F9FAFB"/>
          </a:solidFill>
          <a:ln/>
        </p:spPr>
      </p:sp>
      <p:sp>
        <p:nvSpPr>
          <p:cNvPr id="45" name="Text 42"/>
          <p:cNvSpPr txBox="1"/>
          <p:nvPr/>
        </p:nvSpPr>
        <p:spPr>
          <a:xfrm>
            <a:off x="7948879" y="1257300"/>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07</a:t>
            </a:r>
            <a:endParaRPr lang="en-US" sz="1300" dirty="0"/>
          </a:p>
        </p:txBody>
      </p:sp>
      <p:sp>
        <p:nvSpPr>
          <p:cNvPr id="46" name="Text 43"/>
          <p:cNvSpPr txBox="1"/>
          <p:nvPr/>
        </p:nvSpPr>
        <p:spPr>
          <a:xfrm>
            <a:off x="8358530" y="1190549"/>
            <a:ext cx="1629461"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Phase 4: 制作（3/3）</a:t>
            </a:r>
            <a:endParaRPr lang="en-US" sz="1200" dirty="0"/>
          </a:p>
        </p:txBody>
      </p:sp>
      <p:sp>
        <p:nvSpPr>
          <p:cNvPr id="47" name="Text 44"/>
          <p:cNvSpPr txBox="1"/>
          <p:nvPr/>
        </p:nvSpPr>
        <p:spPr>
          <a:xfrm>
            <a:off x="8358530" y="1410005"/>
            <a:ext cx="12390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P20-23: 実行計画・QA</a:t>
            </a:r>
            <a:endParaRPr lang="en-US" sz="900" dirty="0"/>
          </a:p>
        </p:txBody>
      </p:sp>
      <p:sp>
        <p:nvSpPr>
          <p:cNvPr id="48" name="Shape 45"/>
          <p:cNvSpPr/>
          <p:nvPr/>
        </p:nvSpPr>
        <p:spPr>
          <a:xfrm>
            <a:off x="7739482" y="1848002"/>
            <a:ext cx="4000500" cy="629107"/>
          </a:xfrm>
          <a:prstGeom prst="roundRect">
            <a:avLst>
              <a:gd name="adj" fmla="val 17618"/>
            </a:avLst>
          </a:prstGeom>
          <a:solidFill>
            <a:srgbClr val="FFFFFF"/>
          </a:solidFill>
          <a:ln w="12700">
            <a:solidFill>
              <a:srgbClr val="F3F4F6"/>
            </a:solidFill>
            <a:prstDash val="solid"/>
          </a:ln>
        </p:spPr>
      </p:sp>
      <p:sp>
        <p:nvSpPr>
          <p:cNvPr id="49" name="Shape 46"/>
          <p:cNvSpPr/>
          <p:nvPr/>
        </p:nvSpPr>
        <p:spPr>
          <a:xfrm>
            <a:off x="7862926" y="1971446"/>
            <a:ext cx="381305" cy="381305"/>
          </a:xfrm>
          <a:prstGeom prst="roundRect">
            <a:avLst>
              <a:gd name="adj" fmla="val 239808"/>
            </a:avLst>
          </a:prstGeom>
          <a:solidFill>
            <a:srgbClr val="F9FAFB"/>
          </a:solidFill>
          <a:ln/>
        </p:spPr>
      </p:sp>
      <p:sp>
        <p:nvSpPr>
          <p:cNvPr id="50" name="Text 47"/>
          <p:cNvSpPr txBox="1"/>
          <p:nvPr/>
        </p:nvSpPr>
        <p:spPr>
          <a:xfrm>
            <a:off x="7948879" y="2038198"/>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08</a:t>
            </a:r>
            <a:endParaRPr lang="en-US" sz="1300" dirty="0"/>
          </a:p>
        </p:txBody>
      </p:sp>
      <p:sp>
        <p:nvSpPr>
          <p:cNvPr id="51" name="Text 48"/>
          <p:cNvSpPr txBox="1"/>
          <p:nvPr/>
        </p:nvSpPr>
        <p:spPr>
          <a:xfrm>
            <a:off x="8358530" y="1971446"/>
            <a:ext cx="1191463"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使用ツール一覧</a:t>
            </a:r>
            <a:endParaRPr lang="en-US" sz="1200" dirty="0"/>
          </a:p>
        </p:txBody>
      </p:sp>
      <p:sp>
        <p:nvSpPr>
          <p:cNvPr id="52" name="Text 49"/>
          <p:cNvSpPr txBox="1"/>
          <p:nvPr/>
        </p:nvSpPr>
        <p:spPr>
          <a:xfrm>
            <a:off x="8358530" y="2190902"/>
            <a:ext cx="14676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機能と入出力データの整理</a:t>
            </a:r>
            <a:endParaRPr lang="en-US" sz="900" dirty="0"/>
          </a:p>
        </p:txBody>
      </p:sp>
      <p:sp>
        <p:nvSpPr>
          <p:cNvPr id="53" name="Shape 50"/>
          <p:cNvSpPr/>
          <p:nvPr/>
        </p:nvSpPr>
        <p:spPr>
          <a:xfrm>
            <a:off x="7739482" y="2628900"/>
            <a:ext cx="4000500" cy="629107"/>
          </a:xfrm>
          <a:prstGeom prst="roundRect">
            <a:avLst>
              <a:gd name="adj" fmla="val 17618"/>
            </a:avLst>
          </a:prstGeom>
          <a:solidFill>
            <a:srgbClr val="FFFFFF"/>
          </a:solidFill>
          <a:ln w="12700">
            <a:solidFill>
              <a:srgbClr val="F3F4F6"/>
            </a:solidFill>
            <a:prstDash val="solid"/>
          </a:ln>
        </p:spPr>
      </p:sp>
      <p:sp>
        <p:nvSpPr>
          <p:cNvPr id="54" name="Shape 51"/>
          <p:cNvSpPr/>
          <p:nvPr/>
        </p:nvSpPr>
        <p:spPr>
          <a:xfrm>
            <a:off x="7862926" y="2752344"/>
            <a:ext cx="381305" cy="381305"/>
          </a:xfrm>
          <a:prstGeom prst="roundRect">
            <a:avLst>
              <a:gd name="adj" fmla="val 239808"/>
            </a:avLst>
          </a:prstGeom>
          <a:solidFill>
            <a:srgbClr val="F9FAFB"/>
          </a:solidFill>
          <a:ln/>
        </p:spPr>
      </p:sp>
      <p:sp>
        <p:nvSpPr>
          <p:cNvPr id="55" name="Text 52"/>
          <p:cNvSpPr txBox="1"/>
          <p:nvPr/>
        </p:nvSpPr>
        <p:spPr>
          <a:xfrm>
            <a:off x="7948879" y="2819095"/>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09</a:t>
            </a:r>
            <a:endParaRPr lang="en-US" sz="1300" dirty="0"/>
          </a:p>
        </p:txBody>
      </p:sp>
      <p:sp>
        <p:nvSpPr>
          <p:cNvPr id="56" name="Text 53"/>
          <p:cNvSpPr txBox="1"/>
          <p:nvPr/>
        </p:nvSpPr>
        <p:spPr>
          <a:xfrm>
            <a:off x="8358530" y="2752344"/>
            <a:ext cx="1781251"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プロンプト設計パターン</a:t>
            </a:r>
            <a:endParaRPr lang="en-US" sz="1200" dirty="0"/>
          </a:p>
        </p:txBody>
      </p:sp>
      <p:sp>
        <p:nvSpPr>
          <p:cNvPr id="57" name="Text 54"/>
          <p:cNvSpPr txBox="1"/>
          <p:nvPr/>
        </p:nvSpPr>
        <p:spPr>
          <a:xfrm>
            <a:off x="8358530" y="2971800"/>
            <a:ext cx="13533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再現性を高める指示の型</a:t>
            </a:r>
            <a:endParaRPr lang="en-US" sz="900" dirty="0"/>
          </a:p>
        </p:txBody>
      </p:sp>
      <p:sp>
        <p:nvSpPr>
          <p:cNvPr id="58" name="Shape 55"/>
          <p:cNvSpPr/>
          <p:nvPr/>
        </p:nvSpPr>
        <p:spPr>
          <a:xfrm>
            <a:off x="7739482" y="3409798"/>
            <a:ext cx="4000500" cy="629107"/>
          </a:xfrm>
          <a:prstGeom prst="roundRect">
            <a:avLst>
              <a:gd name="adj" fmla="val 17618"/>
            </a:avLst>
          </a:prstGeom>
          <a:solidFill>
            <a:srgbClr val="FFFFFF"/>
          </a:solidFill>
          <a:ln w="12700">
            <a:solidFill>
              <a:srgbClr val="F3F4F6"/>
            </a:solidFill>
            <a:prstDash val="solid"/>
          </a:ln>
        </p:spPr>
      </p:sp>
      <p:sp>
        <p:nvSpPr>
          <p:cNvPr id="59" name="Shape 56"/>
          <p:cNvSpPr/>
          <p:nvPr/>
        </p:nvSpPr>
        <p:spPr>
          <a:xfrm>
            <a:off x="7862926" y="3534156"/>
            <a:ext cx="381305" cy="381305"/>
          </a:xfrm>
          <a:prstGeom prst="roundRect">
            <a:avLst>
              <a:gd name="adj" fmla="val 239808"/>
            </a:avLst>
          </a:prstGeom>
          <a:solidFill>
            <a:srgbClr val="F9FAFB"/>
          </a:solidFill>
          <a:ln/>
        </p:spPr>
      </p:sp>
      <p:sp>
        <p:nvSpPr>
          <p:cNvPr id="60" name="Text 57"/>
          <p:cNvSpPr txBox="1"/>
          <p:nvPr/>
        </p:nvSpPr>
        <p:spPr>
          <a:xfrm>
            <a:off x="7948879" y="3600907"/>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10</a:t>
            </a:r>
            <a:endParaRPr lang="en-US" sz="1300" dirty="0"/>
          </a:p>
        </p:txBody>
      </p:sp>
      <p:sp>
        <p:nvSpPr>
          <p:cNvPr id="61" name="Text 58"/>
          <p:cNvSpPr txBox="1"/>
          <p:nvPr/>
        </p:nvSpPr>
        <p:spPr>
          <a:xfrm>
            <a:off x="8358530" y="3534156"/>
            <a:ext cx="1800454"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品質保証チェックリスト</a:t>
            </a:r>
            <a:endParaRPr lang="en-US" sz="1200" dirty="0"/>
          </a:p>
        </p:txBody>
      </p:sp>
      <p:sp>
        <p:nvSpPr>
          <p:cNvPr id="62" name="Text 59"/>
          <p:cNvSpPr txBox="1"/>
          <p:nvPr/>
        </p:nvSpPr>
        <p:spPr>
          <a:xfrm>
            <a:off x="8358530" y="3752698"/>
            <a:ext cx="11814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9つの観点による検証</a:t>
            </a:r>
            <a:endParaRPr lang="en-US" sz="900" dirty="0"/>
          </a:p>
        </p:txBody>
      </p:sp>
      <p:sp>
        <p:nvSpPr>
          <p:cNvPr id="63" name="Shape 60"/>
          <p:cNvSpPr/>
          <p:nvPr/>
        </p:nvSpPr>
        <p:spPr>
          <a:xfrm>
            <a:off x="7739482" y="4190695"/>
            <a:ext cx="4000500" cy="629107"/>
          </a:xfrm>
          <a:prstGeom prst="roundRect">
            <a:avLst>
              <a:gd name="adj" fmla="val 17618"/>
            </a:avLst>
          </a:prstGeom>
          <a:solidFill>
            <a:srgbClr val="FFFFFF"/>
          </a:solidFill>
          <a:ln w="12700">
            <a:solidFill>
              <a:srgbClr val="F3F4F6"/>
            </a:solidFill>
            <a:prstDash val="solid"/>
          </a:ln>
        </p:spPr>
      </p:sp>
      <p:sp>
        <p:nvSpPr>
          <p:cNvPr id="64" name="Shape 61"/>
          <p:cNvSpPr/>
          <p:nvPr/>
        </p:nvSpPr>
        <p:spPr>
          <a:xfrm>
            <a:off x="7862926" y="4315054"/>
            <a:ext cx="381305" cy="381305"/>
          </a:xfrm>
          <a:prstGeom prst="roundRect">
            <a:avLst>
              <a:gd name="adj" fmla="val 239808"/>
            </a:avLst>
          </a:prstGeom>
          <a:solidFill>
            <a:srgbClr val="F9FAFB"/>
          </a:solidFill>
          <a:ln/>
        </p:spPr>
      </p:sp>
      <p:sp>
        <p:nvSpPr>
          <p:cNvPr id="65" name="Text 62"/>
          <p:cNvSpPr txBox="1"/>
          <p:nvPr/>
        </p:nvSpPr>
        <p:spPr>
          <a:xfrm>
            <a:off x="7948879" y="4381805"/>
            <a:ext cx="338328" cy="247802"/>
          </a:xfrm>
          <a:prstGeom prst="rect">
            <a:avLst/>
          </a:prstGeom>
          <a:noFill/>
          <a:ln/>
        </p:spPr>
        <p:txBody>
          <a:bodyPr wrap="square" lIns="0" tIns="0" rIns="0" bIns="0" rtlCol="0" anchor="ctr"/>
          <a:lstStyle/>
          <a:p>
            <a:pPr algn="l" indent="0" marL="0">
              <a:buNone/>
            </a:pPr>
            <a:r>
              <a:rPr lang="en-US" sz="1300" b="1" dirty="0">
                <a:solidFill>
                  <a:srgbClr val="9CA3AF"/>
                </a:solidFill>
                <a:latin typeface="Noto Sans JP" pitchFamily="34" charset="0"/>
                <a:ea typeface="Noto Sans JP" pitchFamily="34" charset="-122"/>
                <a:cs typeface="Noto Sans JP" pitchFamily="34" charset="-120"/>
              </a:rPr>
              <a:t>11</a:t>
            </a:r>
            <a:endParaRPr lang="en-US" sz="1300" dirty="0"/>
          </a:p>
        </p:txBody>
      </p:sp>
      <p:sp>
        <p:nvSpPr>
          <p:cNvPr id="66" name="Text 63"/>
          <p:cNvSpPr txBox="1"/>
          <p:nvPr/>
        </p:nvSpPr>
        <p:spPr>
          <a:xfrm>
            <a:off x="8358530" y="4315054"/>
            <a:ext cx="1791310" cy="228600"/>
          </a:xfrm>
          <a:prstGeom prst="rect">
            <a:avLst/>
          </a:prstGeom>
          <a:noFill/>
          <a:ln/>
        </p:spPr>
        <p:txBody>
          <a:bodyPr wrap="square" lIns="0" tIns="0" rIns="0" bIns="0" rtlCol="0" anchor="ctr"/>
          <a:lstStyle/>
          <a:p>
            <a:pPr algn="l" indent="0" marL="0">
              <a:buNone/>
            </a:pPr>
            <a:r>
              <a:rPr lang="en-US" sz="1200" b="1" dirty="0">
                <a:solidFill>
                  <a:srgbClr val="374151"/>
                </a:solidFill>
                <a:latin typeface="Noto Sans JP" pitchFamily="34" charset="0"/>
                <a:ea typeface="Noto Sans JP" pitchFamily="34" charset="-122"/>
                <a:cs typeface="Noto Sans JP" pitchFamily="34" charset="-120"/>
              </a:rPr>
              <a:t>まとめ・次のアクション</a:t>
            </a:r>
            <a:endParaRPr lang="en-US" sz="1200" dirty="0"/>
          </a:p>
        </p:txBody>
      </p:sp>
      <p:sp>
        <p:nvSpPr>
          <p:cNvPr id="67" name="Text 64"/>
          <p:cNvSpPr txBox="1"/>
          <p:nvPr/>
        </p:nvSpPr>
        <p:spPr>
          <a:xfrm>
            <a:off x="8358530" y="4533595"/>
            <a:ext cx="15819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今後の展開と横展開の可能性</a:t>
            </a:r>
            <a:endParaRPr lang="en-US" sz="900" dirty="0"/>
          </a:p>
        </p:txBody>
      </p:sp>
      <p:sp>
        <p:nvSpPr>
          <p:cNvPr id="68" name="Shape 65"/>
          <p:cNvSpPr/>
          <p:nvPr/>
        </p:nvSpPr>
        <p:spPr>
          <a:xfrm>
            <a:off x="0" y="0"/>
            <a:ext cx="12191695" cy="761695"/>
          </a:xfrm>
          <a:prstGeom prst="rect">
            <a:avLst/>
          </a:prstGeom>
          <a:solidFill>
            <a:srgbClr val="FFFFFF"/>
          </a:solidFill>
          <a:ln/>
        </p:spPr>
      </p:sp>
      <p:sp>
        <p:nvSpPr>
          <p:cNvPr id="69" name="Shape 66"/>
          <p:cNvSpPr/>
          <p:nvPr/>
        </p:nvSpPr>
        <p:spPr>
          <a:xfrm>
            <a:off x="0" y="752551"/>
            <a:ext cx="12191695" cy="9144"/>
          </a:xfrm>
          <a:prstGeom prst="rect">
            <a:avLst/>
          </a:prstGeom>
          <a:solidFill>
            <a:srgbClr val="F3F4F6"/>
          </a:solidFill>
          <a:ln/>
        </p:spPr>
      </p:sp>
      <p:sp>
        <p:nvSpPr>
          <p:cNvPr id="70" name="Shape 67"/>
          <p:cNvSpPr/>
          <p:nvPr/>
        </p:nvSpPr>
        <p:spPr>
          <a:xfrm>
            <a:off x="457200" y="224028"/>
            <a:ext cx="304495" cy="304495"/>
          </a:xfrm>
          <a:prstGeom prst="roundRect">
            <a:avLst>
              <a:gd name="adj" fmla="val 56306"/>
            </a:avLst>
          </a:prstGeom>
          <a:solidFill>
            <a:srgbClr val="2563EB"/>
          </a:solidFill>
          <a:ln/>
        </p:spPr>
      </p:sp>
      <p:pic>
        <p:nvPicPr>
          <p:cNvPr id="71" name="Image 1" descr="preencoded.png">    </p:cNvPr>
          <p:cNvPicPr>
            <a:picLocks noChangeAspect="1"/>
          </p:cNvPicPr>
          <p:nvPr/>
        </p:nvPicPr>
        <p:blipFill>
          <a:blip r:embed="rId2"/>
          <a:srcRect l="-2512" r="-2512" t="0" b="0"/>
          <a:stretch/>
        </p:blipFill>
        <p:spPr>
          <a:xfrm>
            <a:off x="556870" y="309982"/>
            <a:ext cx="105156" cy="133502"/>
          </a:xfrm>
          <a:prstGeom prst="rect">
            <a:avLst/>
          </a:prstGeom>
        </p:spPr>
      </p:pic>
      <p:sp>
        <p:nvSpPr>
          <p:cNvPr id="72" name="Text 68"/>
          <p:cNvSpPr txBox="1"/>
          <p:nvPr/>
        </p:nvSpPr>
        <p:spPr>
          <a:xfrm>
            <a:off x="875995" y="280721"/>
            <a:ext cx="2052828"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PROCESS DOCUMENTATION</a:t>
            </a:r>
            <a:endParaRPr lang="en-US" sz="1000" dirty="0"/>
          </a:p>
        </p:txBody>
      </p:sp>
      <p:sp>
        <p:nvSpPr>
          <p:cNvPr id="73" name="Text 69"/>
          <p:cNvSpPr txBox="1"/>
          <p:nvPr/>
        </p:nvSpPr>
        <p:spPr>
          <a:xfrm>
            <a:off x="11068812" y="280721"/>
            <a:ext cx="7671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2026.01.03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1981505"/>
            <a:ext cx="12191695" cy="3657600"/>
          </a:xfrm>
          <a:prstGeom prst="rect">
            <a:avLst/>
          </a:prstGeom>
          <a:solidFill>
            <a:srgbClr val="EFF6FF"/>
          </a:solidFill>
          <a:ln/>
        </p:spPr>
      </p:sp>
      <p:sp>
        <p:nvSpPr>
          <p:cNvPr id="5" name="Shape 3"/>
          <p:cNvSpPr/>
          <p:nvPr/>
        </p:nvSpPr>
        <p:spPr>
          <a:xfrm>
            <a:off x="457200" y="6495898"/>
            <a:ext cx="114300" cy="114300"/>
          </a:xfrm>
          <a:prstGeom prst="roundRect">
            <a:avLst>
              <a:gd name="adj" fmla="val 266667"/>
            </a:avLst>
          </a:prstGeom>
          <a:solidFill>
            <a:srgbClr val="FFFFFF"/>
          </a:solidFill>
          <a:ln w="12700">
            <a:solidFill>
              <a:srgbClr val="D1D5DB"/>
            </a:solidFill>
            <a:prstDash val="solid"/>
          </a:ln>
        </p:spPr>
      </p:sp>
      <p:sp>
        <p:nvSpPr>
          <p:cNvPr id="6" name="Text 4"/>
          <p:cNvSpPr txBox="1"/>
          <p:nvPr/>
        </p:nvSpPr>
        <p:spPr>
          <a:xfrm>
            <a:off x="647395" y="6467551"/>
            <a:ext cx="5532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プロセス</a:t>
            </a:r>
            <a:endParaRPr lang="en-US" sz="900" dirty="0"/>
          </a:p>
        </p:txBody>
      </p:sp>
      <p:sp>
        <p:nvSpPr>
          <p:cNvPr id="7" name="Shape 5"/>
          <p:cNvSpPr/>
          <p:nvPr/>
        </p:nvSpPr>
        <p:spPr>
          <a:xfrm>
            <a:off x="1333195" y="6495898"/>
            <a:ext cx="114300" cy="114300"/>
          </a:xfrm>
          <a:prstGeom prst="roundRect">
            <a:avLst>
              <a:gd name="adj" fmla="val 266667"/>
            </a:avLst>
          </a:prstGeom>
          <a:solidFill>
            <a:srgbClr val="ECFDF5"/>
          </a:solidFill>
          <a:ln w="12700">
            <a:solidFill>
              <a:srgbClr val="A7F3D0"/>
            </a:solidFill>
            <a:prstDash val="solid"/>
          </a:ln>
        </p:spPr>
      </p:sp>
      <p:sp>
        <p:nvSpPr>
          <p:cNvPr id="8" name="Text 6"/>
          <p:cNvSpPr txBox="1"/>
          <p:nvPr/>
        </p:nvSpPr>
        <p:spPr>
          <a:xfrm>
            <a:off x="1524305" y="6467551"/>
            <a:ext cx="15819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品質ゲート（承認ポイント）</a:t>
            </a:r>
            <a:endParaRPr lang="en-US" sz="900" dirty="0"/>
          </a:p>
        </p:txBody>
      </p:sp>
      <p:sp>
        <p:nvSpPr>
          <p:cNvPr id="9" name="Shape 7"/>
          <p:cNvSpPr/>
          <p:nvPr/>
        </p:nvSpPr>
        <p:spPr>
          <a:xfrm>
            <a:off x="0" y="0"/>
            <a:ext cx="12191695" cy="761695"/>
          </a:xfrm>
          <a:prstGeom prst="rect">
            <a:avLst/>
          </a:prstGeom>
          <a:solidFill>
            <a:srgbClr val="FFFFFF"/>
          </a:solidFill>
          <a:ln/>
        </p:spPr>
      </p:sp>
      <p:sp>
        <p:nvSpPr>
          <p:cNvPr id="10" name="Shape 8"/>
          <p:cNvSpPr/>
          <p:nvPr/>
        </p:nvSpPr>
        <p:spPr>
          <a:xfrm>
            <a:off x="0" y="752551"/>
            <a:ext cx="12191695" cy="9144"/>
          </a:xfrm>
          <a:prstGeom prst="rect">
            <a:avLst/>
          </a:prstGeom>
          <a:solidFill>
            <a:srgbClr val="F3F4F6"/>
          </a:solidFill>
          <a:ln/>
        </p:spPr>
      </p:sp>
      <p:sp>
        <p:nvSpPr>
          <p:cNvPr id="11" name="Shape 9"/>
          <p:cNvSpPr/>
          <p:nvPr/>
        </p:nvSpPr>
        <p:spPr>
          <a:xfrm>
            <a:off x="457200" y="224028"/>
            <a:ext cx="304495" cy="304495"/>
          </a:xfrm>
          <a:prstGeom prst="roundRect">
            <a:avLst>
              <a:gd name="adj" fmla="val 75075"/>
            </a:avLst>
          </a:prstGeom>
          <a:solidFill>
            <a:srgbClr val="2563EB"/>
          </a:solidFill>
          <a:ln/>
        </p:spPr>
      </p:sp>
      <p:pic>
        <p:nvPicPr>
          <p:cNvPr id="12" name="Image 0" descr="preencoded.png">    </p:cNvPr>
          <p:cNvPicPr>
            <a:picLocks noChangeAspect="1"/>
          </p:cNvPicPr>
          <p:nvPr/>
        </p:nvPicPr>
        <p:blipFill>
          <a:blip r:embed="rId1"/>
          <a:srcRect l="-837" r="-837" t="0" b="0"/>
          <a:stretch/>
        </p:blipFill>
        <p:spPr>
          <a:xfrm>
            <a:off x="533095" y="309982"/>
            <a:ext cx="152705" cy="133502"/>
          </a:xfrm>
          <a:prstGeom prst="rect">
            <a:avLst/>
          </a:prstGeom>
        </p:spPr>
      </p:pic>
      <p:sp>
        <p:nvSpPr>
          <p:cNvPr id="13" name="Shape 10"/>
          <p:cNvSpPr/>
          <p:nvPr/>
        </p:nvSpPr>
        <p:spPr>
          <a:xfrm>
            <a:off x="9285732" y="261518"/>
            <a:ext cx="1714500" cy="228600"/>
          </a:xfrm>
          <a:prstGeom prst="roundRect">
            <a:avLst>
              <a:gd name="adj" fmla="val 400000"/>
            </a:avLst>
          </a:prstGeom>
          <a:solidFill>
            <a:srgbClr val="EFF6FF"/>
          </a:solidFill>
          <a:ln/>
        </p:spPr>
      </p:sp>
      <p:sp>
        <p:nvSpPr>
          <p:cNvPr id="14" name="Text 11"/>
          <p:cNvSpPr txBox="1"/>
          <p:nvPr/>
        </p:nvSpPr>
        <p:spPr>
          <a:xfrm>
            <a:off x="875995" y="157277"/>
            <a:ext cx="190561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全体プロセスフロー</a:t>
            </a:r>
            <a:endParaRPr lang="en-US" sz="1500" dirty="0"/>
          </a:p>
        </p:txBody>
      </p:sp>
      <p:sp>
        <p:nvSpPr>
          <p:cNvPr id="15" name="Text 12"/>
          <p:cNvSpPr txBox="1"/>
          <p:nvPr/>
        </p:nvSpPr>
        <p:spPr>
          <a:xfrm>
            <a:off x="875995" y="424282"/>
            <a:ext cx="1686154"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SLIDE GENERATION PROCESS</a:t>
            </a:r>
            <a:endParaRPr lang="en-US" sz="900" dirty="0"/>
          </a:p>
        </p:txBody>
      </p:sp>
      <p:sp>
        <p:nvSpPr>
          <p:cNvPr id="16" name="Text 13"/>
          <p:cNvSpPr txBox="1"/>
          <p:nvPr/>
        </p:nvSpPr>
        <p:spPr>
          <a:xfrm>
            <a:off x="9400032" y="290779"/>
            <a:ext cx="1571854"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Total Quality Management</a:t>
            </a:r>
            <a:endParaRPr lang="en-US" sz="900" dirty="0"/>
          </a:p>
        </p:txBody>
      </p:sp>
      <p:sp>
        <p:nvSpPr>
          <p:cNvPr id="17" name="Text 14"/>
          <p:cNvSpPr txBox="1"/>
          <p:nvPr/>
        </p:nvSpPr>
        <p:spPr>
          <a:xfrm>
            <a:off x="11068812" y="280721"/>
            <a:ext cx="7671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2026.01.03</a:t>
            </a:r>
            <a:endParaRPr lang="en-US" sz="1000" dirty="0"/>
          </a:p>
        </p:txBody>
      </p:sp>
      <p:sp>
        <p:nvSpPr>
          <p:cNvPr id="18" name="Text 15"/>
          <p:cNvSpPr txBox="1"/>
          <p:nvPr/>
        </p:nvSpPr>
        <p:spPr>
          <a:xfrm>
            <a:off x="3303727" y="2021738"/>
            <a:ext cx="5805526"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スライド生成の5つのフェーズと品質ゲート</a:t>
            </a:r>
            <a:endParaRPr lang="en-US" sz="2200" dirty="0"/>
          </a:p>
        </p:txBody>
      </p:sp>
      <p:sp>
        <p:nvSpPr>
          <p:cNvPr id="19" name="Text 16"/>
          <p:cNvSpPr txBox="1"/>
          <p:nvPr/>
        </p:nvSpPr>
        <p:spPr>
          <a:xfrm>
            <a:off x="2984602" y="2478938"/>
            <a:ext cx="6344107" cy="228600"/>
          </a:xfrm>
          <a:prstGeom prst="rect">
            <a:avLst/>
          </a:prstGeom>
          <a:noFill/>
          <a:ln/>
        </p:spPr>
        <p:txBody>
          <a:bodyPr wrap="square" lIns="0" tIns="0" rIns="0" bIns="0" rtlCol="0" anchor="ctr"/>
          <a:lstStyle/>
          <a:p>
            <a:pPr algn="ctr" indent="0" marL="0">
              <a:buNone/>
            </a:pPr>
            <a:r>
              <a:rPr lang="en-US" sz="1200" dirty="0">
                <a:solidFill>
                  <a:srgbClr val="6B7280"/>
                </a:solidFill>
                <a:latin typeface="Noto Sans JP" pitchFamily="34" charset="0"/>
                <a:ea typeface="Noto Sans JP" pitchFamily="34" charset="-122"/>
                <a:cs typeface="Noto Sans JP" pitchFamily="34" charset="-120"/>
              </a:rPr>
              <a:t>各工程で明確な承認基準（ゲート）を設けることで、高品質なアウトプットを保証します。</a:t>
            </a:r>
            <a:endParaRPr lang="en-US" sz="1200" dirty="0"/>
          </a:p>
        </p:txBody>
      </p:sp>
      <p:sp>
        <p:nvSpPr>
          <p:cNvPr id="20" name="Shape 17"/>
          <p:cNvSpPr/>
          <p:nvPr/>
        </p:nvSpPr>
        <p:spPr>
          <a:xfrm>
            <a:off x="609905" y="3088843"/>
            <a:ext cx="1952244" cy="2476195"/>
          </a:xfrm>
          <a:prstGeom prst="roundRect">
            <a:avLst>
              <a:gd name="adj" fmla="val 2742"/>
            </a:avLst>
          </a:prstGeom>
          <a:solidFill>
            <a:srgbClr val="FFFFFF"/>
          </a:solidFill>
          <a:ln/>
          <a:effectLst>
            <a:outerShdw sx="100000" sy="100000" kx="0" ky="0" algn="bl" rotWithShape="0" blurRad="12700" dist="12700" dir="16200000">
              <a:srgbClr val="000000">
                <a:alpha val="75000"/>
              </a:srgbClr>
            </a:outerShdw>
          </a:effectLst>
        </p:spPr>
      </p:sp>
      <p:sp>
        <p:nvSpPr>
          <p:cNvPr id="21" name="Shape 18"/>
          <p:cNvSpPr/>
          <p:nvPr/>
        </p:nvSpPr>
        <p:spPr>
          <a:xfrm>
            <a:off x="609905" y="3088843"/>
            <a:ext cx="1952244" cy="38405"/>
          </a:xfrm>
          <a:prstGeom prst="rect">
            <a:avLst/>
          </a:prstGeom>
          <a:solidFill>
            <a:srgbClr val="3B82F6"/>
          </a:solidFill>
          <a:ln/>
        </p:spPr>
      </p:sp>
      <p:sp>
        <p:nvSpPr>
          <p:cNvPr id="22" name="Text 19"/>
          <p:cNvSpPr txBox="1"/>
          <p:nvPr/>
        </p:nvSpPr>
        <p:spPr>
          <a:xfrm>
            <a:off x="800100" y="3259836"/>
            <a:ext cx="676656" cy="495605"/>
          </a:xfrm>
          <a:prstGeom prst="rect">
            <a:avLst/>
          </a:prstGeom>
          <a:noFill/>
          <a:ln/>
        </p:spPr>
        <p:txBody>
          <a:bodyPr wrap="square" lIns="0" tIns="0" rIns="0" bIns="0" rtlCol="0" anchor="ctr"/>
          <a:lstStyle/>
          <a:p>
            <a:pPr algn="l" indent="0" marL="0">
              <a:buNone/>
            </a:pPr>
            <a:r>
              <a:rPr lang="en-US" sz="2700" b="1" dirty="0">
                <a:solidFill>
                  <a:srgbClr val="F3F4F6"/>
                </a:solidFill>
                <a:latin typeface="Noto Sans JP" pitchFamily="34" charset="0"/>
                <a:ea typeface="Noto Sans JP" pitchFamily="34" charset="-122"/>
                <a:cs typeface="Noto Sans JP" pitchFamily="34" charset="-120"/>
              </a:rPr>
              <a:t>01</a:t>
            </a:r>
            <a:endParaRPr lang="en-US" sz="2700" dirty="0"/>
          </a:p>
        </p:txBody>
      </p:sp>
      <p:sp>
        <p:nvSpPr>
          <p:cNvPr id="23" name="Shape 20"/>
          <p:cNvSpPr/>
          <p:nvPr/>
        </p:nvSpPr>
        <p:spPr>
          <a:xfrm>
            <a:off x="1988820" y="3317443"/>
            <a:ext cx="381305" cy="381305"/>
          </a:xfrm>
          <a:prstGeom prst="roundRect">
            <a:avLst>
              <a:gd name="adj" fmla="val 239808"/>
            </a:avLst>
          </a:prstGeom>
          <a:solidFill>
            <a:srgbClr val="DBEAFE"/>
          </a:solidFill>
          <a:ln/>
        </p:spPr>
      </p:sp>
      <p:pic>
        <p:nvPicPr>
          <p:cNvPr id="24" name="Image 1" descr="preencoded.png">    </p:cNvPr>
          <p:cNvPicPr>
            <a:picLocks noChangeAspect="1"/>
          </p:cNvPicPr>
          <p:nvPr/>
        </p:nvPicPr>
        <p:blipFill>
          <a:blip r:embed="rId2"/>
          <a:srcRect l="0" r="0" t="-180" b="-180"/>
          <a:stretch/>
        </p:blipFill>
        <p:spPr>
          <a:xfrm>
            <a:off x="2083918" y="3431743"/>
            <a:ext cx="190195" cy="152705"/>
          </a:xfrm>
          <a:prstGeom prst="rect">
            <a:avLst/>
          </a:prstGeom>
        </p:spPr>
      </p:pic>
      <p:sp>
        <p:nvSpPr>
          <p:cNvPr id="25" name="Text 21"/>
          <p:cNvSpPr txBox="1"/>
          <p:nvPr/>
        </p:nvSpPr>
        <p:spPr>
          <a:xfrm>
            <a:off x="800100" y="3859682"/>
            <a:ext cx="8147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要求定義</a:t>
            </a:r>
            <a:endParaRPr lang="en-US" sz="1300" dirty="0"/>
          </a:p>
        </p:txBody>
      </p:sp>
      <p:sp>
        <p:nvSpPr>
          <p:cNvPr id="26" name="Text 22"/>
          <p:cNvSpPr txBox="1"/>
          <p:nvPr/>
        </p:nvSpPr>
        <p:spPr>
          <a:xfrm>
            <a:off x="800100" y="4202582"/>
            <a:ext cx="1581912" cy="534010"/>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ユーザー要望のヒアリングと具体化。目的・対象・成功基準を明確にする。</a:t>
            </a:r>
            <a:endParaRPr lang="en-US" sz="900" dirty="0"/>
          </a:p>
        </p:txBody>
      </p:sp>
      <p:sp>
        <p:nvSpPr>
          <p:cNvPr id="27" name="Shape 23"/>
          <p:cNvSpPr/>
          <p:nvPr/>
        </p:nvSpPr>
        <p:spPr>
          <a:xfrm>
            <a:off x="800100" y="4903013"/>
            <a:ext cx="1571854" cy="9144"/>
          </a:xfrm>
          <a:prstGeom prst="rect">
            <a:avLst/>
          </a:prstGeom>
          <a:solidFill>
            <a:srgbClr val="F3F4F6"/>
          </a:solidFill>
          <a:ln/>
        </p:spPr>
      </p:sp>
      <p:sp>
        <p:nvSpPr>
          <p:cNvPr id="28" name="Text 24"/>
          <p:cNvSpPr txBox="1"/>
          <p:nvPr/>
        </p:nvSpPr>
        <p:spPr>
          <a:xfrm>
            <a:off x="800100" y="5055718"/>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29" name="Text 25"/>
          <p:cNvSpPr txBox="1"/>
          <p:nvPr/>
        </p:nvSpPr>
        <p:spPr>
          <a:xfrm>
            <a:off x="800100" y="5207508"/>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要望、参考画像</a:t>
            </a:r>
            <a:endParaRPr lang="en-US" sz="900" dirty="0"/>
          </a:p>
        </p:txBody>
      </p:sp>
      <p:sp>
        <p:nvSpPr>
          <p:cNvPr id="30" name="Shape 26"/>
          <p:cNvSpPr/>
          <p:nvPr/>
        </p:nvSpPr>
        <p:spPr>
          <a:xfrm>
            <a:off x="2560320" y="4343400"/>
            <a:ext cx="381305" cy="19202"/>
          </a:xfrm>
          <a:prstGeom prst="rect">
            <a:avLst/>
          </a:prstGeom>
          <a:solidFill>
            <a:srgbClr val="CBD5E1"/>
          </a:solidFill>
          <a:ln/>
        </p:spPr>
      </p:sp>
      <p:sp>
        <p:nvSpPr>
          <p:cNvPr id="31" name="Shape 27"/>
          <p:cNvSpPr/>
          <p:nvPr/>
        </p:nvSpPr>
        <p:spPr>
          <a:xfrm>
            <a:off x="2864815" y="3088843"/>
            <a:ext cx="1952244" cy="2476195"/>
          </a:xfrm>
          <a:prstGeom prst="roundRect">
            <a:avLst>
              <a:gd name="adj" fmla="val 2742"/>
            </a:avLst>
          </a:prstGeom>
          <a:solidFill>
            <a:srgbClr val="FFFFFF"/>
          </a:solidFill>
          <a:ln/>
          <a:effectLst>
            <a:outerShdw sx="100000" sy="100000" kx="0" ky="0" algn="bl" rotWithShape="0" blurRad="12700" dist="12700" dir="16200000">
              <a:srgbClr val="000000">
                <a:alpha val="75000"/>
              </a:srgbClr>
            </a:outerShdw>
          </a:effectLst>
        </p:spPr>
      </p:sp>
      <p:sp>
        <p:nvSpPr>
          <p:cNvPr id="32" name="Shape 28"/>
          <p:cNvSpPr/>
          <p:nvPr/>
        </p:nvSpPr>
        <p:spPr>
          <a:xfrm>
            <a:off x="2864815" y="3088843"/>
            <a:ext cx="1952244" cy="38405"/>
          </a:xfrm>
          <a:prstGeom prst="rect">
            <a:avLst/>
          </a:prstGeom>
          <a:solidFill>
            <a:srgbClr val="E5E7EB"/>
          </a:solidFill>
          <a:ln/>
        </p:spPr>
      </p:sp>
      <p:sp>
        <p:nvSpPr>
          <p:cNvPr id="33" name="Text 29"/>
          <p:cNvSpPr txBox="1"/>
          <p:nvPr/>
        </p:nvSpPr>
        <p:spPr>
          <a:xfrm>
            <a:off x="3055925" y="3259836"/>
            <a:ext cx="676656" cy="495605"/>
          </a:xfrm>
          <a:prstGeom prst="rect">
            <a:avLst/>
          </a:prstGeom>
          <a:noFill/>
          <a:ln/>
        </p:spPr>
        <p:txBody>
          <a:bodyPr wrap="square" lIns="0" tIns="0" rIns="0" bIns="0" rtlCol="0" anchor="ctr"/>
          <a:lstStyle/>
          <a:p>
            <a:pPr algn="l" indent="0" marL="0">
              <a:buNone/>
            </a:pPr>
            <a:r>
              <a:rPr lang="en-US" sz="2700" b="1" dirty="0">
                <a:solidFill>
                  <a:srgbClr val="F3F4F6"/>
                </a:solidFill>
                <a:latin typeface="Noto Sans JP" pitchFamily="34" charset="0"/>
                <a:ea typeface="Noto Sans JP" pitchFamily="34" charset="-122"/>
                <a:cs typeface="Noto Sans JP" pitchFamily="34" charset="-120"/>
              </a:rPr>
              <a:t>02</a:t>
            </a:r>
            <a:endParaRPr lang="en-US" sz="2700" dirty="0"/>
          </a:p>
        </p:txBody>
      </p:sp>
      <p:pic>
        <p:nvPicPr>
          <p:cNvPr id="34" name="Image 2" descr="preencoded.png">    </p:cNvPr>
          <p:cNvPicPr>
            <a:picLocks noChangeAspect="1"/>
          </p:cNvPicPr>
          <p:nvPr/>
        </p:nvPicPr>
        <p:blipFill>
          <a:blip r:embed="rId3"/>
          <a:srcRect l="0" r="0" t="-43" b="-43"/>
          <a:stretch/>
        </p:blipFill>
        <p:spPr>
          <a:xfrm>
            <a:off x="4368089" y="3431743"/>
            <a:ext cx="133502" cy="152705"/>
          </a:xfrm>
          <a:prstGeom prst="rect">
            <a:avLst/>
          </a:prstGeom>
        </p:spPr>
      </p:pic>
      <p:sp>
        <p:nvSpPr>
          <p:cNvPr id="35" name="Text 30"/>
          <p:cNvSpPr txBox="1"/>
          <p:nvPr/>
        </p:nvSpPr>
        <p:spPr>
          <a:xfrm>
            <a:off x="3055925" y="3859682"/>
            <a:ext cx="986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データ収集</a:t>
            </a:r>
            <a:endParaRPr lang="en-US" sz="1300" dirty="0"/>
          </a:p>
        </p:txBody>
      </p:sp>
      <p:sp>
        <p:nvSpPr>
          <p:cNvPr id="36" name="Text 31"/>
          <p:cNvSpPr txBox="1"/>
          <p:nvPr/>
        </p:nvSpPr>
        <p:spPr>
          <a:xfrm>
            <a:off x="3055925" y="4202582"/>
            <a:ext cx="1581912" cy="534010"/>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ベンチマークURLの解析と周辺競合・商圏データのクローリング。</a:t>
            </a:r>
            <a:endParaRPr lang="en-US" sz="900" dirty="0"/>
          </a:p>
        </p:txBody>
      </p:sp>
      <p:sp>
        <p:nvSpPr>
          <p:cNvPr id="37" name="Shape 32"/>
          <p:cNvSpPr/>
          <p:nvPr/>
        </p:nvSpPr>
        <p:spPr>
          <a:xfrm>
            <a:off x="3055925" y="4903013"/>
            <a:ext cx="1571854" cy="9144"/>
          </a:xfrm>
          <a:prstGeom prst="rect">
            <a:avLst/>
          </a:prstGeom>
          <a:solidFill>
            <a:srgbClr val="F3F4F6"/>
          </a:solidFill>
          <a:ln/>
        </p:spPr>
      </p:sp>
      <p:sp>
        <p:nvSpPr>
          <p:cNvPr id="38" name="Text 33"/>
          <p:cNvSpPr txBox="1"/>
          <p:nvPr/>
        </p:nvSpPr>
        <p:spPr>
          <a:xfrm>
            <a:off x="3055925" y="5055718"/>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39" name="Text 34"/>
          <p:cNvSpPr txBox="1"/>
          <p:nvPr/>
        </p:nvSpPr>
        <p:spPr>
          <a:xfrm>
            <a:off x="3055925" y="5207508"/>
            <a:ext cx="1000354"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URL、エリア情報</a:t>
            </a:r>
            <a:endParaRPr lang="en-US" sz="900" dirty="0"/>
          </a:p>
        </p:txBody>
      </p:sp>
      <p:sp>
        <p:nvSpPr>
          <p:cNvPr id="40" name="Shape 35"/>
          <p:cNvSpPr/>
          <p:nvPr/>
        </p:nvSpPr>
        <p:spPr>
          <a:xfrm>
            <a:off x="4816145" y="4343400"/>
            <a:ext cx="381305" cy="19202"/>
          </a:xfrm>
          <a:prstGeom prst="rect">
            <a:avLst/>
          </a:prstGeom>
          <a:solidFill>
            <a:srgbClr val="CBD5E1"/>
          </a:solidFill>
          <a:ln/>
        </p:spPr>
      </p:sp>
      <p:sp>
        <p:nvSpPr>
          <p:cNvPr id="41" name="Shape 36"/>
          <p:cNvSpPr/>
          <p:nvPr/>
        </p:nvSpPr>
        <p:spPr>
          <a:xfrm>
            <a:off x="5120640" y="3088843"/>
            <a:ext cx="1952244" cy="2476195"/>
          </a:xfrm>
          <a:prstGeom prst="roundRect">
            <a:avLst>
              <a:gd name="adj" fmla="val 2742"/>
            </a:avLst>
          </a:prstGeom>
          <a:solidFill>
            <a:srgbClr val="FFFFFF"/>
          </a:solidFill>
          <a:ln/>
          <a:effectLst>
            <a:outerShdw sx="100000" sy="100000" kx="0" ky="0" algn="bl" rotWithShape="0" blurRad="12700" dist="12700" dir="16200000">
              <a:srgbClr val="000000">
                <a:alpha val="75000"/>
              </a:srgbClr>
            </a:outerShdw>
          </a:effectLst>
        </p:spPr>
      </p:sp>
      <p:sp>
        <p:nvSpPr>
          <p:cNvPr id="42" name="Shape 37"/>
          <p:cNvSpPr/>
          <p:nvPr/>
        </p:nvSpPr>
        <p:spPr>
          <a:xfrm>
            <a:off x="5120640" y="3088843"/>
            <a:ext cx="1952244" cy="38405"/>
          </a:xfrm>
          <a:prstGeom prst="rect">
            <a:avLst/>
          </a:prstGeom>
          <a:solidFill>
            <a:srgbClr val="E5E7EB"/>
          </a:solidFill>
          <a:ln/>
        </p:spPr>
      </p:sp>
      <p:sp>
        <p:nvSpPr>
          <p:cNvPr id="43" name="Text 38"/>
          <p:cNvSpPr txBox="1"/>
          <p:nvPr/>
        </p:nvSpPr>
        <p:spPr>
          <a:xfrm>
            <a:off x="5310835" y="3259836"/>
            <a:ext cx="676656" cy="495605"/>
          </a:xfrm>
          <a:prstGeom prst="rect">
            <a:avLst/>
          </a:prstGeom>
          <a:noFill/>
          <a:ln/>
        </p:spPr>
        <p:txBody>
          <a:bodyPr wrap="square" lIns="0" tIns="0" rIns="0" bIns="0" rtlCol="0" anchor="ctr"/>
          <a:lstStyle/>
          <a:p>
            <a:pPr algn="l" indent="0" marL="0">
              <a:buNone/>
            </a:pPr>
            <a:r>
              <a:rPr lang="en-US" sz="2700" b="1" dirty="0">
                <a:solidFill>
                  <a:srgbClr val="F3F4F6"/>
                </a:solidFill>
                <a:latin typeface="Noto Sans JP" pitchFamily="34" charset="0"/>
                <a:ea typeface="Noto Sans JP" pitchFamily="34" charset="-122"/>
                <a:cs typeface="Noto Sans JP" pitchFamily="34" charset="-120"/>
              </a:rPr>
              <a:t>03</a:t>
            </a:r>
            <a:endParaRPr lang="en-US" sz="2700" dirty="0"/>
          </a:p>
        </p:txBody>
      </p:sp>
      <p:pic>
        <p:nvPicPr>
          <p:cNvPr id="44" name="Image 3" descr="preencoded.png">    </p:cNvPr>
          <p:cNvPicPr>
            <a:picLocks noChangeAspect="1"/>
          </p:cNvPicPr>
          <p:nvPr/>
        </p:nvPicPr>
        <p:blipFill>
          <a:blip r:embed="rId4"/>
          <a:srcRect l="-33" r="-33" t="0" b="0"/>
          <a:stretch/>
        </p:blipFill>
        <p:spPr>
          <a:xfrm>
            <a:off x="6604711" y="3431743"/>
            <a:ext cx="171907" cy="152705"/>
          </a:xfrm>
          <a:prstGeom prst="rect">
            <a:avLst/>
          </a:prstGeom>
        </p:spPr>
      </p:pic>
      <p:sp>
        <p:nvSpPr>
          <p:cNvPr id="45" name="Text 39"/>
          <p:cNvSpPr txBox="1"/>
          <p:nvPr/>
        </p:nvSpPr>
        <p:spPr>
          <a:xfrm>
            <a:off x="5310835" y="3859682"/>
            <a:ext cx="4718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設計</a:t>
            </a:r>
            <a:endParaRPr lang="en-US" sz="1300" dirty="0"/>
          </a:p>
        </p:txBody>
      </p:sp>
      <p:sp>
        <p:nvSpPr>
          <p:cNvPr id="46" name="Text 40"/>
          <p:cNvSpPr txBox="1"/>
          <p:nvPr/>
        </p:nvSpPr>
        <p:spPr>
          <a:xfrm>
            <a:off x="5310835" y="4202582"/>
            <a:ext cx="1581912" cy="534010"/>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スライド構成（台割）の作成とデザインシステム・テンプレートの決定。</a:t>
            </a:r>
            <a:endParaRPr lang="en-US" sz="900" dirty="0"/>
          </a:p>
        </p:txBody>
      </p:sp>
      <p:sp>
        <p:nvSpPr>
          <p:cNvPr id="47" name="Shape 41"/>
          <p:cNvSpPr/>
          <p:nvPr/>
        </p:nvSpPr>
        <p:spPr>
          <a:xfrm>
            <a:off x="5310835" y="4903013"/>
            <a:ext cx="1571854" cy="9144"/>
          </a:xfrm>
          <a:prstGeom prst="rect">
            <a:avLst/>
          </a:prstGeom>
          <a:solidFill>
            <a:srgbClr val="F3F4F6"/>
          </a:solidFill>
          <a:ln/>
        </p:spPr>
      </p:sp>
      <p:sp>
        <p:nvSpPr>
          <p:cNvPr id="48" name="Text 42"/>
          <p:cNvSpPr txBox="1"/>
          <p:nvPr/>
        </p:nvSpPr>
        <p:spPr>
          <a:xfrm>
            <a:off x="5310835" y="5055718"/>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49" name="Text 43"/>
          <p:cNvSpPr txBox="1"/>
          <p:nvPr/>
        </p:nvSpPr>
        <p:spPr>
          <a:xfrm>
            <a:off x="5310835" y="5207508"/>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定義書、データ</a:t>
            </a:r>
            <a:endParaRPr lang="en-US" sz="900" dirty="0"/>
          </a:p>
        </p:txBody>
      </p:sp>
      <p:sp>
        <p:nvSpPr>
          <p:cNvPr id="50" name="Shape 44"/>
          <p:cNvSpPr/>
          <p:nvPr/>
        </p:nvSpPr>
        <p:spPr>
          <a:xfrm>
            <a:off x="7071055" y="4343400"/>
            <a:ext cx="381305" cy="19202"/>
          </a:xfrm>
          <a:prstGeom prst="rect">
            <a:avLst/>
          </a:prstGeom>
          <a:solidFill>
            <a:srgbClr val="CBD5E1"/>
          </a:solidFill>
          <a:ln/>
        </p:spPr>
      </p:sp>
      <p:sp>
        <p:nvSpPr>
          <p:cNvPr id="51" name="Shape 45"/>
          <p:cNvSpPr/>
          <p:nvPr/>
        </p:nvSpPr>
        <p:spPr>
          <a:xfrm>
            <a:off x="7376465" y="3088843"/>
            <a:ext cx="1952244" cy="2476195"/>
          </a:xfrm>
          <a:prstGeom prst="roundRect">
            <a:avLst>
              <a:gd name="adj" fmla="val 2742"/>
            </a:avLst>
          </a:prstGeom>
          <a:solidFill>
            <a:srgbClr val="FFFFFF"/>
          </a:solidFill>
          <a:ln/>
          <a:effectLst>
            <a:outerShdw sx="100000" sy="100000" kx="0" ky="0" algn="bl" rotWithShape="0" blurRad="12700" dist="12700" dir="16200000">
              <a:srgbClr val="000000">
                <a:alpha val="75000"/>
              </a:srgbClr>
            </a:outerShdw>
          </a:effectLst>
        </p:spPr>
      </p:sp>
      <p:sp>
        <p:nvSpPr>
          <p:cNvPr id="52" name="Shape 46"/>
          <p:cNvSpPr/>
          <p:nvPr/>
        </p:nvSpPr>
        <p:spPr>
          <a:xfrm>
            <a:off x="7376465" y="3088843"/>
            <a:ext cx="1952244" cy="38405"/>
          </a:xfrm>
          <a:prstGeom prst="rect">
            <a:avLst/>
          </a:prstGeom>
          <a:solidFill>
            <a:srgbClr val="6366F1"/>
          </a:solidFill>
          <a:ln/>
        </p:spPr>
      </p:sp>
      <p:sp>
        <p:nvSpPr>
          <p:cNvPr id="53" name="Text 47"/>
          <p:cNvSpPr txBox="1"/>
          <p:nvPr/>
        </p:nvSpPr>
        <p:spPr>
          <a:xfrm>
            <a:off x="7566660" y="3259836"/>
            <a:ext cx="676656" cy="495605"/>
          </a:xfrm>
          <a:prstGeom prst="rect">
            <a:avLst/>
          </a:prstGeom>
          <a:noFill/>
          <a:ln/>
        </p:spPr>
        <p:txBody>
          <a:bodyPr wrap="square" lIns="0" tIns="0" rIns="0" bIns="0" rtlCol="0" anchor="ctr"/>
          <a:lstStyle/>
          <a:p>
            <a:pPr algn="l" indent="0" marL="0">
              <a:buNone/>
            </a:pPr>
            <a:r>
              <a:rPr lang="en-US" sz="2700" b="1" dirty="0">
                <a:solidFill>
                  <a:srgbClr val="F3F4F6"/>
                </a:solidFill>
                <a:latin typeface="Noto Sans JP" pitchFamily="34" charset="0"/>
                <a:ea typeface="Noto Sans JP" pitchFamily="34" charset="-122"/>
                <a:cs typeface="Noto Sans JP" pitchFamily="34" charset="-120"/>
              </a:rPr>
              <a:t>04</a:t>
            </a:r>
            <a:endParaRPr lang="en-US" sz="2700" dirty="0"/>
          </a:p>
        </p:txBody>
      </p:sp>
      <p:sp>
        <p:nvSpPr>
          <p:cNvPr id="54" name="Shape 48"/>
          <p:cNvSpPr/>
          <p:nvPr/>
        </p:nvSpPr>
        <p:spPr>
          <a:xfrm>
            <a:off x="8755380" y="3317443"/>
            <a:ext cx="381305" cy="381305"/>
          </a:xfrm>
          <a:prstGeom prst="roundRect">
            <a:avLst>
              <a:gd name="adj" fmla="val 239808"/>
            </a:avLst>
          </a:prstGeom>
          <a:solidFill>
            <a:srgbClr val="E0E7FF"/>
          </a:solidFill>
          <a:ln/>
        </p:spPr>
      </p:sp>
      <p:pic>
        <p:nvPicPr>
          <p:cNvPr id="55" name="Image 4" descr="preencoded.png">    </p:cNvPr>
          <p:cNvPicPr>
            <a:picLocks noChangeAspect="1"/>
          </p:cNvPicPr>
          <p:nvPr/>
        </p:nvPicPr>
        <p:blipFill>
          <a:blip r:embed="rId5"/>
          <a:srcRect l="-33" r="-33" t="0" b="0"/>
          <a:stretch/>
        </p:blipFill>
        <p:spPr>
          <a:xfrm>
            <a:off x="8859622" y="3431743"/>
            <a:ext cx="171907" cy="152705"/>
          </a:xfrm>
          <a:prstGeom prst="rect">
            <a:avLst/>
          </a:prstGeom>
        </p:spPr>
      </p:pic>
      <p:sp>
        <p:nvSpPr>
          <p:cNvPr id="56" name="Text 49"/>
          <p:cNvSpPr txBox="1"/>
          <p:nvPr/>
        </p:nvSpPr>
        <p:spPr>
          <a:xfrm>
            <a:off x="7566660" y="3859682"/>
            <a:ext cx="4718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制作</a:t>
            </a:r>
            <a:endParaRPr lang="en-US" sz="1300" dirty="0"/>
          </a:p>
        </p:txBody>
      </p:sp>
      <p:sp>
        <p:nvSpPr>
          <p:cNvPr id="57" name="Text 50"/>
          <p:cNvSpPr txBox="1"/>
          <p:nvPr/>
        </p:nvSpPr>
        <p:spPr>
          <a:xfrm>
            <a:off x="7566660" y="4202582"/>
            <a:ext cx="1581912" cy="534010"/>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各スライドの実装とデータの視覚化（グラフ・マップ・表）。</a:t>
            </a:r>
            <a:endParaRPr lang="en-US" sz="900" dirty="0"/>
          </a:p>
        </p:txBody>
      </p:sp>
      <p:sp>
        <p:nvSpPr>
          <p:cNvPr id="58" name="Shape 51"/>
          <p:cNvSpPr/>
          <p:nvPr/>
        </p:nvSpPr>
        <p:spPr>
          <a:xfrm>
            <a:off x="7566660" y="4903013"/>
            <a:ext cx="1571854" cy="9144"/>
          </a:xfrm>
          <a:prstGeom prst="rect">
            <a:avLst/>
          </a:prstGeom>
          <a:solidFill>
            <a:srgbClr val="F3F4F6"/>
          </a:solidFill>
          <a:ln/>
        </p:spPr>
      </p:sp>
      <p:sp>
        <p:nvSpPr>
          <p:cNvPr id="59" name="Text 52"/>
          <p:cNvSpPr txBox="1"/>
          <p:nvPr/>
        </p:nvSpPr>
        <p:spPr>
          <a:xfrm>
            <a:off x="7566660" y="5055718"/>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60" name="Text 53"/>
          <p:cNvSpPr txBox="1"/>
          <p:nvPr/>
        </p:nvSpPr>
        <p:spPr>
          <a:xfrm>
            <a:off x="7566660" y="5207508"/>
            <a:ext cx="7818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アウトライン</a:t>
            </a:r>
            <a:endParaRPr lang="en-US" sz="900" dirty="0"/>
          </a:p>
        </p:txBody>
      </p:sp>
      <p:sp>
        <p:nvSpPr>
          <p:cNvPr id="61" name="Shape 54"/>
          <p:cNvSpPr/>
          <p:nvPr/>
        </p:nvSpPr>
        <p:spPr>
          <a:xfrm>
            <a:off x="9326880" y="4343400"/>
            <a:ext cx="381305" cy="19202"/>
          </a:xfrm>
          <a:prstGeom prst="rect">
            <a:avLst/>
          </a:prstGeom>
          <a:solidFill>
            <a:srgbClr val="CBD5E1"/>
          </a:solidFill>
          <a:ln/>
        </p:spPr>
      </p:sp>
      <p:sp>
        <p:nvSpPr>
          <p:cNvPr id="62" name="Shape 55"/>
          <p:cNvSpPr/>
          <p:nvPr/>
        </p:nvSpPr>
        <p:spPr>
          <a:xfrm>
            <a:off x="9631375" y="3088843"/>
            <a:ext cx="1952244" cy="2476195"/>
          </a:xfrm>
          <a:prstGeom prst="roundRect">
            <a:avLst>
              <a:gd name="adj" fmla="val 2742"/>
            </a:avLst>
          </a:prstGeom>
          <a:solidFill>
            <a:srgbClr val="FFFFFF"/>
          </a:solidFill>
          <a:ln/>
          <a:effectLst>
            <a:outerShdw sx="100000" sy="100000" kx="0" ky="0" algn="bl" rotWithShape="0" blurRad="12700" dist="12700" dir="16200000">
              <a:srgbClr val="000000">
                <a:alpha val="75000"/>
              </a:srgbClr>
            </a:outerShdw>
          </a:effectLst>
        </p:spPr>
      </p:sp>
      <p:sp>
        <p:nvSpPr>
          <p:cNvPr id="63" name="Shape 56"/>
          <p:cNvSpPr/>
          <p:nvPr/>
        </p:nvSpPr>
        <p:spPr>
          <a:xfrm>
            <a:off x="9631375" y="3088843"/>
            <a:ext cx="1952244" cy="38405"/>
          </a:xfrm>
          <a:prstGeom prst="rect">
            <a:avLst/>
          </a:prstGeom>
          <a:solidFill>
            <a:srgbClr val="8B5CF6"/>
          </a:solidFill>
          <a:ln/>
        </p:spPr>
      </p:sp>
      <p:sp>
        <p:nvSpPr>
          <p:cNvPr id="64" name="Text 57"/>
          <p:cNvSpPr txBox="1"/>
          <p:nvPr/>
        </p:nvSpPr>
        <p:spPr>
          <a:xfrm>
            <a:off x="9822485" y="3259836"/>
            <a:ext cx="676656" cy="495605"/>
          </a:xfrm>
          <a:prstGeom prst="rect">
            <a:avLst/>
          </a:prstGeom>
          <a:noFill/>
          <a:ln/>
        </p:spPr>
        <p:txBody>
          <a:bodyPr wrap="square" lIns="0" tIns="0" rIns="0" bIns="0" rtlCol="0" anchor="ctr"/>
          <a:lstStyle/>
          <a:p>
            <a:pPr algn="l" indent="0" marL="0">
              <a:buNone/>
            </a:pPr>
            <a:r>
              <a:rPr lang="en-US" sz="2700" b="1" dirty="0">
                <a:solidFill>
                  <a:srgbClr val="F3F4F6"/>
                </a:solidFill>
                <a:latin typeface="Noto Sans JP" pitchFamily="34" charset="0"/>
                <a:ea typeface="Noto Sans JP" pitchFamily="34" charset="-122"/>
                <a:cs typeface="Noto Sans JP" pitchFamily="34" charset="-120"/>
              </a:rPr>
              <a:t>05</a:t>
            </a:r>
            <a:endParaRPr lang="en-US" sz="2700" dirty="0"/>
          </a:p>
        </p:txBody>
      </p:sp>
      <p:sp>
        <p:nvSpPr>
          <p:cNvPr id="65" name="Shape 58"/>
          <p:cNvSpPr/>
          <p:nvPr/>
        </p:nvSpPr>
        <p:spPr>
          <a:xfrm>
            <a:off x="11011205" y="3317443"/>
            <a:ext cx="381305" cy="381305"/>
          </a:xfrm>
          <a:prstGeom prst="roundRect">
            <a:avLst>
              <a:gd name="adj" fmla="val 239808"/>
            </a:avLst>
          </a:prstGeom>
          <a:solidFill>
            <a:srgbClr val="EDE9FE"/>
          </a:solidFill>
          <a:ln/>
        </p:spPr>
      </p:sp>
      <p:pic>
        <p:nvPicPr>
          <p:cNvPr id="66" name="Image 5" descr="preencoded.png">    </p:cNvPr>
          <p:cNvPicPr>
            <a:picLocks noChangeAspect="1"/>
          </p:cNvPicPr>
          <p:nvPr/>
        </p:nvPicPr>
        <p:blipFill>
          <a:blip r:embed="rId6"/>
          <a:srcRect l="0" r="0" t="0" b="0"/>
          <a:stretch/>
        </p:blipFill>
        <p:spPr>
          <a:xfrm>
            <a:off x="11125505" y="3431743"/>
            <a:ext cx="152705" cy="152705"/>
          </a:xfrm>
          <a:prstGeom prst="rect">
            <a:avLst/>
          </a:prstGeom>
        </p:spPr>
      </p:pic>
      <p:sp>
        <p:nvSpPr>
          <p:cNvPr id="67" name="Text 59"/>
          <p:cNvSpPr txBox="1"/>
          <p:nvPr/>
        </p:nvSpPr>
        <p:spPr>
          <a:xfrm>
            <a:off x="9822485" y="3859682"/>
            <a:ext cx="8147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品質保証</a:t>
            </a:r>
            <a:endParaRPr lang="en-US" sz="1300" dirty="0"/>
          </a:p>
        </p:txBody>
      </p:sp>
      <p:sp>
        <p:nvSpPr>
          <p:cNvPr id="68" name="Text 60"/>
          <p:cNvSpPr txBox="1"/>
          <p:nvPr/>
        </p:nvSpPr>
        <p:spPr>
          <a:xfrm>
            <a:off x="9822485" y="4202582"/>
            <a:ext cx="1581912" cy="534010"/>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事実確認、デザイン整合性、機能テストを行い、出荷を判定。</a:t>
            </a:r>
            <a:endParaRPr lang="en-US" sz="900" dirty="0"/>
          </a:p>
        </p:txBody>
      </p:sp>
      <p:sp>
        <p:nvSpPr>
          <p:cNvPr id="69" name="Shape 61"/>
          <p:cNvSpPr/>
          <p:nvPr/>
        </p:nvSpPr>
        <p:spPr>
          <a:xfrm>
            <a:off x="9822485" y="4903013"/>
            <a:ext cx="1571854" cy="9144"/>
          </a:xfrm>
          <a:prstGeom prst="rect">
            <a:avLst/>
          </a:prstGeom>
          <a:solidFill>
            <a:srgbClr val="F3F4F6"/>
          </a:solidFill>
          <a:ln/>
        </p:spPr>
      </p:sp>
      <p:sp>
        <p:nvSpPr>
          <p:cNvPr id="70" name="Text 62"/>
          <p:cNvSpPr txBox="1"/>
          <p:nvPr/>
        </p:nvSpPr>
        <p:spPr>
          <a:xfrm>
            <a:off x="9822485" y="5055718"/>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71" name="Text 63"/>
          <p:cNvSpPr txBox="1"/>
          <p:nvPr/>
        </p:nvSpPr>
        <p:spPr>
          <a:xfrm>
            <a:off x="9822485" y="5207508"/>
            <a:ext cx="6675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全スライド</a:t>
            </a:r>
            <a:endParaRPr lang="en-US" sz="900" dirty="0"/>
          </a:p>
        </p:txBody>
      </p:sp>
      <p:sp>
        <p:nvSpPr>
          <p:cNvPr id="72" name="Shape 64"/>
          <p:cNvSpPr/>
          <p:nvPr/>
        </p:nvSpPr>
        <p:spPr>
          <a:xfrm>
            <a:off x="2903220" y="4286707"/>
            <a:ext cx="75895" cy="114300"/>
          </a:xfrm>
          <a:prstGeom prst="rect">
            <a:avLst/>
          </a:prstGeom>
          <a:noFill/>
          <a:ln w="76200">
            <a:solidFill>
              <a:srgbClr val="000000">
                <a:alpha val="0"/>
              </a:srgbClr>
            </a:solidFill>
            <a:prstDash val="solid"/>
          </a:ln>
        </p:spPr>
      </p:sp>
      <p:sp>
        <p:nvSpPr>
          <p:cNvPr id="73" name="Shape 65"/>
          <p:cNvSpPr/>
          <p:nvPr/>
        </p:nvSpPr>
        <p:spPr>
          <a:xfrm>
            <a:off x="5159045" y="4286707"/>
            <a:ext cx="75895" cy="114300"/>
          </a:xfrm>
          <a:prstGeom prst="rect">
            <a:avLst/>
          </a:prstGeom>
          <a:noFill/>
          <a:ln w="76200">
            <a:solidFill>
              <a:srgbClr val="000000">
                <a:alpha val="0"/>
              </a:srgbClr>
            </a:solidFill>
            <a:prstDash val="solid"/>
          </a:ln>
        </p:spPr>
      </p:sp>
      <p:sp>
        <p:nvSpPr>
          <p:cNvPr id="74" name="Shape 66"/>
          <p:cNvSpPr/>
          <p:nvPr/>
        </p:nvSpPr>
        <p:spPr>
          <a:xfrm>
            <a:off x="7413955" y="4286707"/>
            <a:ext cx="75895" cy="114300"/>
          </a:xfrm>
          <a:prstGeom prst="rect">
            <a:avLst/>
          </a:prstGeom>
          <a:noFill/>
          <a:ln w="76200">
            <a:solidFill>
              <a:srgbClr val="000000">
                <a:alpha val="0"/>
              </a:srgbClr>
            </a:solidFill>
            <a:prstDash val="solid"/>
          </a:ln>
        </p:spPr>
      </p:sp>
      <p:sp>
        <p:nvSpPr>
          <p:cNvPr id="75" name="Shape 67"/>
          <p:cNvSpPr/>
          <p:nvPr/>
        </p:nvSpPr>
        <p:spPr>
          <a:xfrm>
            <a:off x="9669780" y="4286707"/>
            <a:ext cx="75895" cy="114300"/>
          </a:xfrm>
          <a:prstGeom prst="rect">
            <a:avLst/>
          </a:prstGeom>
          <a:noFill/>
          <a:ln w="76200">
            <a:solidFill>
              <a:srgbClr val="000000">
                <a:alpha val="0"/>
              </a:srgbClr>
            </a:solidFill>
            <a:prstDash val="solid"/>
          </a:ln>
        </p:spPr>
      </p:sp>
      <p:sp>
        <p:nvSpPr>
          <p:cNvPr id="76" name="Shape 68"/>
          <p:cNvSpPr/>
          <p:nvPr/>
        </p:nvSpPr>
        <p:spPr>
          <a:xfrm>
            <a:off x="1953158" y="4206240"/>
            <a:ext cx="838505" cy="276149"/>
          </a:xfrm>
          <a:prstGeom prst="roundRect">
            <a:avLst>
              <a:gd name="adj" fmla="val 331126"/>
            </a:avLst>
          </a:prstGeom>
          <a:solidFill>
            <a:srgbClr val="FFFFFF"/>
          </a:solidFill>
          <a:ln w="25400">
            <a:solidFill>
              <a:srgbClr val="E2E8F0"/>
            </a:solidFill>
            <a:prstDash val="solid"/>
          </a:ln>
          <a:effectLst>
            <a:outerShdw sx="100000" sy="100000" kx="0" ky="0" algn="bl" rotWithShape="0" blurRad="38100" dist="25400" dir="5400000">
              <a:srgbClr val="000000">
                <a:alpha val="5000"/>
              </a:srgbClr>
            </a:outerShdw>
          </a:effectLst>
        </p:spPr>
      </p:sp>
      <p:pic>
        <p:nvPicPr>
          <p:cNvPr id="77" name="Image 6" descr="preencoded.png">    </p:cNvPr>
          <p:cNvPicPr>
            <a:picLocks noChangeAspect="1"/>
          </p:cNvPicPr>
          <p:nvPr/>
        </p:nvPicPr>
        <p:blipFill>
          <a:blip r:embed="rId7"/>
          <a:srcRect l="0" r="0" t="0" b="0"/>
          <a:stretch/>
        </p:blipFill>
        <p:spPr>
          <a:xfrm>
            <a:off x="2086661" y="4291279"/>
            <a:ext cx="105156" cy="105156"/>
          </a:xfrm>
          <a:prstGeom prst="rect">
            <a:avLst/>
          </a:prstGeom>
        </p:spPr>
      </p:pic>
      <p:sp>
        <p:nvSpPr>
          <p:cNvPr id="78" name="Text 69"/>
          <p:cNvSpPr txBox="1"/>
          <p:nvPr/>
        </p:nvSpPr>
        <p:spPr>
          <a:xfrm>
            <a:off x="2229307" y="4263847"/>
            <a:ext cx="509321" cy="162763"/>
          </a:xfrm>
          <a:prstGeom prst="rect">
            <a:avLst/>
          </a:prstGeom>
          <a:noFill/>
          <a:ln/>
        </p:spPr>
        <p:txBody>
          <a:bodyPr wrap="square" lIns="0" tIns="0" rIns="0" bIns="0" rtlCol="0" anchor="ctr"/>
          <a:lstStyle/>
          <a:p>
            <a:pPr algn="l" indent="0" marL="0">
              <a:buNone/>
            </a:pPr>
            <a:r>
              <a:rPr lang="en-US" sz="800" b="1" dirty="0">
                <a:solidFill>
                  <a:srgbClr val="64748B"/>
                </a:solidFill>
                <a:latin typeface="Noto Sans JP" pitchFamily="34" charset="0"/>
                <a:ea typeface="Noto Sans JP" pitchFamily="34" charset="-122"/>
                <a:cs typeface="Noto Sans JP" pitchFamily="34" charset="-120"/>
              </a:rPr>
              <a:t>定義承認</a:t>
            </a:r>
            <a:endParaRPr lang="en-US" sz="800" dirty="0"/>
          </a:p>
        </p:txBody>
      </p:sp>
      <p:sp>
        <p:nvSpPr>
          <p:cNvPr id="79" name="Shape 70"/>
          <p:cNvSpPr/>
          <p:nvPr/>
        </p:nvSpPr>
        <p:spPr>
          <a:xfrm>
            <a:off x="3995014" y="4206240"/>
            <a:ext cx="1057046" cy="276149"/>
          </a:xfrm>
          <a:prstGeom prst="roundRect">
            <a:avLst>
              <a:gd name="adj" fmla="val 331126"/>
            </a:avLst>
          </a:prstGeom>
          <a:solidFill>
            <a:srgbClr val="FFFFFF"/>
          </a:solidFill>
          <a:ln w="25400">
            <a:solidFill>
              <a:srgbClr val="E2E8F0"/>
            </a:solidFill>
            <a:prstDash val="solid"/>
          </a:ln>
          <a:effectLst>
            <a:outerShdw sx="100000" sy="100000" kx="0" ky="0" algn="bl" rotWithShape="0" blurRad="38100" dist="25400" dir="5400000">
              <a:srgbClr val="000000">
                <a:alpha val="5000"/>
              </a:srgbClr>
            </a:outerShdw>
          </a:effectLst>
        </p:spPr>
      </p:sp>
      <p:pic>
        <p:nvPicPr>
          <p:cNvPr id="80" name="Image 7" descr="preencoded.png">    </p:cNvPr>
          <p:cNvPicPr>
            <a:picLocks noChangeAspect="1"/>
          </p:cNvPicPr>
          <p:nvPr/>
        </p:nvPicPr>
        <p:blipFill>
          <a:blip r:embed="rId8"/>
          <a:srcRect l="0" r="0" t="0" b="0"/>
          <a:stretch/>
        </p:blipFill>
        <p:spPr>
          <a:xfrm>
            <a:off x="4128516" y="4291279"/>
            <a:ext cx="105156" cy="105156"/>
          </a:xfrm>
          <a:prstGeom prst="rect">
            <a:avLst/>
          </a:prstGeom>
        </p:spPr>
      </p:pic>
      <p:sp>
        <p:nvSpPr>
          <p:cNvPr id="81" name="Text 71"/>
          <p:cNvSpPr txBox="1"/>
          <p:nvPr/>
        </p:nvSpPr>
        <p:spPr>
          <a:xfrm>
            <a:off x="4271162" y="4263847"/>
            <a:ext cx="727862" cy="162763"/>
          </a:xfrm>
          <a:prstGeom prst="rect">
            <a:avLst/>
          </a:prstGeom>
          <a:noFill/>
          <a:ln/>
        </p:spPr>
        <p:txBody>
          <a:bodyPr wrap="square" lIns="0" tIns="0" rIns="0" bIns="0" rtlCol="0" anchor="ctr"/>
          <a:lstStyle/>
          <a:p>
            <a:pPr algn="l" indent="0" marL="0">
              <a:buNone/>
            </a:pPr>
            <a:r>
              <a:rPr lang="en-US" sz="800" b="1" dirty="0">
                <a:solidFill>
                  <a:srgbClr val="64748B"/>
                </a:solidFill>
                <a:latin typeface="Noto Sans JP" pitchFamily="34" charset="0"/>
                <a:ea typeface="Noto Sans JP" pitchFamily="34" charset="-122"/>
                <a:cs typeface="Noto Sans JP" pitchFamily="34" charset="-120"/>
              </a:rPr>
              <a:t>データ妥当性</a:t>
            </a:r>
            <a:endParaRPr lang="en-US" sz="800" dirty="0"/>
          </a:p>
        </p:txBody>
      </p:sp>
      <p:sp>
        <p:nvSpPr>
          <p:cNvPr id="82" name="Shape 72"/>
          <p:cNvSpPr/>
          <p:nvPr/>
        </p:nvSpPr>
        <p:spPr>
          <a:xfrm>
            <a:off x="6463894" y="4206240"/>
            <a:ext cx="838505" cy="276149"/>
          </a:xfrm>
          <a:prstGeom prst="roundRect">
            <a:avLst>
              <a:gd name="adj" fmla="val 331126"/>
            </a:avLst>
          </a:prstGeom>
          <a:solidFill>
            <a:srgbClr val="FFFFFF"/>
          </a:solidFill>
          <a:ln w="25400">
            <a:solidFill>
              <a:srgbClr val="E2E8F0"/>
            </a:solidFill>
            <a:prstDash val="solid"/>
          </a:ln>
          <a:effectLst>
            <a:outerShdw sx="100000" sy="100000" kx="0" ky="0" algn="bl" rotWithShape="0" blurRad="38100" dist="25400" dir="5400000">
              <a:srgbClr val="000000">
                <a:alpha val="5000"/>
              </a:srgbClr>
            </a:outerShdw>
          </a:effectLst>
        </p:spPr>
      </p:sp>
      <p:pic>
        <p:nvPicPr>
          <p:cNvPr id="83" name="Image 8" descr="preencoded.png">    </p:cNvPr>
          <p:cNvPicPr>
            <a:picLocks noChangeAspect="1"/>
          </p:cNvPicPr>
          <p:nvPr/>
        </p:nvPicPr>
        <p:blipFill>
          <a:blip r:embed="rId9"/>
          <a:srcRect l="0" r="0" t="0" b="0"/>
          <a:stretch/>
        </p:blipFill>
        <p:spPr>
          <a:xfrm>
            <a:off x="6597396" y="4291279"/>
            <a:ext cx="105156" cy="105156"/>
          </a:xfrm>
          <a:prstGeom prst="rect">
            <a:avLst/>
          </a:prstGeom>
        </p:spPr>
      </p:pic>
      <p:sp>
        <p:nvSpPr>
          <p:cNvPr id="84" name="Text 73"/>
          <p:cNvSpPr txBox="1"/>
          <p:nvPr/>
        </p:nvSpPr>
        <p:spPr>
          <a:xfrm>
            <a:off x="6740042" y="4263847"/>
            <a:ext cx="509321" cy="162763"/>
          </a:xfrm>
          <a:prstGeom prst="rect">
            <a:avLst/>
          </a:prstGeom>
          <a:noFill/>
          <a:ln/>
        </p:spPr>
        <p:txBody>
          <a:bodyPr wrap="square" lIns="0" tIns="0" rIns="0" bIns="0" rtlCol="0" anchor="ctr"/>
          <a:lstStyle/>
          <a:p>
            <a:pPr algn="l" indent="0" marL="0">
              <a:buNone/>
            </a:pPr>
            <a:r>
              <a:rPr lang="en-US" sz="800" b="1" dirty="0">
                <a:solidFill>
                  <a:srgbClr val="64748B"/>
                </a:solidFill>
                <a:latin typeface="Noto Sans JP" pitchFamily="34" charset="0"/>
                <a:ea typeface="Noto Sans JP" pitchFamily="34" charset="-122"/>
                <a:cs typeface="Noto Sans JP" pitchFamily="34" charset="-120"/>
              </a:rPr>
              <a:t>構成承認</a:t>
            </a:r>
            <a:endParaRPr lang="en-US" sz="800" dirty="0"/>
          </a:p>
        </p:txBody>
      </p:sp>
      <p:sp>
        <p:nvSpPr>
          <p:cNvPr id="85" name="Shape 74"/>
          <p:cNvSpPr/>
          <p:nvPr/>
        </p:nvSpPr>
        <p:spPr>
          <a:xfrm>
            <a:off x="8506663" y="4206240"/>
            <a:ext cx="1057046" cy="276149"/>
          </a:xfrm>
          <a:prstGeom prst="roundRect">
            <a:avLst>
              <a:gd name="adj" fmla="val 331126"/>
            </a:avLst>
          </a:prstGeom>
          <a:solidFill>
            <a:srgbClr val="FFFFFF"/>
          </a:solidFill>
          <a:ln w="25400">
            <a:solidFill>
              <a:srgbClr val="E2E8F0"/>
            </a:solidFill>
            <a:prstDash val="solid"/>
          </a:ln>
          <a:effectLst>
            <a:outerShdw sx="100000" sy="100000" kx="0" ky="0" algn="bl" rotWithShape="0" blurRad="38100" dist="25400" dir="5400000">
              <a:srgbClr val="000000">
                <a:alpha val="5000"/>
              </a:srgbClr>
            </a:outerShdw>
          </a:effectLst>
        </p:spPr>
      </p:sp>
      <p:pic>
        <p:nvPicPr>
          <p:cNvPr id="86" name="Image 9" descr="preencoded.png">    </p:cNvPr>
          <p:cNvPicPr>
            <a:picLocks noChangeAspect="1"/>
          </p:cNvPicPr>
          <p:nvPr/>
        </p:nvPicPr>
        <p:blipFill>
          <a:blip r:embed="rId10"/>
          <a:srcRect l="0" r="0" t="0" b="0"/>
          <a:stretch/>
        </p:blipFill>
        <p:spPr>
          <a:xfrm>
            <a:off x="8639251" y="4291279"/>
            <a:ext cx="105156" cy="105156"/>
          </a:xfrm>
          <a:prstGeom prst="rect">
            <a:avLst/>
          </a:prstGeom>
        </p:spPr>
      </p:pic>
      <p:sp>
        <p:nvSpPr>
          <p:cNvPr id="87" name="Text 75"/>
          <p:cNvSpPr txBox="1"/>
          <p:nvPr/>
        </p:nvSpPr>
        <p:spPr>
          <a:xfrm>
            <a:off x="8782812" y="4263847"/>
            <a:ext cx="727862" cy="162763"/>
          </a:xfrm>
          <a:prstGeom prst="rect">
            <a:avLst/>
          </a:prstGeom>
          <a:noFill/>
          <a:ln/>
        </p:spPr>
        <p:txBody>
          <a:bodyPr wrap="square" lIns="0" tIns="0" rIns="0" bIns="0" rtlCol="0" anchor="ctr"/>
          <a:lstStyle/>
          <a:p>
            <a:pPr algn="l" indent="0" marL="0">
              <a:buNone/>
            </a:pPr>
            <a:r>
              <a:rPr lang="en-US" sz="800" b="1" dirty="0">
                <a:solidFill>
                  <a:srgbClr val="64748B"/>
                </a:solidFill>
                <a:latin typeface="Noto Sans JP" pitchFamily="34" charset="0"/>
                <a:ea typeface="Noto Sans JP" pitchFamily="34" charset="-122"/>
                <a:cs typeface="Noto Sans JP" pitchFamily="34" charset="-120"/>
              </a:rPr>
              <a:t>完成レビュー</a:t>
            </a:r>
            <a:endParaRPr lang="en-US" sz="800" dirty="0"/>
          </a:p>
        </p:txBody>
      </p:sp>
      <p:sp>
        <p:nvSpPr>
          <p:cNvPr id="88" name="Shape 76"/>
          <p:cNvSpPr/>
          <p:nvPr/>
        </p:nvSpPr>
        <p:spPr>
          <a:xfrm>
            <a:off x="10851185" y="4206240"/>
            <a:ext cx="828446" cy="276149"/>
          </a:xfrm>
          <a:prstGeom prst="roundRect">
            <a:avLst>
              <a:gd name="adj" fmla="val 331126"/>
            </a:avLst>
          </a:prstGeom>
          <a:solidFill>
            <a:srgbClr val="FFFBEB"/>
          </a:solidFill>
          <a:ln w="25400">
            <a:solidFill>
              <a:srgbClr val="F59E0B"/>
            </a:solidFill>
            <a:prstDash val="solid"/>
          </a:ln>
          <a:effectLst>
            <a:outerShdw sx="100000" sy="100000" kx="0" ky="0" algn="bl" rotWithShape="0" blurRad="38100" dist="25400" dir="5400000">
              <a:srgbClr val="000000">
                <a:alpha val="5000"/>
              </a:srgbClr>
            </a:outerShdw>
          </a:effectLst>
        </p:spPr>
      </p:sp>
      <p:pic>
        <p:nvPicPr>
          <p:cNvPr id="89" name="Image 10" descr="preencoded.png">    </p:cNvPr>
          <p:cNvPicPr>
            <a:picLocks noChangeAspect="1"/>
          </p:cNvPicPr>
          <p:nvPr/>
        </p:nvPicPr>
        <p:blipFill>
          <a:blip r:embed="rId11"/>
          <a:srcRect l="-1677" r="-1677" t="0" b="0"/>
          <a:stretch/>
        </p:blipFill>
        <p:spPr>
          <a:xfrm>
            <a:off x="10984687" y="4291279"/>
            <a:ext cx="95098" cy="105156"/>
          </a:xfrm>
          <a:prstGeom prst="rect">
            <a:avLst/>
          </a:prstGeom>
        </p:spPr>
      </p:pic>
      <p:sp>
        <p:nvSpPr>
          <p:cNvPr id="90" name="Text 77"/>
          <p:cNvSpPr txBox="1"/>
          <p:nvPr/>
        </p:nvSpPr>
        <p:spPr>
          <a:xfrm>
            <a:off x="11118190" y="4263847"/>
            <a:ext cx="509321" cy="162763"/>
          </a:xfrm>
          <a:prstGeom prst="rect">
            <a:avLst/>
          </a:prstGeom>
          <a:noFill/>
          <a:ln/>
        </p:spPr>
        <p:txBody>
          <a:bodyPr wrap="square" lIns="0" tIns="0" rIns="0" bIns="0" rtlCol="0" anchor="ctr"/>
          <a:lstStyle/>
          <a:p>
            <a:pPr algn="l" indent="0" marL="0">
              <a:buNone/>
            </a:pPr>
            <a:r>
              <a:rPr lang="en-US" sz="800" b="1" dirty="0">
                <a:solidFill>
                  <a:srgbClr val="D97706"/>
                </a:solidFill>
                <a:latin typeface="Noto Sans JP" pitchFamily="34" charset="0"/>
                <a:ea typeface="Noto Sans JP" pitchFamily="34" charset="-122"/>
                <a:cs typeface="Noto Sans JP" pitchFamily="34" charset="-120"/>
              </a:rPr>
              <a:t>出荷判定</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1101852"/>
            <a:ext cx="4572000" cy="3552444"/>
          </a:xfrm>
          <a:prstGeom prst="roundRect">
            <a:avLst>
              <a:gd name="adj" fmla="val 828"/>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0" r="0" t="0" b="0"/>
          <a:stretch/>
        </p:blipFill>
        <p:spPr>
          <a:xfrm>
            <a:off x="694944" y="1378001"/>
            <a:ext cx="190195" cy="190195"/>
          </a:xfrm>
          <a:prstGeom prst="rect">
            <a:avLst/>
          </a:prstGeom>
        </p:spPr>
      </p:pic>
      <p:sp>
        <p:nvSpPr>
          <p:cNvPr id="6" name="Text 3"/>
          <p:cNvSpPr txBox="1"/>
          <p:nvPr/>
        </p:nvSpPr>
        <p:spPr>
          <a:xfrm>
            <a:off x="1000354" y="1330452"/>
            <a:ext cx="2467051" cy="277063"/>
          </a:xfrm>
          <a:prstGeom prst="rect">
            <a:avLst/>
          </a:prstGeom>
          <a:noFill/>
          <a:ln/>
        </p:spPr>
        <p:txBody>
          <a:bodyPr wrap="square" lIns="0" tIns="0" rIns="0" bIns="0" rtlCol="0" anchor="ctr"/>
          <a:lstStyle/>
          <a:p>
            <a:pPr algn="l" indent="0" marL="0">
              <a:buNone/>
            </a:pPr>
            <a:r>
              <a:rPr lang="en-US" sz="1500" b="1" dirty="0">
                <a:solidFill>
                  <a:srgbClr val="1E40AF"/>
                </a:solidFill>
                <a:latin typeface="Noto Sans JP" pitchFamily="34" charset="0"/>
                <a:ea typeface="Noto Sans JP" pitchFamily="34" charset="-122"/>
                <a:cs typeface="Noto Sans JP" pitchFamily="34" charset="-120"/>
              </a:rPr>
              <a:t>主要活動 (Main Activities)</a:t>
            </a:r>
            <a:endParaRPr lang="en-US" sz="1500" dirty="0"/>
          </a:p>
        </p:txBody>
      </p:sp>
      <p:sp>
        <p:nvSpPr>
          <p:cNvPr id="7" name="Shape 4"/>
          <p:cNvSpPr/>
          <p:nvPr/>
        </p:nvSpPr>
        <p:spPr>
          <a:xfrm>
            <a:off x="694944" y="1796796"/>
            <a:ext cx="228600" cy="228600"/>
          </a:xfrm>
          <a:prstGeom prst="roundRect">
            <a:avLst>
              <a:gd name="adj" fmla="val 400000"/>
            </a:avLst>
          </a:prstGeom>
          <a:solidFill>
            <a:srgbClr val="DBEAFE"/>
          </a:solidFill>
          <a:ln/>
        </p:spPr>
      </p:sp>
      <p:pic>
        <p:nvPicPr>
          <p:cNvPr id="8" name="Image 1" descr="preencoded.png">    </p:cNvPr>
          <p:cNvPicPr>
            <a:picLocks noChangeAspect="1"/>
          </p:cNvPicPr>
          <p:nvPr/>
        </p:nvPicPr>
        <p:blipFill>
          <a:blip r:embed="rId2"/>
          <a:srcRect l="-7143" r="-7143" t="0" b="0"/>
          <a:stretch/>
        </p:blipFill>
        <p:spPr>
          <a:xfrm>
            <a:off x="733349" y="1835201"/>
            <a:ext cx="152705" cy="152705"/>
          </a:xfrm>
          <a:prstGeom prst="rect">
            <a:avLst/>
          </a:prstGeom>
        </p:spPr>
      </p:pic>
      <p:sp>
        <p:nvSpPr>
          <p:cNvPr id="9" name="Text 5"/>
          <p:cNvSpPr txBox="1"/>
          <p:nvPr/>
        </p:nvSpPr>
        <p:spPr>
          <a:xfrm>
            <a:off x="1037844" y="1759306"/>
            <a:ext cx="1800454"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抽象的要望のヒアリング</a:t>
            </a:r>
            <a:endParaRPr lang="en-US" sz="1200" dirty="0"/>
          </a:p>
        </p:txBody>
      </p:sp>
      <p:sp>
        <p:nvSpPr>
          <p:cNvPr id="10" name="Text 6"/>
          <p:cNvSpPr txBox="1"/>
          <p:nvPr/>
        </p:nvSpPr>
        <p:spPr>
          <a:xfrm>
            <a:off x="1037844" y="2025396"/>
            <a:ext cx="29004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「作りたい」という意図を具体的な要件へ変換</a:t>
            </a:r>
            <a:endParaRPr lang="en-US" sz="1000" dirty="0"/>
          </a:p>
        </p:txBody>
      </p:sp>
      <p:sp>
        <p:nvSpPr>
          <p:cNvPr id="11" name="Shape 7"/>
          <p:cNvSpPr/>
          <p:nvPr/>
        </p:nvSpPr>
        <p:spPr>
          <a:xfrm>
            <a:off x="694944" y="2406701"/>
            <a:ext cx="228600" cy="228600"/>
          </a:xfrm>
          <a:prstGeom prst="roundRect">
            <a:avLst>
              <a:gd name="adj" fmla="val 400000"/>
            </a:avLst>
          </a:prstGeom>
          <a:solidFill>
            <a:srgbClr val="DBEAFE"/>
          </a:solidFill>
          <a:ln/>
        </p:spPr>
      </p:sp>
      <p:pic>
        <p:nvPicPr>
          <p:cNvPr id="12" name="Image 2" descr="preencoded.png">    </p:cNvPr>
          <p:cNvPicPr>
            <a:picLocks noChangeAspect="1"/>
          </p:cNvPicPr>
          <p:nvPr/>
        </p:nvPicPr>
        <p:blipFill>
          <a:blip r:embed="rId3"/>
          <a:srcRect l="-7143" r="-7143" t="0" b="0"/>
          <a:stretch/>
        </p:blipFill>
        <p:spPr>
          <a:xfrm>
            <a:off x="733349" y="2445106"/>
            <a:ext cx="152705" cy="152705"/>
          </a:xfrm>
          <a:prstGeom prst="rect">
            <a:avLst/>
          </a:prstGeom>
        </p:spPr>
      </p:pic>
      <p:sp>
        <p:nvSpPr>
          <p:cNvPr id="13" name="Text 8"/>
          <p:cNvSpPr txBox="1"/>
          <p:nvPr/>
        </p:nvSpPr>
        <p:spPr>
          <a:xfrm>
            <a:off x="1037844" y="2368296"/>
            <a:ext cx="224851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目的・対象・使用シーンの確定</a:t>
            </a:r>
            <a:endParaRPr lang="en-US" sz="1200" dirty="0"/>
          </a:p>
        </p:txBody>
      </p:sp>
      <p:sp>
        <p:nvSpPr>
          <p:cNvPr id="14" name="Text 9"/>
          <p:cNvSpPr txBox="1"/>
          <p:nvPr/>
        </p:nvSpPr>
        <p:spPr>
          <a:xfrm>
            <a:off x="1037844" y="2635301"/>
            <a:ext cx="2367382"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誰に、いつ、何を伝えたいかを明確化</a:t>
            </a:r>
            <a:endParaRPr lang="en-US" sz="1000" dirty="0"/>
          </a:p>
        </p:txBody>
      </p:sp>
      <p:sp>
        <p:nvSpPr>
          <p:cNvPr id="15" name="Shape 10"/>
          <p:cNvSpPr/>
          <p:nvPr/>
        </p:nvSpPr>
        <p:spPr>
          <a:xfrm>
            <a:off x="694944" y="3016606"/>
            <a:ext cx="228600" cy="228600"/>
          </a:xfrm>
          <a:prstGeom prst="roundRect">
            <a:avLst>
              <a:gd name="adj" fmla="val 400000"/>
            </a:avLst>
          </a:prstGeom>
          <a:solidFill>
            <a:srgbClr val="DBEAFE"/>
          </a:solidFill>
          <a:ln/>
        </p:spPr>
      </p:sp>
      <p:pic>
        <p:nvPicPr>
          <p:cNvPr id="16" name="Image 3" descr="preencoded.png">    </p:cNvPr>
          <p:cNvPicPr>
            <a:picLocks noChangeAspect="1"/>
          </p:cNvPicPr>
          <p:nvPr/>
        </p:nvPicPr>
        <p:blipFill>
          <a:blip r:embed="rId4"/>
          <a:srcRect l="-7143" r="-7143" t="0" b="0"/>
          <a:stretch/>
        </p:blipFill>
        <p:spPr>
          <a:xfrm>
            <a:off x="733349" y="3054096"/>
            <a:ext cx="152705" cy="152705"/>
          </a:xfrm>
          <a:prstGeom prst="rect">
            <a:avLst/>
          </a:prstGeom>
        </p:spPr>
      </p:pic>
      <p:sp>
        <p:nvSpPr>
          <p:cNvPr id="17" name="Text 11"/>
          <p:cNvSpPr txBox="1"/>
          <p:nvPr/>
        </p:nvSpPr>
        <p:spPr>
          <a:xfrm>
            <a:off x="1037844" y="2978201"/>
            <a:ext cx="1629461"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成功基準 (KPI) の定義</a:t>
            </a:r>
            <a:endParaRPr lang="en-US" sz="1200" dirty="0"/>
          </a:p>
        </p:txBody>
      </p:sp>
      <p:sp>
        <p:nvSpPr>
          <p:cNvPr id="18" name="Text 12"/>
          <p:cNvSpPr txBox="1"/>
          <p:nvPr/>
        </p:nvSpPr>
        <p:spPr>
          <a:xfrm>
            <a:off x="1037844" y="3245206"/>
            <a:ext cx="223387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スライドが達成すべきゴールを設定</a:t>
            </a:r>
            <a:endParaRPr lang="en-US" sz="1000" dirty="0"/>
          </a:p>
        </p:txBody>
      </p:sp>
      <p:sp>
        <p:nvSpPr>
          <p:cNvPr id="19" name="Shape 13"/>
          <p:cNvSpPr/>
          <p:nvPr/>
        </p:nvSpPr>
        <p:spPr>
          <a:xfrm>
            <a:off x="457200" y="4876495"/>
            <a:ext cx="2210105" cy="1524305"/>
          </a:xfrm>
          <a:prstGeom prst="roundRect">
            <a:avLst>
              <a:gd name="adj" fmla="val 4499"/>
            </a:avLst>
          </a:prstGeom>
          <a:solidFill>
            <a:srgbClr val="F9FAFB"/>
          </a:solidFill>
          <a:ln w="12700">
            <a:solidFill>
              <a:srgbClr val="E5E7EB"/>
            </a:solidFill>
            <a:prstDash val="solid"/>
          </a:ln>
        </p:spPr>
      </p:sp>
      <p:pic>
        <p:nvPicPr>
          <p:cNvPr id="20" name="Image 4" descr="preencoded.png">    </p:cNvPr>
          <p:cNvPicPr>
            <a:picLocks noChangeAspect="1"/>
          </p:cNvPicPr>
          <p:nvPr/>
        </p:nvPicPr>
        <p:blipFill>
          <a:blip r:embed="rId5"/>
          <a:srcRect l="0" r="0" t="0" b="0"/>
          <a:stretch/>
        </p:blipFill>
        <p:spPr>
          <a:xfrm>
            <a:off x="657454" y="5100523"/>
            <a:ext cx="114300" cy="114300"/>
          </a:xfrm>
          <a:prstGeom prst="rect">
            <a:avLst/>
          </a:prstGeom>
        </p:spPr>
      </p:pic>
      <p:sp>
        <p:nvSpPr>
          <p:cNvPr id="21" name="Text 14"/>
          <p:cNvSpPr txBox="1"/>
          <p:nvPr/>
        </p:nvSpPr>
        <p:spPr>
          <a:xfrm>
            <a:off x="809244" y="5067605"/>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22" name="Shape 15"/>
          <p:cNvSpPr/>
          <p:nvPr/>
        </p:nvSpPr>
        <p:spPr>
          <a:xfrm>
            <a:off x="657454" y="5305349"/>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3" name="Image 5" descr="preencoded.png">    </p:cNvPr>
          <p:cNvPicPr>
            <a:picLocks noChangeAspect="1"/>
          </p:cNvPicPr>
          <p:nvPr/>
        </p:nvPicPr>
        <p:blipFill>
          <a:blip r:embed="rId6"/>
          <a:srcRect l="0" r="0" t="0" b="0"/>
          <a:stretch/>
        </p:blipFill>
        <p:spPr>
          <a:xfrm>
            <a:off x="780898" y="5426964"/>
            <a:ext cx="133502" cy="133502"/>
          </a:xfrm>
          <a:prstGeom prst="rect">
            <a:avLst/>
          </a:prstGeom>
        </p:spPr>
      </p:pic>
      <p:sp>
        <p:nvSpPr>
          <p:cNvPr id="24" name="Text 16"/>
          <p:cNvSpPr txBox="1"/>
          <p:nvPr/>
        </p:nvSpPr>
        <p:spPr>
          <a:xfrm>
            <a:off x="990295" y="5391302"/>
            <a:ext cx="900684"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ユーザー要望</a:t>
            </a:r>
            <a:endParaRPr lang="en-US" sz="1000" dirty="0"/>
          </a:p>
        </p:txBody>
      </p:sp>
      <p:sp>
        <p:nvSpPr>
          <p:cNvPr id="25" name="Shape 17"/>
          <p:cNvSpPr/>
          <p:nvPr/>
        </p:nvSpPr>
        <p:spPr>
          <a:xfrm>
            <a:off x="657454" y="5743346"/>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6" name="Image 6" descr="preencoded.png">    </p:cNvPr>
          <p:cNvPicPr>
            <a:picLocks noChangeAspect="1"/>
          </p:cNvPicPr>
          <p:nvPr/>
        </p:nvPicPr>
        <p:blipFill>
          <a:blip r:embed="rId7"/>
          <a:srcRect l="0" r="0" t="0" b="0"/>
          <a:stretch/>
        </p:blipFill>
        <p:spPr>
          <a:xfrm>
            <a:off x="780898" y="5864962"/>
            <a:ext cx="133502" cy="133502"/>
          </a:xfrm>
          <a:prstGeom prst="rect">
            <a:avLst/>
          </a:prstGeom>
        </p:spPr>
      </p:pic>
      <p:sp>
        <p:nvSpPr>
          <p:cNvPr id="27" name="Text 18"/>
          <p:cNvSpPr txBox="1"/>
          <p:nvPr/>
        </p:nvSpPr>
        <p:spPr>
          <a:xfrm>
            <a:off x="990295" y="5829300"/>
            <a:ext cx="6336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参考画像</a:t>
            </a:r>
            <a:endParaRPr lang="en-US" sz="1000" dirty="0"/>
          </a:p>
        </p:txBody>
      </p:sp>
      <p:sp>
        <p:nvSpPr>
          <p:cNvPr id="28" name="Shape 19"/>
          <p:cNvSpPr/>
          <p:nvPr/>
        </p:nvSpPr>
        <p:spPr>
          <a:xfrm>
            <a:off x="2819095" y="4876495"/>
            <a:ext cx="2210105" cy="1524305"/>
          </a:xfrm>
          <a:prstGeom prst="roundRect">
            <a:avLst>
              <a:gd name="adj" fmla="val 4499"/>
            </a:avLst>
          </a:prstGeom>
          <a:solidFill>
            <a:srgbClr val="EFF6FF"/>
          </a:solidFill>
          <a:ln w="12700">
            <a:solidFill>
              <a:srgbClr val="DBEAFE"/>
            </a:solidFill>
            <a:prstDash val="solid"/>
          </a:ln>
        </p:spPr>
      </p:sp>
      <p:sp>
        <p:nvSpPr>
          <p:cNvPr id="29" name="Shape 20"/>
          <p:cNvSpPr/>
          <p:nvPr/>
        </p:nvSpPr>
        <p:spPr>
          <a:xfrm>
            <a:off x="4410151" y="4886554"/>
            <a:ext cx="609905" cy="609905"/>
          </a:xfrm>
          <a:prstGeom prst="rect">
            <a:avLst/>
          </a:prstGeom>
          <a:solidFill>
            <a:srgbClr val="DBEAFE">
              <a:alpha val="50000"/>
            </a:srgbClr>
          </a:solidFill>
          <a:ln/>
        </p:spPr>
      </p:sp>
      <p:pic>
        <p:nvPicPr>
          <p:cNvPr id="30" name="Image 7" descr="preencoded.png">    </p:cNvPr>
          <p:cNvPicPr>
            <a:picLocks noChangeAspect="1"/>
          </p:cNvPicPr>
          <p:nvPr/>
        </p:nvPicPr>
        <p:blipFill>
          <a:blip r:embed="rId8"/>
          <a:srcRect l="0" r="0" t="0" b="0"/>
          <a:stretch/>
        </p:blipFill>
        <p:spPr>
          <a:xfrm>
            <a:off x="3019349" y="5100523"/>
            <a:ext cx="114300" cy="114300"/>
          </a:xfrm>
          <a:prstGeom prst="rect">
            <a:avLst/>
          </a:prstGeom>
        </p:spPr>
      </p:pic>
      <p:sp>
        <p:nvSpPr>
          <p:cNvPr id="31" name="Text 21"/>
          <p:cNvSpPr txBox="1"/>
          <p:nvPr/>
        </p:nvSpPr>
        <p:spPr>
          <a:xfrm>
            <a:off x="3172054" y="5067605"/>
            <a:ext cx="571500"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OUTPUT</a:t>
            </a:r>
            <a:endParaRPr lang="en-US" sz="900" dirty="0"/>
          </a:p>
        </p:txBody>
      </p:sp>
      <p:sp>
        <p:nvSpPr>
          <p:cNvPr id="32" name="Shape 22"/>
          <p:cNvSpPr/>
          <p:nvPr/>
        </p:nvSpPr>
        <p:spPr>
          <a:xfrm>
            <a:off x="5333695" y="1101852"/>
            <a:ext cx="6400800" cy="2180844"/>
          </a:xfrm>
          <a:prstGeom prst="roundRect">
            <a:avLst>
              <a:gd name="adj" fmla="val 2197"/>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3" name="Image 8" descr="preencoded.png">    </p:cNvPr>
          <p:cNvPicPr>
            <a:picLocks noChangeAspect="1"/>
          </p:cNvPicPr>
          <p:nvPr/>
        </p:nvPicPr>
        <p:blipFill>
          <a:blip r:embed="rId9"/>
          <a:srcRect l="-1282" r="-1282" t="0" b="0"/>
          <a:stretch/>
        </p:blipFill>
        <p:spPr>
          <a:xfrm>
            <a:off x="5572354" y="1378001"/>
            <a:ext cx="219456" cy="190195"/>
          </a:xfrm>
          <a:prstGeom prst="rect">
            <a:avLst/>
          </a:prstGeom>
        </p:spPr>
      </p:pic>
      <p:sp>
        <p:nvSpPr>
          <p:cNvPr id="34" name="Text 23"/>
          <p:cNvSpPr txBox="1"/>
          <p:nvPr/>
        </p:nvSpPr>
        <p:spPr>
          <a:xfrm>
            <a:off x="5905195" y="1330452"/>
            <a:ext cx="2753258"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プロンプト設計 (Key Prompt)</a:t>
            </a:r>
            <a:endParaRPr lang="en-US" sz="1500" dirty="0"/>
          </a:p>
        </p:txBody>
      </p:sp>
      <p:sp>
        <p:nvSpPr>
          <p:cNvPr id="35" name="Shape 24"/>
          <p:cNvSpPr/>
          <p:nvPr/>
        </p:nvSpPr>
        <p:spPr>
          <a:xfrm>
            <a:off x="10285171" y="1358798"/>
            <a:ext cx="1218895" cy="228600"/>
          </a:xfrm>
          <a:prstGeom prst="roundRect">
            <a:avLst>
              <a:gd name="adj" fmla="val 66667"/>
            </a:avLst>
          </a:prstGeom>
          <a:solidFill>
            <a:srgbClr val="F3F4F6"/>
          </a:solidFill>
          <a:ln/>
        </p:spPr>
      </p:sp>
      <p:sp>
        <p:nvSpPr>
          <p:cNvPr id="36" name="Text 25"/>
          <p:cNvSpPr txBox="1"/>
          <p:nvPr/>
        </p:nvSpPr>
        <p:spPr>
          <a:xfrm>
            <a:off x="10361066" y="1388059"/>
            <a:ext cx="1153058"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System Instruction</a:t>
            </a:r>
            <a:endParaRPr lang="en-US" sz="900" dirty="0"/>
          </a:p>
        </p:txBody>
      </p:sp>
      <p:sp>
        <p:nvSpPr>
          <p:cNvPr id="37" name="Shape 26"/>
          <p:cNvSpPr/>
          <p:nvPr/>
        </p:nvSpPr>
        <p:spPr>
          <a:xfrm>
            <a:off x="5572354" y="1759306"/>
            <a:ext cx="5924398" cy="694944"/>
          </a:xfrm>
          <a:prstGeom prst="roundRect">
            <a:avLst>
              <a:gd name="adj" fmla="val 14420"/>
            </a:avLst>
          </a:prstGeom>
          <a:solidFill>
            <a:srgbClr val="1E293B"/>
          </a:solidFill>
          <a:ln/>
        </p:spPr>
      </p:sp>
      <p:sp>
        <p:nvSpPr>
          <p:cNvPr id="38" name="Shape 27"/>
          <p:cNvSpPr/>
          <p:nvPr/>
        </p:nvSpPr>
        <p:spPr>
          <a:xfrm>
            <a:off x="5572354" y="1759306"/>
            <a:ext cx="38405" cy="694944"/>
          </a:xfrm>
          <a:prstGeom prst="rect">
            <a:avLst/>
          </a:prstGeom>
          <a:solidFill>
            <a:srgbClr val="3B82F6"/>
          </a:solidFill>
          <a:ln/>
        </p:spPr>
      </p:sp>
      <p:sp>
        <p:nvSpPr>
          <p:cNvPr id="39" name="Text 28"/>
          <p:cNvSpPr txBox="1"/>
          <p:nvPr/>
        </p:nvSpPr>
        <p:spPr>
          <a:xfrm>
            <a:off x="5762549" y="1930298"/>
            <a:ext cx="5660136" cy="342900"/>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「抽象的な要望を要求定義に落とし込みたい。 目的・対象・テーマ・構成・デザイン・特別要素を 質問形式で整理して、 回答を基に要求定義書とスライド構成案を作成して」</a:t>
            </a:r>
            <a:endParaRPr lang="en-US" sz="1000" dirty="0"/>
          </a:p>
        </p:txBody>
      </p:sp>
      <p:pic>
        <p:nvPicPr>
          <p:cNvPr id="40" name="Image 9" descr="preencoded.png">    </p:cNvPr>
          <p:cNvPicPr>
            <a:picLocks noChangeAspect="1"/>
          </p:cNvPicPr>
          <p:nvPr/>
        </p:nvPicPr>
        <p:blipFill>
          <a:blip r:embed="rId10"/>
          <a:srcRect l="0" r="0" t="0" b="0"/>
          <a:stretch/>
        </p:blipFill>
        <p:spPr>
          <a:xfrm>
            <a:off x="5572354" y="2649931"/>
            <a:ext cx="133502" cy="133502"/>
          </a:xfrm>
          <a:prstGeom prst="rect">
            <a:avLst/>
          </a:prstGeom>
        </p:spPr>
      </p:pic>
      <p:sp>
        <p:nvSpPr>
          <p:cNvPr id="41" name="Text 29"/>
          <p:cNvSpPr txBox="1"/>
          <p:nvPr/>
        </p:nvSpPr>
        <p:spPr>
          <a:xfrm>
            <a:off x="5572354" y="2614270"/>
            <a:ext cx="5986577"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AIに「コンサルタント」の役割を与え、ユーザー自身も気づいていない要件を引き出すための質問プロセスを自動化します。</a:t>
            </a:r>
            <a:endParaRPr lang="en-US" sz="1000" dirty="0"/>
          </a:p>
        </p:txBody>
      </p:sp>
      <p:sp>
        <p:nvSpPr>
          <p:cNvPr id="42" name="Shape 30"/>
          <p:cNvSpPr/>
          <p:nvPr/>
        </p:nvSpPr>
        <p:spPr>
          <a:xfrm>
            <a:off x="5333695" y="3504895"/>
            <a:ext cx="6400800" cy="2895905"/>
          </a:xfrm>
          <a:prstGeom prst="roundRect">
            <a:avLst>
              <a:gd name="adj" fmla="val 1246"/>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3" name="Image 10" descr="preencoded.png">    </p:cNvPr>
          <p:cNvPicPr>
            <a:picLocks noChangeAspect="1"/>
          </p:cNvPicPr>
          <p:nvPr/>
        </p:nvPicPr>
        <p:blipFill>
          <a:blip r:embed="rId11"/>
          <a:srcRect l="0" r="0" t="0" b="0"/>
          <a:stretch/>
        </p:blipFill>
        <p:spPr>
          <a:xfrm>
            <a:off x="5572354" y="3781044"/>
            <a:ext cx="142646" cy="190195"/>
          </a:xfrm>
          <a:prstGeom prst="rect">
            <a:avLst/>
          </a:prstGeom>
        </p:spPr>
      </p:pic>
      <p:sp>
        <p:nvSpPr>
          <p:cNvPr id="44" name="Text 31"/>
          <p:cNvSpPr txBox="1"/>
          <p:nvPr/>
        </p:nvSpPr>
        <p:spPr>
          <a:xfrm>
            <a:off x="5829300" y="3733495"/>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5" name="Shape 32"/>
          <p:cNvSpPr/>
          <p:nvPr/>
        </p:nvSpPr>
        <p:spPr>
          <a:xfrm>
            <a:off x="5572354" y="4162349"/>
            <a:ext cx="5924398" cy="590702"/>
          </a:xfrm>
          <a:prstGeom prst="roundRect">
            <a:avLst>
              <a:gd name="adj" fmla="val 19974"/>
            </a:avLst>
          </a:prstGeom>
          <a:solidFill>
            <a:srgbClr val="ECFDF5"/>
          </a:solidFill>
          <a:ln w="12700">
            <a:solidFill>
              <a:srgbClr val="D1FAE5"/>
            </a:solidFill>
            <a:prstDash val="solid"/>
          </a:ln>
        </p:spPr>
      </p:sp>
      <p:pic>
        <p:nvPicPr>
          <p:cNvPr id="46" name="Image 11" descr="preencoded.png">    </p:cNvPr>
          <p:cNvPicPr>
            <a:picLocks noChangeAspect="1"/>
          </p:cNvPicPr>
          <p:nvPr/>
        </p:nvPicPr>
        <p:blipFill>
          <a:blip r:embed="rId12"/>
          <a:srcRect l="-38564" r="-38564" t="0" b="0"/>
          <a:stretch/>
        </p:blipFill>
        <p:spPr>
          <a:xfrm>
            <a:off x="5695798" y="4371746"/>
            <a:ext cx="304495" cy="171907"/>
          </a:xfrm>
          <a:prstGeom prst="rect">
            <a:avLst/>
          </a:prstGeom>
        </p:spPr>
      </p:pic>
      <p:sp>
        <p:nvSpPr>
          <p:cNvPr id="47" name="Text 33"/>
          <p:cNvSpPr txBox="1"/>
          <p:nvPr/>
        </p:nvSpPr>
        <p:spPr>
          <a:xfrm>
            <a:off x="6001207" y="4286707"/>
            <a:ext cx="109087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目的のSMART化</a:t>
            </a:r>
            <a:endParaRPr lang="en-US" sz="1000" dirty="0"/>
          </a:p>
        </p:txBody>
      </p:sp>
      <p:sp>
        <p:nvSpPr>
          <p:cNvPr id="48" name="Text 34"/>
          <p:cNvSpPr txBox="1"/>
          <p:nvPr/>
        </p:nvSpPr>
        <p:spPr>
          <a:xfrm>
            <a:off x="6001207" y="4466844"/>
            <a:ext cx="30577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Specific, Measurable, Achievable, Relevant, Time-bound</a:t>
            </a:r>
            <a:endParaRPr lang="en-US" sz="900" dirty="0"/>
          </a:p>
        </p:txBody>
      </p:sp>
      <p:sp>
        <p:nvSpPr>
          <p:cNvPr id="49" name="Shape 35"/>
          <p:cNvSpPr/>
          <p:nvPr/>
        </p:nvSpPr>
        <p:spPr>
          <a:xfrm>
            <a:off x="5572354" y="4867351"/>
            <a:ext cx="5924398" cy="590702"/>
          </a:xfrm>
          <a:prstGeom prst="roundRect">
            <a:avLst>
              <a:gd name="adj" fmla="val 19974"/>
            </a:avLst>
          </a:prstGeom>
          <a:solidFill>
            <a:srgbClr val="ECFDF5"/>
          </a:solidFill>
          <a:ln w="12700">
            <a:solidFill>
              <a:srgbClr val="D1FAE5"/>
            </a:solidFill>
            <a:prstDash val="solid"/>
          </a:ln>
        </p:spPr>
      </p:sp>
      <p:pic>
        <p:nvPicPr>
          <p:cNvPr id="50" name="Image 12" descr="preencoded.png">    </p:cNvPr>
          <p:cNvPicPr>
            <a:picLocks noChangeAspect="1"/>
          </p:cNvPicPr>
          <p:nvPr/>
        </p:nvPicPr>
        <p:blipFill>
          <a:blip r:embed="rId13"/>
          <a:srcRect l="-20851" r="-20851" t="0" b="0"/>
          <a:stretch/>
        </p:blipFill>
        <p:spPr>
          <a:xfrm>
            <a:off x="5695798" y="5076749"/>
            <a:ext cx="304495" cy="171907"/>
          </a:xfrm>
          <a:prstGeom prst="rect">
            <a:avLst/>
          </a:prstGeom>
        </p:spPr>
      </p:pic>
      <p:sp>
        <p:nvSpPr>
          <p:cNvPr id="51" name="Text 36"/>
          <p:cNvSpPr txBox="1"/>
          <p:nvPr/>
        </p:nvSpPr>
        <p:spPr>
          <a:xfrm>
            <a:off x="6001207" y="4990795"/>
            <a:ext cx="21003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ターゲットと使用フェーズの明示</a:t>
            </a:r>
            <a:endParaRPr lang="en-US" sz="1000" dirty="0"/>
          </a:p>
        </p:txBody>
      </p:sp>
      <p:sp>
        <p:nvSpPr>
          <p:cNvPr id="52" name="Text 37"/>
          <p:cNvSpPr txBox="1"/>
          <p:nvPr/>
        </p:nvSpPr>
        <p:spPr>
          <a:xfrm>
            <a:off x="6001207" y="5171846"/>
            <a:ext cx="31720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誰に、どのタイミング（例：フェーズ④プレクロ）で使うか</a:t>
            </a:r>
            <a:endParaRPr lang="en-US" sz="900" dirty="0"/>
          </a:p>
        </p:txBody>
      </p:sp>
      <p:sp>
        <p:nvSpPr>
          <p:cNvPr id="53" name="Shape 38"/>
          <p:cNvSpPr/>
          <p:nvPr/>
        </p:nvSpPr>
        <p:spPr>
          <a:xfrm>
            <a:off x="5572354" y="5572354"/>
            <a:ext cx="5924398" cy="590702"/>
          </a:xfrm>
          <a:prstGeom prst="roundRect">
            <a:avLst>
              <a:gd name="adj" fmla="val 19974"/>
            </a:avLst>
          </a:prstGeom>
          <a:solidFill>
            <a:srgbClr val="ECFDF5"/>
          </a:solidFill>
          <a:ln w="12700">
            <a:solidFill>
              <a:srgbClr val="D1FAE5"/>
            </a:solidFill>
            <a:prstDash val="solid"/>
          </a:ln>
        </p:spPr>
      </p:sp>
      <p:pic>
        <p:nvPicPr>
          <p:cNvPr id="54" name="Image 13" descr="preencoded.png">    </p:cNvPr>
          <p:cNvPicPr>
            <a:picLocks noChangeAspect="1"/>
          </p:cNvPicPr>
          <p:nvPr/>
        </p:nvPicPr>
        <p:blipFill>
          <a:blip r:embed="rId14"/>
          <a:srcRect l="-38564" r="-38564" t="0" b="0"/>
          <a:stretch/>
        </p:blipFill>
        <p:spPr>
          <a:xfrm>
            <a:off x="5695798" y="5781751"/>
            <a:ext cx="304495" cy="171907"/>
          </a:xfrm>
          <a:prstGeom prst="rect">
            <a:avLst/>
          </a:prstGeom>
        </p:spPr>
      </p:pic>
      <p:sp>
        <p:nvSpPr>
          <p:cNvPr id="55" name="Text 39"/>
          <p:cNvSpPr txBox="1"/>
          <p:nvPr/>
        </p:nvSpPr>
        <p:spPr>
          <a:xfrm>
            <a:off x="6001207" y="5695798"/>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成果物の定義</a:t>
            </a:r>
            <a:endParaRPr lang="en-US" sz="1000" dirty="0"/>
          </a:p>
        </p:txBody>
      </p:sp>
      <p:sp>
        <p:nvSpPr>
          <p:cNvPr id="56" name="Text 40"/>
          <p:cNvSpPr txBox="1"/>
          <p:nvPr/>
        </p:nvSpPr>
        <p:spPr>
          <a:xfrm>
            <a:off x="6001207" y="5876849"/>
            <a:ext cx="30577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ページ数、トーン＆マナー、必要要素（グラフ等）の合意</a:t>
            </a:r>
            <a:endParaRPr lang="en-US" sz="900" dirty="0"/>
          </a:p>
        </p:txBody>
      </p:sp>
      <p:sp>
        <p:nvSpPr>
          <p:cNvPr id="57" name="Shape 41"/>
          <p:cNvSpPr/>
          <p:nvPr/>
        </p:nvSpPr>
        <p:spPr>
          <a:xfrm>
            <a:off x="0" y="0"/>
            <a:ext cx="12191695" cy="647395"/>
          </a:xfrm>
          <a:prstGeom prst="rect">
            <a:avLst/>
          </a:prstGeom>
          <a:solidFill>
            <a:srgbClr val="FFFFFF"/>
          </a:solidFill>
          <a:ln/>
        </p:spPr>
      </p:sp>
      <p:sp>
        <p:nvSpPr>
          <p:cNvPr id="58" name="Shape 42"/>
          <p:cNvSpPr/>
          <p:nvPr/>
        </p:nvSpPr>
        <p:spPr>
          <a:xfrm>
            <a:off x="0" y="638251"/>
            <a:ext cx="12191695" cy="9144"/>
          </a:xfrm>
          <a:prstGeom prst="rect">
            <a:avLst/>
          </a:prstGeom>
          <a:solidFill>
            <a:srgbClr val="E5E7EB"/>
          </a:solidFill>
          <a:ln/>
        </p:spPr>
      </p:sp>
      <p:sp>
        <p:nvSpPr>
          <p:cNvPr id="59" name="Shape 43"/>
          <p:cNvSpPr/>
          <p:nvPr/>
        </p:nvSpPr>
        <p:spPr>
          <a:xfrm>
            <a:off x="457200" y="127102"/>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60" name="Image 14" descr="preencoded.png">    </p:cNvPr>
          <p:cNvPicPr>
            <a:picLocks noChangeAspect="1"/>
          </p:cNvPicPr>
          <p:nvPr/>
        </p:nvPicPr>
        <p:blipFill>
          <a:blip r:embed="rId15"/>
          <a:srcRect l="-3120" r="-3120" t="0" b="0"/>
          <a:stretch/>
        </p:blipFill>
        <p:spPr>
          <a:xfrm>
            <a:off x="9507017" y="260604"/>
            <a:ext cx="75895" cy="114300"/>
          </a:xfrm>
          <a:prstGeom prst="rect">
            <a:avLst/>
          </a:prstGeom>
        </p:spPr>
      </p:pic>
      <p:pic>
        <p:nvPicPr>
          <p:cNvPr id="61" name="Image 15" descr="preencoded.png">    </p:cNvPr>
          <p:cNvPicPr>
            <a:picLocks noChangeAspect="1"/>
          </p:cNvPicPr>
          <p:nvPr/>
        </p:nvPicPr>
        <p:blipFill>
          <a:blip r:embed="rId16"/>
          <a:srcRect l="-3120" r="-3120" t="0" b="0"/>
          <a:stretch/>
        </p:blipFill>
        <p:spPr>
          <a:xfrm>
            <a:off x="10178186" y="260604"/>
            <a:ext cx="75895" cy="114300"/>
          </a:xfrm>
          <a:prstGeom prst="rect">
            <a:avLst/>
          </a:prstGeom>
        </p:spPr>
      </p:pic>
      <p:pic>
        <p:nvPicPr>
          <p:cNvPr id="62" name="Image 16" descr="preencoded.png">    </p:cNvPr>
          <p:cNvPicPr>
            <a:picLocks noChangeAspect="1"/>
          </p:cNvPicPr>
          <p:nvPr/>
        </p:nvPicPr>
        <p:blipFill>
          <a:blip r:embed="rId17"/>
          <a:srcRect l="-3120" r="-3120" t="0" b="0"/>
          <a:stretch/>
        </p:blipFill>
        <p:spPr>
          <a:xfrm>
            <a:off x="10838383" y="260604"/>
            <a:ext cx="75895" cy="114300"/>
          </a:xfrm>
          <a:prstGeom prst="rect">
            <a:avLst/>
          </a:prstGeom>
        </p:spPr>
      </p:pic>
      <p:pic>
        <p:nvPicPr>
          <p:cNvPr id="63" name="Image 17" descr="preencoded.png">    </p:cNvPr>
          <p:cNvPicPr>
            <a:picLocks noChangeAspect="1"/>
          </p:cNvPicPr>
          <p:nvPr/>
        </p:nvPicPr>
        <p:blipFill>
          <a:blip r:embed="rId18"/>
          <a:srcRect l="-3120" r="-3120" t="0" b="0"/>
          <a:stretch/>
        </p:blipFill>
        <p:spPr>
          <a:xfrm>
            <a:off x="11400739" y="260604"/>
            <a:ext cx="75895" cy="114300"/>
          </a:xfrm>
          <a:prstGeom prst="rect">
            <a:avLst/>
          </a:prstGeom>
        </p:spPr>
      </p:pic>
      <p:sp>
        <p:nvSpPr>
          <p:cNvPr id="64" name="Text 44"/>
          <p:cNvSpPr txBox="1"/>
          <p:nvPr/>
        </p:nvSpPr>
        <p:spPr>
          <a:xfrm>
            <a:off x="546811" y="193853"/>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01</a:t>
            </a:r>
            <a:endParaRPr lang="en-US" sz="1300" dirty="0"/>
          </a:p>
        </p:txBody>
      </p:sp>
      <p:sp>
        <p:nvSpPr>
          <p:cNvPr id="65" name="Text 45"/>
          <p:cNvSpPr txBox="1"/>
          <p:nvPr/>
        </p:nvSpPr>
        <p:spPr>
          <a:xfrm>
            <a:off x="990295" y="79553"/>
            <a:ext cx="600761"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PHASE 1</a:t>
            </a:r>
            <a:endParaRPr lang="en-US" sz="900" dirty="0"/>
          </a:p>
        </p:txBody>
      </p:sp>
      <p:sp>
        <p:nvSpPr>
          <p:cNvPr id="66" name="Text 46"/>
          <p:cNvSpPr txBox="1"/>
          <p:nvPr/>
        </p:nvSpPr>
        <p:spPr>
          <a:xfrm>
            <a:off x="990295" y="222199"/>
            <a:ext cx="1943100"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要求定義フェーズ</a:t>
            </a:r>
            <a:endParaRPr lang="en-US" sz="1800" dirty="0"/>
          </a:p>
        </p:txBody>
      </p:sp>
      <p:sp>
        <p:nvSpPr>
          <p:cNvPr id="67" name="Text 47"/>
          <p:cNvSpPr txBox="1"/>
          <p:nvPr/>
        </p:nvSpPr>
        <p:spPr>
          <a:xfrm>
            <a:off x="9005926" y="222199"/>
            <a:ext cx="529438"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Define</a:t>
            </a:r>
            <a:endParaRPr lang="en-US" sz="1000" dirty="0"/>
          </a:p>
        </p:txBody>
      </p:sp>
      <p:sp>
        <p:nvSpPr>
          <p:cNvPr id="68" name="Text 48"/>
          <p:cNvSpPr txBox="1"/>
          <p:nvPr/>
        </p:nvSpPr>
        <p:spPr>
          <a:xfrm>
            <a:off x="9658807" y="222199"/>
            <a:ext cx="54772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Collect</a:t>
            </a:r>
            <a:endParaRPr lang="en-US" sz="1000" dirty="0"/>
          </a:p>
        </p:txBody>
      </p:sp>
      <p:sp>
        <p:nvSpPr>
          <p:cNvPr id="69" name="Text 49"/>
          <p:cNvSpPr txBox="1"/>
          <p:nvPr/>
        </p:nvSpPr>
        <p:spPr>
          <a:xfrm>
            <a:off x="10330891" y="222199"/>
            <a:ext cx="5385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Design</a:t>
            </a:r>
            <a:endParaRPr lang="en-US" sz="1000" dirty="0"/>
          </a:p>
        </p:txBody>
      </p:sp>
      <p:sp>
        <p:nvSpPr>
          <p:cNvPr id="70" name="Text 50"/>
          <p:cNvSpPr txBox="1"/>
          <p:nvPr/>
        </p:nvSpPr>
        <p:spPr>
          <a:xfrm>
            <a:off x="10991088" y="222199"/>
            <a:ext cx="443484"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Build</a:t>
            </a:r>
            <a:endParaRPr lang="en-US" sz="1000" dirty="0"/>
          </a:p>
        </p:txBody>
      </p:sp>
      <p:sp>
        <p:nvSpPr>
          <p:cNvPr id="71" name="Text 51"/>
          <p:cNvSpPr txBox="1"/>
          <p:nvPr/>
        </p:nvSpPr>
        <p:spPr>
          <a:xfrm>
            <a:off x="11553444" y="222199"/>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
        <p:nvSpPr>
          <p:cNvPr id="72" name="Shape 52"/>
          <p:cNvSpPr/>
          <p:nvPr/>
        </p:nvSpPr>
        <p:spPr>
          <a:xfrm>
            <a:off x="3019349" y="5305349"/>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sp>
        <p:nvSpPr>
          <p:cNvPr id="73" name="Shape 53"/>
          <p:cNvSpPr/>
          <p:nvPr/>
        </p:nvSpPr>
        <p:spPr>
          <a:xfrm>
            <a:off x="3019349" y="5743346"/>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74" name="Image 18" descr="preencoded.png">    </p:cNvPr>
          <p:cNvPicPr>
            <a:picLocks noChangeAspect="1"/>
          </p:cNvPicPr>
          <p:nvPr/>
        </p:nvPicPr>
        <p:blipFill>
          <a:blip r:embed="rId19"/>
          <a:srcRect l="-2512" r="-2512" t="0" b="0"/>
          <a:stretch/>
        </p:blipFill>
        <p:spPr>
          <a:xfrm>
            <a:off x="3143707" y="5426964"/>
            <a:ext cx="105156" cy="133502"/>
          </a:xfrm>
          <a:prstGeom prst="rect">
            <a:avLst/>
          </a:prstGeom>
        </p:spPr>
      </p:pic>
      <p:sp>
        <p:nvSpPr>
          <p:cNvPr id="75" name="Text 54"/>
          <p:cNvSpPr txBox="1"/>
          <p:nvPr/>
        </p:nvSpPr>
        <p:spPr>
          <a:xfrm>
            <a:off x="3323844" y="5391302"/>
            <a:ext cx="767182"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要求定義書</a:t>
            </a:r>
            <a:endParaRPr lang="en-US" sz="1000" dirty="0"/>
          </a:p>
        </p:txBody>
      </p:sp>
      <p:pic>
        <p:nvPicPr>
          <p:cNvPr id="76" name="Image 19" descr="preencoded.png">    </p:cNvPr>
          <p:cNvPicPr>
            <a:picLocks noChangeAspect="1"/>
          </p:cNvPicPr>
          <p:nvPr/>
        </p:nvPicPr>
        <p:blipFill>
          <a:blip r:embed="rId20"/>
          <a:srcRect l="-837" r="-837" t="0" b="0"/>
          <a:stretch/>
        </p:blipFill>
        <p:spPr>
          <a:xfrm>
            <a:off x="3143707" y="5864962"/>
            <a:ext cx="152705" cy="133502"/>
          </a:xfrm>
          <a:prstGeom prst="rect">
            <a:avLst/>
          </a:prstGeom>
        </p:spPr>
      </p:pic>
      <p:sp>
        <p:nvSpPr>
          <p:cNvPr id="77" name="Text 55"/>
          <p:cNvSpPr txBox="1"/>
          <p:nvPr/>
        </p:nvSpPr>
        <p:spPr>
          <a:xfrm>
            <a:off x="3372307" y="5829300"/>
            <a:ext cx="1034186"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スライド構成案</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923544"/>
            <a:ext cx="4572000" cy="3819449"/>
          </a:xfrm>
          <a:prstGeom prst="roundRect">
            <a:avLst>
              <a:gd name="adj" fmla="val 716"/>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0" r="0" t="0" b="0"/>
          <a:stretch/>
        </p:blipFill>
        <p:spPr>
          <a:xfrm>
            <a:off x="694944" y="1200607"/>
            <a:ext cx="190195" cy="190195"/>
          </a:xfrm>
          <a:prstGeom prst="rect">
            <a:avLst/>
          </a:prstGeom>
        </p:spPr>
      </p:pic>
      <p:sp>
        <p:nvSpPr>
          <p:cNvPr id="6" name="Text 3"/>
          <p:cNvSpPr txBox="1"/>
          <p:nvPr/>
        </p:nvSpPr>
        <p:spPr>
          <a:xfrm>
            <a:off x="1000354" y="1152144"/>
            <a:ext cx="2467051" cy="277063"/>
          </a:xfrm>
          <a:prstGeom prst="rect">
            <a:avLst/>
          </a:prstGeom>
          <a:noFill/>
          <a:ln/>
        </p:spPr>
        <p:txBody>
          <a:bodyPr wrap="square" lIns="0" tIns="0" rIns="0" bIns="0" rtlCol="0" anchor="ctr"/>
          <a:lstStyle/>
          <a:p>
            <a:pPr algn="l" indent="0" marL="0">
              <a:buNone/>
            </a:pPr>
            <a:r>
              <a:rPr lang="en-US" sz="1500" b="1" dirty="0">
                <a:solidFill>
                  <a:srgbClr val="1E40AF"/>
                </a:solidFill>
                <a:latin typeface="Noto Sans JP" pitchFamily="34" charset="0"/>
                <a:ea typeface="Noto Sans JP" pitchFamily="34" charset="-122"/>
                <a:cs typeface="Noto Sans JP" pitchFamily="34" charset="-120"/>
              </a:rPr>
              <a:t>主要活動 (Main Activities)</a:t>
            </a:r>
            <a:endParaRPr lang="en-US" sz="1500" dirty="0"/>
          </a:p>
        </p:txBody>
      </p:sp>
      <p:sp>
        <p:nvSpPr>
          <p:cNvPr id="7" name="Shape 4"/>
          <p:cNvSpPr/>
          <p:nvPr/>
        </p:nvSpPr>
        <p:spPr>
          <a:xfrm>
            <a:off x="694944" y="1619402"/>
            <a:ext cx="228600" cy="228600"/>
          </a:xfrm>
          <a:prstGeom prst="roundRect">
            <a:avLst>
              <a:gd name="adj" fmla="val 400000"/>
            </a:avLst>
          </a:prstGeom>
          <a:solidFill>
            <a:srgbClr val="DBEAFE"/>
          </a:solidFill>
          <a:ln/>
        </p:spPr>
      </p:sp>
      <p:pic>
        <p:nvPicPr>
          <p:cNvPr id="8" name="Image 1" descr="preencoded.png">    </p:cNvPr>
          <p:cNvPicPr>
            <a:picLocks noChangeAspect="1"/>
          </p:cNvPicPr>
          <p:nvPr/>
        </p:nvPicPr>
        <p:blipFill>
          <a:blip r:embed="rId2"/>
          <a:srcRect l="-7143" r="-7143" t="0" b="0"/>
          <a:stretch/>
        </p:blipFill>
        <p:spPr>
          <a:xfrm>
            <a:off x="733349" y="1657807"/>
            <a:ext cx="152705" cy="152705"/>
          </a:xfrm>
          <a:prstGeom prst="rect">
            <a:avLst/>
          </a:prstGeom>
        </p:spPr>
      </p:pic>
      <p:sp>
        <p:nvSpPr>
          <p:cNvPr id="9" name="Text 5"/>
          <p:cNvSpPr txBox="1"/>
          <p:nvPr/>
        </p:nvSpPr>
        <p:spPr>
          <a:xfrm>
            <a:off x="1037844" y="1580998"/>
            <a:ext cx="182880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URLクローリング &amp; 抽出</a:t>
            </a:r>
            <a:endParaRPr lang="en-US" sz="1200" dirty="0"/>
          </a:p>
        </p:txBody>
      </p:sp>
      <p:sp>
        <p:nvSpPr>
          <p:cNvPr id="10" name="Text 6"/>
          <p:cNvSpPr txBox="1"/>
          <p:nvPr/>
        </p:nvSpPr>
        <p:spPr>
          <a:xfrm>
            <a:off x="1037844" y="1848002"/>
            <a:ext cx="3786530" cy="381305"/>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Siena渋谷の掲載情報（メニュー・価格）を構造化データへ変換</a:t>
            </a:r>
            <a:endParaRPr lang="en-US" sz="1000" dirty="0"/>
          </a:p>
        </p:txBody>
      </p:sp>
      <p:sp>
        <p:nvSpPr>
          <p:cNvPr id="11" name="Shape 7"/>
          <p:cNvSpPr/>
          <p:nvPr/>
        </p:nvSpPr>
        <p:spPr>
          <a:xfrm>
            <a:off x="694944" y="2419502"/>
            <a:ext cx="228600" cy="228600"/>
          </a:xfrm>
          <a:prstGeom prst="roundRect">
            <a:avLst>
              <a:gd name="adj" fmla="val 400000"/>
            </a:avLst>
          </a:prstGeom>
          <a:solidFill>
            <a:srgbClr val="DBEAFE"/>
          </a:solidFill>
          <a:ln/>
        </p:spPr>
      </p:sp>
      <p:pic>
        <p:nvPicPr>
          <p:cNvPr id="12" name="Image 2" descr="preencoded.png">    </p:cNvPr>
          <p:cNvPicPr>
            <a:picLocks noChangeAspect="1"/>
          </p:cNvPicPr>
          <p:nvPr/>
        </p:nvPicPr>
        <p:blipFill>
          <a:blip r:embed="rId3"/>
          <a:srcRect l="-7143" r="-7143" t="0" b="0"/>
          <a:stretch/>
        </p:blipFill>
        <p:spPr>
          <a:xfrm>
            <a:off x="733349" y="2457907"/>
            <a:ext cx="152705" cy="152705"/>
          </a:xfrm>
          <a:prstGeom prst="rect">
            <a:avLst/>
          </a:prstGeom>
        </p:spPr>
      </p:pic>
      <p:sp>
        <p:nvSpPr>
          <p:cNvPr id="13" name="Text 8"/>
          <p:cNvSpPr txBox="1"/>
          <p:nvPr/>
        </p:nvSpPr>
        <p:spPr>
          <a:xfrm>
            <a:off x="1037844" y="2381098"/>
            <a:ext cx="2105863"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検索クエリ実行（競合探索）</a:t>
            </a:r>
            <a:endParaRPr lang="en-US" sz="1200" dirty="0"/>
          </a:p>
        </p:txBody>
      </p:sp>
      <p:sp>
        <p:nvSpPr>
          <p:cNvPr id="14" name="Text 9"/>
          <p:cNvSpPr txBox="1"/>
          <p:nvPr/>
        </p:nvSpPr>
        <p:spPr>
          <a:xfrm>
            <a:off x="1037844" y="2648102"/>
            <a:ext cx="349117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「渋谷 美容室 人気」「代官山 美容室 おしゃれ」等で検索</a:t>
            </a:r>
            <a:endParaRPr lang="en-US" sz="1000" dirty="0"/>
          </a:p>
        </p:txBody>
      </p:sp>
      <p:sp>
        <p:nvSpPr>
          <p:cNvPr id="15" name="Shape 10"/>
          <p:cNvSpPr/>
          <p:nvPr/>
        </p:nvSpPr>
        <p:spPr>
          <a:xfrm>
            <a:off x="694944" y="3029407"/>
            <a:ext cx="228600" cy="228600"/>
          </a:xfrm>
          <a:prstGeom prst="roundRect">
            <a:avLst>
              <a:gd name="adj" fmla="val 400000"/>
            </a:avLst>
          </a:prstGeom>
          <a:solidFill>
            <a:srgbClr val="DBEAFE"/>
          </a:solidFill>
          <a:ln/>
        </p:spPr>
      </p:sp>
      <p:pic>
        <p:nvPicPr>
          <p:cNvPr id="16" name="Image 3" descr="preencoded.png">    </p:cNvPr>
          <p:cNvPicPr>
            <a:picLocks noChangeAspect="1"/>
          </p:cNvPicPr>
          <p:nvPr/>
        </p:nvPicPr>
        <p:blipFill>
          <a:blip r:embed="rId4"/>
          <a:srcRect l="-7143" r="-7143" t="0" b="0"/>
          <a:stretch/>
        </p:blipFill>
        <p:spPr>
          <a:xfrm>
            <a:off x="733349" y="3066898"/>
            <a:ext cx="152705" cy="152705"/>
          </a:xfrm>
          <a:prstGeom prst="rect">
            <a:avLst/>
          </a:prstGeom>
        </p:spPr>
      </p:pic>
      <p:sp>
        <p:nvSpPr>
          <p:cNvPr id="17" name="Text 11"/>
          <p:cNvSpPr txBox="1"/>
          <p:nvPr/>
        </p:nvSpPr>
        <p:spPr>
          <a:xfrm>
            <a:off x="1037844" y="2991002"/>
            <a:ext cx="167701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データ抽出 &amp; 候補選定</a:t>
            </a:r>
            <a:endParaRPr lang="en-US" sz="1200" dirty="0"/>
          </a:p>
        </p:txBody>
      </p:sp>
      <p:sp>
        <p:nvSpPr>
          <p:cNvPr id="18" name="Text 12"/>
          <p:cNvSpPr txBox="1"/>
          <p:nvPr/>
        </p:nvSpPr>
        <p:spPr>
          <a:xfrm>
            <a:off x="1037844" y="3258007"/>
            <a:ext cx="34344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検索結果から同価格帯・同カテゴリの競合サロンを選定</a:t>
            </a:r>
            <a:endParaRPr lang="en-US" sz="1000" dirty="0"/>
          </a:p>
        </p:txBody>
      </p:sp>
      <p:sp>
        <p:nvSpPr>
          <p:cNvPr id="19" name="Shape 13"/>
          <p:cNvSpPr/>
          <p:nvPr/>
        </p:nvSpPr>
        <p:spPr>
          <a:xfrm>
            <a:off x="457200" y="4969764"/>
            <a:ext cx="2210105" cy="1524305"/>
          </a:xfrm>
          <a:prstGeom prst="roundRect">
            <a:avLst>
              <a:gd name="adj" fmla="val 4499"/>
            </a:avLst>
          </a:prstGeom>
          <a:solidFill>
            <a:srgbClr val="F9FAFB"/>
          </a:solidFill>
          <a:ln w="12700">
            <a:solidFill>
              <a:srgbClr val="E5E7EB"/>
            </a:solidFill>
            <a:prstDash val="solid"/>
          </a:ln>
        </p:spPr>
      </p:sp>
      <p:pic>
        <p:nvPicPr>
          <p:cNvPr id="20" name="Image 4" descr="preencoded.png">    </p:cNvPr>
          <p:cNvPicPr>
            <a:picLocks noChangeAspect="1"/>
          </p:cNvPicPr>
          <p:nvPr/>
        </p:nvPicPr>
        <p:blipFill>
          <a:blip r:embed="rId5"/>
          <a:srcRect l="0" r="0" t="0" b="0"/>
          <a:stretch/>
        </p:blipFill>
        <p:spPr>
          <a:xfrm>
            <a:off x="657454" y="5192878"/>
            <a:ext cx="114300" cy="114300"/>
          </a:xfrm>
          <a:prstGeom prst="rect">
            <a:avLst/>
          </a:prstGeom>
        </p:spPr>
      </p:pic>
      <p:sp>
        <p:nvSpPr>
          <p:cNvPr id="21" name="Text 14"/>
          <p:cNvSpPr txBox="1"/>
          <p:nvPr/>
        </p:nvSpPr>
        <p:spPr>
          <a:xfrm>
            <a:off x="809244" y="5159959"/>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22" name="Shape 15"/>
          <p:cNvSpPr/>
          <p:nvPr/>
        </p:nvSpPr>
        <p:spPr>
          <a:xfrm>
            <a:off x="657454" y="5397703"/>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3" name="Image 5" descr="preencoded.png">    </p:cNvPr>
          <p:cNvPicPr>
            <a:picLocks noChangeAspect="1"/>
          </p:cNvPicPr>
          <p:nvPr/>
        </p:nvPicPr>
        <p:blipFill>
          <a:blip r:embed="rId6"/>
          <a:srcRect l="-1507" r="-1507" t="0" b="0"/>
          <a:stretch/>
        </p:blipFill>
        <p:spPr>
          <a:xfrm>
            <a:off x="780898" y="5519318"/>
            <a:ext cx="171907" cy="133502"/>
          </a:xfrm>
          <a:prstGeom prst="rect">
            <a:avLst/>
          </a:prstGeom>
        </p:spPr>
      </p:pic>
      <p:sp>
        <p:nvSpPr>
          <p:cNvPr id="24" name="Text 16"/>
          <p:cNvSpPr txBox="1"/>
          <p:nvPr/>
        </p:nvSpPr>
        <p:spPr>
          <a:xfrm>
            <a:off x="1028700" y="5483657"/>
            <a:ext cx="1138428"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https://beauty...</a:t>
            </a:r>
            <a:endParaRPr lang="en-US" sz="1000" dirty="0"/>
          </a:p>
        </p:txBody>
      </p:sp>
      <p:sp>
        <p:nvSpPr>
          <p:cNvPr id="25" name="Shape 17"/>
          <p:cNvSpPr/>
          <p:nvPr/>
        </p:nvSpPr>
        <p:spPr>
          <a:xfrm>
            <a:off x="657454" y="5835701"/>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6" name="Image 6" descr="preencoded.png">    </p:cNvPr>
          <p:cNvPicPr>
            <a:picLocks noChangeAspect="1"/>
          </p:cNvPicPr>
          <p:nvPr/>
        </p:nvPicPr>
        <p:blipFill>
          <a:blip r:embed="rId7"/>
          <a:srcRect l="-2512" r="-2512" t="0" b="0"/>
          <a:stretch/>
        </p:blipFill>
        <p:spPr>
          <a:xfrm>
            <a:off x="780898" y="5957316"/>
            <a:ext cx="105156" cy="133502"/>
          </a:xfrm>
          <a:prstGeom prst="rect">
            <a:avLst/>
          </a:prstGeom>
        </p:spPr>
      </p:pic>
      <p:sp>
        <p:nvSpPr>
          <p:cNvPr id="27" name="Text 18"/>
          <p:cNvSpPr txBox="1"/>
          <p:nvPr/>
        </p:nvSpPr>
        <p:spPr>
          <a:xfrm>
            <a:off x="961949" y="5921654"/>
            <a:ext cx="14337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対象エリア（渋谷等）</a:t>
            </a:r>
            <a:endParaRPr lang="en-US" sz="1000" dirty="0"/>
          </a:p>
        </p:txBody>
      </p:sp>
      <p:sp>
        <p:nvSpPr>
          <p:cNvPr id="28" name="Shape 19"/>
          <p:cNvSpPr/>
          <p:nvPr/>
        </p:nvSpPr>
        <p:spPr>
          <a:xfrm>
            <a:off x="2819095" y="4969764"/>
            <a:ext cx="2210105" cy="1524305"/>
          </a:xfrm>
          <a:prstGeom prst="roundRect">
            <a:avLst>
              <a:gd name="adj" fmla="val 4499"/>
            </a:avLst>
          </a:prstGeom>
          <a:solidFill>
            <a:srgbClr val="EFF6FF"/>
          </a:solidFill>
          <a:ln w="12700">
            <a:solidFill>
              <a:srgbClr val="DBEAFE"/>
            </a:solidFill>
            <a:prstDash val="solid"/>
          </a:ln>
        </p:spPr>
      </p:sp>
      <p:sp>
        <p:nvSpPr>
          <p:cNvPr id="29" name="Shape 20"/>
          <p:cNvSpPr/>
          <p:nvPr/>
        </p:nvSpPr>
        <p:spPr>
          <a:xfrm>
            <a:off x="4410151" y="4978908"/>
            <a:ext cx="609905" cy="609905"/>
          </a:xfrm>
          <a:prstGeom prst="rect">
            <a:avLst/>
          </a:prstGeom>
          <a:solidFill>
            <a:srgbClr val="DBEAFE">
              <a:alpha val="50000"/>
            </a:srgbClr>
          </a:solidFill>
          <a:ln/>
        </p:spPr>
      </p:sp>
      <p:pic>
        <p:nvPicPr>
          <p:cNvPr id="30" name="Image 7" descr="preencoded.png">    </p:cNvPr>
          <p:cNvPicPr>
            <a:picLocks noChangeAspect="1"/>
          </p:cNvPicPr>
          <p:nvPr/>
        </p:nvPicPr>
        <p:blipFill>
          <a:blip r:embed="rId8"/>
          <a:srcRect l="0" r="0" t="0" b="0"/>
          <a:stretch/>
        </p:blipFill>
        <p:spPr>
          <a:xfrm>
            <a:off x="3019349" y="5192878"/>
            <a:ext cx="114300" cy="114300"/>
          </a:xfrm>
          <a:prstGeom prst="rect">
            <a:avLst/>
          </a:prstGeom>
        </p:spPr>
      </p:pic>
      <p:sp>
        <p:nvSpPr>
          <p:cNvPr id="31" name="Text 21"/>
          <p:cNvSpPr txBox="1"/>
          <p:nvPr/>
        </p:nvSpPr>
        <p:spPr>
          <a:xfrm>
            <a:off x="3172054" y="5159959"/>
            <a:ext cx="571500"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OUTPUT</a:t>
            </a:r>
            <a:endParaRPr lang="en-US" sz="900" dirty="0"/>
          </a:p>
        </p:txBody>
      </p:sp>
      <p:sp>
        <p:nvSpPr>
          <p:cNvPr id="32" name="Shape 22"/>
          <p:cNvSpPr/>
          <p:nvPr/>
        </p:nvSpPr>
        <p:spPr>
          <a:xfrm>
            <a:off x="5333695" y="923544"/>
            <a:ext cx="6400800" cy="2447849"/>
          </a:xfrm>
          <a:prstGeom prst="roundRect">
            <a:avLst>
              <a:gd name="adj" fmla="val 1744"/>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3" name="Image 8" descr="preencoded.png">    </p:cNvPr>
          <p:cNvPicPr>
            <a:picLocks noChangeAspect="1"/>
          </p:cNvPicPr>
          <p:nvPr/>
        </p:nvPicPr>
        <p:blipFill>
          <a:blip r:embed="rId9"/>
          <a:srcRect l="-1282" r="-1282" t="0" b="0"/>
          <a:stretch/>
        </p:blipFill>
        <p:spPr>
          <a:xfrm>
            <a:off x="5572354" y="1200607"/>
            <a:ext cx="219456" cy="190195"/>
          </a:xfrm>
          <a:prstGeom prst="rect">
            <a:avLst/>
          </a:prstGeom>
        </p:spPr>
      </p:pic>
      <p:sp>
        <p:nvSpPr>
          <p:cNvPr id="34" name="Text 23"/>
          <p:cNvSpPr txBox="1"/>
          <p:nvPr/>
        </p:nvSpPr>
        <p:spPr>
          <a:xfrm>
            <a:off x="5905195" y="1152144"/>
            <a:ext cx="373441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指示プロンプト例 (Instruction Example)</a:t>
            </a:r>
            <a:endParaRPr lang="en-US" sz="1500" dirty="0"/>
          </a:p>
        </p:txBody>
      </p:sp>
      <p:sp>
        <p:nvSpPr>
          <p:cNvPr id="35" name="Shape 24"/>
          <p:cNvSpPr/>
          <p:nvPr/>
        </p:nvSpPr>
        <p:spPr>
          <a:xfrm>
            <a:off x="10377526" y="1181405"/>
            <a:ext cx="1123798" cy="228600"/>
          </a:xfrm>
          <a:prstGeom prst="roundRect">
            <a:avLst>
              <a:gd name="adj" fmla="val 66667"/>
            </a:avLst>
          </a:prstGeom>
          <a:solidFill>
            <a:srgbClr val="F3F4F6"/>
          </a:solidFill>
          <a:ln/>
        </p:spPr>
      </p:sp>
      <p:sp>
        <p:nvSpPr>
          <p:cNvPr id="36" name="Text 25"/>
          <p:cNvSpPr txBox="1"/>
          <p:nvPr/>
        </p:nvSpPr>
        <p:spPr>
          <a:xfrm>
            <a:off x="10453421" y="1209751"/>
            <a:ext cx="1057961"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Action Command</a:t>
            </a:r>
            <a:endParaRPr lang="en-US" sz="900" dirty="0"/>
          </a:p>
        </p:txBody>
      </p:sp>
      <p:sp>
        <p:nvSpPr>
          <p:cNvPr id="37" name="Shape 26"/>
          <p:cNvSpPr/>
          <p:nvPr/>
        </p:nvSpPr>
        <p:spPr>
          <a:xfrm>
            <a:off x="5572354" y="1580998"/>
            <a:ext cx="5924398" cy="972007"/>
          </a:xfrm>
          <a:prstGeom prst="roundRect">
            <a:avLst>
              <a:gd name="adj" fmla="val 7378"/>
            </a:avLst>
          </a:prstGeom>
          <a:solidFill>
            <a:srgbClr val="1E293B"/>
          </a:solidFill>
          <a:ln/>
        </p:spPr>
      </p:sp>
      <p:sp>
        <p:nvSpPr>
          <p:cNvPr id="38" name="Shape 27"/>
          <p:cNvSpPr/>
          <p:nvPr/>
        </p:nvSpPr>
        <p:spPr>
          <a:xfrm>
            <a:off x="5572354" y="1580998"/>
            <a:ext cx="38405" cy="972007"/>
          </a:xfrm>
          <a:prstGeom prst="rect">
            <a:avLst/>
          </a:prstGeom>
          <a:solidFill>
            <a:srgbClr val="3B82F6"/>
          </a:solidFill>
          <a:ln/>
        </p:spPr>
      </p:sp>
      <p:sp>
        <p:nvSpPr>
          <p:cNvPr id="39" name="Text 28"/>
          <p:cNvSpPr txBox="1"/>
          <p:nvPr/>
        </p:nvSpPr>
        <p:spPr>
          <a:xfrm>
            <a:off x="5915254" y="1752905"/>
            <a:ext cx="4917643" cy="143561"/>
          </a:xfrm>
          <a:prstGeom prst="rect">
            <a:avLst/>
          </a:prstGeom>
          <a:noFill/>
          <a:ln/>
        </p:spPr>
        <p:txBody>
          <a:bodyPr wrap="square" lIns="0" tIns="0" rIns="0" bIns="0" rtlCol="0" anchor="ctr"/>
          <a:lstStyle/>
          <a:p>
            <a:pPr algn="l" indent="0" marL="0">
              <a:buNone/>
            </a:pPr>
            <a:r>
              <a:rPr lang="en-US" sz="1000" dirty="0">
                <a:solidFill>
                  <a:srgbClr val="DBEAFE"/>
                </a:solidFill>
                <a:latin typeface="Menlo" pitchFamily="34" charset="0"/>
                <a:ea typeface="Menlo" pitchFamily="34" charset="-122"/>
                <a:cs typeface="Menlo" pitchFamily="34" charset="-120"/>
              </a:rPr>
              <a:t>このURLから主要情報（メニュー・価格・コピー・クーポン）を抽出して要約して</a:t>
            </a:r>
            <a:endParaRPr lang="en-US" sz="1000" dirty="0"/>
          </a:p>
        </p:txBody>
      </p:sp>
      <p:sp>
        <p:nvSpPr>
          <p:cNvPr id="40" name="Text 29"/>
          <p:cNvSpPr txBox="1"/>
          <p:nvPr/>
        </p:nvSpPr>
        <p:spPr>
          <a:xfrm>
            <a:off x="5915254" y="1985162"/>
            <a:ext cx="4669841" cy="143561"/>
          </a:xfrm>
          <a:prstGeom prst="rect">
            <a:avLst/>
          </a:prstGeom>
          <a:noFill/>
          <a:ln/>
        </p:spPr>
        <p:txBody>
          <a:bodyPr wrap="square" lIns="0" tIns="0" rIns="0" bIns="0" rtlCol="0" anchor="ctr"/>
          <a:lstStyle/>
          <a:p>
            <a:pPr algn="l" indent="0" marL="0">
              <a:buNone/>
            </a:pPr>
            <a:r>
              <a:rPr lang="en-US" sz="1000" dirty="0">
                <a:solidFill>
                  <a:srgbClr val="DBEAFE"/>
                </a:solidFill>
                <a:latin typeface="Menlo" pitchFamily="34" charset="0"/>
                <a:ea typeface="Menlo" pitchFamily="34" charset="-122"/>
                <a:cs typeface="Menlo" pitchFamily="34" charset="-120"/>
              </a:rPr>
              <a:t>同価格帯・同カテゴリ（例：トレンド系・髪質改善）で周辺の競合を検索して</a:t>
            </a:r>
            <a:endParaRPr lang="en-US" sz="1000" dirty="0"/>
          </a:p>
        </p:txBody>
      </p:sp>
      <p:sp>
        <p:nvSpPr>
          <p:cNvPr id="41" name="Text 30"/>
          <p:cNvSpPr txBox="1"/>
          <p:nvPr/>
        </p:nvSpPr>
        <p:spPr>
          <a:xfrm>
            <a:off x="5915254" y="2217420"/>
            <a:ext cx="3002890" cy="143561"/>
          </a:xfrm>
          <a:prstGeom prst="rect">
            <a:avLst/>
          </a:prstGeom>
          <a:noFill/>
          <a:ln/>
        </p:spPr>
        <p:txBody>
          <a:bodyPr wrap="square" lIns="0" tIns="0" rIns="0" bIns="0" rtlCol="0" anchor="ctr"/>
          <a:lstStyle/>
          <a:p>
            <a:pPr algn="l" indent="0" marL="0">
              <a:buNone/>
            </a:pPr>
            <a:r>
              <a:rPr lang="en-US" sz="1000" dirty="0">
                <a:solidFill>
                  <a:srgbClr val="DBEAFE"/>
                </a:solidFill>
                <a:latin typeface="Menlo" pitchFamily="34" charset="0"/>
                <a:ea typeface="Menlo" pitchFamily="34" charset="-122"/>
                <a:cs typeface="Menlo" pitchFamily="34" charset="-120"/>
              </a:rPr>
              <a:t>検索結果から比較に適した候補を3〜5店選定して</a:t>
            </a:r>
            <a:endParaRPr lang="en-US" sz="1000" dirty="0"/>
          </a:p>
        </p:txBody>
      </p:sp>
      <p:pic>
        <p:nvPicPr>
          <p:cNvPr id="42" name="Image 9" descr="preencoded.png">    </p:cNvPr>
          <p:cNvPicPr>
            <a:picLocks noChangeAspect="1"/>
          </p:cNvPicPr>
          <p:nvPr/>
        </p:nvPicPr>
        <p:blipFill>
          <a:blip r:embed="rId10"/>
          <a:srcRect l="0" r="0" t="0" b="0"/>
          <a:stretch/>
        </p:blipFill>
        <p:spPr>
          <a:xfrm>
            <a:off x="5572354" y="2743200"/>
            <a:ext cx="133502" cy="133502"/>
          </a:xfrm>
          <a:prstGeom prst="rect">
            <a:avLst/>
          </a:prstGeom>
        </p:spPr>
      </p:pic>
      <p:sp>
        <p:nvSpPr>
          <p:cNvPr id="43" name="Text 31"/>
          <p:cNvSpPr txBox="1"/>
          <p:nvPr/>
        </p:nvSpPr>
        <p:spPr>
          <a:xfrm>
            <a:off x="5572354" y="2707538"/>
            <a:ext cx="5977433"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URLベースのクローリングと、キーワード検索による広域探索を組み合わせ、分析に必要なデータセットを構築します。</a:t>
            </a:r>
            <a:endParaRPr lang="en-US" sz="1000" dirty="0"/>
          </a:p>
        </p:txBody>
      </p:sp>
      <p:sp>
        <p:nvSpPr>
          <p:cNvPr id="44" name="Shape 32"/>
          <p:cNvSpPr/>
          <p:nvPr/>
        </p:nvSpPr>
        <p:spPr>
          <a:xfrm>
            <a:off x="5333695" y="3598164"/>
            <a:ext cx="6400800" cy="2895905"/>
          </a:xfrm>
          <a:prstGeom prst="roundRect">
            <a:avLst>
              <a:gd name="adj" fmla="val 1246"/>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5" name="Image 10" descr="preencoded.png">    </p:cNvPr>
          <p:cNvPicPr>
            <a:picLocks noChangeAspect="1"/>
          </p:cNvPicPr>
          <p:nvPr/>
        </p:nvPicPr>
        <p:blipFill>
          <a:blip r:embed="rId11"/>
          <a:srcRect l="0" r="0" t="0" b="0"/>
          <a:stretch/>
        </p:blipFill>
        <p:spPr>
          <a:xfrm>
            <a:off x="5572354" y="3874313"/>
            <a:ext cx="142646" cy="190195"/>
          </a:xfrm>
          <a:prstGeom prst="rect">
            <a:avLst/>
          </a:prstGeom>
        </p:spPr>
      </p:pic>
      <p:sp>
        <p:nvSpPr>
          <p:cNvPr id="46" name="Text 33"/>
          <p:cNvSpPr txBox="1"/>
          <p:nvPr/>
        </p:nvSpPr>
        <p:spPr>
          <a:xfrm>
            <a:off x="5829300" y="3826764"/>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7" name="Shape 34"/>
          <p:cNvSpPr/>
          <p:nvPr/>
        </p:nvSpPr>
        <p:spPr>
          <a:xfrm>
            <a:off x="5572354" y="4254703"/>
            <a:ext cx="5924398" cy="590702"/>
          </a:xfrm>
          <a:prstGeom prst="roundRect">
            <a:avLst>
              <a:gd name="adj" fmla="val 19974"/>
            </a:avLst>
          </a:prstGeom>
          <a:solidFill>
            <a:srgbClr val="ECFDF5"/>
          </a:solidFill>
          <a:ln w="12700">
            <a:solidFill>
              <a:srgbClr val="D1FAE5"/>
            </a:solidFill>
            <a:prstDash val="solid"/>
          </a:ln>
        </p:spPr>
      </p:sp>
      <p:pic>
        <p:nvPicPr>
          <p:cNvPr id="48" name="Image 11" descr="preencoded.png">    </p:cNvPr>
          <p:cNvPicPr>
            <a:picLocks noChangeAspect="1"/>
          </p:cNvPicPr>
          <p:nvPr/>
        </p:nvPicPr>
        <p:blipFill>
          <a:blip r:embed="rId12"/>
          <a:srcRect l="-20851" r="-20851" t="0" b="0"/>
          <a:stretch/>
        </p:blipFill>
        <p:spPr>
          <a:xfrm>
            <a:off x="5695798" y="4464101"/>
            <a:ext cx="304495" cy="171907"/>
          </a:xfrm>
          <a:prstGeom prst="rect">
            <a:avLst/>
          </a:prstGeom>
        </p:spPr>
      </p:pic>
      <p:sp>
        <p:nvSpPr>
          <p:cNvPr id="49" name="Text 35"/>
          <p:cNvSpPr txBox="1"/>
          <p:nvPr/>
        </p:nvSpPr>
        <p:spPr>
          <a:xfrm>
            <a:off x="6001207" y="4379062"/>
            <a:ext cx="157642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出典URL・取得日の記録</a:t>
            </a:r>
            <a:endParaRPr lang="en-US" sz="1000" dirty="0"/>
          </a:p>
        </p:txBody>
      </p:sp>
      <p:sp>
        <p:nvSpPr>
          <p:cNvPr id="50" name="Text 36"/>
          <p:cNvSpPr txBox="1"/>
          <p:nvPr/>
        </p:nvSpPr>
        <p:spPr>
          <a:xfrm>
            <a:off x="6001207" y="4560113"/>
            <a:ext cx="30678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いつの時点のデータかを明記（価格変動リスクへの対応）</a:t>
            </a:r>
            <a:endParaRPr lang="en-US" sz="900" dirty="0"/>
          </a:p>
        </p:txBody>
      </p:sp>
      <p:sp>
        <p:nvSpPr>
          <p:cNvPr id="51" name="Shape 37"/>
          <p:cNvSpPr/>
          <p:nvPr/>
        </p:nvSpPr>
        <p:spPr>
          <a:xfrm>
            <a:off x="5572354" y="4959706"/>
            <a:ext cx="5924398" cy="590702"/>
          </a:xfrm>
          <a:prstGeom prst="roundRect">
            <a:avLst>
              <a:gd name="adj" fmla="val 19974"/>
            </a:avLst>
          </a:prstGeom>
          <a:solidFill>
            <a:srgbClr val="ECFDF5"/>
          </a:solidFill>
          <a:ln w="12700">
            <a:solidFill>
              <a:srgbClr val="D1FAE5"/>
            </a:solidFill>
            <a:prstDash val="solid"/>
          </a:ln>
        </p:spPr>
      </p:sp>
      <p:pic>
        <p:nvPicPr>
          <p:cNvPr id="52" name="Image 12" descr="preencoded.png">    </p:cNvPr>
          <p:cNvPicPr>
            <a:picLocks noChangeAspect="1"/>
          </p:cNvPicPr>
          <p:nvPr/>
        </p:nvPicPr>
        <p:blipFill>
          <a:blip r:embed="rId13"/>
          <a:srcRect l="-68085" r="-68085" t="0" b="0"/>
          <a:stretch/>
        </p:blipFill>
        <p:spPr>
          <a:xfrm>
            <a:off x="5695798" y="5169103"/>
            <a:ext cx="304495" cy="171907"/>
          </a:xfrm>
          <a:prstGeom prst="rect">
            <a:avLst/>
          </a:prstGeom>
        </p:spPr>
      </p:pic>
      <p:sp>
        <p:nvSpPr>
          <p:cNvPr id="53" name="Text 38"/>
          <p:cNvSpPr txBox="1"/>
          <p:nvPr/>
        </p:nvSpPr>
        <p:spPr>
          <a:xfrm>
            <a:off x="6001207" y="5084064"/>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数値の原文準拠</a:t>
            </a:r>
            <a:endParaRPr lang="en-US" sz="1000" dirty="0"/>
          </a:p>
        </p:txBody>
      </p:sp>
      <p:sp>
        <p:nvSpPr>
          <p:cNvPr id="54" name="Text 39"/>
          <p:cNvSpPr txBox="1"/>
          <p:nvPr/>
        </p:nvSpPr>
        <p:spPr>
          <a:xfrm>
            <a:off x="6001207" y="5264201"/>
            <a:ext cx="32964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価格や割引率はサイト記載の数値をそのまま使用（丸めない）</a:t>
            </a:r>
            <a:endParaRPr lang="en-US" sz="900" dirty="0"/>
          </a:p>
        </p:txBody>
      </p:sp>
      <p:sp>
        <p:nvSpPr>
          <p:cNvPr id="55" name="Shape 40"/>
          <p:cNvSpPr/>
          <p:nvPr/>
        </p:nvSpPr>
        <p:spPr>
          <a:xfrm>
            <a:off x="5572354" y="5664708"/>
            <a:ext cx="5924398" cy="590702"/>
          </a:xfrm>
          <a:prstGeom prst="roundRect">
            <a:avLst>
              <a:gd name="adj" fmla="val 19974"/>
            </a:avLst>
          </a:prstGeom>
          <a:solidFill>
            <a:srgbClr val="ECFDF5"/>
          </a:solidFill>
          <a:ln w="12700">
            <a:solidFill>
              <a:srgbClr val="D1FAE5"/>
            </a:solidFill>
            <a:prstDash val="solid"/>
          </a:ln>
        </p:spPr>
      </p:sp>
      <p:pic>
        <p:nvPicPr>
          <p:cNvPr id="56" name="Image 13" descr="preencoded.png">    </p:cNvPr>
          <p:cNvPicPr>
            <a:picLocks noChangeAspect="1"/>
          </p:cNvPicPr>
          <p:nvPr/>
        </p:nvPicPr>
        <p:blipFill>
          <a:blip r:embed="rId14"/>
          <a:srcRect l="-38564" r="-38564" t="0" b="0"/>
          <a:stretch/>
        </p:blipFill>
        <p:spPr>
          <a:xfrm>
            <a:off x="5695798" y="5874106"/>
            <a:ext cx="304495" cy="171907"/>
          </a:xfrm>
          <a:prstGeom prst="rect">
            <a:avLst/>
          </a:prstGeom>
        </p:spPr>
      </p:pic>
      <p:sp>
        <p:nvSpPr>
          <p:cNvPr id="57" name="Text 41"/>
          <p:cNvSpPr txBox="1"/>
          <p:nvPr/>
        </p:nvSpPr>
        <p:spPr>
          <a:xfrm>
            <a:off x="6001207" y="5788152"/>
            <a:ext cx="116768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検索意図のログ化</a:t>
            </a:r>
            <a:endParaRPr lang="en-US" sz="1000" dirty="0"/>
          </a:p>
        </p:txBody>
      </p:sp>
      <p:sp>
        <p:nvSpPr>
          <p:cNvPr id="58" name="Text 42"/>
          <p:cNvSpPr txBox="1"/>
          <p:nvPr/>
        </p:nvSpPr>
        <p:spPr>
          <a:xfrm>
            <a:off x="6001207" y="5969203"/>
            <a:ext cx="35250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なぜそのキーワードで検索したか（例：流入層分析のため）を記録</a:t>
            </a:r>
            <a:endParaRPr lang="en-US" sz="900" dirty="0"/>
          </a:p>
        </p:txBody>
      </p:sp>
      <p:sp>
        <p:nvSpPr>
          <p:cNvPr id="59" name="Shape 43"/>
          <p:cNvSpPr/>
          <p:nvPr/>
        </p:nvSpPr>
        <p:spPr>
          <a:xfrm>
            <a:off x="0" y="0"/>
            <a:ext cx="12191695" cy="466344"/>
          </a:xfrm>
          <a:prstGeom prst="rect">
            <a:avLst/>
          </a:prstGeom>
          <a:solidFill>
            <a:srgbClr val="FFFFFF"/>
          </a:solidFill>
          <a:ln/>
        </p:spPr>
      </p:sp>
      <p:sp>
        <p:nvSpPr>
          <p:cNvPr id="60" name="Shape 44"/>
          <p:cNvSpPr/>
          <p:nvPr/>
        </p:nvSpPr>
        <p:spPr>
          <a:xfrm>
            <a:off x="0" y="457200"/>
            <a:ext cx="12191695" cy="9144"/>
          </a:xfrm>
          <a:prstGeom prst="rect">
            <a:avLst/>
          </a:prstGeom>
          <a:solidFill>
            <a:srgbClr val="E5E7EB"/>
          </a:solidFill>
          <a:ln/>
        </p:spPr>
      </p:sp>
      <p:sp>
        <p:nvSpPr>
          <p:cNvPr id="61" name="Shape 45"/>
          <p:cNvSpPr/>
          <p:nvPr/>
        </p:nvSpPr>
        <p:spPr>
          <a:xfrm>
            <a:off x="457200" y="38405"/>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62" name="Image 14" descr="preencoded.png">    </p:cNvPr>
          <p:cNvPicPr>
            <a:picLocks noChangeAspect="1"/>
          </p:cNvPicPr>
          <p:nvPr/>
        </p:nvPicPr>
        <p:blipFill>
          <a:blip r:embed="rId15"/>
          <a:srcRect l="-3120" r="-3120" t="0" b="0"/>
          <a:stretch/>
        </p:blipFill>
        <p:spPr>
          <a:xfrm>
            <a:off x="9493301" y="171907"/>
            <a:ext cx="75895" cy="114300"/>
          </a:xfrm>
          <a:prstGeom prst="rect">
            <a:avLst/>
          </a:prstGeom>
        </p:spPr>
      </p:pic>
      <p:pic>
        <p:nvPicPr>
          <p:cNvPr id="63" name="Image 15" descr="preencoded.png">    </p:cNvPr>
          <p:cNvPicPr>
            <a:picLocks noChangeAspect="1"/>
          </p:cNvPicPr>
          <p:nvPr/>
        </p:nvPicPr>
        <p:blipFill>
          <a:blip r:embed="rId16"/>
          <a:srcRect l="-3120" r="-3120" t="0" b="0"/>
          <a:stretch/>
        </p:blipFill>
        <p:spPr>
          <a:xfrm>
            <a:off x="10178186" y="171907"/>
            <a:ext cx="75895" cy="114300"/>
          </a:xfrm>
          <a:prstGeom prst="rect">
            <a:avLst/>
          </a:prstGeom>
        </p:spPr>
      </p:pic>
      <p:pic>
        <p:nvPicPr>
          <p:cNvPr id="64" name="Image 16" descr="preencoded.png">    </p:cNvPr>
          <p:cNvPicPr>
            <a:picLocks noChangeAspect="1"/>
          </p:cNvPicPr>
          <p:nvPr/>
        </p:nvPicPr>
        <p:blipFill>
          <a:blip r:embed="rId17"/>
          <a:srcRect l="-3120" r="-3120" t="0" b="0"/>
          <a:stretch/>
        </p:blipFill>
        <p:spPr>
          <a:xfrm>
            <a:off x="10838383" y="171907"/>
            <a:ext cx="75895" cy="114300"/>
          </a:xfrm>
          <a:prstGeom prst="rect">
            <a:avLst/>
          </a:prstGeom>
        </p:spPr>
      </p:pic>
      <p:pic>
        <p:nvPicPr>
          <p:cNvPr id="65" name="Image 17" descr="preencoded.png">    </p:cNvPr>
          <p:cNvPicPr>
            <a:picLocks noChangeAspect="1"/>
          </p:cNvPicPr>
          <p:nvPr/>
        </p:nvPicPr>
        <p:blipFill>
          <a:blip r:embed="rId18"/>
          <a:srcRect l="-3120" r="-3120" t="0" b="0"/>
          <a:stretch/>
        </p:blipFill>
        <p:spPr>
          <a:xfrm>
            <a:off x="11400739" y="171907"/>
            <a:ext cx="75895" cy="114300"/>
          </a:xfrm>
          <a:prstGeom prst="rect">
            <a:avLst/>
          </a:prstGeom>
        </p:spPr>
      </p:pic>
      <p:sp>
        <p:nvSpPr>
          <p:cNvPr id="66" name="Text 46"/>
          <p:cNvSpPr txBox="1"/>
          <p:nvPr/>
        </p:nvSpPr>
        <p:spPr>
          <a:xfrm>
            <a:off x="546811" y="105156"/>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02</a:t>
            </a:r>
            <a:endParaRPr lang="en-US" sz="1300" dirty="0"/>
          </a:p>
        </p:txBody>
      </p:sp>
      <p:sp>
        <p:nvSpPr>
          <p:cNvPr id="67" name="Text 47"/>
          <p:cNvSpPr txBox="1"/>
          <p:nvPr/>
        </p:nvSpPr>
        <p:spPr>
          <a:xfrm>
            <a:off x="990295" y="-9144"/>
            <a:ext cx="600761"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PHASE 2</a:t>
            </a:r>
            <a:endParaRPr lang="en-US" sz="900" dirty="0"/>
          </a:p>
        </p:txBody>
      </p:sp>
      <p:sp>
        <p:nvSpPr>
          <p:cNvPr id="68" name="Text 48"/>
          <p:cNvSpPr txBox="1"/>
          <p:nvPr/>
        </p:nvSpPr>
        <p:spPr>
          <a:xfrm>
            <a:off x="990295" y="133502"/>
            <a:ext cx="2171700"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データ収集フェーズ</a:t>
            </a:r>
            <a:endParaRPr lang="en-US" sz="1800" dirty="0"/>
          </a:p>
        </p:txBody>
      </p:sp>
      <p:sp>
        <p:nvSpPr>
          <p:cNvPr id="69" name="Text 49"/>
          <p:cNvSpPr txBox="1"/>
          <p:nvPr/>
        </p:nvSpPr>
        <p:spPr>
          <a:xfrm>
            <a:off x="9005926" y="133502"/>
            <a:ext cx="5193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Define</a:t>
            </a:r>
            <a:endParaRPr lang="en-US" sz="1000" dirty="0"/>
          </a:p>
        </p:txBody>
      </p:sp>
      <p:sp>
        <p:nvSpPr>
          <p:cNvPr id="70" name="Text 50"/>
          <p:cNvSpPr txBox="1"/>
          <p:nvPr/>
        </p:nvSpPr>
        <p:spPr>
          <a:xfrm>
            <a:off x="9646006" y="133502"/>
            <a:ext cx="557784"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Collect</a:t>
            </a:r>
            <a:endParaRPr lang="en-US" sz="1000" dirty="0"/>
          </a:p>
        </p:txBody>
      </p:sp>
      <p:sp>
        <p:nvSpPr>
          <p:cNvPr id="71" name="Text 51"/>
          <p:cNvSpPr txBox="1"/>
          <p:nvPr/>
        </p:nvSpPr>
        <p:spPr>
          <a:xfrm>
            <a:off x="10330891" y="133502"/>
            <a:ext cx="5385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Design</a:t>
            </a:r>
            <a:endParaRPr lang="en-US" sz="1000" dirty="0"/>
          </a:p>
        </p:txBody>
      </p:sp>
      <p:sp>
        <p:nvSpPr>
          <p:cNvPr id="72" name="Text 52"/>
          <p:cNvSpPr txBox="1"/>
          <p:nvPr/>
        </p:nvSpPr>
        <p:spPr>
          <a:xfrm>
            <a:off x="10991088" y="133502"/>
            <a:ext cx="443484"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Build</a:t>
            </a:r>
            <a:endParaRPr lang="en-US" sz="1000" dirty="0"/>
          </a:p>
        </p:txBody>
      </p:sp>
      <p:sp>
        <p:nvSpPr>
          <p:cNvPr id="73" name="Text 53"/>
          <p:cNvSpPr txBox="1"/>
          <p:nvPr/>
        </p:nvSpPr>
        <p:spPr>
          <a:xfrm>
            <a:off x="11553444" y="133502"/>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
        <p:nvSpPr>
          <p:cNvPr id="74" name="Shape 54"/>
          <p:cNvSpPr/>
          <p:nvPr/>
        </p:nvSpPr>
        <p:spPr>
          <a:xfrm>
            <a:off x="3019349" y="5397703"/>
            <a:ext cx="1809598" cy="552298"/>
          </a:xfrm>
          <a:prstGeom prst="roundRect">
            <a:avLst>
              <a:gd name="adj" fmla="val 11418"/>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sp>
        <p:nvSpPr>
          <p:cNvPr id="75" name="Shape 55"/>
          <p:cNvSpPr/>
          <p:nvPr/>
        </p:nvSpPr>
        <p:spPr>
          <a:xfrm>
            <a:off x="3019349" y="6026810"/>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76" name="Image 18" descr="preencoded.png">    </p:cNvPr>
          <p:cNvPicPr>
            <a:picLocks noChangeAspect="1"/>
          </p:cNvPicPr>
          <p:nvPr/>
        </p:nvPicPr>
        <p:blipFill>
          <a:blip r:embed="rId19"/>
          <a:srcRect l="0" r="0" t="-1100" b="-1100"/>
          <a:stretch/>
        </p:blipFill>
        <p:spPr>
          <a:xfrm>
            <a:off x="3143707" y="5519318"/>
            <a:ext cx="114300" cy="133502"/>
          </a:xfrm>
          <a:prstGeom prst="rect">
            <a:avLst/>
          </a:prstGeom>
        </p:spPr>
      </p:pic>
      <p:sp>
        <p:nvSpPr>
          <p:cNvPr id="77" name="Text 56"/>
          <p:cNvSpPr txBox="1"/>
          <p:nvPr/>
        </p:nvSpPr>
        <p:spPr>
          <a:xfrm>
            <a:off x="3143707" y="5483657"/>
            <a:ext cx="1595628" cy="381305"/>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メニュー/価格/クーポン</a:t>
            </a:r>
            <a:endParaRPr lang="en-US" sz="1000" dirty="0"/>
          </a:p>
        </p:txBody>
      </p:sp>
      <p:pic>
        <p:nvPicPr>
          <p:cNvPr id="78" name="Image 19" descr="preencoded.png">    </p:cNvPr>
          <p:cNvPicPr>
            <a:picLocks noChangeAspect="1"/>
          </p:cNvPicPr>
          <p:nvPr/>
        </p:nvPicPr>
        <p:blipFill>
          <a:blip r:embed="rId20"/>
          <a:srcRect l="0" r="0" t="0" b="0"/>
          <a:stretch/>
        </p:blipFill>
        <p:spPr>
          <a:xfrm>
            <a:off x="3143707" y="6148426"/>
            <a:ext cx="133502" cy="133502"/>
          </a:xfrm>
          <a:prstGeom prst="rect">
            <a:avLst/>
          </a:prstGeom>
        </p:spPr>
      </p:pic>
      <p:sp>
        <p:nvSpPr>
          <p:cNvPr id="79" name="Text 57"/>
          <p:cNvSpPr txBox="1"/>
          <p:nvPr/>
        </p:nvSpPr>
        <p:spPr>
          <a:xfrm>
            <a:off x="3353105" y="6112764"/>
            <a:ext cx="1034186"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競合候補リスト</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923544"/>
            <a:ext cx="4572000" cy="4172407"/>
          </a:xfrm>
          <a:prstGeom prst="roundRect">
            <a:avLst>
              <a:gd name="adj" fmla="val 600"/>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0" r="0" t="0" b="0"/>
          <a:stretch/>
        </p:blipFill>
        <p:spPr>
          <a:xfrm>
            <a:off x="694944" y="1200607"/>
            <a:ext cx="190195" cy="190195"/>
          </a:xfrm>
          <a:prstGeom prst="rect">
            <a:avLst/>
          </a:prstGeom>
        </p:spPr>
      </p:pic>
      <p:sp>
        <p:nvSpPr>
          <p:cNvPr id="6" name="Text 3"/>
          <p:cNvSpPr txBox="1"/>
          <p:nvPr/>
        </p:nvSpPr>
        <p:spPr>
          <a:xfrm>
            <a:off x="1000354" y="1152144"/>
            <a:ext cx="2467051" cy="277063"/>
          </a:xfrm>
          <a:prstGeom prst="rect">
            <a:avLst/>
          </a:prstGeom>
          <a:noFill/>
          <a:ln/>
        </p:spPr>
        <p:txBody>
          <a:bodyPr wrap="square" lIns="0" tIns="0" rIns="0" bIns="0" rtlCol="0" anchor="ctr"/>
          <a:lstStyle/>
          <a:p>
            <a:pPr algn="l" indent="0" marL="0">
              <a:buNone/>
            </a:pPr>
            <a:r>
              <a:rPr lang="en-US" sz="1500" b="1" dirty="0">
                <a:solidFill>
                  <a:srgbClr val="1E40AF"/>
                </a:solidFill>
                <a:latin typeface="Noto Sans JP" pitchFamily="34" charset="0"/>
                <a:ea typeface="Noto Sans JP" pitchFamily="34" charset="-122"/>
                <a:cs typeface="Noto Sans JP" pitchFamily="34" charset="-120"/>
              </a:rPr>
              <a:t>主要活動 (Main Activities)</a:t>
            </a:r>
            <a:endParaRPr lang="en-US" sz="1500" dirty="0"/>
          </a:p>
        </p:txBody>
      </p:sp>
      <p:sp>
        <p:nvSpPr>
          <p:cNvPr id="7" name="Shape 4"/>
          <p:cNvSpPr/>
          <p:nvPr/>
        </p:nvSpPr>
        <p:spPr>
          <a:xfrm>
            <a:off x="694944" y="1619402"/>
            <a:ext cx="228600" cy="228600"/>
          </a:xfrm>
          <a:prstGeom prst="roundRect">
            <a:avLst>
              <a:gd name="adj" fmla="val 400000"/>
            </a:avLst>
          </a:prstGeom>
          <a:solidFill>
            <a:srgbClr val="DBEAFE"/>
          </a:solidFill>
          <a:ln/>
        </p:spPr>
      </p:sp>
      <p:pic>
        <p:nvPicPr>
          <p:cNvPr id="8" name="Image 1" descr="preencoded.png">    </p:cNvPr>
          <p:cNvPicPr>
            <a:picLocks noChangeAspect="1"/>
          </p:cNvPicPr>
          <p:nvPr/>
        </p:nvPicPr>
        <p:blipFill>
          <a:blip r:embed="rId2"/>
          <a:srcRect l="-7143" r="-7143" t="0" b="0"/>
          <a:stretch/>
        </p:blipFill>
        <p:spPr>
          <a:xfrm>
            <a:off x="733349" y="1657807"/>
            <a:ext cx="152705" cy="152705"/>
          </a:xfrm>
          <a:prstGeom prst="rect">
            <a:avLst/>
          </a:prstGeom>
        </p:spPr>
      </p:pic>
      <p:sp>
        <p:nvSpPr>
          <p:cNvPr id="9" name="Text 5"/>
          <p:cNvSpPr txBox="1"/>
          <p:nvPr/>
        </p:nvSpPr>
        <p:spPr>
          <a:xfrm>
            <a:off x="1037844" y="1580998"/>
            <a:ext cx="1495958"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スライド構成の設計</a:t>
            </a:r>
            <a:endParaRPr lang="en-US" sz="1200" dirty="0"/>
          </a:p>
        </p:txBody>
      </p:sp>
      <p:sp>
        <p:nvSpPr>
          <p:cNvPr id="10" name="Text 6"/>
          <p:cNvSpPr txBox="1"/>
          <p:nvPr/>
        </p:nvSpPr>
        <p:spPr>
          <a:xfrm>
            <a:off x="1037844" y="1848002"/>
            <a:ext cx="27861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23枚の全アウトラインを定義し目的を明確化</a:t>
            </a:r>
            <a:endParaRPr lang="en-US" sz="1000" dirty="0"/>
          </a:p>
        </p:txBody>
      </p:sp>
      <p:sp>
        <p:nvSpPr>
          <p:cNvPr id="11" name="Shape 7"/>
          <p:cNvSpPr/>
          <p:nvPr/>
        </p:nvSpPr>
        <p:spPr>
          <a:xfrm>
            <a:off x="694944" y="2229307"/>
            <a:ext cx="228600" cy="228600"/>
          </a:xfrm>
          <a:prstGeom prst="roundRect">
            <a:avLst>
              <a:gd name="adj" fmla="val 400000"/>
            </a:avLst>
          </a:prstGeom>
          <a:solidFill>
            <a:srgbClr val="DBEAFE"/>
          </a:solidFill>
          <a:ln/>
        </p:spPr>
      </p:sp>
      <p:pic>
        <p:nvPicPr>
          <p:cNvPr id="12" name="Image 2" descr="preencoded.png">    </p:cNvPr>
          <p:cNvPicPr>
            <a:picLocks noChangeAspect="1"/>
          </p:cNvPicPr>
          <p:nvPr/>
        </p:nvPicPr>
        <p:blipFill>
          <a:blip r:embed="rId3"/>
          <a:srcRect l="-7143" r="-7143" t="0" b="0"/>
          <a:stretch/>
        </p:blipFill>
        <p:spPr>
          <a:xfrm>
            <a:off x="733349" y="2266798"/>
            <a:ext cx="152705" cy="152705"/>
          </a:xfrm>
          <a:prstGeom prst="rect">
            <a:avLst/>
          </a:prstGeom>
        </p:spPr>
      </p:pic>
      <p:sp>
        <p:nvSpPr>
          <p:cNvPr id="13" name="Text 8"/>
          <p:cNvSpPr txBox="1"/>
          <p:nvPr/>
        </p:nvSpPr>
        <p:spPr>
          <a:xfrm>
            <a:off x="1037844" y="2190902"/>
            <a:ext cx="2095805"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ページ目的と形式の対応付け</a:t>
            </a:r>
            <a:endParaRPr lang="en-US" sz="1200" dirty="0"/>
          </a:p>
        </p:txBody>
      </p:sp>
      <p:sp>
        <p:nvSpPr>
          <p:cNvPr id="14" name="Text 9"/>
          <p:cNvSpPr txBox="1"/>
          <p:nvPr/>
        </p:nvSpPr>
        <p:spPr>
          <a:xfrm>
            <a:off x="1037844" y="2457907"/>
            <a:ext cx="29004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最適な表現形式（表・グラフ・マップ）を決定</a:t>
            </a:r>
            <a:endParaRPr lang="en-US" sz="1000" dirty="0"/>
          </a:p>
        </p:txBody>
      </p:sp>
      <p:sp>
        <p:nvSpPr>
          <p:cNvPr id="15" name="Shape 10"/>
          <p:cNvSpPr/>
          <p:nvPr/>
        </p:nvSpPr>
        <p:spPr>
          <a:xfrm>
            <a:off x="694944" y="2838298"/>
            <a:ext cx="228600" cy="228600"/>
          </a:xfrm>
          <a:prstGeom prst="roundRect">
            <a:avLst>
              <a:gd name="adj" fmla="val 400000"/>
            </a:avLst>
          </a:prstGeom>
          <a:solidFill>
            <a:srgbClr val="DBEAFE"/>
          </a:solidFill>
          <a:ln/>
        </p:spPr>
      </p:sp>
      <p:pic>
        <p:nvPicPr>
          <p:cNvPr id="16" name="Image 3" descr="preencoded.png">    </p:cNvPr>
          <p:cNvPicPr>
            <a:picLocks noChangeAspect="1"/>
          </p:cNvPicPr>
          <p:nvPr/>
        </p:nvPicPr>
        <p:blipFill>
          <a:blip r:embed="rId4"/>
          <a:srcRect l="-7143" r="-7143" t="0" b="0"/>
          <a:stretch/>
        </p:blipFill>
        <p:spPr>
          <a:xfrm>
            <a:off x="733349" y="2876702"/>
            <a:ext cx="152705" cy="152705"/>
          </a:xfrm>
          <a:prstGeom prst="rect">
            <a:avLst/>
          </a:prstGeom>
        </p:spPr>
      </p:pic>
      <p:sp>
        <p:nvSpPr>
          <p:cNvPr id="17" name="Text 11"/>
          <p:cNvSpPr txBox="1"/>
          <p:nvPr/>
        </p:nvSpPr>
        <p:spPr>
          <a:xfrm>
            <a:off x="1037844" y="2800807"/>
            <a:ext cx="2553005"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テンプレート・作成順序の戦略策定</a:t>
            </a:r>
            <a:endParaRPr lang="en-US" sz="1200" dirty="0"/>
          </a:p>
        </p:txBody>
      </p:sp>
      <p:sp>
        <p:nvSpPr>
          <p:cNvPr id="18" name="Text 12"/>
          <p:cNvSpPr txBox="1"/>
          <p:nvPr/>
        </p:nvSpPr>
        <p:spPr>
          <a:xfrm>
            <a:off x="1037844" y="3066898"/>
            <a:ext cx="276788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再利用性による一貫性確保と依存関係の整理</a:t>
            </a:r>
            <a:endParaRPr lang="en-US" sz="1000" dirty="0"/>
          </a:p>
        </p:txBody>
      </p:sp>
      <p:sp>
        <p:nvSpPr>
          <p:cNvPr id="19" name="Shape 13"/>
          <p:cNvSpPr/>
          <p:nvPr/>
        </p:nvSpPr>
        <p:spPr>
          <a:xfrm>
            <a:off x="457200" y="5316322"/>
            <a:ext cx="2210105" cy="1524305"/>
          </a:xfrm>
          <a:prstGeom prst="roundRect">
            <a:avLst>
              <a:gd name="adj" fmla="val 4499"/>
            </a:avLst>
          </a:prstGeom>
          <a:solidFill>
            <a:srgbClr val="F9FAFB"/>
          </a:solidFill>
          <a:ln w="12700">
            <a:solidFill>
              <a:srgbClr val="E5E7EB"/>
            </a:solidFill>
            <a:prstDash val="solid"/>
          </a:ln>
        </p:spPr>
      </p:sp>
      <p:pic>
        <p:nvPicPr>
          <p:cNvPr id="20" name="Image 4" descr="preencoded.png">    </p:cNvPr>
          <p:cNvPicPr>
            <a:picLocks noChangeAspect="1"/>
          </p:cNvPicPr>
          <p:nvPr/>
        </p:nvPicPr>
        <p:blipFill>
          <a:blip r:embed="rId5"/>
          <a:srcRect l="0" r="0" t="0" b="0"/>
          <a:stretch/>
        </p:blipFill>
        <p:spPr>
          <a:xfrm>
            <a:off x="657454" y="5540350"/>
            <a:ext cx="114300" cy="114300"/>
          </a:xfrm>
          <a:prstGeom prst="rect">
            <a:avLst/>
          </a:prstGeom>
        </p:spPr>
      </p:pic>
      <p:sp>
        <p:nvSpPr>
          <p:cNvPr id="21" name="Text 14"/>
          <p:cNvSpPr txBox="1"/>
          <p:nvPr/>
        </p:nvSpPr>
        <p:spPr>
          <a:xfrm>
            <a:off x="809244" y="5506517"/>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22" name="Shape 15"/>
          <p:cNvSpPr/>
          <p:nvPr/>
        </p:nvSpPr>
        <p:spPr>
          <a:xfrm>
            <a:off x="657454" y="5745175"/>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3" name="Image 5" descr="preencoded.png">    </p:cNvPr>
          <p:cNvPicPr>
            <a:picLocks noChangeAspect="1"/>
          </p:cNvPicPr>
          <p:nvPr/>
        </p:nvPicPr>
        <p:blipFill>
          <a:blip r:embed="rId6"/>
          <a:srcRect l="-2512" r="-2512" t="0" b="0"/>
          <a:stretch/>
        </p:blipFill>
        <p:spPr>
          <a:xfrm>
            <a:off x="780898" y="5865876"/>
            <a:ext cx="105156" cy="133502"/>
          </a:xfrm>
          <a:prstGeom prst="rect">
            <a:avLst/>
          </a:prstGeom>
        </p:spPr>
      </p:pic>
      <p:sp>
        <p:nvSpPr>
          <p:cNvPr id="24" name="Text 16"/>
          <p:cNvSpPr txBox="1"/>
          <p:nvPr/>
        </p:nvSpPr>
        <p:spPr>
          <a:xfrm>
            <a:off x="961949" y="5830214"/>
            <a:ext cx="767182"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要求定義書</a:t>
            </a:r>
            <a:endParaRPr lang="en-US" sz="1000" dirty="0"/>
          </a:p>
        </p:txBody>
      </p:sp>
      <p:sp>
        <p:nvSpPr>
          <p:cNvPr id="25" name="Shape 17"/>
          <p:cNvSpPr/>
          <p:nvPr/>
        </p:nvSpPr>
        <p:spPr>
          <a:xfrm>
            <a:off x="657454" y="6183173"/>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6" name="Image 6" descr="preencoded.png">    </p:cNvPr>
          <p:cNvPicPr>
            <a:picLocks noChangeAspect="1"/>
          </p:cNvPicPr>
          <p:nvPr/>
        </p:nvPicPr>
        <p:blipFill>
          <a:blip r:embed="rId7"/>
          <a:srcRect l="0" r="0" t="-1100" b="-1100"/>
          <a:stretch/>
        </p:blipFill>
        <p:spPr>
          <a:xfrm>
            <a:off x="780898" y="6304788"/>
            <a:ext cx="114300" cy="133502"/>
          </a:xfrm>
          <a:prstGeom prst="rect">
            <a:avLst/>
          </a:prstGeom>
        </p:spPr>
      </p:pic>
      <p:sp>
        <p:nvSpPr>
          <p:cNvPr id="27" name="Text 18"/>
          <p:cNvSpPr txBox="1"/>
          <p:nvPr/>
        </p:nvSpPr>
        <p:spPr>
          <a:xfrm>
            <a:off x="972007" y="6268212"/>
            <a:ext cx="767182"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収集データ</a:t>
            </a:r>
            <a:endParaRPr lang="en-US" sz="1000" dirty="0"/>
          </a:p>
        </p:txBody>
      </p:sp>
      <p:sp>
        <p:nvSpPr>
          <p:cNvPr id="28" name="Shape 19"/>
          <p:cNvSpPr/>
          <p:nvPr/>
        </p:nvSpPr>
        <p:spPr>
          <a:xfrm>
            <a:off x="2819095" y="5316322"/>
            <a:ext cx="2210105" cy="1524305"/>
          </a:xfrm>
          <a:prstGeom prst="roundRect">
            <a:avLst>
              <a:gd name="adj" fmla="val 4499"/>
            </a:avLst>
          </a:prstGeom>
          <a:solidFill>
            <a:srgbClr val="EFF6FF"/>
          </a:solidFill>
          <a:ln w="12700">
            <a:solidFill>
              <a:srgbClr val="DBEAFE"/>
            </a:solidFill>
            <a:prstDash val="solid"/>
          </a:ln>
        </p:spPr>
      </p:sp>
      <p:sp>
        <p:nvSpPr>
          <p:cNvPr id="29" name="Shape 20"/>
          <p:cNvSpPr/>
          <p:nvPr/>
        </p:nvSpPr>
        <p:spPr>
          <a:xfrm>
            <a:off x="4410151" y="5325466"/>
            <a:ext cx="609905" cy="609905"/>
          </a:xfrm>
          <a:prstGeom prst="rect">
            <a:avLst/>
          </a:prstGeom>
          <a:solidFill>
            <a:srgbClr val="DBEAFE">
              <a:alpha val="50000"/>
            </a:srgbClr>
          </a:solidFill>
          <a:ln/>
        </p:spPr>
      </p:sp>
      <p:pic>
        <p:nvPicPr>
          <p:cNvPr id="30" name="Image 7" descr="preencoded.png">    </p:cNvPr>
          <p:cNvPicPr>
            <a:picLocks noChangeAspect="1"/>
          </p:cNvPicPr>
          <p:nvPr/>
        </p:nvPicPr>
        <p:blipFill>
          <a:blip r:embed="rId8"/>
          <a:srcRect l="0" r="0" t="0" b="0"/>
          <a:stretch/>
        </p:blipFill>
        <p:spPr>
          <a:xfrm>
            <a:off x="3019349" y="5540350"/>
            <a:ext cx="114300" cy="114300"/>
          </a:xfrm>
          <a:prstGeom prst="rect">
            <a:avLst/>
          </a:prstGeom>
        </p:spPr>
      </p:pic>
      <p:sp>
        <p:nvSpPr>
          <p:cNvPr id="31" name="Text 21"/>
          <p:cNvSpPr txBox="1"/>
          <p:nvPr/>
        </p:nvSpPr>
        <p:spPr>
          <a:xfrm>
            <a:off x="3172054" y="5506517"/>
            <a:ext cx="571500"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OUTPUT</a:t>
            </a:r>
            <a:endParaRPr lang="en-US" sz="900" dirty="0"/>
          </a:p>
        </p:txBody>
      </p:sp>
      <p:sp>
        <p:nvSpPr>
          <p:cNvPr id="32" name="Shape 22"/>
          <p:cNvSpPr/>
          <p:nvPr/>
        </p:nvSpPr>
        <p:spPr>
          <a:xfrm>
            <a:off x="5333695" y="923544"/>
            <a:ext cx="6400800" cy="2800807"/>
          </a:xfrm>
          <a:prstGeom prst="roundRect">
            <a:avLst>
              <a:gd name="adj" fmla="val 1333"/>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3" name="Image 8" descr="preencoded.png">    </p:cNvPr>
          <p:cNvPicPr>
            <a:picLocks noChangeAspect="1"/>
          </p:cNvPicPr>
          <p:nvPr/>
        </p:nvPicPr>
        <p:blipFill>
          <a:blip r:embed="rId9"/>
          <a:srcRect l="-1282" r="-1282" t="0" b="0"/>
          <a:stretch/>
        </p:blipFill>
        <p:spPr>
          <a:xfrm>
            <a:off x="5572354" y="1200607"/>
            <a:ext cx="219456" cy="190195"/>
          </a:xfrm>
          <a:prstGeom prst="rect">
            <a:avLst/>
          </a:prstGeom>
        </p:spPr>
      </p:pic>
      <p:sp>
        <p:nvSpPr>
          <p:cNvPr id="34" name="Text 23"/>
          <p:cNvSpPr txBox="1"/>
          <p:nvPr/>
        </p:nvSpPr>
        <p:spPr>
          <a:xfrm>
            <a:off x="5905195" y="1152144"/>
            <a:ext cx="3076956"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指示指針 (Instruction Guideline)</a:t>
            </a:r>
            <a:endParaRPr lang="en-US" sz="1500" dirty="0"/>
          </a:p>
        </p:txBody>
      </p:sp>
      <p:sp>
        <p:nvSpPr>
          <p:cNvPr id="35" name="Shape 24"/>
          <p:cNvSpPr/>
          <p:nvPr/>
        </p:nvSpPr>
        <p:spPr>
          <a:xfrm>
            <a:off x="10285171" y="1181405"/>
            <a:ext cx="1218895" cy="228600"/>
          </a:xfrm>
          <a:prstGeom prst="roundRect">
            <a:avLst>
              <a:gd name="adj" fmla="val 66667"/>
            </a:avLst>
          </a:prstGeom>
          <a:solidFill>
            <a:srgbClr val="F3F4F6"/>
          </a:solidFill>
          <a:ln/>
        </p:spPr>
      </p:sp>
      <p:sp>
        <p:nvSpPr>
          <p:cNvPr id="36" name="Text 25"/>
          <p:cNvSpPr txBox="1"/>
          <p:nvPr/>
        </p:nvSpPr>
        <p:spPr>
          <a:xfrm>
            <a:off x="10361066" y="1209751"/>
            <a:ext cx="1153058"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System Instruction</a:t>
            </a:r>
            <a:endParaRPr lang="en-US" sz="900" dirty="0"/>
          </a:p>
        </p:txBody>
      </p:sp>
      <p:sp>
        <p:nvSpPr>
          <p:cNvPr id="37" name="Shape 26"/>
          <p:cNvSpPr/>
          <p:nvPr/>
        </p:nvSpPr>
        <p:spPr>
          <a:xfrm>
            <a:off x="5572354" y="1580998"/>
            <a:ext cx="5924398" cy="1314907"/>
          </a:xfrm>
          <a:prstGeom prst="roundRect">
            <a:avLst>
              <a:gd name="adj" fmla="val 4031"/>
            </a:avLst>
          </a:prstGeom>
          <a:solidFill>
            <a:srgbClr val="1E293B"/>
          </a:solidFill>
          <a:ln/>
        </p:spPr>
      </p:sp>
      <p:sp>
        <p:nvSpPr>
          <p:cNvPr id="38" name="Shape 27"/>
          <p:cNvSpPr/>
          <p:nvPr/>
        </p:nvSpPr>
        <p:spPr>
          <a:xfrm>
            <a:off x="5572354" y="1580998"/>
            <a:ext cx="38405" cy="1314907"/>
          </a:xfrm>
          <a:prstGeom prst="rect">
            <a:avLst/>
          </a:prstGeom>
          <a:solidFill>
            <a:srgbClr val="3B82F6"/>
          </a:solidFill>
          <a:ln/>
        </p:spPr>
      </p:sp>
      <p:sp>
        <p:nvSpPr>
          <p:cNvPr id="39" name="Text 28"/>
          <p:cNvSpPr txBox="1"/>
          <p:nvPr/>
        </p:nvSpPr>
        <p:spPr>
          <a:xfrm>
            <a:off x="5939942" y="1752905"/>
            <a:ext cx="2354580" cy="143561"/>
          </a:xfrm>
          <a:prstGeom prst="rect">
            <a:avLst/>
          </a:prstGeom>
          <a:noFill/>
          <a:ln/>
        </p:spPr>
        <p:txBody>
          <a:bodyPr wrap="square" lIns="0" tIns="0" rIns="0" bIns="0" rtlCol="0" anchor="ctr"/>
          <a:lstStyle/>
          <a:p>
            <a:pPr algn="l" indent="0" marL="0">
              <a:buNone/>
            </a:pPr>
            <a:r>
              <a:rPr lang="en-US" sz="1000" dirty="0">
                <a:solidFill>
                  <a:srgbClr val="D1D5DB"/>
                </a:solidFill>
                <a:latin typeface="Menlo" pitchFamily="34" charset="0"/>
                <a:ea typeface="Menlo" pitchFamily="34" charset="-122"/>
                <a:cs typeface="Menlo" pitchFamily="34" charset="-120"/>
              </a:rPr>
              <a:t>23枚の構成とページごとの目的を定義</a:t>
            </a:r>
            <a:endParaRPr lang="en-US" sz="1000" dirty="0"/>
          </a:p>
        </p:txBody>
      </p:sp>
      <p:sp>
        <p:nvSpPr>
          <p:cNvPr id="40" name="Text 29"/>
          <p:cNvSpPr txBox="1"/>
          <p:nvPr/>
        </p:nvSpPr>
        <p:spPr>
          <a:xfrm>
            <a:off x="5939942" y="2023567"/>
            <a:ext cx="3250692" cy="143561"/>
          </a:xfrm>
          <a:prstGeom prst="rect">
            <a:avLst/>
          </a:prstGeom>
          <a:noFill/>
          <a:ln/>
        </p:spPr>
        <p:txBody>
          <a:bodyPr wrap="square" lIns="0" tIns="0" rIns="0" bIns="0" rtlCol="0" anchor="ctr"/>
          <a:lstStyle/>
          <a:p>
            <a:pPr algn="l" indent="0" marL="0">
              <a:buNone/>
            </a:pPr>
            <a:r>
              <a:rPr lang="en-US" sz="1000" dirty="0">
                <a:solidFill>
                  <a:srgbClr val="D1D5DB"/>
                </a:solidFill>
                <a:latin typeface="Menlo" pitchFamily="34" charset="0"/>
                <a:ea typeface="Menlo" pitchFamily="34" charset="-122"/>
                <a:cs typeface="Menlo" pitchFamily="34" charset="-120"/>
              </a:rPr>
              <a:t>各ページのデータ形式（表・グラフ・マップ）を決定</a:t>
            </a:r>
            <a:endParaRPr lang="en-US" sz="1000" dirty="0"/>
          </a:p>
        </p:txBody>
      </p:sp>
      <p:sp>
        <p:nvSpPr>
          <p:cNvPr id="41" name="Text 30"/>
          <p:cNvSpPr txBox="1"/>
          <p:nvPr/>
        </p:nvSpPr>
        <p:spPr>
          <a:xfrm>
            <a:off x="5939942" y="2293315"/>
            <a:ext cx="2069287" cy="143561"/>
          </a:xfrm>
          <a:prstGeom prst="rect">
            <a:avLst/>
          </a:prstGeom>
          <a:noFill/>
          <a:ln/>
        </p:spPr>
        <p:txBody>
          <a:bodyPr wrap="square" lIns="0" tIns="0" rIns="0" bIns="0" rtlCol="0" anchor="ctr"/>
          <a:lstStyle/>
          <a:p>
            <a:pPr algn="l" indent="0" marL="0">
              <a:buNone/>
            </a:pPr>
            <a:r>
              <a:rPr lang="en-US" sz="1000" dirty="0">
                <a:solidFill>
                  <a:srgbClr val="D1D5DB"/>
                </a:solidFill>
                <a:latin typeface="Menlo" pitchFamily="34" charset="0"/>
                <a:ea typeface="Menlo" pitchFamily="34" charset="-122"/>
                <a:cs typeface="Menlo" pitchFamily="34" charset="-120"/>
              </a:rPr>
              <a:t>テンプレートの再利用方針を策定</a:t>
            </a:r>
            <a:endParaRPr lang="en-US" sz="1000" dirty="0"/>
          </a:p>
        </p:txBody>
      </p:sp>
      <p:sp>
        <p:nvSpPr>
          <p:cNvPr id="42" name="Text 31"/>
          <p:cNvSpPr txBox="1"/>
          <p:nvPr/>
        </p:nvSpPr>
        <p:spPr>
          <a:xfrm>
            <a:off x="5939942" y="2563978"/>
            <a:ext cx="1659636" cy="143561"/>
          </a:xfrm>
          <a:prstGeom prst="rect">
            <a:avLst/>
          </a:prstGeom>
          <a:noFill/>
          <a:ln/>
        </p:spPr>
        <p:txBody>
          <a:bodyPr wrap="square" lIns="0" tIns="0" rIns="0" bIns="0" rtlCol="0" anchor="ctr"/>
          <a:lstStyle/>
          <a:p>
            <a:pPr algn="l" indent="0" marL="0">
              <a:buNone/>
            </a:pPr>
            <a:r>
              <a:rPr lang="en-US" sz="1000" dirty="0">
                <a:solidFill>
                  <a:srgbClr val="D1D5DB"/>
                </a:solidFill>
                <a:latin typeface="Menlo" pitchFamily="34" charset="0"/>
                <a:ea typeface="Menlo" pitchFamily="34" charset="-122"/>
                <a:cs typeface="Menlo" pitchFamily="34" charset="-120"/>
              </a:rPr>
              <a:t>作成順序と依存関係を明示</a:t>
            </a:r>
            <a:endParaRPr lang="en-US" sz="1000" dirty="0"/>
          </a:p>
        </p:txBody>
      </p:sp>
      <p:pic>
        <p:nvPicPr>
          <p:cNvPr id="43" name="Image 9" descr="preencoded.png">    </p:cNvPr>
          <p:cNvPicPr>
            <a:picLocks noChangeAspect="1"/>
          </p:cNvPicPr>
          <p:nvPr/>
        </p:nvPicPr>
        <p:blipFill>
          <a:blip r:embed="rId10"/>
          <a:srcRect l="0" r="0" t="0" b="0"/>
          <a:stretch/>
        </p:blipFill>
        <p:spPr>
          <a:xfrm>
            <a:off x="5572354" y="3089758"/>
            <a:ext cx="133502" cy="133502"/>
          </a:xfrm>
          <a:prstGeom prst="rect">
            <a:avLst/>
          </a:prstGeom>
        </p:spPr>
      </p:pic>
      <p:sp>
        <p:nvSpPr>
          <p:cNvPr id="44" name="Text 32"/>
          <p:cNvSpPr txBox="1"/>
          <p:nvPr/>
        </p:nvSpPr>
        <p:spPr>
          <a:xfrm>
            <a:off x="5572354" y="3054096"/>
            <a:ext cx="6005779"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全体像を先に設計することで、スライド間の一貫性を保ち、効率的な制作プロセス（並列作業など）を可能にします。</a:t>
            </a:r>
            <a:endParaRPr lang="en-US" sz="1000" dirty="0"/>
          </a:p>
        </p:txBody>
      </p:sp>
      <p:sp>
        <p:nvSpPr>
          <p:cNvPr id="45" name="Shape 33"/>
          <p:cNvSpPr/>
          <p:nvPr/>
        </p:nvSpPr>
        <p:spPr>
          <a:xfrm>
            <a:off x="5333695" y="3944722"/>
            <a:ext cx="6400800" cy="2895905"/>
          </a:xfrm>
          <a:prstGeom prst="roundRect">
            <a:avLst>
              <a:gd name="adj" fmla="val 1246"/>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6" name="Image 10" descr="preencoded.png">    </p:cNvPr>
          <p:cNvPicPr>
            <a:picLocks noChangeAspect="1"/>
          </p:cNvPicPr>
          <p:nvPr/>
        </p:nvPicPr>
        <p:blipFill>
          <a:blip r:embed="rId11"/>
          <a:srcRect l="0" r="0" t="0" b="0"/>
          <a:stretch/>
        </p:blipFill>
        <p:spPr>
          <a:xfrm>
            <a:off x="5572354" y="4220870"/>
            <a:ext cx="142646" cy="190195"/>
          </a:xfrm>
          <a:prstGeom prst="rect">
            <a:avLst/>
          </a:prstGeom>
        </p:spPr>
      </p:pic>
      <p:sp>
        <p:nvSpPr>
          <p:cNvPr id="47" name="Text 34"/>
          <p:cNvSpPr txBox="1"/>
          <p:nvPr/>
        </p:nvSpPr>
        <p:spPr>
          <a:xfrm>
            <a:off x="5829300" y="4173322"/>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8" name="Shape 35"/>
          <p:cNvSpPr/>
          <p:nvPr/>
        </p:nvSpPr>
        <p:spPr>
          <a:xfrm>
            <a:off x="5572354" y="4602175"/>
            <a:ext cx="5924398" cy="590702"/>
          </a:xfrm>
          <a:prstGeom prst="roundRect">
            <a:avLst>
              <a:gd name="adj" fmla="val 19974"/>
            </a:avLst>
          </a:prstGeom>
          <a:solidFill>
            <a:srgbClr val="ECFDF5"/>
          </a:solidFill>
          <a:ln w="12700">
            <a:solidFill>
              <a:srgbClr val="D1FAE5"/>
            </a:solidFill>
            <a:prstDash val="solid"/>
          </a:ln>
        </p:spPr>
      </p:sp>
      <p:pic>
        <p:nvPicPr>
          <p:cNvPr id="49" name="Image 11" descr="preencoded.png">    </p:cNvPr>
          <p:cNvPicPr>
            <a:picLocks noChangeAspect="1"/>
          </p:cNvPicPr>
          <p:nvPr/>
        </p:nvPicPr>
        <p:blipFill>
          <a:blip r:embed="rId12"/>
          <a:srcRect l="-38564" r="-38564" t="0" b="0"/>
          <a:stretch/>
        </p:blipFill>
        <p:spPr>
          <a:xfrm>
            <a:off x="5695798" y="4811573"/>
            <a:ext cx="304495" cy="171907"/>
          </a:xfrm>
          <a:prstGeom prst="rect">
            <a:avLst/>
          </a:prstGeom>
        </p:spPr>
      </p:pic>
      <p:sp>
        <p:nvSpPr>
          <p:cNvPr id="50" name="Text 36"/>
          <p:cNvSpPr txBox="1"/>
          <p:nvPr/>
        </p:nvSpPr>
        <p:spPr>
          <a:xfrm>
            <a:off x="6001207" y="4725619"/>
            <a:ext cx="196778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ページ目的とデータ形式の対応</a:t>
            </a:r>
            <a:endParaRPr lang="en-US" sz="1000" dirty="0"/>
          </a:p>
        </p:txBody>
      </p:sp>
      <p:sp>
        <p:nvSpPr>
          <p:cNvPr id="51" name="Text 37"/>
          <p:cNvSpPr txBox="1"/>
          <p:nvPr/>
        </p:nvSpPr>
        <p:spPr>
          <a:xfrm>
            <a:off x="6001207" y="4906670"/>
            <a:ext cx="27148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例：比較なら表、推移ならグラフ、分布ならマップ</a:t>
            </a:r>
            <a:endParaRPr lang="en-US" sz="900" dirty="0"/>
          </a:p>
        </p:txBody>
      </p:sp>
      <p:sp>
        <p:nvSpPr>
          <p:cNvPr id="52" name="Shape 38"/>
          <p:cNvSpPr/>
          <p:nvPr/>
        </p:nvSpPr>
        <p:spPr>
          <a:xfrm>
            <a:off x="5572354" y="5306263"/>
            <a:ext cx="5924398" cy="590702"/>
          </a:xfrm>
          <a:prstGeom prst="roundRect">
            <a:avLst>
              <a:gd name="adj" fmla="val 19974"/>
            </a:avLst>
          </a:prstGeom>
          <a:solidFill>
            <a:srgbClr val="ECFDF5"/>
          </a:solidFill>
          <a:ln w="12700">
            <a:solidFill>
              <a:srgbClr val="D1FAE5"/>
            </a:solidFill>
            <a:prstDash val="solid"/>
          </a:ln>
        </p:spPr>
      </p:sp>
      <p:pic>
        <p:nvPicPr>
          <p:cNvPr id="53" name="Image 12" descr="preencoded.png">    </p:cNvPr>
          <p:cNvPicPr>
            <a:picLocks noChangeAspect="1"/>
          </p:cNvPicPr>
          <p:nvPr/>
        </p:nvPicPr>
        <p:blipFill>
          <a:blip r:embed="rId13"/>
          <a:srcRect l="-38564" r="-38564" t="0" b="0"/>
          <a:stretch/>
        </p:blipFill>
        <p:spPr>
          <a:xfrm>
            <a:off x="5695798" y="5516575"/>
            <a:ext cx="304495" cy="171907"/>
          </a:xfrm>
          <a:prstGeom prst="rect">
            <a:avLst/>
          </a:prstGeom>
        </p:spPr>
      </p:pic>
      <p:sp>
        <p:nvSpPr>
          <p:cNvPr id="54" name="Text 39"/>
          <p:cNvSpPr txBox="1"/>
          <p:nvPr/>
        </p:nvSpPr>
        <p:spPr>
          <a:xfrm>
            <a:off x="6001207" y="5430622"/>
            <a:ext cx="21003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テンプレート再利用による一貫性</a:t>
            </a:r>
            <a:endParaRPr lang="en-US" sz="1000" dirty="0"/>
          </a:p>
        </p:txBody>
      </p:sp>
      <p:sp>
        <p:nvSpPr>
          <p:cNvPr id="55" name="Text 40"/>
          <p:cNvSpPr txBox="1"/>
          <p:nvPr/>
        </p:nvSpPr>
        <p:spPr>
          <a:xfrm>
            <a:off x="6001207" y="5611673"/>
            <a:ext cx="21534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同じ種類の情報は同じレイアウトで提示</a:t>
            </a:r>
            <a:endParaRPr lang="en-US" sz="900" dirty="0"/>
          </a:p>
        </p:txBody>
      </p:sp>
      <p:sp>
        <p:nvSpPr>
          <p:cNvPr id="56" name="Shape 41"/>
          <p:cNvSpPr/>
          <p:nvPr/>
        </p:nvSpPr>
        <p:spPr>
          <a:xfrm>
            <a:off x="5572354" y="6011266"/>
            <a:ext cx="5924398" cy="590702"/>
          </a:xfrm>
          <a:prstGeom prst="roundRect">
            <a:avLst>
              <a:gd name="adj" fmla="val 19974"/>
            </a:avLst>
          </a:prstGeom>
          <a:solidFill>
            <a:srgbClr val="ECFDF5"/>
          </a:solidFill>
          <a:ln w="12700">
            <a:solidFill>
              <a:srgbClr val="D1FAE5"/>
            </a:solidFill>
            <a:prstDash val="solid"/>
          </a:ln>
        </p:spPr>
      </p:sp>
      <p:pic>
        <p:nvPicPr>
          <p:cNvPr id="57" name="Image 13" descr="preencoded.png">    </p:cNvPr>
          <p:cNvPicPr>
            <a:picLocks noChangeAspect="1"/>
          </p:cNvPicPr>
          <p:nvPr/>
        </p:nvPicPr>
        <p:blipFill>
          <a:blip r:embed="rId14"/>
          <a:srcRect l="-28723" r="-28723" t="0" b="0"/>
          <a:stretch/>
        </p:blipFill>
        <p:spPr>
          <a:xfrm>
            <a:off x="5695798" y="6220663"/>
            <a:ext cx="304495" cy="171907"/>
          </a:xfrm>
          <a:prstGeom prst="rect">
            <a:avLst/>
          </a:prstGeom>
        </p:spPr>
      </p:pic>
      <p:sp>
        <p:nvSpPr>
          <p:cNvPr id="58" name="Text 42"/>
          <p:cNvSpPr txBox="1"/>
          <p:nvPr/>
        </p:nvSpPr>
        <p:spPr>
          <a:xfrm>
            <a:off x="6001207" y="6135624"/>
            <a:ext cx="116768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依存関係の明確化</a:t>
            </a:r>
            <a:endParaRPr lang="en-US" sz="1000" dirty="0"/>
          </a:p>
        </p:txBody>
      </p:sp>
      <p:sp>
        <p:nvSpPr>
          <p:cNvPr id="59" name="Text 43"/>
          <p:cNvSpPr txBox="1"/>
          <p:nvPr/>
        </p:nvSpPr>
        <p:spPr>
          <a:xfrm>
            <a:off x="6001207" y="6316675"/>
            <a:ext cx="32772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参照元となるページ（テンプレート）が先に作成されているか</a:t>
            </a:r>
            <a:endParaRPr lang="en-US" sz="900" dirty="0"/>
          </a:p>
        </p:txBody>
      </p:sp>
      <p:sp>
        <p:nvSpPr>
          <p:cNvPr id="60" name="Shape 44"/>
          <p:cNvSpPr/>
          <p:nvPr/>
        </p:nvSpPr>
        <p:spPr>
          <a:xfrm>
            <a:off x="0" y="0"/>
            <a:ext cx="12191695" cy="466344"/>
          </a:xfrm>
          <a:prstGeom prst="rect">
            <a:avLst/>
          </a:prstGeom>
          <a:solidFill>
            <a:srgbClr val="FFFFFF"/>
          </a:solidFill>
          <a:ln/>
        </p:spPr>
      </p:sp>
      <p:sp>
        <p:nvSpPr>
          <p:cNvPr id="61" name="Shape 45"/>
          <p:cNvSpPr/>
          <p:nvPr/>
        </p:nvSpPr>
        <p:spPr>
          <a:xfrm>
            <a:off x="0" y="457200"/>
            <a:ext cx="12191695" cy="9144"/>
          </a:xfrm>
          <a:prstGeom prst="rect">
            <a:avLst/>
          </a:prstGeom>
          <a:solidFill>
            <a:srgbClr val="E5E7EB"/>
          </a:solidFill>
          <a:ln/>
        </p:spPr>
      </p:sp>
      <p:sp>
        <p:nvSpPr>
          <p:cNvPr id="62" name="Shape 46"/>
          <p:cNvSpPr/>
          <p:nvPr/>
        </p:nvSpPr>
        <p:spPr>
          <a:xfrm>
            <a:off x="457200" y="38405"/>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63" name="Image 14" descr="preencoded.png">    </p:cNvPr>
          <p:cNvPicPr>
            <a:picLocks noChangeAspect="1"/>
          </p:cNvPicPr>
          <p:nvPr/>
        </p:nvPicPr>
        <p:blipFill>
          <a:blip r:embed="rId15"/>
          <a:srcRect l="-3120" r="-3120" t="0" b="0"/>
          <a:stretch/>
        </p:blipFill>
        <p:spPr>
          <a:xfrm>
            <a:off x="9494215" y="171907"/>
            <a:ext cx="75895" cy="114300"/>
          </a:xfrm>
          <a:prstGeom prst="rect">
            <a:avLst/>
          </a:prstGeom>
        </p:spPr>
      </p:pic>
      <p:pic>
        <p:nvPicPr>
          <p:cNvPr id="64" name="Image 15" descr="preencoded.png">    </p:cNvPr>
          <p:cNvPicPr>
            <a:picLocks noChangeAspect="1"/>
          </p:cNvPicPr>
          <p:nvPr/>
        </p:nvPicPr>
        <p:blipFill>
          <a:blip r:embed="rId16"/>
          <a:srcRect l="-3120" r="-3120" t="0" b="0"/>
          <a:stretch/>
        </p:blipFill>
        <p:spPr>
          <a:xfrm>
            <a:off x="10165385" y="171907"/>
            <a:ext cx="75895" cy="114300"/>
          </a:xfrm>
          <a:prstGeom prst="rect">
            <a:avLst/>
          </a:prstGeom>
        </p:spPr>
      </p:pic>
      <p:pic>
        <p:nvPicPr>
          <p:cNvPr id="65" name="Image 16" descr="preencoded.png">    </p:cNvPr>
          <p:cNvPicPr>
            <a:picLocks noChangeAspect="1"/>
          </p:cNvPicPr>
          <p:nvPr/>
        </p:nvPicPr>
        <p:blipFill>
          <a:blip r:embed="rId17"/>
          <a:srcRect l="-3120" r="-3120" t="0" b="0"/>
          <a:stretch/>
        </p:blipFill>
        <p:spPr>
          <a:xfrm>
            <a:off x="10838383" y="171907"/>
            <a:ext cx="75895" cy="114300"/>
          </a:xfrm>
          <a:prstGeom prst="rect">
            <a:avLst/>
          </a:prstGeom>
        </p:spPr>
      </p:pic>
      <p:pic>
        <p:nvPicPr>
          <p:cNvPr id="66" name="Image 17" descr="preencoded.png">    </p:cNvPr>
          <p:cNvPicPr>
            <a:picLocks noChangeAspect="1"/>
          </p:cNvPicPr>
          <p:nvPr/>
        </p:nvPicPr>
        <p:blipFill>
          <a:blip r:embed="rId18"/>
          <a:srcRect l="-3120" r="-3120" t="0" b="0"/>
          <a:stretch/>
        </p:blipFill>
        <p:spPr>
          <a:xfrm>
            <a:off x="11400739" y="171907"/>
            <a:ext cx="75895" cy="114300"/>
          </a:xfrm>
          <a:prstGeom prst="rect">
            <a:avLst/>
          </a:prstGeom>
        </p:spPr>
      </p:pic>
      <p:sp>
        <p:nvSpPr>
          <p:cNvPr id="67" name="Text 47"/>
          <p:cNvSpPr txBox="1"/>
          <p:nvPr/>
        </p:nvSpPr>
        <p:spPr>
          <a:xfrm>
            <a:off x="546811" y="105156"/>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03</a:t>
            </a:r>
            <a:endParaRPr lang="en-US" sz="1300" dirty="0"/>
          </a:p>
        </p:txBody>
      </p:sp>
      <p:sp>
        <p:nvSpPr>
          <p:cNvPr id="68" name="Text 48"/>
          <p:cNvSpPr txBox="1"/>
          <p:nvPr/>
        </p:nvSpPr>
        <p:spPr>
          <a:xfrm>
            <a:off x="990295" y="-9144"/>
            <a:ext cx="600761"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PHASE 3</a:t>
            </a:r>
            <a:endParaRPr lang="en-US" sz="900" dirty="0"/>
          </a:p>
        </p:txBody>
      </p:sp>
      <p:sp>
        <p:nvSpPr>
          <p:cNvPr id="69" name="Text 49"/>
          <p:cNvSpPr txBox="1"/>
          <p:nvPr/>
        </p:nvSpPr>
        <p:spPr>
          <a:xfrm>
            <a:off x="990295" y="133502"/>
            <a:ext cx="1505102"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設計フェーズ</a:t>
            </a:r>
            <a:endParaRPr lang="en-US" sz="1800" dirty="0"/>
          </a:p>
        </p:txBody>
      </p:sp>
      <p:sp>
        <p:nvSpPr>
          <p:cNvPr id="70" name="Text 50"/>
          <p:cNvSpPr txBox="1"/>
          <p:nvPr/>
        </p:nvSpPr>
        <p:spPr>
          <a:xfrm>
            <a:off x="9006840" y="133502"/>
            <a:ext cx="5193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Define</a:t>
            </a:r>
            <a:endParaRPr lang="en-US" sz="1000" dirty="0"/>
          </a:p>
        </p:txBody>
      </p:sp>
      <p:sp>
        <p:nvSpPr>
          <p:cNvPr id="71" name="Text 51"/>
          <p:cNvSpPr txBox="1"/>
          <p:nvPr/>
        </p:nvSpPr>
        <p:spPr>
          <a:xfrm>
            <a:off x="9646006" y="133502"/>
            <a:ext cx="54772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Collect</a:t>
            </a:r>
            <a:endParaRPr lang="en-US" sz="1000" dirty="0"/>
          </a:p>
        </p:txBody>
      </p:sp>
      <p:sp>
        <p:nvSpPr>
          <p:cNvPr id="72" name="Text 52"/>
          <p:cNvSpPr txBox="1"/>
          <p:nvPr/>
        </p:nvSpPr>
        <p:spPr>
          <a:xfrm>
            <a:off x="10318090" y="133502"/>
            <a:ext cx="547726"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Design</a:t>
            </a:r>
            <a:endParaRPr lang="en-US" sz="1000" dirty="0"/>
          </a:p>
        </p:txBody>
      </p:sp>
      <p:sp>
        <p:nvSpPr>
          <p:cNvPr id="73" name="Text 53"/>
          <p:cNvSpPr txBox="1"/>
          <p:nvPr/>
        </p:nvSpPr>
        <p:spPr>
          <a:xfrm>
            <a:off x="10991088" y="133502"/>
            <a:ext cx="443484"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Build</a:t>
            </a:r>
            <a:endParaRPr lang="en-US" sz="1000" dirty="0"/>
          </a:p>
        </p:txBody>
      </p:sp>
      <p:sp>
        <p:nvSpPr>
          <p:cNvPr id="74" name="Text 54"/>
          <p:cNvSpPr txBox="1"/>
          <p:nvPr/>
        </p:nvSpPr>
        <p:spPr>
          <a:xfrm>
            <a:off x="11553444" y="133502"/>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
        <p:nvSpPr>
          <p:cNvPr id="75" name="Shape 55"/>
          <p:cNvSpPr/>
          <p:nvPr/>
        </p:nvSpPr>
        <p:spPr>
          <a:xfrm>
            <a:off x="3019349" y="5745175"/>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sp>
        <p:nvSpPr>
          <p:cNvPr id="76" name="Shape 56"/>
          <p:cNvSpPr/>
          <p:nvPr/>
        </p:nvSpPr>
        <p:spPr>
          <a:xfrm>
            <a:off x="3019349" y="6183173"/>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77" name="Image 18" descr="preencoded.png">    </p:cNvPr>
          <p:cNvPicPr>
            <a:picLocks noChangeAspect="1"/>
          </p:cNvPicPr>
          <p:nvPr/>
        </p:nvPicPr>
        <p:blipFill>
          <a:blip r:embed="rId19"/>
          <a:srcRect l="0" r="0" t="0" b="0"/>
          <a:stretch/>
        </p:blipFill>
        <p:spPr>
          <a:xfrm>
            <a:off x="3143707" y="5865876"/>
            <a:ext cx="133502" cy="133502"/>
          </a:xfrm>
          <a:prstGeom prst="rect">
            <a:avLst/>
          </a:prstGeom>
        </p:spPr>
      </p:pic>
      <p:sp>
        <p:nvSpPr>
          <p:cNvPr id="78" name="Text 57"/>
          <p:cNvSpPr txBox="1"/>
          <p:nvPr/>
        </p:nvSpPr>
        <p:spPr>
          <a:xfrm>
            <a:off x="3353105" y="5830214"/>
            <a:ext cx="1196035"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23枚アウトライン</a:t>
            </a:r>
            <a:endParaRPr lang="en-US" sz="1000" dirty="0"/>
          </a:p>
        </p:txBody>
      </p:sp>
      <p:pic>
        <p:nvPicPr>
          <p:cNvPr id="79" name="Image 19" descr="preencoded.png">    </p:cNvPr>
          <p:cNvPicPr>
            <a:picLocks noChangeAspect="1"/>
          </p:cNvPicPr>
          <p:nvPr/>
        </p:nvPicPr>
        <p:blipFill>
          <a:blip r:embed="rId20"/>
          <a:srcRect l="0" r="0" t="0" b="0"/>
          <a:stretch/>
        </p:blipFill>
        <p:spPr>
          <a:xfrm>
            <a:off x="3143707" y="6304788"/>
            <a:ext cx="133502" cy="133502"/>
          </a:xfrm>
          <a:prstGeom prst="rect">
            <a:avLst/>
          </a:prstGeom>
        </p:spPr>
      </p:pic>
      <p:sp>
        <p:nvSpPr>
          <p:cNvPr id="80" name="Text 58"/>
          <p:cNvSpPr txBox="1"/>
          <p:nvPr/>
        </p:nvSpPr>
        <p:spPr>
          <a:xfrm>
            <a:off x="3353105" y="6268212"/>
            <a:ext cx="1167689"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テンプレート戦略</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923544"/>
            <a:ext cx="4572000" cy="2952598"/>
          </a:xfrm>
          <a:prstGeom prst="roundRect">
            <a:avLst>
              <a:gd name="adj" fmla="val 1199"/>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1282" r="-1282" t="0" b="0"/>
          <a:stretch/>
        </p:blipFill>
        <p:spPr>
          <a:xfrm>
            <a:off x="694944" y="1200607"/>
            <a:ext cx="219456" cy="190195"/>
          </a:xfrm>
          <a:prstGeom prst="rect">
            <a:avLst/>
          </a:prstGeom>
        </p:spPr>
      </p:pic>
      <p:sp>
        <p:nvSpPr>
          <p:cNvPr id="6" name="Text 3"/>
          <p:cNvSpPr txBox="1"/>
          <p:nvPr/>
        </p:nvSpPr>
        <p:spPr>
          <a:xfrm>
            <a:off x="1028700" y="1152144"/>
            <a:ext cx="1733702" cy="277063"/>
          </a:xfrm>
          <a:prstGeom prst="rect">
            <a:avLst/>
          </a:prstGeom>
          <a:noFill/>
          <a:ln/>
        </p:spPr>
        <p:txBody>
          <a:bodyPr wrap="square" lIns="0" tIns="0" rIns="0" bIns="0" rtlCol="0" anchor="ctr"/>
          <a:lstStyle/>
          <a:p>
            <a:pPr algn="l" indent="0" marL="0">
              <a:buNone/>
            </a:pPr>
            <a:r>
              <a:rPr lang="en-US" sz="1500" b="1" dirty="0">
                <a:solidFill>
                  <a:srgbClr val="3730A3"/>
                </a:solidFill>
                <a:latin typeface="Noto Sans JP" pitchFamily="34" charset="0"/>
                <a:ea typeface="Noto Sans JP" pitchFamily="34" charset="-122"/>
                <a:cs typeface="Noto Sans JP" pitchFamily="34" charset="-120"/>
              </a:rPr>
              <a:t>制作対象 (P1 - P7)</a:t>
            </a:r>
            <a:endParaRPr lang="en-US" sz="1500" dirty="0"/>
          </a:p>
        </p:txBody>
      </p:sp>
      <p:sp>
        <p:nvSpPr>
          <p:cNvPr id="7" name="Shape 4"/>
          <p:cNvSpPr/>
          <p:nvPr/>
        </p:nvSpPr>
        <p:spPr>
          <a:xfrm>
            <a:off x="694944" y="1580998"/>
            <a:ext cx="4095598" cy="571500"/>
          </a:xfrm>
          <a:prstGeom prst="roundRect">
            <a:avLst>
              <a:gd name="adj" fmla="val 21333"/>
            </a:avLst>
          </a:prstGeom>
          <a:solidFill>
            <a:srgbClr val="F9FAFB"/>
          </a:solidFill>
          <a:ln/>
        </p:spPr>
      </p:sp>
      <p:sp>
        <p:nvSpPr>
          <p:cNvPr id="8" name="Shape 5"/>
          <p:cNvSpPr/>
          <p:nvPr/>
        </p:nvSpPr>
        <p:spPr>
          <a:xfrm>
            <a:off x="694944" y="1580998"/>
            <a:ext cx="38405" cy="571500"/>
          </a:xfrm>
          <a:prstGeom prst="rect">
            <a:avLst/>
          </a:prstGeom>
          <a:solidFill>
            <a:srgbClr val="6366F1"/>
          </a:solidFill>
          <a:ln/>
        </p:spPr>
      </p:sp>
      <p:sp>
        <p:nvSpPr>
          <p:cNvPr id="9" name="Text 6"/>
          <p:cNvSpPr txBox="1"/>
          <p:nvPr/>
        </p:nvSpPr>
        <p:spPr>
          <a:xfrm>
            <a:off x="904342" y="1752905"/>
            <a:ext cx="314554" cy="228600"/>
          </a:xfrm>
          <a:prstGeom prst="rect">
            <a:avLst/>
          </a:prstGeom>
          <a:noFill/>
          <a:ln/>
        </p:spPr>
        <p:txBody>
          <a:bodyPr wrap="square" lIns="0" tIns="0" rIns="0" bIns="0" rtlCol="0" anchor="ctr"/>
          <a:lstStyle/>
          <a:p>
            <a:pPr algn="l" indent="0" marL="0">
              <a:buNone/>
            </a:pPr>
            <a:r>
              <a:rPr lang="en-US" sz="1200" b="1" dirty="0">
                <a:solidFill>
                  <a:srgbClr val="6366F1"/>
                </a:solidFill>
                <a:latin typeface="Noto Sans JP" pitchFamily="34" charset="0"/>
                <a:ea typeface="Noto Sans JP" pitchFamily="34" charset="-122"/>
                <a:cs typeface="Noto Sans JP" pitchFamily="34" charset="-120"/>
              </a:rPr>
              <a:t>P1</a:t>
            </a:r>
            <a:endParaRPr lang="en-US" sz="1200" dirty="0"/>
          </a:p>
        </p:txBody>
      </p:sp>
      <p:sp>
        <p:nvSpPr>
          <p:cNvPr id="10" name="Text 7"/>
          <p:cNvSpPr txBox="1"/>
          <p:nvPr/>
        </p:nvSpPr>
        <p:spPr>
          <a:xfrm>
            <a:off x="1228954" y="1695298"/>
            <a:ext cx="36758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表紙</a:t>
            </a:r>
            <a:endParaRPr lang="en-US" sz="1000" dirty="0"/>
          </a:p>
        </p:txBody>
      </p:sp>
      <p:sp>
        <p:nvSpPr>
          <p:cNvPr id="11" name="Text 8"/>
          <p:cNvSpPr txBox="1"/>
          <p:nvPr/>
        </p:nvSpPr>
        <p:spPr>
          <a:xfrm>
            <a:off x="1228954" y="1876349"/>
            <a:ext cx="16861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HPBトンマナ、タイトル、日付</a:t>
            </a:r>
            <a:endParaRPr lang="en-US" sz="900" dirty="0"/>
          </a:p>
        </p:txBody>
      </p:sp>
      <p:sp>
        <p:nvSpPr>
          <p:cNvPr id="12" name="Shape 9"/>
          <p:cNvSpPr/>
          <p:nvPr/>
        </p:nvSpPr>
        <p:spPr>
          <a:xfrm>
            <a:off x="694944" y="2266798"/>
            <a:ext cx="4095598" cy="571500"/>
          </a:xfrm>
          <a:prstGeom prst="roundRect">
            <a:avLst>
              <a:gd name="adj" fmla="val 21333"/>
            </a:avLst>
          </a:prstGeom>
          <a:solidFill>
            <a:srgbClr val="F9FAFB"/>
          </a:solidFill>
          <a:ln/>
        </p:spPr>
      </p:sp>
      <p:sp>
        <p:nvSpPr>
          <p:cNvPr id="13" name="Shape 10"/>
          <p:cNvSpPr/>
          <p:nvPr/>
        </p:nvSpPr>
        <p:spPr>
          <a:xfrm>
            <a:off x="694944" y="2266798"/>
            <a:ext cx="38405" cy="571500"/>
          </a:xfrm>
          <a:prstGeom prst="rect">
            <a:avLst/>
          </a:prstGeom>
          <a:solidFill>
            <a:srgbClr val="818CF8"/>
          </a:solidFill>
          <a:ln/>
        </p:spPr>
      </p:sp>
      <p:sp>
        <p:nvSpPr>
          <p:cNvPr id="14" name="Text 11"/>
          <p:cNvSpPr txBox="1"/>
          <p:nvPr/>
        </p:nvSpPr>
        <p:spPr>
          <a:xfrm>
            <a:off x="904342" y="2438705"/>
            <a:ext cx="314554" cy="228600"/>
          </a:xfrm>
          <a:prstGeom prst="rect">
            <a:avLst/>
          </a:prstGeom>
          <a:noFill/>
          <a:ln/>
        </p:spPr>
        <p:txBody>
          <a:bodyPr wrap="square" lIns="0" tIns="0" rIns="0" bIns="0" rtlCol="0" anchor="ctr"/>
          <a:lstStyle/>
          <a:p>
            <a:pPr algn="l" indent="0" marL="0">
              <a:buNone/>
            </a:pPr>
            <a:r>
              <a:rPr lang="en-US" sz="1200" b="1" dirty="0">
                <a:solidFill>
                  <a:srgbClr val="6366F1"/>
                </a:solidFill>
                <a:latin typeface="Noto Sans JP" pitchFamily="34" charset="0"/>
                <a:ea typeface="Noto Sans JP" pitchFamily="34" charset="-122"/>
                <a:cs typeface="Noto Sans JP" pitchFamily="34" charset="-120"/>
              </a:rPr>
              <a:t>P2</a:t>
            </a:r>
            <a:endParaRPr lang="en-US" sz="1200" dirty="0"/>
          </a:p>
        </p:txBody>
      </p:sp>
      <p:sp>
        <p:nvSpPr>
          <p:cNvPr id="15" name="Text 12"/>
          <p:cNvSpPr txBox="1"/>
          <p:nvPr/>
        </p:nvSpPr>
        <p:spPr>
          <a:xfrm>
            <a:off x="1228954" y="2381098"/>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アジェンダ</a:t>
            </a:r>
            <a:endParaRPr lang="en-US" sz="1000" dirty="0"/>
          </a:p>
        </p:txBody>
      </p:sp>
      <p:sp>
        <p:nvSpPr>
          <p:cNvPr id="16" name="Text 13"/>
          <p:cNvSpPr txBox="1"/>
          <p:nvPr/>
        </p:nvSpPr>
        <p:spPr>
          <a:xfrm>
            <a:off x="1228954" y="2562149"/>
            <a:ext cx="15243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5セクション番号付きリスト</a:t>
            </a:r>
            <a:endParaRPr lang="en-US" sz="900" dirty="0"/>
          </a:p>
        </p:txBody>
      </p:sp>
      <p:sp>
        <p:nvSpPr>
          <p:cNvPr id="17" name="Shape 14"/>
          <p:cNvSpPr/>
          <p:nvPr/>
        </p:nvSpPr>
        <p:spPr>
          <a:xfrm>
            <a:off x="694944" y="2952598"/>
            <a:ext cx="4095598" cy="685800"/>
          </a:xfrm>
          <a:prstGeom prst="roundRect">
            <a:avLst>
              <a:gd name="adj" fmla="val 14815"/>
            </a:avLst>
          </a:prstGeom>
          <a:solidFill>
            <a:srgbClr val="F9FAFB"/>
          </a:solidFill>
          <a:ln/>
        </p:spPr>
      </p:sp>
      <p:sp>
        <p:nvSpPr>
          <p:cNvPr id="18" name="Shape 15"/>
          <p:cNvSpPr/>
          <p:nvPr/>
        </p:nvSpPr>
        <p:spPr>
          <a:xfrm>
            <a:off x="694944" y="2952598"/>
            <a:ext cx="38405" cy="685800"/>
          </a:xfrm>
          <a:prstGeom prst="rect">
            <a:avLst/>
          </a:prstGeom>
          <a:solidFill>
            <a:srgbClr val="A5B4FC"/>
          </a:solidFill>
          <a:ln/>
        </p:spPr>
      </p:sp>
      <p:sp>
        <p:nvSpPr>
          <p:cNvPr id="19" name="Text 16"/>
          <p:cNvSpPr txBox="1"/>
          <p:nvPr/>
        </p:nvSpPr>
        <p:spPr>
          <a:xfrm>
            <a:off x="847649" y="3066898"/>
            <a:ext cx="419710" cy="457200"/>
          </a:xfrm>
          <a:prstGeom prst="rect">
            <a:avLst/>
          </a:prstGeom>
          <a:noFill/>
          <a:ln/>
        </p:spPr>
        <p:txBody>
          <a:bodyPr wrap="square" lIns="0" tIns="0" rIns="0" bIns="0" rtlCol="0" anchor="ctr"/>
          <a:lstStyle/>
          <a:p>
            <a:pPr algn="l" indent="0" marL="0">
              <a:buNone/>
            </a:pPr>
            <a:r>
              <a:rPr lang="en-US" sz="1200" b="1" dirty="0">
                <a:solidFill>
                  <a:srgbClr val="6366F1"/>
                </a:solidFill>
                <a:latin typeface="Noto Sans JP" pitchFamily="34" charset="0"/>
                <a:ea typeface="Noto Sans JP" pitchFamily="34" charset="-122"/>
                <a:cs typeface="Noto Sans JP" pitchFamily="34" charset="-120"/>
              </a:rPr>
              <a:t>P3-7</a:t>
            </a:r>
            <a:endParaRPr lang="en-US" sz="1200" dirty="0"/>
          </a:p>
        </p:txBody>
      </p:sp>
      <p:sp>
        <p:nvSpPr>
          <p:cNvPr id="20" name="Text 17"/>
          <p:cNvSpPr txBox="1"/>
          <p:nvPr/>
        </p:nvSpPr>
        <p:spPr>
          <a:xfrm>
            <a:off x="1228954" y="3124505"/>
            <a:ext cx="143377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ベンチマーク詳細分析</a:t>
            </a:r>
            <a:endParaRPr lang="en-US" sz="1000" dirty="0"/>
          </a:p>
        </p:txBody>
      </p:sp>
      <p:sp>
        <p:nvSpPr>
          <p:cNvPr id="21" name="Text 18"/>
          <p:cNvSpPr txBox="1"/>
          <p:nvPr/>
        </p:nvSpPr>
        <p:spPr>
          <a:xfrm>
            <a:off x="1228954" y="3305556"/>
            <a:ext cx="22576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概要、メニュー、価格、クーポン、コピー</a:t>
            </a:r>
            <a:endParaRPr lang="en-US" sz="900" dirty="0"/>
          </a:p>
        </p:txBody>
      </p:sp>
      <p:sp>
        <p:nvSpPr>
          <p:cNvPr id="22" name="Shape 19"/>
          <p:cNvSpPr/>
          <p:nvPr/>
        </p:nvSpPr>
        <p:spPr>
          <a:xfrm>
            <a:off x="457200" y="4105656"/>
            <a:ext cx="4572000" cy="2305202"/>
          </a:xfrm>
          <a:prstGeom prst="roundRect">
            <a:avLst>
              <a:gd name="adj" fmla="val 1967"/>
            </a:avLst>
          </a:prstGeom>
          <a:solidFill>
            <a:srgbClr val="EEF2FF"/>
          </a:solidFill>
          <a:ln w="12700">
            <a:solidFill>
              <a:srgbClr val="E0E7FF"/>
            </a:solidFill>
            <a:prstDash val="solid"/>
          </a:ln>
        </p:spPr>
      </p:sp>
      <p:pic>
        <p:nvPicPr>
          <p:cNvPr id="23" name="Image 1" descr="preencoded.png">    </p:cNvPr>
          <p:cNvPicPr>
            <a:picLocks noChangeAspect="1"/>
          </p:cNvPicPr>
          <p:nvPr/>
        </p:nvPicPr>
        <p:blipFill>
          <a:blip r:embed="rId2"/>
          <a:srcRect l="-1911" r="-1911" t="0" b="0"/>
          <a:stretch/>
        </p:blipFill>
        <p:spPr>
          <a:xfrm>
            <a:off x="657454" y="4328770"/>
            <a:ext cx="133502" cy="114300"/>
          </a:xfrm>
          <a:prstGeom prst="rect">
            <a:avLst/>
          </a:prstGeom>
        </p:spPr>
      </p:pic>
      <p:sp>
        <p:nvSpPr>
          <p:cNvPr id="24" name="Text 20"/>
          <p:cNvSpPr txBox="1"/>
          <p:nvPr/>
        </p:nvSpPr>
        <p:spPr>
          <a:xfrm>
            <a:off x="828446" y="4295851"/>
            <a:ext cx="1343254" cy="162763"/>
          </a:xfrm>
          <a:prstGeom prst="rect">
            <a:avLst/>
          </a:prstGeom>
          <a:noFill/>
          <a:ln/>
        </p:spPr>
        <p:txBody>
          <a:bodyPr wrap="square" lIns="0" tIns="0" rIns="0" bIns="0" rtlCol="0" anchor="ctr"/>
          <a:lstStyle/>
          <a:p>
            <a:pPr algn="l" indent="0" marL="0">
              <a:buNone/>
            </a:pPr>
            <a:r>
              <a:rPr lang="en-US" sz="900" b="1" dirty="0">
                <a:solidFill>
                  <a:srgbClr val="6366F1"/>
                </a:solidFill>
                <a:latin typeface="Noto Sans JP" pitchFamily="34" charset="0"/>
                <a:ea typeface="Noto Sans JP" pitchFamily="34" charset="-122"/>
                <a:cs typeface="Noto Sans JP" pitchFamily="34" charset="-120"/>
              </a:rPr>
              <a:t>CONTENT STRUCTURE</a:t>
            </a:r>
            <a:endParaRPr lang="en-US" sz="900" dirty="0"/>
          </a:p>
        </p:txBody>
      </p:sp>
      <p:pic>
        <p:nvPicPr>
          <p:cNvPr id="25" name="Image 2" descr="preencoded.png">    </p:cNvPr>
          <p:cNvPicPr>
            <a:picLocks noChangeAspect="1"/>
          </p:cNvPicPr>
          <p:nvPr/>
        </p:nvPicPr>
        <p:blipFill>
          <a:blip r:embed="rId3"/>
          <a:srcRect l="-1911" r="-1911" t="0" b="0"/>
          <a:stretch/>
        </p:blipFill>
        <p:spPr>
          <a:xfrm>
            <a:off x="657454" y="4610405"/>
            <a:ext cx="133502" cy="114300"/>
          </a:xfrm>
          <a:prstGeom prst="rect">
            <a:avLst/>
          </a:prstGeom>
        </p:spPr>
      </p:pic>
      <p:sp>
        <p:nvSpPr>
          <p:cNvPr id="26" name="Text 21"/>
          <p:cNvSpPr txBox="1"/>
          <p:nvPr/>
        </p:nvSpPr>
        <p:spPr>
          <a:xfrm>
            <a:off x="866851" y="4572000"/>
            <a:ext cx="30339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概要カード：立地・強み・主力メニューを視覚化</a:t>
            </a:r>
            <a:endParaRPr lang="en-US" sz="1000" dirty="0"/>
          </a:p>
        </p:txBody>
      </p:sp>
      <p:pic>
        <p:nvPicPr>
          <p:cNvPr id="27" name="Image 3" descr="preencoded.png">    </p:cNvPr>
          <p:cNvPicPr>
            <a:picLocks noChangeAspect="1"/>
          </p:cNvPicPr>
          <p:nvPr/>
        </p:nvPicPr>
        <p:blipFill>
          <a:blip r:embed="rId4"/>
          <a:srcRect l="0" r="0" t="0" b="0"/>
          <a:stretch/>
        </p:blipFill>
        <p:spPr>
          <a:xfrm>
            <a:off x="657454" y="4876495"/>
            <a:ext cx="114300" cy="114300"/>
          </a:xfrm>
          <a:prstGeom prst="rect">
            <a:avLst/>
          </a:prstGeom>
        </p:spPr>
      </p:pic>
      <p:sp>
        <p:nvSpPr>
          <p:cNvPr id="28" name="Text 22"/>
          <p:cNvSpPr txBox="1"/>
          <p:nvPr/>
        </p:nvSpPr>
        <p:spPr>
          <a:xfrm>
            <a:off x="847649" y="4839005"/>
            <a:ext cx="2843784"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メニュー表：5カテゴリーを比較表形式で整理</a:t>
            </a:r>
            <a:endParaRPr lang="en-US" sz="1000" dirty="0"/>
          </a:p>
        </p:txBody>
      </p:sp>
      <p:pic>
        <p:nvPicPr>
          <p:cNvPr id="29" name="Image 4" descr="preencoded.png">    </p:cNvPr>
          <p:cNvPicPr>
            <a:picLocks noChangeAspect="1"/>
          </p:cNvPicPr>
          <p:nvPr/>
        </p:nvPicPr>
        <p:blipFill>
          <a:blip r:embed="rId5"/>
          <a:srcRect l="0" r="0" t="0" b="0"/>
          <a:stretch/>
        </p:blipFill>
        <p:spPr>
          <a:xfrm>
            <a:off x="657454" y="5143500"/>
            <a:ext cx="114300" cy="114300"/>
          </a:xfrm>
          <a:prstGeom prst="rect">
            <a:avLst/>
          </a:prstGeom>
        </p:spPr>
      </p:pic>
      <p:sp>
        <p:nvSpPr>
          <p:cNvPr id="30" name="Text 23"/>
          <p:cNvSpPr txBox="1"/>
          <p:nvPr/>
        </p:nvSpPr>
        <p:spPr>
          <a:xfrm>
            <a:off x="847649" y="5105095"/>
            <a:ext cx="2986430"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価格グラフ：Chart.jsで棒グラフ化、具体値明記</a:t>
            </a:r>
            <a:endParaRPr lang="en-US" sz="1000" dirty="0"/>
          </a:p>
        </p:txBody>
      </p:sp>
      <p:pic>
        <p:nvPicPr>
          <p:cNvPr id="31" name="Image 5" descr="preencoded.png">    </p:cNvPr>
          <p:cNvPicPr>
            <a:picLocks noChangeAspect="1"/>
          </p:cNvPicPr>
          <p:nvPr/>
        </p:nvPicPr>
        <p:blipFill>
          <a:blip r:embed="rId6"/>
          <a:srcRect l="0" r="0" t="0" b="0"/>
          <a:stretch/>
        </p:blipFill>
        <p:spPr>
          <a:xfrm>
            <a:off x="657454" y="5410505"/>
            <a:ext cx="114300" cy="114300"/>
          </a:xfrm>
          <a:prstGeom prst="rect">
            <a:avLst/>
          </a:prstGeom>
        </p:spPr>
      </p:pic>
      <p:sp>
        <p:nvSpPr>
          <p:cNvPr id="32" name="Text 24"/>
          <p:cNvSpPr txBox="1"/>
          <p:nvPr/>
        </p:nvSpPr>
        <p:spPr>
          <a:xfrm>
            <a:off x="847649" y="5372100"/>
            <a:ext cx="3005633"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クーポングリッド：新規/平日/学割をカード表示</a:t>
            </a:r>
            <a:endParaRPr lang="en-US" sz="1000" dirty="0"/>
          </a:p>
        </p:txBody>
      </p:sp>
      <p:pic>
        <p:nvPicPr>
          <p:cNvPr id="33" name="Image 6" descr="preencoded.png">    </p:cNvPr>
          <p:cNvPicPr>
            <a:picLocks noChangeAspect="1"/>
          </p:cNvPicPr>
          <p:nvPr/>
        </p:nvPicPr>
        <p:blipFill>
          <a:blip r:embed="rId7"/>
          <a:srcRect l="0" r="0" t="0" b="0"/>
          <a:stretch/>
        </p:blipFill>
        <p:spPr>
          <a:xfrm>
            <a:off x="657454" y="5676595"/>
            <a:ext cx="114300" cy="114300"/>
          </a:xfrm>
          <a:prstGeom prst="rect">
            <a:avLst/>
          </a:prstGeom>
        </p:spPr>
      </p:pic>
      <p:sp>
        <p:nvSpPr>
          <p:cNvPr id="34" name="Text 25"/>
          <p:cNvSpPr txBox="1"/>
          <p:nvPr/>
        </p:nvSpPr>
        <p:spPr>
          <a:xfrm>
            <a:off x="847649" y="5639105"/>
            <a:ext cx="276788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コピー分析：訴求軸をキーワード強調で整理</a:t>
            </a:r>
            <a:endParaRPr lang="en-US" sz="1000" dirty="0"/>
          </a:p>
        </p:txBody>
      </p:sp>
      <p:sp>
        <p:nvSpPr>
          <p:cNvPr id="35" name="Shape 26"/>
          <p:cNvSpPr/>
          <p:nvPr/>
        </p:nvSpPr>
        <p:spPr>
          <a:xfrm>
            <a:off x="5333695" y="923544"/>
            <a:ext cx="6400800" cy="2572207"/>
          </a:xfrm>
          <a:prstGeom prst="roundRect">
            <a:avLst>
              <a:gd name="adj" fmla="val 1580"/>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6" name="Image 7" descr="preencoded.png">    </p:cNvPr>
          <p:cNvPicPr>
            <a:picLocks noChangeAspect="1"/>
          </p:cNvPicPr>
          <p:nvPr/>
        </p:nvPicPr>
        <p:blipFill>
          <a:blip r:embed="rId8"/>
          <a:srcRect l="-1282" r="-1282" t="0" b="0"/>
          <a:stretch/>
        </p:blipFill>
        <p:spPr>
          <a:xfrm>
            <a:off x="5572354" y="1200607"/>
            <a:ext cx="219456" cy="190195"/>
          </a:xfrm>
          <a:prstGeom prst="rect">
            <a:avLst/>
          </a:prstGeom>
        </p:spPr>
      </p:pic>
      <p:sp>
        <p:nvSpPr>
          <p:cNvPr id="37" name="Text 27"/>
          <p:cNvSpPr txBox="1"/>
          <p:nvPr/>
        </p:nvSpPr>
        <p:spPr>
          <a:xfrm>
            <a:off x="5905195" y="1152144"/>
            <a:ext cx="28867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制作指示パターン (Instruction)</a:t>
            </a:r>
            <a:endParaRPr lang="en-US" sz="1500" dirty="0"/>
          </a:p>
        </p:txBody>
      </p:sp>
      <p:sp>
        <p:nvSpPr>
          <p:cNvPr id="38" name="Shape 28"/>
          <p:cNvSpPr/>
          <p:nvPr/>
        </p:nvSpPr>
        <p:spPr>
          <a:xfrm>
            <a:off x="10984687" y="1181405"/>
            <a:ext cx="514807" cy="228600"/>
          </a:xfrm>
          <a:prstGeom prst="roundRect">
            <a:avLst>
              <a:gd name="adj" fmla="val 66667"/>
            </a:avLst>
          </a:prstGeom>
          <a:solidFill>
            <a:srgbClr val="F3F4F6"/>
          </a:solidFill>
          <a:ln/>
        </p:spPr>
      </p:sp>
      <p:sp>
        <p:nvSpPr>
          <p:cNvPr id="39" name="Text 29"/>
          <p:cNvSpPr txBox="1"/>
          <p:nvPr/>
        </p:nvSpPr>
        <p:spPr>
          <a:xfrm>
            <a:off x="11061497" y="1209751"/>
            <a:ext cx="448056"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Action</a:t>
            </a:r>
            <a:endParaRPr lang="en-US" sz="900" dirty="0"/>
          </a:p>
        </p:txBody>
      </p:sp>
      <p:sp>
        <p:nvSpPr>
          <p:cNvPr id="40" name="Shape 30"/>
          <p:cNvSpPr/>
          <p:nvPr/>
        </p:nvSpPr>
        <p:spPr>
          <a:xfrm>
            <a:off x="5572354" y="1580998"/>
            <a:ext cx="5924398" cy="1086307"/>
          </a:xfrm>
          <a:prstGeom prst="roundRect">
            <a:avLst>
              <a:gd name="adj" fmla="val 5907"/>
            </a:avLst>
          </a:prstGeom>
          <a:solidFill>
            <a:srgbClr val="1E293B"/>
          </a:solidFill>
          <a:ln/>
        </p:spPr>
      </p:sp>
      <p:sp>
        <p:nvSpPr>
          <p:cNvPr id="41" name="Shape 31"/>
          <p:cNvSpPr/>
          <p:nvPr/>
        </p:nvSpPr>
        <p:spPr>
          <a:xfrm>
            <a:off x="5572354" y="1580998"/>
            <a:ext cx="38405" cy="1086307"/>
          </a:xfrm>
          <a:prstGeom prst="rect">
            <a:avLst/>
          </a:prstGeom>
          <a:solidFill>
            <a:srgbClr val="3B82F6"/>
          </a:solidFill>
          <a:ln/>
        </p:spPr>
      </p:sp>
      <p:sp>
        <p:nvSpPr>
          <p:cNvPr id="42" name="Text 32"/>
          <p:cNvSpPr txBox="1"/>
          <p:nvPr/>
        </p:nvSpPr>
        <p:spPr>
          <a:xfrm>
            <a:off x="5762549" y="1752905"/>
            <a:ext cx="5593385" cy="734263"/>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 P1: 表紙 modify_slide(index: 1, template: "cover_hpb", task_brief: "HPBトンマナ（オレンジ）で初期化、タイトル・日付配置") // P5: 価格グラフ modify_slide(index: 5, template: "chart_bar_dual", task_brief: "Siena渋谷の価格帯を棒グラフ化。具体値：カット¥4200-6100...")</a:t>
            </a:r>
            <a:endParaRPr lang="en-US" sz="1000" dirty="0"/>
          </a:p>
        </p:txBody>
      </p:sp>
      <p:pic>
        <p:nvPicPr>
          <p:cNvPr id="43" name="Image 8" descr="preencoded.png">    </p:cNvPr>
          <p:cNvPicPr>
            <a:picLocks noChangeAspect="1"/>
          </p:cNvPicPr>
          <p:nvPr/>
        </p:nvPicPr>
        <p:blipFill>
          <a:blip r:embed="rId9"/>
          <a:srcRect l="0" r="0" t="0" b="0"/>
          <a:stretch/>
        </p:blipFill>
        <p:spPr>
          <a:xfrm>
            <a:off x="5572354" y="2861158"/>
            <a:ext cx="133502" cy="133502"/>
          </a:xfrm>
          <a:prstGeom prst="rect">
            <a:avLst/>
          </a:prstGeom>
        </p:spPr>
      </p:pic>
      <p:sp>
        <p:nvSpPr>
          <p:cNvPr id="44" name="Text 33"/>
          <p:cNvSpPr txBox="1"/>
          <p:nvPr/>
        </p:nvSpPr>
        <p:spPr>
          <a:xfrm>
            <a:off x="5572354" y="2825496"/>
            <a:ext cx="6005779"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具体的な数値データやデザイン指定（カラーコード、レイアウト形式）をプロンプト内で明示することで、再現性の高い出力を確保します。</a:t>
            </a:r>
            <a:endParaRPr lang="en-US" sz="1000" dirty="0"/>
          </a:p>
        </p:txBody>
      </p:sp>
      <p:sp>
        <p:nvSpPr>
          <p:cNvPr id="45" name="Shape 34"/>
          <p:cNvSpPr/>
          <p:nvPr/>
        </p:nvSpPr>
        <p:spPr>
          <a:xfrm>
            <a:off x="5333695" y="3716122"/>
            <a:ext cx="6400800" cy="2686507"/>
          </a:xfrm>
          <a:prstGeom prst="roundRect">
            <a:avLst>
              <a:gd name="adj" fmla="val 1448"/>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6" name="Image 9" descr="preencoded.png">    </p:cNvPr>
          <p:cNvPicPr>
            <a:picLocks noChangeAspect="1"/>
          </p:cNvPicPr>
          <p:nvPr/>
        </p:nvPicPr>
        <p:blipFill>
          <a:blip r:embed="rId10"/>
          <a:srcRect l="0" r="0" t="0" b="0"/>
          <a:stretch/>
        </p:blipFill>
        <p:spPr>
          <a:xfrm>
            <a:off x="5572354" y="3992270"/>
            <a:ext cx="142646" cy="190195"/>
          </a:xfrm>
          <a:prstGeom prst="rect">
            <a:avLst/>
          </a:prstGeom>
        </p:spPr>
      </p:pic>
      <p:sp>
        <p:nvSpPr>
          <p:cNvPr id="47" name="Text 35"/>
          <p:cNvSpPr txBox="1"/>
          <p:nvPr/>
        </p:nvSpPr>
        <p:spPr>
          <a:xfrm>
            <a:off x="5829300" y="3944722"/>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8" name="Shape 36"/>
          <p:cNvSpPr/>
          <p:nvPr/>
        </p:nvSpPr>
        <p:spPr>
          <a:xfrm>
            <a:off x="5572354" y="4373575"/>
            <a:ext cx="2885846" cy="819302"/>
          </a:xfrm>
          <a:prstGeom prst="roundRect">
            <a:avLst>
              <a:gd name="adj" fmla="val 10382"/>
            </a:avLst>
          </a:prstGeom>
          <a:solidFill>
            <a:srgbClr val="ECFDF5"/>
          </a:solidFill>
          <a:ln w="12700">
            <a:solidFill>
              <a:srgbClr val="D1FAE5"/>
            </a:solidFill>
            <a:prstDash val="solid"/>
          </a:ln>
        </p:spPr>
      </p:sp>
      <p:pic>
        <p:nvPicPr>
          <p:cNvPr id="49" name="Image 10" descr="preencoded.png">    </p:cNvPr>
          <p:cNvPicPr>
            <a:picLocks noChangeAspect="1"/>
          </p:cNvPicPr>
          <p:nvPr/>
        </p:nvPicPr>
        <p:blipFill>
          <a:blip r:embed="rId11"/>
          <a:srcRect l="0" r="0" t="-43" b="-43"/>
          <a:stretch/>
        </p:blipFill>
        <p:spPr>
          <a:xfrm>
            <a:off x="5695798" y="4516222"/>
            <a:ext cx="133502" cy="152705"/>
          </a:xfrm>
          <a:prstGeom prst="rect">
            <a:avLst/>
          </a:prstGeom>
        </p:spPr>
      </p:pic>
      <p:sp>
        <p:nvSpPr>
          <p:cNvPr id="50" name="Text 37"/>
          <p:cNvSpPr txBox="1"/>
          <p:nvPr/>
        </p:nvSpPr>
        <p:spPr>
          <a:xfrm>
            <a:off x="5905195" y="4497019"/>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データの正確性</a:t>
            </a:r>
            <a:endParaRPr lang="en-US" sz="1000" dirty="0"/>
          </a:p>
        </p:txBody>
      </p:sp>
      <p:sp>
        <p:nvSpPr>
          <p:cNvPr id="51" name="Text 38"/>
          <p:cNvSpPr txBox="1"/>
          <p:nvPr/>
        </p:nvSpPr>
        <p:spPr>
          <a:xfrm>
            <a:off x="5695798" y="4753966"/>
            <a:ext cx="2714854" cy="314554"/>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事実（価格・メニュー名）とラベルが一致しているか確認</a:t>
            </a:r>
            <a:endParaRPr lang="en-US" sz="900" dirty="0"/>
          </a:p>
        </p:txBody>
      </p:sp>
      <p:sp>
        <p:nvSpPr>
          <p:cNvPr id="52" name="Shape 39"/>
          <p:cNvSpPr/>
          <p:nvPr/>
        </p:nvSpPr>
        <p:spPr>
          <a:xfrm>
            <a:off x="8610905" y="4373575"/>
            <a:ext cx="2885846" cy="819302"/>
          </a:xfrm>
          <a:prstGeom prst="roundRect">
            <a:avLst>
              <a:gd name="adj" fmla="val 10382"/>
            </a:avLst>
          </a:prstGeom>
          <a:solidFill>
            <a:srgbClr val="ECFDF5"/>
          </a:solidFill>
          <a:ln w="12700">
            <a:solidFill>
              <a:srgbClr val="D1FAE5"/>
            </a:solidFill>
            <a:prstDash val="solid"/>
          </a:ln>
        </p:spPr>
      </p:sp>
      <p:pic>
        <p:nvPicPr>
          <p:cNvPr id="53" name="Image 11" descr="preencoded.png">    </p:cNvPr>
          <p:cNvPicPr>
            <a:picLocks noChangeAspect="1"/>
          </p:cNvPicPr>
          <p:nvPr/>
        </p:nvPicPr>
        <p:blipFill>
          <a:blip r:embed="rId12"/>
          <a:srcRect l="0" r="0" t="0" b="0"/>
          <a:stretch/>
        </p:blipFill>
        <p:spPr>
          <a:xfrm>
            <a:off x="8734349" y="4516222"/>
            <a:ext cx="152705" cy="152705"/>
          </a:xfrm>
          <a:prstGeom prst="rect">
            <a:avLst/>
          </a:prstGeom>
        </p:spPr>
      </p:pic>
      <p:sp>
        <p:nvSpPr>
          <p:cNvPr id="54" name="Text 40"/>
          <p:cNvSpPr txBox="1"/>
          <p:nvPr/>
        </p:nvSpPr>
        <p:spPr>
          <a:xfrm>
            <a:off x="8962949" y="4497019"/>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可視化の適切性</a:t>
            </a:r>
            <a:endParaRPr lang="en-US" sz="1000" dirty="0"/>
          </a:p>
        </p:txBody>
      </p:sp>
      <p:sp>
        <p:nvSpPr>
          <p:cNvPr id="55" name="Text 41"/>
          <p:cNvSpPr txBox="1"/>
          <p:nvPr/>
        </p:nvSpPr>
        <p:spPr>
          <a:xfrm>
            <a:off x="8734349" y="4753966"/>
            <a:ext cx="2724912"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グラフに軸・単位が記載され、比較可能であること</a:t>
            </a:r>
            <a:endParaRPr lang="en-US" sz="900" dirty="0"/>
          </a:p>
        </p:txBody>
      </p:sp>
      <p:sp>
        <p:nvSpPr>
          <p:cNvPr id="56" name="Shape 42"/>
          <p:cNvSpPr/>
          <p:nvPr/>
        </p:nvSpPr>
        <p:spPr>
          <a:xfrm>
            <a:off x="5572354" y="5344668"/>
            <a:ext cx="2885846" cy="819302"/>
          </a:xfrm>
          <a:prstGeom prst="roundRect">
            <a:avLst>
              <a:gd name="adj" fmla="val 10382"/>
            </a:avLst>
          </a:prstGeom>
          <a:solidFill>
            <a:srgbClr val="ECFDF5"/>
          </a:solidFill>
          <a:ln w="12700">
            <a:solidFill>
              <a:srgbClr val="D1FAE5"/>
            </a:solidFill>
            <a:prstDash val="solid"/>
          </a:ln>
        </p:spPr>
      </p:sp>
      <p:pic>
        <p:nvPicPr>
          <p:cNvPr id="57" name="Image 12" descr="preencoded.png">    </p:cNvPr>
          <p:cNvPicPr>
            <a:picLocks noChangeAspect="1"/>
          </p:cNvPicPr>
          <p:nvPr/>
        </p:nvPicPr>
        <p:blipFill>
          <a:blip r:embed="rId13"/>
          <a:srcRect l="0" r="0" t="-43" b="-43"/>
          <a:stretch/>
        </p:blipFill>
        <p:spPr>
          <a:xfrm>
            <a:off x="5695798" y="5487314"/>
            <a:ext cx="133502" cy="152705"/>
          </a:xfrm>
          <a:prstGeom prst="rect">
            <a:avLst/>
          </a:prstGeom>
        </p:spPr>
      </p:pic>
      <p:sp>
        <p:nvSpPr>
          <p:cNvPr id="58" name="Text 43"/>
          <p:cNvSpPr txBox="1"/>
          <p:nvPr/>
        </p:nvSpPr>
        <p:spPr>
          <a:xfrm>
            <a:off x="5905195" y="5468112"/>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文言の簡潔性</a:t>
            </a:r>
            <a:endParaRPr lang="en-US" sz="1000" dirty="0"/>
          </a:p>
        </p:txBody>
      </p:sp>
      <p:sp>
        <p:nvSpPr>
          <p:cNvPr id="59" name="Text 44"/>
          <p:cNvSpPr txBox="1"/>
          <p:nvPr/>
        </p:nvSpPr>
        <p:spPr>
          <a:xfrm>
            <a:off x="5695798" y="5725973"/>
            <a:ext cx="2029054"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重複表現を避け、要点を短くまとめる</a:t>
            </a:r>
            <a:endParaRPr lang="en-US" sz="900" dirty="0"/>
          </a:p>
        </p:txBody>
      </p:sp>
      <p:sp>
        <p:nvSpPr>
          <p:cNvPr id="60" name="Shape 45"/>
          <p:cNvSpPr/>
          <p:nvPr/>
        </p:nvSpPr>
        <p:spPr>
          <a:xfrm>
            <a:off x="8610905" y="5344668"/>
            <a:ext cx="2885846" cy="819302"/>
          </a:xfrm>
          <a:prstGeom prst="roundRect">
            <a:avLst>
              <a:gd name="adj" fmla="val 10382"/>
            </a:avLst>
          </a:prstGeom>
          <a:solidFill>
            <a:srgbClr val="ECFDF5"/>
          </a:solidFill>
          <a:ln w="12700">
            <a:solidFill>
              <a:srgbClr val="D1FAE5"/>
            </a:solidFill>
            <a:prstDash val="solid"/>
          </a:ln>
        </p:spPr>
      </p:sp>
      <p:pic>
        <p:nvPicPr>
          <p:cNvPr id="61" name="Image 13" descr="preencoded.png">    </p:cNvPr>
          <p:cNvPicPr>
            <a:picLocks noChangeAspect="1"/>
          </p:cNvPicPr>
          <p:nvPr/>
        </p:nvPicPr>
        <p:blipFill>
          <a:blip r:embed="rId14"/>
          <a:srcRect l="0" r="0" t="0" b="0"/>
          <a:stretch/>
        </p:blipFill>
        <p:spPr>
          <a:xfrm>
            <a:off x="8734349" y="5487314"/>
            <a:ext cx="152705" cy="152705"/>
          </a:xfrm>
          <a:prstGeom prst="rect">
            <a:avLst/>
          </a:prstGeom>
        </p:spPr>
      </p:pic>
      <p:sp>
        <p:nvSpPr>
          <p:cNvPr id="62" name="Text 46"/>
          <p:cNvSpPr txBox="1"/>
          <p:nvPr/>
        </p:nvSpPr>
        <p:spPr>
          <a:xfrm>
            <a:off x="8962949" y="5468112"/>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デザイン統一</a:t>
            </a:r>
            <a:endParaRPr lang="en-US" sz="1000" dirty="0"/>
          </a:p>
        </p:txBody>
      </p:sp>
      <p:sp>
        <p:nvSpPr>
          <p:cNvPr id="63" name="Text 47"/>
          <p:cNvSpPr txBox="1"/>
          <p:nvPr/>
        </p:nvSpPr>
        <p:spPr>
          <a:xfrm>
            <a:off x="8734349" y="5725973"/>
            <a:ext cx="2714854" cy="314554"/>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HPBオレンジをアクセントに使用し、トンマナを守る</a:t>
            </a:r>
            <a:endParaRPr lang="en-US" sz="900" dirty="0"/>
          </a:p>
        </p:txBody>
      </p:sp>
      <p:sp>
        <p:nvSpPr>
          <p:cNvPr id="64" name="Shape 48"/>
          <p:cNvSpPr/>
          <p:nvPr/>
        </p:nvSpPr>
        <p:spPr>
          <a:xfrm>
            <a:off x="0" y="0"/>
            <a:ext cx="12191695" cy="466344"/>
          </a:xfrm>
          <a:prstGeom prst="rect">
            <a:avLst/>
          </a:prstGeom>
          <a:solidFill>
            <a:srgbClr val="FFFFFF"/>
          </a:solidFill>
          <a:ln/>
        </p:spPr>
      </p:sp>
      <p:sp>
        <p:nvSpPr>
          <p:cNvPr id="65" name="Shape 49"/>
          <p:cNvSpPr/>
          <p:nvPr/>
        </p:nvSpPr>
        <p:spPr>
          <a:xfrm>
            <a:off x="0" y="457200"/>
            <a:ext cx="12191695" cy="9144"/>
          </a:xfrm>
          <a:prstGeom prst="rect">
            <a:avLst/>
          </a:prstGeom>
          <a:solidFill>
            <a:srgbClr val="E5E7EB"/>
          </a:solidFill>
          <a:ln/>
        </p:spPr>
      </p:sp>
      <p:sp>
        <p:nvSpPr>
          <p:cNvPr id="66" name="Shape 50"/>
          <p:cNvSpPr/>
          <p:nvPr/>
        </p:nvSpPr>
        <p:spPr>
          <a:xfrm>
            <a:off x="457200" y="38405"/>
            <a:ext cx="381305" cy="381305"/>
          </a:xfrm>
          <a:prstGeom prst="roundRect">
            <a:avLst>
              <a:gd name="adj" fmla="val 47962"/>
            </a:avLst>
          </a:prstGeom>
          <a:solidFill>
            <a:srgbClr val="4F46E5"/>
          </a:solidFill>
          <a:ln/>
          <a:effectLst>
            <a:outerShdw sx="100000" sy="100000" kx="0" ky="0" algn="bl" rotWithShape="0" blurRad="12700" dist="12700" dir="16200000">
              <a:srgbClr val="000000">
                <a:alpha val="75000"/>
              </a:srgbClr>
            </a:outerShdw>
          </a:effectLst>
        </p:spPr>
      </p:sp>
      <p:pic>
        <p:nvPicPr>
          <p:cNvPr id="67" name="Image 14" descr="preencoded.png">    </p:cNvPr>
          <p:cNvPicPr>
            <a:picLocks noChangeAspect="1"/>
          </p:cNvPicPr>
          <p:nvPr/>
        </p:nvPicPr>
        <p:blipFill>
          <a:blip r:embed="rId15"/>
          <a:srcRect l="-3120" r="-3120" t="0" b="0"/>
          <a:stretch/>
        </p:blipFill>
        <p:spPr>
          <a:xfrm>
            <a:off x="9496044" y="171907"/>
            <a:ext cx="75895" cy="114300"/>
          </a:xfrm>
          <a:prstGeom prst="rect">
            <a:avLst/>
          </a:prstGeom>
        </p:spPr>
      </p:pic>
      <p:pic>
        <p:nvPicPr>
          <p:cNvPr id="68" name="Image 15" descr="preencoded.png">    </p:cNvPr>
          <p:cNvPicPr>
            <a:picLocks noChangeAspect="1"/>
          </p:cNvPicPr>
          <p:nvPr/>
        </p:nvPicPr>
        <p:blipFill>
          <a:blip r:embed="rId16"/>
          <a:srcRect l="-3120" r="-3120" t="0" b="0"/>
          <a:stretch/>
        </p:blipFill>
        <p:spPr>
          <a:xfrm>
            <a:off x="10168128" y="171907"/>
            <a:ext cx="75895" cy="114300"/>
          </a:xfrm>
          <a:prstGeom prst="rect">
            <a:avLst/>
          </a:prstGeom>
        </p:spPr>
      </p:pic>
      <p:pic>
        <p:nvPicPr>
          <p:cNvPr id="69" name="Image 16" descr="preencoded.png">    </p:cNvPr>
          <p:cNvPicPr>
            <a:picLocks noChangeAspect="1"/>
          </p:cNvPicPr>
          <p:nvPr/>
        </p:nvPicPr>
        <p:blipFill>
          <a:blip r:embed="rId17"/>
          <a:srcRect l="-3120" r="-3120" t="0" b="0"/>
          <a:stretch/>
        </p:blipFill>
        <p:spPr>
          <a:xfrm>
            <a:off x="10828325" y="171907"/>
            <a:ext cx="75895" cy="114300"/>
          </a:xfrm>
          <a:prstGeom prst="rect">
            <a:avLst/>
          </a:prstGeom>
        </p:spPr>
      </p:pic>
      <p:pic>
        <p:nvPicPr>
          <p:cNvPr id="70" name="Image 17" descr="preencoded.png">    </p:cNvPr>
          <p:cNvPicPr>
            <a:picLocks noChangeAspect="1"/>
          </p:cNvPicPr>
          <p:nvPr/>
        </p:nvPicPr>
        <p:blipFill>
          <a:blip r:embed="rId18"/>
          <a:srcRect l="-3120" r="-3120" t="0" b="0"/>
          <a:stretch/>
        </p:blipFill>
        <p:spPr>
          <a:xfrm>
            <a:off x="11400739" y="171907"/>
            <a:ext cx="75895" cy="114300"/>
          </a:xfrm>
          <a:prstGeom prst="rect">
            <a:avLst/>
          </a:prstGeom>
        </p:spPr>
      </p:pic>
      <p:sp>
        <p:nvSpPr>
          <p:cNvPr id="71" name="Text 51"/>
          <p:cNvSpPr txBox="1"/>
          <p:nvPr/>
        </p:nvSpPr>
        <p:spPr>
          <a:xfrm>
            <a:off x="546811" y="105156"/>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04</a:t>
            </a:r>
            <a:endParaRPr lang="en-US" sz="1300" dirty="0"/>
          </a:p>
        </p:txBody>
      </p:sp>
      <p:sp>
        <p:nvSpPr>
          <p:cNvPr id="72" name="Text 52"/>
          <p:cNvSpPr txBox="1"/>
          <p:nvPr/>
        </p:nvSpPr>
        <p:spPr>
          <a:xfrm>
            <a:off x="990295" y="-9144"/>
            <a:ext cx="600761" cy="162763"/>
          </a:xfrm>
          <a:prstGeom prst="rect">
            <a:avLst/>
          </a:prstGeom>
          <a:noFill/>
          <a:ln/>
        </p:spPr>
        <p:txBody>
          <a:bodyPr wrap="square" lIns="0" tIns="0" rIns="0" bIns="0" rtlCol="0" anchor="ctr"/>
          <a:lstStyle/>
          <a:p>
            <a:pPr algn="l" indent="0" marL="0">
              <a:buNone/>
            </a:pPr>
            <a:r>
              <a:rPr lang="en-US" sz="900" b="1" dirty="0">
                <a:solidFill>
                  <a:srgbClr val="4F46E5"/>
                </a:solidFill>
                <a:latin typeface="Noto Sans JP" pitchFamily="34" charset="0"/>
                <a:ea typeface="Noto Sans JP" pitchFamily="34" charset="-122"/>
                <a:cs typeface="Noto Sans JP" pitchFamily="34" charset="-120"/>
              </a:rPr>
              <a:t>PHASE 4</a:t>
            </a:r>
            <a:endParaRPr lang="en-US" sz="900" dirty="0"/>
          </a:p>
        </p:txBody>
      </p:sp>
      <p:sp>
        <p:nvSpPr>
          <p:cNvPr id="73" name="Text 53"/>
          <p:cNvSpPr txBox="1"/>
          <p:nvPr/>
        </p:nvSpPr>
        <p:spPr>
          <a:xfrm>
            <a:off x="990295" y="133502"/>
            <a:ext cx="2048256"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制作フェーズ (1/3)</a:t>
            </a:r>
            <a:endParaRPr lang="en-US" sz="1800" dirty="0"/>
          </a:p>
        </p:txBody>
      </p:sp>
      <p:sp>
        <p:nvSpPr>
          <p:cNvPr id="74" name="Text 54"/>
          <p:cNvSpPr txBox="1"/>
          <p:nvPr/>
        </p:nvSpPr>
        <p:spPr>
          <a:xfrm>
            <a:off x="9009583" y="133502"/>
            <a:ext cx="5193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Define</a:t>
            </a:r>
            <a:endParaRPr lang="en-US" sz="1000" dirty="0"/>
          </a:p>
        </p:txBody>
      </p:sp>
      <p:sp>
        <p:nvSpPr>
          <p:cNvPr id="75" name="Text 55"/>
          <p:cNvSpPr txBox="1"/>
          <p:nvPr/>
        </p:nvSpPr>
        <p:spPr>
          <a:xfrm>
            <a:off x="9648749" y="133502"/>
            <a:ext cx="54772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Collect</a:t>
            </a:r>
            <a:endParaRPr lang="en-US" sz="1000" dirty="0"/>
          </a:p>
        </p:txBody>
      </p:sp>
      <p:sp>
        <p:nvSpPr>
          <p:cNvPr id="76" name="Text 56"/>
          <p:cNvSpPr txBox="1"/>
          <p:nvPr/>
        </p:nvSpPr>
        <p:spPr>
          <a:xfrm>
            <a:off x="10319918" y="133502"/>
            <a:ext cx="5385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Design</a:t>
            </a:r>
            <a:endParaRPr lang="en-US" sz="1000" dirty="0"/>
          </a:p>
        </p:txBody>
      </p:sp>
      <p:sp>
        <p:nvSpPr>
          <p:cNvPr id="77" name="Text 57"/>
          <p:cNvSpPr txBox="1"/>
          <p:nvPr/>
        </p:nvSpPr>
        <p:spPr>
          <a:xfrm>
            <a:off x="10980115" y="133502"/>
            <a:ext cx="452628" cy="191110"/>
          </a:xfrm>
          <a:prstGeom prst="rect">
            <a:avLst/>
          </a:prstGeom>
          <a:noFill/>
          <a:ln/>
        </p:spPr>
        <p:txBody>
          <a:bodyPr wrap="square" lIns="0" tIns="0" rIns="0" bIns="0" rtlCol="0" anchor="ctr"/>
          <a:lstStyle/>
          <a:p>
            <a:pPr algn="l" indent="0" marL="0">
              <a:buNone/>
            </a:pPr>
            <a:r>
              <a:rPr lang="en-US" sz="1000" b="1" dirty="0">
                <a:solidFill>
                  <a:srgbClr val="4F46E5"/>
                </a:solidFill>
                <a:latin typeface="Noto Sans JP" pitchFamily="34" charset="0"/>
                <a:ea typeface="Noto Sans JP" pitchFamily="34" charset="-122"/>
                <a:cs typeface="Noto Sans JP" pitchFamily="34" charset="-120"/>
              </a:rPr>
              <a:t>Build</a:t>
            </a:r>
            <a:endParaRPr lang="en-US" sz="1000" dirty="0"/>
          </a:p>
        </p:txBody>
      </p:sp>
      <p:sp>
        <p:nvSpPr>
          <p:cNvPr id="78" name="Text 58"/>
          <p:cNvSpPr txBox="1"/>
          <p:nvPr/>
        </p:nvSpPr>
        <p:spPr>
          <a:xfrm>
            <a:off x="11553444" y="133502"/>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923544"/>
            <a:ext cx="4572000" cy="3781044"/>
          </a:xfrm>
          <a:prstGeom prst="roundRect">
            <a:avLst>
              <a:gd name="adj" fmla="val 731"/>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0" r="0" t="0" b="0"/>
          <a:stretch/>
        </p:blipFill>
        <p:spPr>
          <a:xfrm>
            <a:off x="694944" y="1200607"/>
            <a:ext cx="190195" cy="190195"/>
          </a:xfrm>
          <a:prstGeom prst="rect">
            <a:avLst/>
          </a:prstGeom>
        </p:spPr>
      </p:pic>
      <p:sp>
        <p:nvSpPr>
          <p:cNvPr id="6" name="Text 3"/>
          <p:cNvSpPr txBox="1"/>
          <p:nvPr/>
        </p:nvSpPr>
        <p:spPr>
          <a:xfrm>
            <a:off x="1000354" y="1152144"/>
            <a:ext cx="2238451" cy="277063"/>
          </a:xfrm>
          <a:prstGeom prst="rect">
            <a:avLst/>
          </a:prstGeom>
          <a:noFill/>
          <a:ln/>
        </p:spPr>
        <p:txBody>
          <a:bodyPr wrap="square" lIns="0" tIns="0" rIns="0" bIns="0" rtlCol="0" anchor="ctr"/>
          <a:lstStyle/>
          <a:p>
            <a:pPr algn="l" indent="0" marL="0">
              <a:buNone/>
            </a:pPr>
            <a:r>
              <a:rPr lang="en-US" sz="1500" b="1" dirty="0">
                <a:solidFill>
                  <a:srgbClr val="1E40AF"/>
                </a:solidFill>
                <a:latin typeface="Noto Sans JP" pitchFamily="34" charset="0"/>
                <a:ea typeface="Noto Sans JP" pitchFamily="34" charset="-122"/>
                <a:cs typeface="Noto Sans JP" pitchFamily="34" charset="-120"/>
              </a:rPr>
              <a:t>競合分析・提案資料作成</a:t>
            </a:r>
            <a:endParaRPr lang="en-US" sz="1500" dirty="0"/>
          </a:p>
        </p:txBody>
      </p:sp>
      <p:sp>
        <p:nvSpPr>
          <p:cNvPr id="7" name="Shape 4"/>
          <p:cNvSpPr/>
          <p:nvPr/>
        </p:nvSpPr>
        <p:spPr>
          <a:xfrm>
            <a:off x="694944" y="1619402"/>
            <a:ext cx="228600" cy="228600"/>
          </a:xfrm>
          <a:prstGeom prst="roundRect">
            <a:avLst>
              <a:gd name="adj" fmla="val 400000"/>
            </a:avLst>
          </a:prstGeom>
          <a:solidFill>
            <a:srgbClr val="DBEAFE"/>
          </a:solidFill>
          <a:ln/>
        </p:spPr>
      </p:sp>
      <p:pic>
        <p:nvPicPr>
          <p:cNvPr id="8" name="Image 1" descr="preencoded.png">    </p:cNvPr>
          <p:cNvPicPr>
            <a:picLocks noChangeAspect="1"/>
          </p:cNvPicPr>
          <p:nvPr/>
        </p:nvPicPr>
        <p:blipFill>
          <a:blip r:embed="rId2"/>
          <a:srcRect l="-7143" r="-7143" t="0" b="0"/>
          <a:stretch/>
        </p:blipFill>
        <p:spPr>
          <a:xfrm>
            <a:off x="733349" y="1657807"/>
            <a:ext cx="152705" cy="152705"/>
          </a:xfrm>
          <a:prstGeom prst="rect">
            <a:avLst/>
          </a:prstGeom>
        </p:spPr>
      </p:pic>
      <p:sp>
        <p:nvSpPr>
          <p:cNvPr id="9" name="Text 5"/>
          <p:cNvSpPr txBox="1"/>
          <p:nvPr/>
        </p:nvSpPr>
        <p:spPr>
          <a:xfrm>
            <a:off x="1037844" y="1580998"/>
            <a:ext cx="1953158"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競合環境・ポジショニング</a:t>
            </a:r>
            <a:endParaRPr lang="en-US" sz="1200" dirty="0"/>
          </a:p>
        </p:txBody>
      </p:sp>
      <p:sp>
        <p:nvSpPr>
          <p:cNvPr id="10" name="Text 6"/>
          <p:cNvSpPr txBox="1"/>
          <p:nvPr/>
        </p:nvSpPr>
        <p:spPr>
          <a:xfrm>
            <a:off x="1037844" y="1848002"/>
            <a:ext cx="3767328"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ローカルマップ、比較表、2軸散布図による空白地帯の可視化</a:t>
            </a:r>
            <a:endParaRPr lang="en-US" sz="1000" dirty="0"/>
          </a:p>
        </p:txBody>
      </p:sp>
      <p:sp>
        <p:nvSpPr>
          <p:cNvPr id="11" name="Shape 7"/>
          <p:cNvSpPr/>
          <p:nvPr/>
        </p:nvSpPr>
        <p:spPr>
          <a:xfrm>
            <a:off x="694944" y="2229307"/>
            <a:ext cx="228600" cy="228600"/>
          </a:xfrm>
          <a:prstGeom prst="roundRect">
            <a:avLst>
              <a:gd name="adj" fmla="val 400000"/>
            </a:avLst>
          </a:prstGeom>
          <a:solidFill>
            <a:srgbClr val="DBEAFE"/>
          </a:solidFill>
          <a:ln/>
        </p:spPr>
      </p:sp>
      <p:pic>
        <p:nvPicPr>
          <p:cNvPr id="12" name="Image 2" descr="preencoded.png">    </p:cNvPr>
          <p:cNvPicPr>
            <a:picLocks noChangeAspect="1"/>
          </p:cNvPicPr>
          <p:nvPr/>
        </p:nvPicPr>
        <p:blipFill>
          <a:blip r:embed="rId3"/>
          <a:srcRect l="-7143" r="-7143" t="0" b="0"/>
          <a:stretch/>
        </p:blipFill>
        <p:spPr>
          <a:xfrm>
            <a:off x="733349" y="2266798"/>
            <a:ext cx="152705" cy="152705"/>
          </a:xfrm>
          <a:prstGeom prst="rect">
            <a:avLst/>
          </a:prstGeom>
        </p:spPr>
      </p:pic>
      <p:sp>
        <p:nvSpPr>
          <p:cNvPr id="13" name="Text 8"/>
          <p:cNvSpPr txBox="1"/>
          <p:nvPr/>
        </p:nvSpPr>
        <p:spPr>
          <a:xfrm>
            <a:off x="1037844" y="2190902"/>
            <a:ext cx="1648663"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ターゲット・機会分析</a:t>
            </a:r>
            <a:endParaRPr lang="en-US" sz="1200" dirty="0"/>
          </a:p>
        </p:txBody>
      </p:sp>
      <p:sp>
        <p:nvSpPr>
          <p:cNvPr id="14" name="Text 9"/>
          <p:cNvSpPr txBox="1"/>
          <p:nvPr/>
        </p:nvSpPr>
        <p:spPr>
          <a:xfrm>
            <a:off x="1037844" y="2457907"/>
            <a:ext cx="34344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ペルソナ来店動機分析と競合密度が低い市場機会の特定</a:t>
            </a:r>
            <a:endParaRPr lang="en-US" sz="1000" dirty="0"/>
          </a:p>
        </p:txBody>
      </p:sp>
      <p:sp>
        <p:nvSpPr>
          <p:cNvPr id="15" name="Shape 10"/>
          <p:cNvSpPr/>
          <p:nvPr/>
        </p:nvSpPr>
        <p:spPr>
          <a:xfrm>
            <a:off x="694944" y="2838298"/>
            <a:ext cx="228600" cy="228600"/>
          </a:xfrm>
          <a:prstGeom prst="roundRect">
            <a:avLst>
              <a:gd name="adj" fmla="val 400000"/>
            </a:avLst>
          </a:prstGeom>
          <a:solidFill>
            <a:srgbClr val="DBEAFE"/>
          </a:solidFill>
          <a:ln/>
        </p:spPr>
      </p:sp>
      <p:pic>
        <p:nvPicPr>
          <p:cNvPr id="16" name="Image 3" descr="preencoded.png">    </p:cNvPr>
          <p:cNvPicPr>
            <a:picLocks noChangeAspect="1"/>
          </p:cNvPicPr>
          <p:nvPr/>
        </p:nvPicPr>
        <p:blipFill>
          <a:blip r:embed="rId4"/>
          <a:srcRect l="-7143" r="-7143" t="0" b="0"/>
          <a:stretch/>
        </p:blipFill>
        <p:spPr>
          <a:xfrm>
            <a:off x="733349" y="2876702"/>
            <a:ext cx="152705" cy="152705"/>
          </a:xfrm>
          <a:prstGeom prst="rect">
            <a:avLst/>
          </a:prstGeom>
        </p:spPr>
      </p:pic>
      <p:sp>
        <p:nvSpPr>
          <p:cNvPr id="17" name="Text 11"/>
          <p:cNvSpPr txBox="1"/>
          <p:nvPr/>
        </p:nvSpPr>
        <p:spPr>
          <a:xfrm>
            <a:off x="1037844" y="2800807"/>
            <a:ext cx="1343254"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具体的な掲載提案</a:t>
            </a:r>
            <a:endParaRPr lang="en-US" sz="1200" dirty="0"/>
          </a:p>
        </p:txBody>
      </p:sp>
      <p:sp>
        <p:nvSpPr>
          <p:cNvPr id="18" name="Text 12"/>
          <p:cNvSpPr txBox="1"/>
          <p:nvPr/>
        </p:nvSpPr>
        <p:spPr>
          <a:xfrm>
            <a:off x="1037844" y="3066898"/>
            <a:ext cx="3300984"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メニュー・価格・コピー・クーポン設計の最適化提案</a:t>
            </a:r>
            <a:endParaRPr lang="en-US" sz="1000" dirty="0"/>
          </a:p>
        </p:txBody>
      </p:sp>
      <p:sp>
        <p:nvSpPr>
          <p:cNvPr id="19" name="Shape 13"/>
          <p:cNvSpPr/>
          <p:nvPr/>
        </p:nvSpPr>
        <p:spPr>
          <a:xfrm>
            <a:off x="457200" y="4931359"/>
            <a:ext cx="4572000" cy="1524305"/>
          </a:xfrm>
          <a:prstGeom prst="roundRect">
            <a:avLst>
              <a:gd name="adj" fmla="val 4499"/>
            </a:avLst>
          </a:prstGeom>
          <a:solidFill>
            <a:srgbClr val="EFF6FF"/>
          </a:solidFill>
          <a:ln w="12700">
            <a:solidFill>
              <a:srgbClr val="DBEAFE"/>
            </a:solidFill>
            <a:prstDash val="solid"/>
          </a:ln>
        </p:spPr>
      </p:sp>
      <p:pic>
        <p:nvPicPr>
          <p:cNvPr id="20" name="Image 4" descr="preencoded.png">    </p:cNvPr>
          <p:cNvPicPr>
            <a:picLocks noChangeAspect="1"/>
          </p:cNvPicPr>
          <p:nvPr/>
        </p:nvPicPr>
        <p:blipFill>
          <a:blip r:embed="rId5"/>
          <a:srcRect l="-133" r="-133" t="0" b="0"/>
          <a:stretch/>
        </p:blipFill>
        <p:spPr>
          <a:xfrm>
            <a:off x="657454" y="5155387"/>
            <a:ext cx="85954" cy="114300"/>
          </a:xfrm>
          <a:prstGeom prst="rect">
            <a:avLst/>
          </a:prstGeom>
        </p:spPr>
      </p:pic>
      <p:sp>
        <p:nvSpPr>
          <p:cNvPr id="21" name="Text 14"/>
          <p:cNvSpPr txBox="1"/>
          <p:nvPr/>
        </p:nvSpPr>
        <p:spPr>
          <a:xfrm>
            <a:off x="780898" y="5122469"/>
            <a:ext cx="1105510"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OUTPUT PREVIEW</a:t>
            </a:r>
            <a:endParaRPr lang="en-US" sz="900" dirty="0"/>
          </a:p>
        </p:txBody>
      </p:sp>
      <p:sp>
        <p:nvSpPr>
          <p:cNvPr id="22" name="Shape 15"/>
          <p:cNvSpPr/>
          <p:nvPr/>
        </p:nvSpPr>
        <p:spPr>
          <a:xfrm>
            <a:off x="657454" y="5360213"/>
            <a:ext cx="2048256" cy="323698"/>
          </a:xfrm>
          <a:prstGeom prst="roundRect">
            <a:avLst>
              <a:gd name="adj" fmla="val 33234"/>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23" name="Image 5" descr="preencoded.png">    </p:cNvPr>
          <p:cNvPicPr>
            <a:picLocks noChangeAspect="1"/>
          </p:cNvPicPr>
          <p:nvPr/>
        </p:nvPicPr>
        <p:blipFill>
          <a:blip r:embed="rId6"/>
          <a:srcRect l="-1911" r="-1911" t="0" b="0"/>
          <a:stretch/>
        </p:blipFill>
        <p:spPr>
          <a:xfrm>
            <a:off x="743407" y="5465369"/>
            <a:ext cx="133502" cy="114300"/>
          </a:xfrm>
          <a:prstGeom prst="rect">
            <a:avLst/>
          </a:prstGeom>
        </p:spPr>
      </p:pic>
      <p:sp>
        <p:nvSpPr>
          <p:cNvPr id="24" name="Text 16"/>
          <p:cNvSpPr txBox="1"/>
          <p:nvPr/>
        </p:nvSpPr>
        <p:spPr>
          <a:xfrm>
            <a:off x="952805" y="5446166"/>
            <a:ext cx="667512" cy="152705"/>
          </a:xfrm>
          <a:prstGeom prst="rect">
            <a:avLst/>
          </a:prstGeom>
          <a:noFill/>
          <a:ln/>
        </p:spPr>
        <p:txBody>
          <a:bodyPr wrap="square" lIns="0" tIns="0" rIns="0" bIns="0" rtlCol="0" anchor="ctr"/>
          <a:lstStyle/>
          <a:p>
            <a:pPr algn="l" indent="0" marL="0">
              <a:buNone/>
            </a:pPr>
            <a:r>
              <a:rPr lang="en-US" sz="900" b="1" dirty="0">
                <a:solidFill>
                  <a:srgbClr val="1D4ED8"/>
                </a:solidFill>
                <a:latin typeface="Noto Sans JP" pitchFamily="34" charset="0"/>
                <a:ea typeface="Noto Sans JP" pitchFamily="34" charset="-122"/>
                <a:cs typeface="Noto Sans JP" pitchFamily="34" charset="-120"/>
              </a:rPr>
              <a:t>競合マップ</a:t>
            </a:r>
            <a:endParaRPr lang="en-US" sz="900" dirty="0"/>
          </a:p>
        </p:txBody>
      </p:sp>
      <p:sp>
        <p:nvSpPr>
          <p:cNvPr id="25" name="Shape 17"/>
          <p:cNvSpPr/>
          <p:nvPr/>
        </p:nvSpPr>
        <p:spPr>
          <a:xfrm>
            <a:off x="2781605" y="5360213"/>
            <a:ext cx="2048256" cy="323698"/>
          </a:xfrm>
          <a:prstGeom prst="roundRect">
            <a:avLst>
              <a:gd name="adj" fmla="val 33234"/>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26" name="Image 6" descr="preencoded.png">    </p:cNvPr>
          <p:cNvPicPr>
            <a:picLocks noChangeAspect="1"/>
          </p:cNvPicPr>
          <p:nvPr/>
        </p:nvPicPr>
        <p:blipFill>
          <a:blip r:embed="rId7"/>
          <a:srcRect l="0" r="0" t="0" b="0"/>
          <a:stretch/>
        </p:blipFill>
        <p:spPr>
          <a:xfrm>
            <a:off x="2866644" y="5465369"/>
            <a:ext cx="114300" cy="114300"/>
          </a:xfrm>
          <a:prstGeom prst="rect">
            <a:avLst/>
          </a:prstGeom>
        </p:spPr>
      </p:pic>
      <p:sp>
        <p:nvSpPr>
          <p:cNvPr id="27" name="Text 18"/>
          <p:cNvSpPr txBox="1"/>
          <p:nvPr/>
        </p:nvSpPr>
        <p:spPr>
          <a:xfrm>
            <a:off x="3057754" y="5446166"/>
            <a:ext cx="667512" cy="152705"/>
          </a:xfrm>
          <a:prstGeom prst="rect">
            <a:avLst/>
          </a:prstGeom>
          <a:noFill/>
          <a:ln/>
        </p:spPr>
        <p:txBody>
          <a:bodyPr wrap="square" lIns="0" tIns="0" rIns="0" bIns="0" rtlCol="0" anchor="ctr"/>
          <a:lstStyle/>
          <a:p>
            <a:pPr algn="l" indent="0" marL="0">
              <a:buNone/>
            </a:pPr>
            <a:r>
              <a:rPr lang="en-US" sz="900" b="1" dirty="0">
                <a:solidFill>
                  <a:srgbClr val="1D4ED8"/>
                </a:solidFill>
                <a:latin typeface="Noto Sans JP" pitchFamily="34" charset="0"/>
                <a:ea typeface="Noto Sans JP" pitchFamily="34" charset="-122"/>
                <a:cs typeface="Noto Sans JP" pitchFamily="34" charset="-120"/>
              </a:rPr>
              <a:t>多者比較表</a:t>
            </a:r>
            <a:endParaRPr lang="en-US" sz="900" dirty="0"/>
          </a:p>
        </p:txBody>
      </p:sp>
      <p:sp>
        <p:nvSpPr>
          <p:cNvPr id="28" name="Shape 19"/>
          <p:cNvSpPr/>
          <p:nvPr/>
        </p:nvSpPr>
        <p:spPr>
          <a:xfrm>
            <a:off x="657454" y="5759806"/>
            <a:ext cx="2048256" cy="323698"/>
          </a:xfrm>
          <a:prstGeom prst="roundRect">
            <a:avLst>
              <a:gd name="adj" fmla="val 33234"/>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29" name="Image 7" descr="preencoded.png">    </p:cNvPr>
          <p:cNvPicPr>
            <a:picLocks noChangeAspect="1"/>
          </p:cNvPicPr>
          <p:nvPr/>
        </p:nvPicPr>
        <p:blipFill>
          <a:blip r:embed="rId8"/>
          <a:srcRect l="0" r="0" t="0" b="0"/>
          <a:stretch/>
        </p:blipFill>
        <p:spPr>
          <a:xfrm>
            <a:off x="743407" y="5864962"/>
            <a:ext cx="114300" cy="114300"/>
          </a:xfrm>
          <a:prstGeom prst="rect">
            <a:avLst/>
          </a:prstGeom>
        </p:spPr>
      </p:pic>
      <p:sp>
        <p:nvSpPr>
          <p:cNvPr id="30" name="Text 20"/>
          <p:cNvSpPr txBox="1"/>
          <p:nvPr/>
        </p:nvSpPr>
        <p:spPr>
          <a:xfrm>
            <a:off x="933602" y="5845759"/>
            <a:ext cx="896112" cy="152705"/>
          </a:xfrm>
          <a:prstGeom prst="rect">
            <a:avLst/>
          </a:prstGeom>
          <a:noFill/>
          <a:ln/>
        </p:spPr>
        <p:txBody>
          <a:bodyPr wrap="square" lIns="0" tIns="0" rIns="0" bIns="0" rtlCol="0" anchor="ctr"/>
          <a:lstStyle/>
          <a:p>
            <a:pPr algn="l" indent="0" marL="0">
              <a:buNone/>
            </a:pPr>
            <a:r>
              <a:rPr lang="en-US" sz="900" b="1" dirty="0">
                <a:solidFill>
                  <a:srgbClr val="1D4ED8"/>
                </a:solidFill>
                <a:latin typeface="Noto Sans JP" pitchFamily="34" charset="0"/>
                <a:ea typeface="Noto Sans JP" pitchFamily="34" charset="-122"/>
                <a:cs typeface="Noto Sans JP" pitchFamily="34" charset="-120"/>
              </a:rPr>
              <a:t>ポジショニング</a:t>
            </a:r>
            <a:endParaRPr lang="en-US" sz="900" dirty="0"/>
          </a:p>
        </p:txBody>
      </p:sp>
      <p:sp>
        <p:nvSpPr>
          <p:cNvPr id="31" name="Shape 21"/>
          <p:cNvSpPr/>
          <p:nvPr/>
        </p:nvSpPr>
        <p:spPr>
          <a:xfrm>
            <a:off x="2781605" y="5759806"/>
            <a:ext cx="2048256" cy="323698"/>
          </a:xfrm>
          <a:prstGeom prst="roundRect">
            <a:avLst>
              <a:gd name="adj" fmla="val 33234"/>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32" name="Image 8" descr="preencoded.png">    </p:cNvPr>
          <p:cNvPicPr>
            <a:picLocks noChangeAspect="1"/>
          </p:cNvPicPr>
          <p:nvPr/>
        </p:nvPicPr>
        <p:blipFill>
          <a:blip r:embed="rId9"/>
          <a:srcRect l="-133" r="-133" t="0" b="0"/>
          <a:stretch/>
        </p:blipFill>
        <p:spPr>
          <a:xfrm>
            <a:off x="2866644" y="5864962"/>
            <a:ext cx="85954" cy="114300"/>
          </a:xfrm>
          <a:prstGeom prst="rect">
            <a:avLst/>
          </a:prstGeom>
        </p:spPr>
      </p:pic>
      <p:sp>
        <p:nvSpPr>
          <p:cNvPr id="33" name="Text 22"/>
          <p:cNvSpPr txBox="1"/>
          <p:nvPr/>
        </p:nvSpPr>
        <p:spPr>
          <a:xfrm>
            <a:off x="3029407" y="5845759"/>
            <a:ext cx="781812" cy="152705"/>
          </a:xfrm>
          <a:prstGeom prst="rect">
            <a:avLst/>
          </a:prstGeom>
          <a:noFill/>
          <a:ln/>
        </p:spPr>
        <p:txBody>
          <a:bodyPr wrap="square" lIns="0" tIns="0" rIns="0" bIns="0" rtlCol="0" anchor="ctr"/>
          <a:lstStyle/>
          <a:p>
            <a:pPr algn="l" indent="0" marL="0">
              <a:buNone/>
            </a:pPr>
            <a:r>
              <a:rPr lang="en-US" sz="900" b="1" dirty="0">
                <a:solidFill>
                  <a:srgbClr val="1D4ED8"/>
                </a:solidFill>
                <a:latin typeface="Noto Sans JP" pitchFamily="34" charset="0"/>
                <a:ea typeface="Noto Sans JP" pitchFamily="34" charset="-122"/>
                <a:cs typeface="Noto Sans JP" pitchFamily="34" charset="-120"/>
              </a:rPr>
              <a:t>提案スライド</a:t>
            </a:r>
            <a:endParaRPr lang="en-US" sz="900" dirty="0"/>
          </a:p>
        </p:txBody>
      </p:sp>
      <p:sp>
        <p:nvSpPr>
          <p:cNvPr id="34" name="Shape 23"/>
          <p:cNvSpPr/>
          <p:nvPr/>
        </p:nvSpPr>
        <p:spPr>
          <a:xfrm>
            <a:off x="5333695" y="923544"/>
            <a:ext cx="6400800" cy="2409444"/>
          </a:xfrm>
          <a:prstGeom prst="roundRect">
            <a:avLst>
              <a:gd name="adj" fmla="val 1800"/>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5" name="Image 9" descr="preencoded.png">    </p:cNvPr>
          <p:cNvPicPr>
            <a:picLocks noChangeAspect="1"/>
          </p:cNvPicPr>
          <p:nvPr/>
        </p:nvPicPr>
        <p:blipFill>
          <a:blip r:embed="rId10"/>
          <a:srcRect l="-1282" r="-1282" t="0" b="0"/>
          <a:stretch/>
        </p:blipFill>
        <p:spPr>
          <a:xfrm>
            <a:off x="5572354" y="1200607"/>
            <a:ext cx="219456" cy="190195"/>
          </a:xfrm>
          <a:prstGeom prst="rect">
            <a:avLst/>
          </a:prstGeom>
        </p:spPr>
      </p:pic>
      <p:sp>
        <p:nvSpPr>
          <p:cNvPr id="36" name="Text 24"/>
          <p:cNvSpPr txBox="1"/>
          <p:nvPr/>
        </p:nvSpPr>
        <p:spPr>
          <a:xfrm>
            <a:off x="5905195" y="1152144"/>
            <a:ext cx="373441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指示プロンプト例 (Instruction Example)</a:t>
            </a:r>
            <a:endParaRPr lang="en-US" sz="1500" dirty="0"/>
          </a:p>
        </p:txBody>
      </p:sp>
      <p:sp>
        <p:nvSpPr>
          <p:cNvPr id="37" name="Shape 25"/>
          <p:cNvSpPr/>
          <p:nvPr/>
        </p:nvSpPr>
        <p:spPr>
          <a:xfrm>
            <a:off x="10353751" y="1181405"/>
            <a:ext cx="1152144" cy="228600"/>
          </a:xfrm>
          <a:prstGeom prst="roundRect">
            <a:avLst>
              <a:gd name="adj" fmla="val 66667"/>
            </a:avLst>
          </a:prstGeom>
          <a:solidFill>
            <a:srgbClr val="F3F4F6"/>
          </a:solidFill>
          <a:ln/>
        </p:spPr>
      </p:sp>
      <p:sp>
        <p:nvSpPr>
          <p:cNvPr id="38" name="Text 26"/>
          <p:cNvSpPr txBox="1"/>
          <p:nvPr/>
        </p:nvSpPr>
        <p:spPr>
          <a:xfrm>
            <a:off x="10429646" y="1209751"/>
            <a:ext cx="1086307"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Visual Generation</a:t>
            </a:r>
            <a:endParaRPr lang="en-US" sz="900" dirty="0"/>
          </a:p>
        </p:txBody>
      </p:sp>
      <p:sp>
        <p:nvSpPr>
          <p:cNvPr id="39" name="Shape 27"/>
          <p:cNvSpPr/>
          <p:nvPr/>
        </p:nvSpPr>
        <p:spPr>
          <a:xfrm>
            <a:off x="5572354" y="1580998"/>
            <a:ext cx="5924398" cy="1143000"/>
          </a:xfrm>
          <a:prstGeom prst="roundRect">
            <a:avLst>
              <a:gd name="adj" fmla="val 5333"/>
            </a:avLst>
          </a:prstGeom>
          <a:solidFill>
            <a:srgbClr val="1E293B"/>
          </a:solidFill>
          <a:ln/>
        </p:spPr>
      </p:sp>
      <p:sp>
        <p:nvSpPr>
          <p:cNvPr id="40" name="Shape 28"/>
          <p:cNvSpPr/>
          <p:nvPr/>
        </p:nvSpPr>
        <p:spPr>
          <a:xfrm>
            <a:off x="5572354" y="1580998"/>
            <a:ext cx="38405" cy="1143000"/>
          </a:xfrm>
          <a:prstGeom prst="rect">
            <a:avLst/>
          </a:prstGeom>
          <a:solidFill>
            <a:srgbClr val="3B82F6"/>
          </a:solidFill>
          <a:ln/>
        </p:spPr>
      </p:sp>
      <p:sp>
        <p:nvSpPr>
          <p:cNvPr id="41" name="Text 29"/>
          <p:cNvSpPr txBox="1"/>
          <p:nvPr/>
        </p:nvSpPr>
        <p:spPr>
          <a:xfrm>
            <a:off x="5762549" y="1752905"/>
            <a:ext cx="5679338" cy="342900"/>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 競合マップ作成 「渋谷駅徒歩圏内の競合を地図風に配置。バブルサイズ＝規模、色＝価格帯で表現」</a:t>
            </a:r>
            <a:endParaRPr lang="en-US" sz="1000" dirty="0"/>
          </a:p>
        </p:txBody>
      </p:sp>
      <p:sp>
        <p:nvSpPr>
          <p:cNvPr id="42" name="Text 30"/>
          <p:cNvSpPr txBox="1"/>
          <p:nvPr/>
        </p:nvSpPr>
        <p:spPr>
          <a:xfrm>
            <a:off x="5762549" y="2217420"/>
            <a:ext cx="5612587" cy="342900"/>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 ポジショニング分析 「価格×サービスレベルの2軸散布図を作成。広域商圏（渋谷/代官山/銀座）での空白領域を強調表示」</a:t>
            </a:r>
            <a:endParaRPr lang="en-US" sz="1000" dirty="0"/>
          </a:p>
        </p:txBody>
      </p:sp>
      <p:sp>
        <p:nvSpPr>
          <p:cNvPr id="43" name="Text 31"/>
          <p:cNvSpPr txBox="1"/>
          <p:nvPr/>
        </p:nvSpPr>
        <p:spPr>
          <a:xfrm>
            <a:off x="5762549" y="2682850"/>
            <a:ext cx="5431536" cy="342900"/>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 掲載提案 「データ根拠に基づき、推奨メニュー・価格設定・コピー・クーポン戦略を提示」</a:t>
            </a:r>
            <a:endParaRPr lang="en-US" sz="1000" dirty="0"/>
          </a:p>
        </p:txBody>
      </p:sp>
      <p:pic>
        <p:nvPicPr>
          <p:cNvPr id="44" name="Image 10" descr="preencoded.png">    </p:cNvPr>
          <p:cNvPicPr>
            <a:picLocks noChangeAspect="1"/>
          </p:cNvPicPr>
          <p:nvPr/>
        </p:nvPicPr>
        <p:blipFill>
          <a:blip r:embed="rId11"/>
          <a:srcRect l="0" r="0" t="0" b="0"/>
          <a:stretch/>
        </p:blipFill>
        <p:spPr>
          <a:xfrm>
            <a:off x="5572354" y="2921508"/>
            <a:ext cx="133502" cy="133502"/>
          </a:xfrm>
          <a:prstGeom prst="rect">
            <a:avLst/>
          </a:prstGeom>
        </p:spPr>
      </p:pic>
      <p:sp>
        <p:nvSpPr>
          <p:cNvPr id="45" name="Text 32"/>
          <p:cNvSpPr txBox="1"/>
          <p:nvPr/>
        </p:nvSpPr>
        <p:spPr>
          <a:xfrm>
            <a:off x="5743346" y="2885846"/>
            <a:ext cx="5158130"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比較軸や凡例を明確に指示し、データに基づいた客観的な提案資料を生成させます。</a:t>
            </a:r>
            <a:endParaRPr lang="en-US" sz="1000" dirty="0"/>
          </a:p>
        </p:txBody>
      </p:sp>
      <p:sp>
        <p:nvSpPr>
          <p:cNvPr id="46" name="Shape 33"/>
          <p:cNvSpPr/>
          <p:nvPr/>
        </p:nvSpPr>
        <p:spPr>
          <a:xfrm>
            <a:off x="5333695" y="3559759"/>
            <a:ext cx="6400800" cy="2895905"/>
          </a:xfrm>
          <a:prstGeom prst="roundRect">
            <a:avLst>
              <a:gd name="adj" fmla="val 1246"/>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7" name="Image 11" descr="preencoded.png">    </p:cNvPr>
          <p:cNvPicPr>
            <a:picLocks noChangeAspect="1"/>
          </p:cNvPicPr>
          <p:nvPr/>
        </p:nvPicPr>
        <p:blipFill>
          <a:blip r:embed="rId12"/>
          <a:srcRect l="0" r="0" t="0" b="0"/>
          <a:stretch/>
        </p:blipFill>
        <p:spPr>
          <a:xfrm>
            <a:off x="5572354" y="3835908"/>
            <a:ext cx="142646" cy="190195"/>
          </a:xfrm>
          <a:prstGeom prst="rect">
            <a:avLst/>
          </a:prstGeom>
        </p:spPr>
      </p:pic>
      <p:sp>
        <p:nvSpPr>
          <p:cNvPr id="48" name="Text 34"/>
          <p:cNvSpPr txBox="1"/>
          <p:nvPr/>
        </p:nvSpPr>
        <p:spPr>
          <a:xfrm>
            <a:off x="5829300" y="3788359"/>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9" name="Shape 35"/>
          <p:cNvSpPr/>
          <p:nvPr/>
        </p:nvSpPr>
        <p:spPr>
          <a:xfrm>
            <a:off x="5572354" y="4217213"/>
            <a:ext cx="5924398" cy="590702"/>
          </a:xfrm>
          <a:prstGeom prst="roundRect">
            <a:avLst>
              <a:gd name="adj" fmla="val 19974"/>
            </a:avLst>
          </a:prstGeom>
          <a:solidFill>
            <a:srgbClr val="ECFDF5"/>
          </a:solidFill>
          <a:ln w="12700">
            <a:solidFill>
              <a:srgbClr val="D1FAE5"/>
            </a:solidFill>
            <a:prstDash val="solid"/>
          </a:ln>
        </p:spPr>
      </p:sp>
      <p:pic>
        <p:nvPicPr>
          <p:cNvPr id="50" name="Image 12" descr="preencoded.png">    </p:cNvPr>
          <p:cNvPicPr>
            <a:picLocks noChangeAspect="1"/>
          </p:cNvPicPr>
          <p:nvPr/>
        </p:nvPicPr>
        <p:blipFill>
          <a:blip r:embed="rId13"/>
          <a:srcRect l="-20851" r="-20851" t="0" b="0"/>
          <a:stretch/>
        </p:blipFill>
        <p:spPr>
          <a:xfrm>
            <a:off x="5695798" y="4426610"/>
            <a:ext cx="304495" cy="171907"/>
          </a:xfrm>
          <a:prstGeom prst="rect">
            <a:avLst/>
          </a:prstGeom>
        </p:spPr>
      </p:pic>
      <p:sp>
        <p:nvSpPr>
          <p:cNvPr id="51" name="Text 36"/>
          <p:cNvSpPr txBox="1"/>
          <p:nvPr/>
        </p:nvSpPr>
        <p:spPr>
          <a:xfrm>
            <a:off x="6001207" y="4340657"/>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比較軸の統一性</a:t>
            </a:r>
            <a:endParaRPr lang="en-US" sz="1000" dirty="0"/>
          </a:p>
        </p:txBody>
      </p:sp>
      <p:sp>
        <p:nvSpPr>
          <p:cNvPr id="52" name="Text 37"/>
          <p:cNvSpPr txBox="1"/>
          <p:nvPr/>
        </p:nvSpPr>
        <p:spPr>
          <a:xfrm>
            <a:off x="6001207" y="4521708"/>
            <a:ext cx="35149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全ての競合比較で同じ基準（価格、メニュー等）を使用しているか</a:t>
            </a:r>
            <a:endParaRPr lang="en-US" sz="900" dirty="0"/>
          </a:p>
        </p:txBody>
      </p:sp>
      <p:sp>
        <p:nvSpPr>
          <p:cNvPr id="53" name="Shape 38"/>
          <p:cNvSpPr/>
          <p:nvPr/>
        </p:nvSpPr>
        <p:spPr>
          <a:xfrm>
            <a:off x="5572354" y="4922215"/>
            <a:ext cx="5924398" cy="590702"/>
          </a:xfrm>
          <a:prstGeom prst="roundRect">
            <a:avLst>
              <a:gd name="adj" fmla="val 19974"/>
            </a:avLst>
          </a:prstGeom>
          <a:solidFill>
            <a:srgbClr val="ECFDF5"/>
          </a:solidFill>
          <a:ln w="12700">
            <a:solidFill>
              <a:srgbClr val="D1FAE5"/>
            </a:solidFill>
            <a:prstDash val="solid"/>
          </a:ln>
        </p:spPr>
      </p:sp>
      <p:pic>
        <p:nvPicPr>
          <p:cNvPr id="54" name="Image 13" descr="preencoded.png">    </p:cNvPr>
          <p:cNvPicPr>
            <a:picLocks noChangeAspect="1"/>
          </p:cNvPicPr>
          <p:nvPr/>
        </p:nvPicPr>
        <p:blipFill>
          <a:blip r:embed="rId14"/>
          <a:srcRect l="-28723" r="-28723" t="0" b="0"/>
          <a:stretch/>
        </p:blipFill>
        <p:spPr>
          <a:xfrm>
            <a:off x="5695798" y="5131613"/>
            <a:ext cx="304495" cy="171907"/>
          </a:xfrm>
          <a:prstGeom prst="rect">
            <a:avLst/>
          </a:prstGeom>
        </p:spPr>
      </p:pic>
      <p:sp>
        <p:nvSpPr>
          <p:cNvPr id="55" name="Text 39"/>
          <p:cNvSpPr txBox="1"/>
          <p:nvPr/>
        </p:nvSpPr>
        <p:spPr>
          <a:xfrm>
            <a:off x="6001207" y="5045659"/>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視認性の確保</a:t>
            </a:r>
            <a:endParaRPr lang="en-US" sz="1000" dirty="0"/>
          </a:p>
        </p:txBody>
      </p:sp>
      <p:sp>
        <p:nvSpPr>
          <p:cNvPr id="56" name="Text 40"/>
          <p:cNvSpPr txBox="1"/>
          <p:nvPr/>
        </p:nvSpPr>
        <p:spPr>
          <a:xfrm>
            <a:off x="6001207" y="5226710"/>
            <a:ext cx="28392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凡例・単位・注記が明記され、誤解を生まない表現か</a:t>
            </a:r>
            <a:endParaRPr lang="en-US" sz="900" dirty="0"/>
          </a:p>
        </p:txBody>
      </p:sp>
      <p:sp>
        <p:nvSpPr>
          <p:cNvPr id="57" name="Shape 41"/>
          <p:cNvSpPr/>
          <p:nvPr/>
        </p:nvSpPr>
        <p:spPr>
          <a:xfrm>
            <a:off x="5572354" y="5627218"/>
            <a:ext cx="5924398" cy="590702"/>
          </a:xfrm>
          <a:prstGeom prst="roundRect">
            <a:avLst>
              <a:gd name="adj" fmla="val 19974"/>
            </a:avLst>
          </a:prstGeom>
          <a:solidFill>
            <a:srgbClr val="ECFDF5"/>
          </a:solidFill>
          <a:ln w="12700">
            <a:solidFill>
              <a:srgbClr val="D1FAE5"/>
            </a:solidFill>
            <a:prstDash val="solid"/>
          </a:ln>
        </p:spPr>
      </p:sp>
      <p:pic>
        <p:nvPicPr>
          <p:cNvPr id="58" name="Image 14" descr="preencoded.png">    </p:cNvPr>
          <p:cNvPicPr>
            <a:picLocks noChangeAspect="1"/>
          </p:cNvPicPr>
          <p:nvPr/>
        </p:nvPicPr>
        <p:blipFill>
          <a:blip r:embed="rId15"/>
          <a:srcRect l="-20851" r="-20851" t="0" b="0"/>
          <a:stretch/>
        </p:blipFill>
        <p:spPr>
          <a:xfrm>
            <a:off x="5695798" y="5836615"/>
            <a:ext cx="304495" cy="171907"/>
          </a:xfrm>
          <a:prstGeom prst="rect">
            <a:avLst/>
          </a:prstGeom>
        </p:spPr>
      </p:pic>
      <p:sp>
        <p:nvSpPr>
          <p:cNvPr id="59" name="Text 42"/>
          <p:cNvSpPr txBox="1"/>
          <p:nvPr/>
        </p:nvSpPr>
        <p:spPr>
          <a:xfrm>
            <a:off x="6001207" y="5750662"/>
            <a:ext cx="13002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提案と根拠のリンク</a:t>
            </a:r>
            <a:endParaRPr lang="en-US" sz="1000" dirty="0"/>
          </a:p>
        </p:txBody>
      </p:sp>
      <p:sp>
        <p:nvSpPr>
          <p:cNvPr id="60" name="Text 43"/>
          <p:cNvSpPr txBox="1"/>
          <p:nvPr/>
        </p:nvSpPr>
        <p:spPr>
          <a:xfrm>
            <a:off x="6001207" y="5931713"/>
            <a:ext cx="24862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推奨策が分析データ（事実）に基づいているか</a:t>
            </a:r>
            <a:endParaRPr lang="en-US" sz="900" dirty="0"/>
          </a:p>
        </p:txBody>
      </p:sp>
      <p:sp>
        <p:nvSpPr>
          <p:cNvPr id="61" name="Shape 44"/>
          <p:cNvSpPr/>
          <p:nvPr/>
        </p:nvSpPr>
        <p:spPr>
          <a:xfrm>
            <a:off x="0" y="0"/>
            <a:ext cx="12191695" cy="466344"/>
          </a:xfrm>
          <a:prstGeom prst="rect">
            <a:avLst/>
          </a:prstGeom>
          <a:solidFill>
            <a:srgbClr val="FFFFFF"/>
          </a:solidFill>
          <a:ln/>
        </p:spPr>
      </p:sp>
      <p:sp>
        <p:nvSpPr>
          <p:cNvPr id="62" name="Shape 45"/>
          <p:cNvSpPr/>
          <p:nvPr/>
        </p:nvSpPr>
        <p:spPr>
          <a:xfrm>
            <a:off x="0" y="457200"/>
            <a:ext cx="12191695" cy="9144"/>
          </a:xfrm>
          <a:prstGeom prst="rect">
            <a:avLst/>
          </a:prstGeom>
          <a:solidFill>
            <a:srgbClr val="E5E7EB"/>
          </a:solidFill>
          <a:ln/>
        </p:spPr>
      </p:sp>
      <p:sp>
        <p:nvSpPr>
          <p:cNvPr id="63" name="Shape 46"/>
          <p:cNvSpPr/>
          <p:nvPr/>
        </p:nvSpPr>
        <p:spPr>
          <a:xfrm>
            <a:off x="457200" y="38405"/>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64" name="Image 15" descr="preencoded.png">    </p:cNvPr>
          <p:cNvPicPr>
            <a:picLocks noChangeAspect="1"/>
          </p:cNvPicPr>
          <p:nvPr/>
        </p:nvPicPr>
        <p:blipFill>
          <a:blip r:embed="rId16"/>
          <a:srcRect l="-3120" r="-3120" t="0" b="0"/>
          <a:stretch/>
        </p:blipFill>
        <p:spPr>
          <a:xfrm>
            <a:off x="9496044" y="171907"/>
            <a:ext cx="75895" cy="114300"/>
          </a:xfrm>
          <a:prstGeom prst="rect">
            <a:avLst/>
          </a:prstGeom>
        </p:spPr>
      </p:pic>
      <p:pic>
        <p:nvPicPr>
          <p:cNvPr id="65" name="Image 16" descr="preencoded.png">    </p:cNvPr>
          <p:cNvPicPr>
            <a:picLocks noChangeAspect="1"/>
          </p:cNvPicPr>
          <p:nvPr/>
        </p:nvPicPr>
        <p:blipFill>
          <a:blip r:embed="rId17"/>
          <a:srcRect l="-3120" r="-3120" t="0" b="0"/>
          <a:stretch/>
        </p:blipFill>
        <p:spPr>
          <a:xfrm>
            <a:off x="10168128" y="171907"/>
            <a:ext cx="75895" cy="114300"/>
          </a:xfrm>
          <a:prstGeom prst="rect">
            <a:avLst/>
          </a:prstGeom>
        </p:spPr>
      </p:pic>
      <p:pic>
        <p:nvPicPr>
          <p:cNvPr id="66" name="Image 17" descr="preencoded.png">    </p:cNvPr>
          <p:cNvPicPr>
            <a:picLocks noChangeAspect="1"/>
          </p:cNvPicPr>
          <p:nvPr/>
        </p:nvPicPr>
        <p:blipFill>
          <a:blip r:embed="rId18"/>
          <a:srcRect l="-3120" r="-3120" t="0" b="0"/>
          <a:stretch/>
        </p:blipFill>
        <p:spPr>
          <a:xfrm>
            <a:off x="10828325" y="171907"/>
            <a:ext cx="75895" cy="114300"/>
          </a:xfrm>
          <a:prstGeom prst="rect">
            <a:avLst/>
          </a:prstGeom>
        </p:spPr>
      </p:pic>
      <p:pic>
        <p:nvPicPr>
          <p:cNvPr id="67" name="Image 18" descr="preencoded.png">    </p:cNvPr>
          <p:cNvPicPr>
            <a:picLocks noChangeAspect="1"/>
          </p:cNvPicPr>
          <p:nvPr/>
        </p:nvPicPr>
        <p:blipFill>
          <a:blip r:embed="rId19"/>
          <a:srcRect l="-3120" r="-3120" t="0" b="0"/>
          <a:stretch/>
        </p:blipFill>
        <p:spPr>
          <a:xfrm>
            <a:off x="11400739" y="171907"/>
            <a:ext cx="75895" cy="114300"/>
          </a:xfrm>
          <a:prstGeom prst="rect">
            <a:avLst/>
          </a:prstGeom>
        </p:spPr>
      </p:pic>
      <p:sp>
        <p:nvSpPr>
          <p:cNvPr id="68" name="Text 47"/>
          <p:cNvSpPr txBox="1"/>
          <p:nvPr/>
        </p:nvSpPr>
        <p:spPr>
          <a:xfrm>
            <a:off x="546811" y="105156"/>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04</a:t>
            </a:r>
            <a:endParaRPr lang="en-US" sz="1300" dirty="0"/>
          </a:p>
        </p:txBody>
      </p:sp>
      <p:sp>
        <p:nvSpPr>
          <p:cNvPr id="69" name="Text 48"/>
          <p:cNvSpPr txBox="1"/>
          <p:nvPr/>
        </p:nvSpPr>
        <p:spPr>
          <a:xfrm>
            <a:off x="990295" y="-9144"/>
            <a:ext cx="600761"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PHASE 4</a:t>
            </a:r>
            <a:endParaRPr lang="en-US" sz="900" dirty="0"/>
          </a:p>
        </p:txBody>
      </p:sp>
      <p:sp>
        <p:nvSpPr>
          <p:cNvPr id="70" name="Text 49"/>
          <p:cNvSpPr txBox="1"/>
          <p:nvPr/>
        </p:nvSpPr>
        <p:spPr>
          <a:xfrm>
            <a:off x="990295" y="133502"/>
            <a:ext cx="30294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制作フェーズ (2/3：P8-P19)</a:t>
            </a:r>
            <a:endParaRPr lang="en-US" sz="1800" dirty="0"/>
          </a:p>
        </p:txBody>
      </p:sp>
      <p:sp>
        <p:nvSpPr>
          <p:cNvPr id="71" name="Text 50"/>
          <p:cNvSpPr txBox="1"/>
          <p:nvPr/>
        </p:nvSpPr>
        <p:spPr>
          <a:xfrm>
            <a:off x="9009583" y="133502"/>
            <a:ext cx="5193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Define</a:t>
            </a:r>
            <a:endParaRPr lang="en-US" sz="1000" dirty="0"/>
          </a:p>
        </p:txBody>
      </p:sp>
      <p:sp>
        <p:nvSpPr>
          <p:cNvPr id="72" name="Text 51"/>
          <p:cNvSpPr txBox="1"/>
          <p:nvPr/>
        </p:nvSpPr>
        <p:spPr>
          <a:xfrm>
            <a:off x="9648749" y="133502"/>
            <a:ext cx="54772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Collect</a:t>
            </a:r>
            <a:endParaRPr lang="en-US" sz="1000" dirty="0"/>
          </a:p>
        </p:txBody>
      </p:sp>
      <p:sp>
        <p:nvSpPr>
          <p:cNvPr id="73" name="Text 52"/>
          <p:cNvSpPr txBox="1"/>
          <p:nvPr/>
        </p:nvSpPr>
        <p:spPr>
          <a:xfrm>
            <a:off x="10319918" y="133502"/>
            <a:ext cx="5385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Design</a:t>
            </a:r>
            <a:endParaRPr lang="en-US" sz="1000" dirty="0"/>
          </a:p>
        </p:txBody>
      </p:sp>
      <p:sp>
        <p:nvSpPr>
          <p:cNvPr id="74" name="Text 53"/>
          <p:cNvSpPr txBox="1"/>
          <p:nvPr/>
        </p:nvSpPr>
        <p:spPr>
          <a:xfrm>
            <a:off x="10980115" y="133502"/>
            <a:ext cx="452628"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Build</a:t>
            </a:r>
            <a:endParaRPr lang="en-US" sz="1000" dirty="0"/>
          </a:p>
        </p:txBody>
      </p:sp>
      <p:sp>
        <p:nvSpPr>
          <p:cNvPr id="75" name="Text 54"/>
          <p:cNvSpPr txBox="1"/>
          <p:nvPr/>
        </p:nvSpPr>
        <p:spPr>
          <a:xfrm>
            <a:off x="11553444" y="133502"/>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8FAFC"/>
          </a:solidFill>
          <a:ln/>
        </p:spPr>
      </p:sp>
      <p:sp>
        <p:nvSpPr>
          <p:cNvPr id="4" name="Shape 2"/>
          <p:cNvSpPr/>
          <p:nvPr/>
        </p:nvSpPr>
        <p:spPr>
          <a:xfrm>
            <a:off x="457200" y="1218895"/>
            <a:ext cx="4572000" cy="3429000"/>
          </a:xfrm>
          <a:prstGeom prst="roundRect">
            <a:avLst>
              <a:gd name="adj" fmla="val 889"/>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5" name="Image 0" descr="preencoded.png">    </p:cNvPr>
          <p:cNvPicPr>
            <a:picLocks noChangeAspect="1"/>
          </p:cNvPicPr>
          <p:nvPr/>
        </p:nvPicPr>
        <p:blipFill>
          <a:blip r:embed="rId1"/>
          <a:srcRect l="0" r="0" t="0" b="0"/>
          <a:stretch/>
        </p:blipFill>
        <p:spPr>
          <a:xfrm>
            <a:off x="694944" y="1495044"/>
            <a:ext cx="190195" cy="190195"/>
          </a:xfrm>
          <a:prstGeom prst="rect">
            <a:avLst/>
          </a:prstGeom>
        </p:spPr>
      </p:pic>
      <p:sp>
        <p:nvSpPr>
          <p:cNvPr id="6" name="Text 3"/>
          <p:cNvSpPr txBox="1"/>
          <p:nvPr/>
        </p:nvSpPr>
        <p:spPr>
          <a:xfrm>
            <a:off x="1000354" y="1447495"/>
            <a:ext cx="2467051" cy="277063"/>
          </a:xfrm>
          <a:prstGeom prst="rect">
            <a:avLst/>
          </a:prstGeom>
          <a:noFill/>
          <a:ln/>
        </p:spPr>
        <p:txBody>
          <a:bodyPr wrap="square" lIns="0" tIns="0" rIns="0" bIns="0" rtlCol="0" anchor="ctr"/>
          <a:lstStyle/>
          <a:p>
            <a:pPr algn="l" indent="0" marL="0">
              <a:buNone/>
            </a:pPr>
            <a:r>
              <a:rPr lang="en-US" sz="1500" b="1" dirty="0">
                <a:solidFill>
                  <a:srgbClr val="1E40AF"/>
                </a:solidFill>
                <a:latin typeface="Noto Sans JP" pitchFamily="34" charset="0"/>
                <a:ea typeface="Noto Sans JP" pitchFamily="34" charset="-122"/>
                <a:cs typeface="Noto Sans JP" pitchFamily="34" charset="-120"/>
              </a:rPr>
              <a:t>主要活動 (Main Activities)</a:t>
            </a:r>
            <a:endParaRPr lang="en-US" sz="1500" dirty="0"/>
          </a:p>
        </p:txBody>
      </p:sp>
      <p:sp>
        <p:nvSpPr>
          <p:cNvPr id="7" name="Shape 4"/>
          <p:cNvSpPr/>
          <p:nvPr/>
        </p:nvSpPr>
        <p:spPr>
          <a:xfrm>
            <a:off x="694944" y="1914754"/>
            <a:ext cx="228600" cy="228600"/>
          </a:xfrm>
          <a:prstGeom prst="roundRect">
            <a:avLst>
              <a:gd name="adj" fmla="val 400000"/>
            </a:avLst>
          </a:prstGeom>
          <a:solidFill>
            <a:srgbClr val="DBEAFE"/>
          </a:solidFill>
          <a:ln/>
        </p:spPr>
      </p:sp>
      <p:pic>
        <p:nvPicPr>
          <p:cNvPr id="8" name="Image 1" descr="preencoded.png">    </p:cNvPr>
          <p:cNvPicPr>
            <a:picLocks noChangeAspect="1"/>
          </p:cNvPicPr>
          <p:nvPr/>
        </p:nvPicPr>
        <p:blipFill>
          <a:blip r:embed="rId2"/>
          <a:srcRect l="-7143" r="-7143" t="0" b="0"/>
          <a:stretch/>
        </p:blipFill>
        <p:spPr>
          <a:xfrm>
            <a:off x="733349" y="1952244"/>
            <a:ext cx="152705" cy="152705"/>
          </a:xfrm>
          <a:prstGeom prst="rect">
            <a:avLst/>
          </a:prstGeom>
        </p:spPr>
      </p:pic>
      <p:sp>
        <p:nvSpPr>
          <p:cNvPr id="9" name="Text 5"/>
          <p:cNvSpPr txBox="1"/>
          <p:nvPr/>
        </p:nvSpPr>
        <p:spPr>
          <a:xfrm>
            <a:off x="1037844" y="1876349"/>
            <a:ext cx="2305202"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P20: 効果予測シミュレーション</a:t>
            </a:r>
            <a:endParaRPr lang="en-US" sz="1200" dirty="0"/>
          </a:p>
        </p:txBody>
      </p:sp>
      <p:sp>
        <p:nvSpPr>
          <p:cNvPr id="10" name="Text 6"/>
          <p:cNvSpPr txBox="1"/>
          <p:nvPr/>
        </p:nvSpPr>
        <p:spPr>
          <a:xfrm>
            <a:off x="1037844" y="2143354"/>
            <a:ext cx="25200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KPI推移（3シナリオ）を折れ線グラフ化</a:t>
            </a:r>
            <a:endParaRPr lang="en-US" sz="1000" dirty="0"/>
          </a:p>
        </p:txBody>
      </p:sp>
      <p:sp>
        <p:nvSpPr>
          <p:cNvPr id="11" name="Shape 7"/>
          <p:cNvSpPr/>
          <p:nvPr/>
        </p:nvSpPr>
        <p:spPr>
          <a:xfrm>
            <a:off x="694944" y="2523744"/>
            <a:ext cx="228600" cy="228600"/>
          </a:xfrm>
          <a:prstGeom prst="roundRect">
            <a:avLst>
              <a:gd name="adj" fmla="val 400000"/>
            </a:avLst>
          </a:prstGeom>
          <a:solidFill>
            <a:srgbClr val="DBEAFE"/>
          </a:solidFill>
          <a:ln/>
        </p:spPr>
      </p:sp>
      <p:pic>
        <p:nvPicPr>
          <p:cNvPr id="12" name="Image 2" descr="preencoded.png">    </p:cNvPr>
          <p:cNvPicPr>
            <a:picLocks noChangeAspect="1"/>
          </p:cNvPicPr>
          <p:nvPr/>
        </p:nvPicPr>
        <p:blipFill>
          <a:blip r:embed="rId3"/>
          <a:srcRect l="-7143" r="-7143" t="0" b="0"/>
          <a:stretch/>
        </p:blipFill>
        <p:spPr>
          <a:xfrm>
            <a:off x="733349" y="2562149"/>
            <a:ext cx="152705" cy="152705"/>
          </a:xfrm>
          <a:prstGeom prst="rect">
            <a:avLst/>
          </a:prstGeom>
        </p:spPr>
      </p:pic>
      <p:sp>
        <p:nvSpPr>
          <p:cNvPr id="13" name="Text 8"/>
          <p:cNvSpPr txBox="1"/>
          <p:nvPr/>
        </p:nvSpPr>
        <p:spPr>
          <a:xfrm>
            <a:off x="1037844" y="2486254"/>
            <a:ext cx="2248510"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P21-22: 実行計画と営業ツール</a:t>
            </a:r>
            <a:endParaRPr lang="en-US" sz="1200" dirty="0"/>
          </a:p>
        </p:txBody>
      </p:sp>
      <p:sp>
        <p:nvSpPr>
          <p:cNvPr id="14" name="Text 9"/>
          <p:cNvSpPr txBox="1"/>
          <p:nvPr/>
        </p:nvSpPr>
        <p:spPr>
          <a:xfrm>
            <a:off x="1037844" y="2752344"/>
            <a:ext cx="253928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90日ロードマップ &amp; アポ獲得メール生成</a:t>
            </a:r>
            <a:endParaRPr lang="en-US" sz="1000" dirty="0"/>
          </a:p>
        </p:txBody>
      </p:sp>
      <p:sp>
        <p:nvSpPr>
          <p:cNvPr id="15" name="Shape 10"/>
          <p:cNvSpPr/>
          <p:nvPr/>
        </p:nvSpPr>
        <p:spPr>
          <a:xfrm>
            <a:off x="694944" y="3133649"/>
            <a:ext cx="228600" cy="228600"/>
          </a:xfrm>
          <a:prstGeom prst="roundRect">
            <a:avLst>
              <a:gd name="adj" fmla="val 400000"/>
            </a:avLst>
          </a:prstGeom>
          <a:solidFill>
            <a:srgbClr val="DBEAFE"/>
          </a:solidFill>
          <a:ln/>
        </p:spPr>
      </p:sp>
      <p:pic>
        <p:nvPicPr>
          <p:cNvPr id="16" name="Image 3" descr="preencoded.png">    </p:cNvPr>
          <p:cNvPicPr>
            <a:picLocks noChangeAspect="1"/>
          </p:cNvPicPr>
          <p:nvPr/>
        </p:nvPicPr>
        <p:blipFill>
          <a:blip r:embed="rId4"/>
          <a:srcRect l="-7143" r="-7143" t="0" b="0"/>
          <a:stretch/>
        </p:blipFill>
        <p:spPr>
          <a:xfrm>
            <a:off x="733349" y="3172054"/>
            <a:ext cx="152705" cy="152705"/>
          </a:xfrm>
          <a:prstGeom prst="rect">
            <a:avLst/>
          </a:prstGeom>
        </p:spPr>
      </p:pic>
      <p:sp>
        <p:nvSpPr>
          <p:cNvPr id="17" name="Text 11"/>
          <p:cNvSpPr txBox="1"/>
          <p:nvPr/>
        </p:nvSpPr>
        <p:spPr>
          <a:xfrm>
            <a:off x="1037844" y="3095244"/>
            <a:ext cx="1705356" cy="228600"/>
          </a:xfrm>
          <a:prstGeom prst="rect">
            <a:avLst/>
          </a:prstGeom>
          <a:noFill/>
          <a:ln/>
        </p:spPr>
        <p:txBody>
          <a:bodyPr wrap="square" lIns="0" tIns="0" rIns="0" bIns="0" rtlCol="0" anchor="ctr"/>
          <a:lstStyle/>
          <a:p>
            <a:pPr algn="l" indent="0" marL="0">
              <a:buNone/>
            </a:pPr>
            <a:r>
              <a:rPr lang="en-US" sz="1200" b="1" dirty="0">
                <a:solidFill>
                  <a:srgbClr val="1F2937"/>
                </a:solidFill>
                <a:latin typeface="Noto Sans JP" pitchFamily="34" charset="0"/>
                <a:ea typeface="Noto Sans JP" pitchFamily="34" charset="-122"/>
                <a:cs typeface="Noto Sans JP" pitchFamily="34" charset="-120"/>
              </a:rPr>
              <a:t>P23: 付録・根拠データ</a:t>
            </a:r>
            <a:endParaRPr lang="en-US" sz="1200" dirty="0"/>
          </a:p>
        </p:txBody>
      </p:sp>
      <p:sp>
        <p:nvSpPr>
          <p:cNvPr id="18" name="Text 12"/>
          <p:cNvSpPr txBox="1"/>
          <p:nvPr/>
        </p:nvSpPr>
        <p:spPr>
          <a:xfrm>
            <a:off x="1037844" y="3362249"/>
            <a:ext cx="24908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出典URL・日付・クーポン原文・差替欄</a:t>
            </a:r>
            <a:endParaRPr lang="en-US" sz="1000" dirty="0"/>
          </a:p>
        </p:txBody>
      </p:sp>
      <p:sp>
        <p:nvSpPr>
          <p:cNvPr id="19" name="Shape 13"/>
          <p:cNvSpPr/>
          <p:nvPr/>
        </p:nvSpPr>
        <p:spPr>
          <a:xfrm>
            <a:off x="457200" y="4876495"/>
            <a:ext cx="2210105" cy="1524305"/>
          </a:xfrm>
          <a:prstGeom prst="roundRect">
            <a:avLst>
              <a:gd name="adj" fmla="val 4499"/>
            </a:avLst>
          </a:prstGeom>
          <a:solidFill>
            <a:srgbClr val="F9FAFB"/>
          </a:solidFill>
          <a:ln w="12700">
            <a:solidFill>
              <a:srgbClr val="E5E7EB"/>
            </a:solidFill>
            <a:prstDash val="solid"/>
          </a:ln>
        </p:spPr>
      </p:sp>
      <p:pic>
        <p:nvPicPr>
          <p:cNvPr id="20" name="Image 4" descr="preencoded.png">    </p:cNvPr>
          <p:cNvPicPr>
            <a:picLocks noChangeAspect="1"/>
          </p:cNvPicPr>
          <p:nvPr/>
        </p:nvPicPr>
        <p:blipFill>
          <a:blip r:embed="rId5"/>
          <a:srcRect l="0" r="0" t="0" b="0"/>
          <a:stretch/>
        </p:blipFill>
        <p:spPr>
          <a:xfrm>
            <a:off x="657454" y="5100523"/>
            <a:ext cx="114300" cy="114300"/>
          </a:xfrm>
          <a:prstGeom prst="rect">
            <a:avLst/>
          </a:prstGeom>
        </p:spPr>
      </p:pic>
      <p:sp>
        <p:nvSpPr>
          <p:cNvPr id="21" name="Text 14"/>
          <p:cNvSpPr txBox="1"/>
          <p:nvPr/>
        </p:nvSpPr>
        <p:spPr>
          <a:xfrm>
            <a:off x="809244" y="5067605"/>
            <a:ext cx="448056"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INPUT</a:t>
            </a:r>
            <a:endParaRPr lang="en-US" sz="900" dirty="0"/>
          </a:p>
        </p:txBody>
      </p:sp>
      <p:sp>
        <p:nvSpPr>
          <p:cNvPr id="22" name="Shape 15"/>
          <p:cNvSpPr/>
          <p:nvPr/>
        </p:nvSpPr>
        <p:spPr>
          <a:xfrm>
            <a:off x="657454" y="5305349"/>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3" name="Image 5" descr="preencoded.png">    </p:cNvPr>
          <p:cNvPicPr>
            <a:picLocks noChangeAspect="1"/>
          </p:cNvPicPr>
          <p:nvPr/>
        </p:nvPicPr>
        <p:blipFill>
          <a:blip r:embed="rId6"/>
          <a:srcRect l="-2512" r="-2512" t="0" b="0"/>
          <a:stretch/>
        </p:blipFill>
        <p:spPr>
          <a:xfrm>
            <a:off x="780898" y="5426964"/>
            <a:ext cx="105156" cy="133502"/>
          </a:xfrm>
          <a:prstGeom prst="rect">
            <a:avLst/>
          </a:prstGeom>
        </p:spPr>
      </p:pic>
      <p:sp>
        <p:nvSpPr>
          <p:cNvPr id="24" name="Text 16"/>
          <p:cNvSpPr txBox="1"/>
          <p:nvPr/>
        </p:nvSpPr>
        <p:spPr>
          <a:xfrm>
            <a:off x="961949" y="5391302"/>
            <a:ext cx="14337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シミュレーション条件</a:t>
            </a:r>
            <a:endParaRPr lang="en-US" sz="1000" dirty="0"/>
          </a:p>
        </p:txBody>
      </p:sp>
      <p:sp>
        <p:nvSpPr>
          <p:cNvPr id="25" name="Shape 17"/>
          <p:cNvSpPr/>
          <p:nvPr/>
        </p:nvSpPr>
        <p:spPr>
          <a:xfrm>
            <a:off x="657454" y="5743346"/>
            <a:ext cx="1809598" cy="362102"/>
          </a:xfrm>
          <a:prstGeom prst="roundRect">
            <a:avLst>
              <a:gd name="adj" fmla="val 26582"/>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6" name="Image 6" descr="preencoded.png">    </p:cNvPr>
          <p:cNvPicPr>
            <a:picLocks noChangeAspect="1"/>
          </p:cNvPicPr>
          <p:nvPr/>
        </p:nvPicPr>
        <p:blipFill>
          <a:blip r:embed="rId7"/>
          <a:srcRect l="0" r="0" t="0" b="0"/>
          <a:stretch/>
        </p:blipFill>
        <p:spPr>
          <a:xfrm>
            <a:off x="780898" y="5864962"/>
            <a:ext cx="133502" cy="133502"/>
          </a:xfrm>
          <a:prstGeom prst="rect">
            <a:avLst/>
          </a:prstGeom>
        </p:spPr>
      </p:pic>
      <p:sp>
        <p:nvSpPr>
          <p:cNvPr id="27" name="Text 18"/>
          <p:cNvSpPr txBox="1"/>
          <p:nvPr/>
        </p:nvSpPr>
        <p:spPr>
          <a:xfrm>
            <a:off x="990295" y="5829300"/>
            <a:ext cx="116768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メール文面構成案</a:t>
            </a:r>
            <a:endParaRPr lang="en-US" sz="1000" dirty="0"/>
          </a:p>
        </p:txBody>
      </p:sp>
      <p:sp>
        <p:nvSpPr>
          <p:cNvPr id="28" name="Shape 19"/>
          <p:cNvSpPr/>
          <p:nvPr/>
        </p:nvSpPr>
        <p:spPr>
          <a:xfrm>
            <a:off x="2819095" y="4876495"/>
            <a:ext cx="2210105" cy="1524305"/>
          </a:xfrm>
          <a:prstGeom prst="roundRect">
            <a:avLst>
              <a:gd name="adj" fmla="val 4499"/>
            </a:avLst>
          </a:prstGeom>
          <a:solidFill>
            <a:srgbClr val="EFF6FF"/>
          </a:solidFill>
          <a:ln w="12700">
            <a:solidFill>
              <a:srgbClr val="DBEAFE"/>
            </a:solidFill>
            <a:prstDash val="solid"/>
          </a:ln>
        </p:spPr>
      </p:sp>
      <p:sp>
        <p:nvSpPr>
          <p:cNvPr id="29" name="Shape 20"/>
          <p:cNvSpPr/>
          <p:nvPr/>
        </p:nvSpPr>
        <p:spPr>
          <a:xfrm>
            <a:off x="4410151" y="4886554"/>
            <a:ext cx="609905" cy="609905"/>
          </a:xfrm>
          <a:prstGeom prst="rect">
            <a:avLst/>
          </a:prstGeom>
          <a:solidFill>
            <a:srgbClr val="DBEAFE">
              <a:alpha val="50000"/>
            </a:srgbClr>
          </a:solidFill>
          <a:ln/>
        </p:spPr>
      </p:sp>
      <p:pic>
        <p:nvPicPr>
          <p:cNvPr id="30" name="Image 7" descr="preencoded.png">    </p:cNvPr>
          <p:cNvPicPr>
            <a:picLocks noChangeAspect="1"/>
          </p:cNvPicPr>
          <p:nvPr/>
        </p:nvPicPr>
        <p:blipFill>
          <a:blip r:embed="rId8"/>
          <a:srcRect l="0" r="0" t="0" b="0"/>
          <a:stretch/>
        </p:blipFill>
        <p:spPr>
          <a:xfrm>
            <a:off x="3019349" y="5100523"/>
            <a:ext cx="114300" cy="114300"/>
          </a:xfrm>
          <a:prstGeom prst="rect">
            <a:avLst/>
          </a:prstGeom>
        </p:spPr>
      </p:pic>
      <p:sp>
        <p:nvSpPr>
          <p:cNvPr id="31" name="Text 21"/>
          <p:cNvSpPr txBox="1"/>
          <p:nvPr/>
        </p:nvSpPr>
        <p:spPr>
          <a:xfrm>
            <a:off x="3172054" y="5067605"/>
            <a:ext cx="571500"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OUTPUT</a:t>
            </a:r>
            <a:endParaRPr lang="en-US" sz="900" dirty="0"/>
          </a:p>
        </p:txBody>
      </p:sp>
      <p:sp>
        <p:nvSpPr>
          <p:cNvPr id="32" name="Shape 22"/>
          <p:cNvSpPr/>
          <p:nvPr/>
        </p:nvSpPr>
        <p:spPr>
          <a:xfrm>
            <a:off x="5333695" y="1218895"/>
            <a:ext cx="6400800" cy="2762402"/>
          </a:xfrm>
          <a:prstGeom prst="roundRect">
            <a:avLst>
              <a:gd name="adj" fmla="val 1370"/>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33" name="Image 8" descr="preencoded.png">    </p:cNvPr>
          <p:cNvPicPr>
            <a:picLocks noChangeAspect="1"/>
          </p:cNvPicPr>
          <p:nvPr/>
        </p:nvPicPr>
        <p:blipFill>
          <a:blip r:embed="rId9"/>
          <a:srcRect l="-1282" r="-1282" t="0" b="0"/>
          <a:stretch/>
        </p:blipFill>
        <p:spPr>
          <a:xfrm>
            <a:off x="5572354" y="1495044"/>
            <a:ext cx="219456" cy="190195"/>
          </a:xfrm>
          <a:prstGeom prst="rect">
            <a:avLst/>
          </a:prstGeom>
        </p:spPr>
      </p:pic>
      <p:sp>
        <p:nvSpPr>
          <p:cNvPr id="34" name="Text 23"/>
          <p:cNvSpPr txBox="1"/>
          <p:nvPr/>
        </p:nvSpPr>
        <p:spPr>
          <a:xfrm>
            <a:off x="5905195" y="1447495"/>
            <a:ext cx="373441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指示プロンプト例 (Instruction Example)</a:t>
            </a:r>
            <a:endParaRPr lang="en-US" sz="1500" dirty="0"/>
          </a:p>
        </p:txBody>
      </p:sp>
      <p:sp>
        <p:nvSpPr>
          <p:cNvPr id="35" name="Shape 24"/>
          <p:cNvSpPr/>
          <p:nvPr/>
        </p:nvSpPr>
        <p:spPr>
          <a:xfrm>
            <a:off x="10342778" y="1476756"/>
            <a:ext cx="1162202" cy="228600"/>
          </a:xfrm>
          <a:prstGeom prst="roundRect">
            <a:avLst>
              <a:gd name="adj" fmla="val 66667"/>
            </a:avLst>
          </a:prstGeom>
          <a:solidFill>
            <a:srgbClr val="F3F4F6"/>
          </a:solidFill>
          <a:ln/>
        </p:spPr>
      </p:sp>
      <p:sp>
        <p:nvSpPr>
          <p:cNvPr id="36" name="Text 25"/>
          <p:cNvSpPr txBox="1"/>
          <p:nvPr/>
        </p:nvSpPr>
        <p:spPr>
          <a:xfrm>
            <a:off x="10418674" y="1505102"/>
            <a:ext cx="1095451"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Execution Prompt</a:t>
            </a:r>
            <a:endParaRPr lang="en-US" sz="900" dirty="0"/>
          </a:p>
        </p:txBody>
      </p:sp>
      <p:sp>
        <p:nvSpPr>
          <p:cNvPr id="37" name="Shape 26"/>
          <p:cNvSpPr/>
          <p:nvPr/>
        </p:nvSpPr>
        <p:spPr>
          <a:xfrm>
            <a:off x="5572354" y="1876349"/>
            <a:ext cx="5924398" cy="1285646"/>
          </a:xfrm>
          <a:prstGeom prst="roundRect">
            <a:avLst>
              <a:gd name="adj" fmla="val 4215"/>
            </a:avLst>
          </a:prstGeom>
          <a:solidFill>
            <a:srgbClr val="1E293B"/>
          </a:solidFill>
          <a:ln/>
        </p:spPr>
      </p:sp>
      <p:sp>
        <p:nvSpPr>
          <p:cNvPr id="38" name="Shape 27"/>
          <p:cNvSpPr/>
          <p:nvPr/>
        </p:nvSpPr>
        <p:spPr>
          <a:xfrm>
            <a:off x="5572354" y="1876349"/>
            <a:ext cx="38405" cy="1285646"/>
          </a:xfrm>
          <a:prstGeom prst="rect">
            <a:avLst/>
          </a:prstGeom>
          <a:solidFill>
            <a:srgbClr val="3B82F6"/>
          </a:solidFill>
          <a:ln/>
        </p:spPr>
      </p:sp>
      <p:sp>
        <p:nvSpPr>
          <p:cNvPr id="39" name="Text 28"/>
          <p:cNvSpPr txBox="1"/>
          <p:nvPr/>
        </p:nvSpPr>
        <p:spPr>
          <a:xfrm>
            <a:off x="5762549" y="2048256"/>
            <a:ext cx="5679338" cy="924458"/>
          </a:xfrm>
          <a:prstGeom prst="rect">
            <a:avLst/>
          </a:prstGeom>
          <a:noFill/>
          <a:ln/>
        </p:spPr>
        <p:txBody>
          <a:bodyPr wrap="square" lIns="0" tIns="0" rIns="0" bIns="0" rtlCol="0" anchor="ctr"/>
          <a:lstStyle/>
          <a:p>
            <a:pPr algn="l" indent="0" marL="0">
              <a:buNone/>
            </a:pPr>
            <a:r>
              <a:rPr lang="en-US" sz="1000" dirty="0">
                <a:solidFill>
                  <a:srgbClr val="E2E8F0"/>
                </a:solidFill>
                <a:latin typeface="Menlo" pitchFamily="34" charset="0"/>
                <a:ea typeface="Menlo" pitchFamily="34" charset="-122"/>
                <a:cs typeface="Menlo" pitchFamily="34" charset="-120"/>
              </a:rPr>
              <a:t>・効果予測：KPI（CV率・平均単価・再来率）の3シナリオ推移をChart.jsで折れ線グラフ化 ・90日ロードマップ：Week1-2→Week3→Day30→Day60→Day90のタイムライン、担当・期日・成果指標を明記 ・メール文面タブUI：4パターン（初回接触・市場機会・具体提案・データ訴求）をタブで切替、ワンクリックコピー機能実装、LINE/SMS短文版も併記 ・付録：HPB掲載URL・取得日・主要クーポン原文・比較指標定義・注意事項を記録、実データ差替え欄を用意</a:t>
            </a:r>
            <a:endParaRPr lang="en-US" sz="1000" dirty="0"/>
          </a:p>
        </p:txBody>
      </p:sp>
      <p:pic>
        <p:nvPicPr>
          <p:cNvPr id="40" name="Image 9" descr="preencoded.png">    </p:cNvPr>
          <p:cNvPicPr>
            <a:picLocks noChangeAspect="1"/>
          </p:cNvPicPr>
          <p:nvPr/>
        </p:nvPicPr>
        <p:blipFill>
          <a:blip r:embed="rId10"/>
          <a:srcRect l="0" r="0" t="0" b="0"/>
          <a:stretch/>
        </p:blipFill>
        <p:spPr>
          <a:xfrm>
            <a:off x="5572354" y="3350362"/>
            <a:ext cx="133502" cy="133502"/>
          </a:xfrm>
          <a:prstGeom prst="rect">
            <a:avLst/>
          </a:prstGeom>
        </p:spPr>
      </p:pic>
      <p:sp>
        <p:nvSpPr>
          <p:cNvPr id="41" name="Text 29"/>
          <p:cNvSpPr txBox="1"/>
          <p:nvPr/>
        </p:nvSpPr>
        <p:spPr>
          <a:xfrm>
            <a:off x="5572354" y="3314700"/>
            <a:ext cx="5958230"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動的なインタラクション（タブUI・コピー機能）や外部ライブラリ（Chart.js）の実装を具体的に指示し、実用性の高いツールを作成します。</a:t>
            </a:r>
            <a:endParaRPr lang="en-US" sz="1000" dirty="0"/>
          </a:p>
        </p:txBody>
      </p:sp>
      <p:sp>
        <p:nvSpPr>
          <p:cNvPr id="42" name="Shape 30"/>
          <p:cNvSpPr/>
          <p:nvPr/>
        </p:nvSpPr>
        <p:spPr>
          <a:xfrm>
            <a:off x="5333695" y="4205326"/>
            <a:ext cx="6400800" cy="2200046"/>
          </a:xfrm>
          <a:prstGeom prst="roundRect">
            <a:avLst>
              <a:gd name="adj" fmla="val 2159"/>
            </a:avLst>
          </a:prstGeom>
          <a:solidFill>
            <a:srgbClr val="FFFFFF"/>
          </a:solidFill>
          <a:ln w="12700">
            <a:solidFill>
              <a:srgbClr val="F3F4F6"/>
            </a:solidFill>
            <a:prstDash val="solid"/>
          </a:ln>
          <a:effectLst>
            <a:outerShdw sx="100000" sy="100000" kx="0" ky="0" algn="bl" rotWithShape="0" blurRad="139700" dist="101600" dir="5400000">
              <a:srgbClr val="000000">
                <a:alpha val="5000"/>
              </a:srgbClr>
            </a:outerShdw>
          </a:effectLst>
        </p:spPr>
      </p:sp>
      <p:pic>
        <p:nvPicPr>
          <p:cNvPr id="43" name="Image 10" descr="preencoded.png">    </p:cNvPr>
          <p:cNvPicPr>
            <a:picLocks noChangeAspect="1"/>
          </p:cNvPicPr>
          <p:nvPr/>
        </p:nvPicPr>
        <p:blipFill>
          <a:blip r:embed="rId11"/>
          <a:srcRect l="0" r="0" t="0" b="0"/>
          <a:stretch/>
        </p:blipFill>
        <p:spPr>
          <a:xfrm>
            <a:off x="5572354" y="4481474"/>
            <a:ext cx="142646" cy="190195"/>
          </a:xfrm>
          <a:prstGeom prst="rect">
            <a:avLst/>
          </a:prstGeom>
        </p:spPr>
      </p:pic>
      <p:sp>
        <p:nvSpPr>
          <p:cNvPr id="44" name="Text 31"/>
          <p:cNvSpPr txBox="1"/>
          <p:nvPr/>
        </p:nvSpPr>
        <p:spPr>
          <a:xfrm>
            <a:off x="5829300" y="4433926"/>
            <a:ext cx="2496312" cy="277063"/>
          </a:xfrm>
          <a:prstGeom prst="rect">
            <a:avLst/>
          </a:prstGeom>
          <a:noFill/>
          <a:ln/>
        </p:spPr>
        <p:txBody>
          <a:bodyPr wrap="square" lIns="0" tIns="0" rIns="0" bIns="0" rtlCol="0" anchor="ctr"/>
          <a:lstStyle/>
          <a:p>
            <a:pPr algn="l" indent="0" marL="0">
              <a:buNone/>
            </a:pPr>
            <a:r>
              <a:rPr lang="en-US" sz="1500" b="1" dirty="0">
                <a:solidFill>
                  <a:srgbClr val="047857"/>
                </a:solidFill>
                <a:latin typeface="Noto Sans JP" pitchFamily="34" charset="0"/>
                <a:ea typeface="Noto Sans JP" pitchFamily="34" charset="-122"/>
                <a:cs typeface="Noto Sans JP" pitchFamily="34" charset="-120"/>
              </a:rPr>
              <a:t>品質保証基準 (QA Criteria)</a:t>
            </a:r>
            <a:endParaRPr lang="en-US" sz="1500" dirty="0"/>
          </a:p>
        </p:txBody>
      </p:sp>
      <p:sp>
        <p:nvSpPr>
          <p:cNvPr id="45" name="Shape 32"/>
          <p:cNvSpPr/>
          <p:nvPr/>
        </p:nvSpPr>
        <p:spPr>
          <a:xfrm>
            <a:off x="5572354" y="4862779"/>
            <a:ext cx="2905049" cy="590702"/>
          </a:xfrm>
          <a:prstGeom prst="roundRect">
            <a:avLst>
              <a:gd name="adj" fmla="val 19974"/>
            </a:avLst>
          </a:prstGeom>
          <a:solidFill>
            <a:srgbClr val="ECFDF5"/>
          </a:solidFill>
          <a:ln w="12700">
            <a:solidFill>
              <a:srgbClr val="D1FAE5"/>
            </a:solidFill>
            <a:prstDash val="solid"/>
          </a:ln>
        </p:spPr>
      </p:sp>
      <p:pic>
        <p:nvPicPr>
          <p:cNvPr id="46" name="Image 11" descr="preencoded.png">    </p:cNvPr>
          <p:cNvPicPr>
            <a:picLocks noChangeAspect="1"/>
          </p:cNvPicPr>
          <p:nvPr/>
        </p:nvPicPr>
        <p:blipFill>
          <a:blip r:embed="rId12"/>
          <a:srcRect l="-38564" r="-38564" t="0" b="0"/>
          <a:stretch/>
        </p:blipFill>
        <p:spPr>
          <a:xfrm>
            <a:off x="5695798" y="5072177"/>
            <a:ext cx="304495" cy="171907"/>
          </a:xfrm>
          <a:prstGeom prst="rect">
            <a:avLst/>
          </a:prstGeom>
        </p:spPr>
      </p:pic>
      <p:sp>
        <p:nvSpPr>
          <p:cNvPr id="47" name="Text 33"/>
          <p:cNvSpPr txBox="1"/>
          <p:nvPr/>
        </p:nvSpPr>
        <p:spPr>
          <a:xfrm>
            <a:off x="6001207" y="4986223"/>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仮定条件の明示</a:t>
            </a:r>
            <a:endParaRPr lang="en-US" sz="1000" dirty="0"/>
          </a:p>
        </p:txBody>
      </p:sp>
      <p:sp>
        <p:nvSpPr>
          <p:cNvPr id="48" name="Text 34"/>
          <p:cNvSpPr txBox="1"/>
          <p:nvPr/>
        </p:nvSpPr>
        <p:spPr>
          <a:xfrm>
            <a:off x="6001207" y="5167274"/>
            <a:ext cx="15718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シミュレーション前提の記載</a:t>
            </a:r>
            <a:endParaRPr lang="en-US" sz="900" dirty="0"/>
          </a:p>
        </p:txBody>
      </p:sp>
      <p:sp>
        <p:nvSpPr>
          <p:cNvPr id="49" name="Shape 35"/>
          <p:cNvSpPr/>
          <p:nvPr/>
        </p:nvSpPr>
        <p:spPr>
          <a:xfrm>
            <a:off x="8591702" y="4862779"/>
            <a:ext cx="2905049" cy="590702"/>
          </a:xfrm>
          <a:prstGeom prst="roundRect">
            <a:avLst>
              <a:gd name="adj" fmla="val 19974"/>
            </a:avLst>
          </a:prstGeom>
          <a:solidFill>
            <a:srgbClr val="ECFDF5"/>
          </a:solidFill>
          <a:ln w="12700">
            <a:solidFill>
              <a:srgbClr val="D1FAE5"/>
            </a:solidFill>
            <a:prstDash val="solid"/>
          </a:ln>
        </p:spPr>
      </p:sp>
      <p:pic>
        <p:nvPicPr>
          <p:cNvPr id="50" name="Image 12" descr="preencoded.png">    </p:cNvPr>
          <p:cNvPicPr>
            <a:picLocks noChangeAspect="1"/>
          </p:cNvPicPr>
          <p:nvPr/>
        </p:nvPicPr>
        <p:blipFill>
          <a:blip r:embed="rId13"/>
          <a:srcRect l="-38564" r="-38564" t="0" b="0"/>
          <a:stretch/>
        </p:blipFill>
        <p:spPr>
          <a:xfrm>
            <a:off x="8715146" y="5072177"/>
            <a:ext cx="304495" cy="171907"/>
          </a:xfrm>
          <a:prstGeom prst="rect">
            <a:avLst/>
          </a:prstGeom>
        </p:spPr>
      </p:pic>
      <p:sp>
        <p:nvSpPr>
          <p:cNvPr id="51" name="Text 36"/>
          <p:cNvSpPr txBox="1"/>
          <p:nvPr/>
        </p:nvSpPr>
        <p:spPr>
          <a:xfrm>
            <a:off x="9020556" y="4986223"/>
            <a:ext cx="10341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時系列の一貫性</a:t>
            </a:r>
            <a:endParaRPr lang="en-US" sz="1000" dirty="0"/>
          </a:p>
        </p:txBody>
      </p:sp>
      <p:sp>
        <p:nvSpPr>
          <p:cNvPr id="52" name="Text 37"/>
          <p:cNvSpPr txBox="1"/>
          <p:nvPr/>
        </p:nvSpPr>
        <p:spPr>
          <a:xfrm>
            <a:off x="9020556" y="5167274"/>
            <a:ext cx="14676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ロードマップの日付整合性</a:t>
            </a:r>
            <a:endParaRPr lang="en-US" sz="900" dirty="0"/>
          </a:p>
        </p:txBody>
      </p:sp>
      <p:sp>
        <p:nvSpPr>
          <p:cNvPr id="53" name="Shape 38"/>
          <p:cNvSpPr/>
          <p:nvPr/>
        </p:nvSpPr>
        <p:spPr>
          <a:xfrm>
            <a:off x="5572354" y="5567782"/>
            <a:ext cx="2905049" cy="590702"/>
          </a:xfrm>
          <a:prstGeom prst="roundRect">
            <a:avLst>
              <a:gd name="adj" fmla="val 19974"/>
            </a:avLst>
          </a:prstGeom>
          <a:solidFill>
            <a:srgbClr val="ECFDF5"/>
          </a:solidFill>
          <a:ln w="12700">
            <a:solidFill>
              <a:srgbClr val="D1FAE5"/>
            </a:solidFill>
            <a:prstDash val="solid"/>
          </a:ln>
        </p:spPr>
      </p:sp>
      <p:pic>
        <p:nvPicPr>
          <p:cNvPr id="54" name="Image 13" descr="preencoded.png">    </p:cNvPr>
          <p:cNvPicPr>
            <a:picLocks noChangeAspect="1"/>
          </p:cNvPicPr>
          <p:nvPr/>
        </p:nvPicPr>
        <p:blipFill>
          <a:blip r:embed="rId14"/>
          <a:srcRect l="-91702" r="-91702" t="0" b="0"/>
          <a:stretch/>
        </p:blipFill>
        <p:spPr>
          <a:xfrm>
            <a:off x="5695798" y="5777179"/>
            <a:ext cx="304495" cy="171907"/>
          </a:xfrm>
          <a:prstGeom prst="rect">
            <a:avLst/>
          </a:prstGeom>
        </p:spPr>
      </p:pic>
      <p:sp>
        <p:nvSpPr>
          <p:cNvPr id="55" name="Text 39"/>
          <p:cNvSpPr txBox="1"/>
          <p:nvPr/>
        </p:nvSpPr>
        <p:spPr>
          <a:xfrm>
            <a:off x="6001207" y="5691226"/>
            <a:ext cx="872338"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UX/機能動作</a:t>
            </a:r>
            <a:endParaRPr lang="en-US" sz="1000" dirty="0"/>
          </a:p>
        </p:txBody>
      </p:sp>
      <p:sp>
        <p:nvSpPr>
          <p:cNvPr id="56" name="Text 40"/>
          <p:cNvSpPr txBox="1"/>
          <p:nvPr/>
        </p:nvSpPr>
        <p:spPr>
          <a:xfrm>
            <a:off x="6001207" y="5872277"/>
            <a:ext cx="15819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コピー機能・タブ切替の動作</a:t>
            </a:r>
            <a:endParaRPr lang="en-US" sz="900" dirty="0"/>
          </a:p>
        </p:txBody>
      </p:sp>
      <p:sp>
        <p:nvSpPr>
          <p:cNvPr id="57" name="Shape 41"/>
          <p:cNvSpPr/>
          <p:nvPr/>
        </p:nvSpPr>
        <p:spPr>
          <a:xfrm>
            <a:off x="8591702" y="5567782"/>
            <a:ext cx="2905049" cy="590702"/>
          </a:xfrm>
          <a:prstGeom prst="roundRect">
            <a:avLst>
              <a:gd name="adj" fmla="val 19974"/>
            </a:avLst>
          </a:prstGeom>
          <a:solidFill>
            <a:srgbClr val="ECFDF5"/>
          </a:solidFill>
          <a:ln w="12700">
            <a:solidFill>
              <a:srgbClr val="D1FAE5"/>
            </a:solidFill>
            <a:prstDash val="solid"/>
          </a:ln>
        </p:spPr>
      </p:sp>
      <p:pic>
        <p:nvPicPr>
          <p:cNvPr id="58" name="Image 14" descr="preencoded.png">    </p:cNvPr>
          <p:cNvPicPr>
            <a:picLocks noChangeAspect="1"/>
          </p:cNvPicPr>
          <p:nvPr/>
        </p:nvPicPr>
        <p:blipFill>
          <a:blip r:embed="rId15"/>
          <a:srcRect l="-51216" r="-51216" t="0" b="0"/>
          <a:stretch/>
        </p:blipFill>
        <p:spPr>
          <a:xfrm>
            <a:off x="8715146" y="5777179"/>
            <a:ext cx="304495" cy="171907"/>
          </a:xfrm>
          <a:prstGeom prst="rect">
            <a:avLst/>
          </a:prstGeom>
        </p:spPr>
      </p:pic>
      <p:sp>
        <p:nvSpPr>
          <p:cNvPr id="59" name="Text 42"/>
          <p:cNvSpPr txBox="1"/>
          <p:nvPr/>
        </p:nvSpPr>
        <p:spPr>
          <a:xfrm>
            <a:off x="9020556" y="5691226"/>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出典の記録</a:t>
            </a:r>
            <a:endParaRPr lang="en-US" sz="1000" dirty="0"/>
          </a:p>
        </p:txBody>
      </p:sp>
      <p:sp>
        <p:nvSpPr>
          <p:cNvPr id="60" name="Text 43"/>
          <p:cNvSpPr txBox="1"/>
          <p:nvPr/>
        </p:nvSpPr>
        <p:spPr>
          <a:xfrm>
            <a:off x="9020556" y="5872277"/>
            <a:ext cx="14676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データ取得元・日時の明記</a:t>
            </a:r>
            <a:endParaRPr lang="en-US" sz="900" dirty="0"/>
          </a:p>
        </p:txBody>
      </p:sp>
      <p:sp>
        <p:nvSpPr>
          <p:cNvPr id="61" name="Shape 44"/>
          <p:cNvSpPr/>
          <p:nvPr/>
        </p:nvSpPr>
        <p:spPr>
          <a:xfrm>
            <a:off x="0" y="0"/>
            <a:ext cx="12191695" cy="761695"/>
          </a:xfrm>
          <a:prstGeom prst="rect">
            <a:avLst/>
          </a:prstGeom>
          <a:solidFill>
            <a:srgbClr val="FFFFFF"/>
          </a:solidFill>
          <a:ln/>
        </p:spPr>
      </p:sp>
      <p:sp>
        <p:nvSpPr>
          <p:cNvPr id="62" name="Shape 45"/>
          <p:cNvSpPr/>
          <p:nvPr/>
        </p:nvSpPr>
        <p:spPr>
          <a:xfrm>
            <a:off x="0" y="752551"/>
            <a:ext cx="12191695" cy="9144"/>
          </a:xfrm>
          <a:prstGeom prst="rect">
            <a:avLst/>
          </a:prstGeom>
          <a:solidFill>
            <a:srgbClr val="E5E7EB"/>
          </a:solidFill>
          <a:ln/>
        </p:spPr>
      </p:sp>
      <p:sp>
        <p:nvSpPr>
          <p:cNvPr id="63" name="Shape 46"/>
          <p:cNvSpPr/>
          <p:nvPr/>
        </p:nvSpPr>
        <p:spPr>
          <a:xfrm>
            <a:off x="457200" y="185623"/>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64" name="Image 15" descr="preencoded.png">    </p:cNvPr>
          <p:cNvPicPr>
            <a:picLocks noChangeAspect="1"/>
          </p:cNvPicPr>
          <p:nvPr/>
        </p:nvPicPr>
        <p:blipFill>
          <a:blip r:embed="rId16"/>
          <a:srcRect l="-3120" r="-3120" t="0" b="0"/>
          <a:stretch/>
        </p:blipFill>
        <p:spPr>
          <a:xfrm>
            <a:off x="9496044" y="319126"/>
            <a:ext cx="75895" cy="114300"/>
          </a:xfrm>
          <a:prstGeom prst="rect">
            <a:avLst/>
          </a:prstGeom>
        </p:spPr>
      </p:pic>
      <p:pic>
        <p:nvPicPr>
          <p:cNvPr id="65" name="Image 16" descr="preencoded.png">    </p:cNvPr>
          <p:cNvPicPr>
            <a:picLocks noChangeAspect="1"/>
          </p:cNvPicPr>
          <p:nvPr/>
        </p:nvPicPr>
        <p:blipFill>
          <a:blip r:embed="rId17"/>
          <a:srcRect l="-3120" r="-3120" t="0" b="0"/>
          <a:stretch/>
        </p:blipFill>
        <p:spPr>
          <a:xfrm>
            <a:off x="10168128" y="319126"/>
            <a:ext cx="75895" cy="114300"/>
          </a:xfrm>
          <a:prstGeom prst="rect">
            <a:avLst/>
          </a:prstGeom>
        </p:spPr>
      </p:pic>
      <p:pic>
        <p:nvPicPr>
          <p:cNvPr id="66" name="Image 17" descr="preencoded.png">    </p:cNvPr>
          <p:cNvPicPr>
            <a:picLocks noChangeAspect="1"/>
          </p:cNvPicPr>
          <p:nvPr/>
        </p:nvPicPr>
        <p:blipFill>
          <a:blip r:embed="rId18"/>
          <a:srcRect l="-3120" r="-3120" t="0" b="0"/>
          <a:stretch/>
        </p:blipFill>
        <p:spPr>
          <a:xfrm>
            <a:off x="10828325" y="319126"/>
            <a:ext cx="75895" cy="114300"/>
          </a:xfrm>
          <a:prstGeom prst="rect">
            <a:avLst/>
          </a:prstGeom>
        </p:spPr>
      </p:pic>
      <p:pic>
        <p:nvPicPr>
          <p:cNvPr id="67" name="Image 18" descr="preencoded.png">    </p:cNvPr>
          <p:cNvPicPr>
            <a:picLocks noChangeAspect="1"/>
          </p:cNvPicPr>
          <p:nvPr/>
        </p:nvPicPr>
        <p:blipFill>
          <a:blip r:embed="rId19"/>
          <a:srcRect l="-3120" r="-3120" t="0" b="0"/>
          <a:stretch/>
        </p:blipFill>
        <p:spPr>
          <a:xfrm>
            <a:off x="11400739" y="319126"/>
            <a:ext cx="75895" cy="114300"/>
          </a:xfrm>
          <a:prstGeom prst="rect">
            <a:avLst/>
          </a:prstGeom>
        </p:spPr>
      </p:pic>
      <p:sp>
        <p:nvSpPr>
          <p:cNvPr id="68" name="Text 47"/>
          <p:cNvSpPr txBox="1"/>
          <p:nvPr/>
        </p:nvSpPr>
        <p:spPr>
          <a:xfrm>
            <a:off x="546811" y="252374"/>
            <a:ext cx="338328"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04</a:t>
            </a:r>
            <a:endParaRPr lang="en-US" sz="1300" dirty="0"/>
          </a:p>
        </p:txBody>
      </p:sp>
      <p:sp>
        <p:nvSpPr>
          <p:cNvPr id="69" name="Text 48"/>
          <p:cNvSpPr txBox="1"/>
          <p:nvPr/>
        </p:nvSpPr>
        <p:spPr>
          <a:xfrm>
            <a:off x="990295" y="138074"/>
            <a:ext cx="600761"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PHASE 4</a:t>
            </a:r>
            <a:endParaRPr lang="en-US" sz="900" dirty="0"/>
          </a:p>
        </p:txBody>
      </p:sp>
      <p:sp>
        <p:nvSpPr>
          <p:cNvPr id="70" name="Text 49"/>
          <p:cNvSpPr txBox="1"/>
          <p:nvPr/>
        </p:nvSpPr>
        <p:spPr>
          <a:xfrm>
            <a:off x="990295" y="280721"/>
            <a:ext cx="4534510"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制作（3/3）：効果予測・営業ツール・付録</a:t>
            </a:r>
            <a:endParaRPr lang="en-US" sz="1800" dirty="0"/>
          </a:p>
        </p:txBody>
      </p:sp>
      <p:sp>
        <p:nvSpPr>
          <p:cNvPr id="71" name="Text 50"/>
          <p:cNvSpPr txBox="1"/>
          <p:nvPr/>
        </p:nvSpPr>
        <p:spPr>
          <a:xfrm>
            <a:off x="9009583" y="280721"/>
            <a:ext cx="5193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Define</a:t>
            </a:r>
            <a:endParaRPr lang="en-US" sz="1000" dirty="0"/>
          </a:p>
        </p:txBody>
      </p:sp>
      <p:sp>
        <p:nvSpPr>
          <p:cNvPr id="72" name="Text 51"/>
          <p:cNvSpPr txBox="1"/>
          <p:nvPr/>
        </p:nvSpPr>
        <p:spPr>
          <a:xfrm>
            <a:off x="9648749" y="280721"/>
            <a:ext cx="54772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Collect</a:t>
            </a:r>
            <a:endParaRPr lang="en-US" sz="1000" dirty="0"/>
          </a:p>
        </p:txBody>
      </p:sp>
      <p:sp>
        <p:nvSpPr>
          <p:cNvPr id="73" name="Text 52"/>
          <p:cNvSpPr txBox="1"/>
          <p:nvPr/>
        </p:nvSpPr>
        <p:spPr>
          <a:xfrm>
            <a:off x="10319918" y="280721"/>
            <a:ext cx="5385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Design</a:t>
            </a:r>
            <a:endParaRPr lang="en-US" sz="1000" dirty="0"/>
          </a:p>
        </p:txBody>
      </p:sp>
      <p:sp>
        <p:nvSpPr>
          <p:cNvPr id="74" name="Text 53"/>
          <p:cNvSpPr txBox="1"/>
          <p:nvPr/>
        </p:nvSpPr>
        <p:spPr>
          <a:xfrm>
            <a:off x="10980115" y="280721"/>
            <a:ext cx="452628"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Build</a:t>
            </a:r>
            <a:endParaRPr lang="en-US" sz="1000" dirty="0"/>
          </a:p>
        </p:txBody>
      </p:sp>
      <p:sp>
        <p:nvSpPr>
          <p:cNvPr id="75" name="Text 54"/>
          <p:cNvSpPr txBox="1"/>
          <p:nvPr/>
        </p:nvSpPr>
        <p:spPr>
          <a:xfrm>
            <a:off x="11553444" y="280721"/>
            <a:ext cx="290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QA</a:t>
            </a:r>
            <a:endParaRPr lang="en-US" sz="1000" dirty="0"/>
          </a:p>
        </p:txBody>
      </p:sp>
      <p:sp>
        <p:nvSpPr>
          <p:cNvPr id="76" name="Shape 55"/>
          <p:cNvSpPr/>
          <p:nvPr/>
        </p:nvSpPr>
        <p:spPr>
          <a:xfrm>
            <a:off x="3019349" y="5305349"/>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sp>
        <p:nvSpPr>
          <p:cNvPr id="77" name="Shape 56"/>
          <p:cNvSpPr/>
          <p:nvPr/>
        </p:nvSpPr>
        <p:spPr>
          <a:xfrm>
            <a:off x="3019349" y="5743346"/>
            <a:ext cx="1809598" cy="362102"/>
          </a:xfrm>
          <a:prstGeom prst="roundRect">
            <a:avLst>
              <a:gd name="adj" fmla="val 26582"/>
            </a:avLst>
          </a:prstGeom>
          <a:solidFill>
            <a:srgbClr val="FFFFFF"/>
          </a:solidFill>
          <a:ln w="12700">
            <a:solidFill>
              <a:srgbClr val="BFDBFE"/>
            </a:solidFill>
            <a:prstDash val="solid"/>
          </a:ln>
          <a:effectLst>
            <a:outerShdw sx="100000" sy="100000" kx="0" ky="0" algn="bl" rotWithShape="0" blurRad="12700" dist="12700" dir="16200000">
              <a:srgbClr val="000000">
                <a:alpha val="75000"/>
              </a:srgbClr>
            </a:outerShdw>
          </a:effectLst>
        </p:spPr>
      </p:sp>
      <p:pic>
        <p:nvPicPr>
          <p:cNvPr id="78" name="Image 19" descr="preencoded.png">    </p:cNvPr>
          <p:cNvPicPr>
            <a:picLocks noChangeAspect="1"/>
          </p:cNvPicPr>
          <p:nvPr/>
        </p:nvPicPr>
        <p:blipFill>
          <a:blip r:embed="rId20"/>
          <a:srcRect l="0" r="0" t="0" b="0"/>
          <a:stretch/>
        </p:blipFill>
        <p:spPr>
          <a:xfrm>
            <a:off x="3143707" y="5426964"/>
            <a:ext cx="133502" cy="133502"/>
          </a:xfrm>
          <a:prstGeom prst="rect">
            <a:avLst/>
          </a:prstGeom>
        </p:spPr>
      </p:pic>
      <p:sp>
        <p:nvSpPr>
          <p:cNvPr id="79" name="Text 57"/>
          <p:cNvSpPr txBox="1"/>
          <p:nvPr/>
        </p:nvSpPr>
        <p:spPr>
          <a:xfrm>
            <a:off x="3353105" y="5391302"/>
            <a:ext cx="1034186"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効果予測グラフ</a:t>
            </a:r>
            <a:endParaRPr lang="en-US" sz="1000" dirty="0"/>
          </a:p>
        </p:txBody>
      </p:sp>
      <p:pic>
        <p:nvPicPr>
          <p:cNvPr id="80" name="Image 20" descr="preencoded.png">    </p:cNvPr>
          <p:cNvPicPr>
            <a:picLocks noChangeAspect="1"/>
          </p:cNvPicPr>
          <p:nvPr/>
        </p:nvPicPr>
        <p:blipFill>
          <a:blip r:embed="rId21"/>
          <a:srcRect l="-1507" r="-1507" t="0" b="0"/>
          <a:stretch/>
        </p:blipFill>
        <p:spPr>
          <a:xfrm>
            <a:off x="3143707" y="5864962"/>
            <a:ext cx="171907" cy="133502"/>
          </a:xfrm>
          <a:prstGeom prst="rect">
            <a:avLst/>
          </a:prstGeom>
        </p:spPr>
      </p:pic>
      <p:sp>
        <p:nvSpPr>
          <p:cNvPr id="81" name="Text 58"/>
          <p:cNvSpPr txBox="1"/>
          <p:nvPr/>
        </p:nvSpPr>
        <p:spPr>
          <a:xfrm>
            <a:off x="3390595" y="5829300"/>
            <a:ext cx="1185977" cy="191110"/>
          </a:xfrm>
          <a:prstGeom prst="rect">
            <a:avLst/>
          </a:prstGeom>
          <a:noFill/>
          <a:ln/>
        </p:spPr>
        <p:txBody>
          <a:bodyPr wrap="square" lIns="0" tIns="0" rIns="0" bIns="0" rtlCol="0" anchor="ctr"/>
          <a:lstStyle/>
          <a:p>
            <a:pPr algn="l" indent="0" marL="0">
              <a:buNone/>
            </a:pPr>
            <a:r>
              <a:rPr lang="en-US" sz="1000" b="1" dirty="0">
                <a:solidFill>
                  <a:srgbClr val="1D4ED8"/>
                </a:solidFill>
                <a:latin typeface="Noto Sans JP" pitchFamily="34" charset="0"/>
                <a:ea typeface="Noto Sans JP" pitchFamily="34" charset="-122"/>
                <a:cs typeface="Noto Sans JP" pitchFamily="34" charset="-120"/>
              </a:rPr>
              <a:t>メール生成タブUI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972007"/>
            <a:ext cx="4105656"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スライド生成システム 使用ツール一覧</a:t>
            </a:r>
            <a:endParaRPr lang="en-US" sz="1800" dirty="0"/>
          </a:p>
        </p:txBody>
      </p:sp>
      <p:sp>
        <p:nvSpPr>
          <p:cNvPr id="6" name="Text 4"/>
          <p:cNvSpPr txBox="1"/>
          <p:nvPr/>
        </p:nvSpPr>
        <p:spPr>
          <a:xfrm>
            <a:off x="609905" y="1333195"/>
            <a:ext cx="583478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各フェーズで使用された主要ツールと機能の定義。再現性と透明性を担保するための構成要素。</a:t>
            </a:r>
            <a:endParaRPr lang="en-US" sz="1000" dirty="0"/>
          </a:p>
        </p:txBody>
      </p:sp>
      <p:sp>
        <p:nvSpPr>
          <p:cNvPr id="7" name="Shape 5"/>
          <p:cNvSpPr/>
          <p:nvPr/>
        </p:nvSpPr>
        <p:spPr>
          <a:xfrm>
            <a:off x="9886493" y="1276502"/>
            <a:ext cx="1705356" cy="247802"/>
          </a:xfrm>
          <a:prstGeom prst="roundRect">
            <a:avLst>
              <a:gd name="adj" fmla="val 369004"/>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8" name="Image 0" descr="preencoded.png">    </p:cNvPr>
          <p:cNvPicPr>
            <a:picLocks noChangeAspect="1"/>
          </p:cNvPicPr>
          <p:nvPr/>
        </p:nvPicPr>
        <p:blipFill>
          <a:blip r:embed="rId1"/>
          <a:srcRect l="0" r="0" t="0" b="0"/>
          <a:stretch/>
        </p:blipFill>
        <p:spPr>
          <a:xfrm>
            <a:off x="10010851" y="1343254"/>
            <a:ext cx="114300" cy="114300"/>
          </a:xfrm>
          <a:prstGeom prst="rect">
            <a:avLst/>
          </a:prstGeom>
        </p:spPr>
      </p:pic>
      <p:sp>
        <p:nvSpPr>
          <p:cNvPr id="9" name="Text 6"/>
          <p:cNvSpPr txBox="1"/>
          <p:nvPr/>
        </p:nvSpPr>
        <p:spPr>
          <a:xfrm>
            <a:off x="10201046" y="1314907"/>
            <a:ext cx="13533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全ログ保存・再実行可能</a:t>
            </a:r>
            <a:endParaRPr lang="en-US" sz="900" dirty="0"/>
          </a:p>
        </p:txBody>
      </p:sp>
      <p:sp>
        <p:nvSpPr>
          <p:cNvPr id="10" name="Shape 7"/>
          <p:cNvSpPr/>
          <p:nvPr/>
        </p:nvSpPr>
        <p:spPr>
          <a:xfrm>
            <a:off x="609905" y="1676095"/>
            <a:ext cx="10972800" cy="4953305"/>
          </a:xfrm>
          <a:prstGeom prst="roundRect">
            <a:avLst>
              <a:gd name="adj" fmla="val 426"/>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1" name="Shape 8"/>
          <p:cNvSpPr/>
          <p:nvPr/>
        </p:nvSpPr>
        <p:spPr>
          <a:xfrm>
            <a:off x="619049" y="1686154"/>
            <a:ext cx="2029054" cy="381305"/>
          </a:xfrm>
          <a:prstGeom prst="rect">
            <a:avLst/>
          </a:prstGeom>
          <a:solidFill>
            <a:srgbClr val="F8FAFC"/>
          </a:solidFill>
          <a:ln/>
        </p:spPr>
      </p:sp>
      <p:sp>
        <p:nvSpPr>
          <p:cNvPr id="12" name="Shape 9"/>
          <p:cNvSpPr/>
          <p:nvPr/>
        </p:nvSpPr>
        <p:spPr>
          <a:xfrm>
            <a:off x="619049" y="2048256"/>
            <a:ext cx="2029054" cy="19202"/>
          </a:xfrm>
          <a:prstGeom prst="rect">
            <a:avLst/>
          </a:prstGeom>
          <a:solidFill>
            <a:srgbClr val="E2E8F0"/>
          </a:solidFill>
          <a:ln/>
        </p:spPr>
      </p:sp>
      <p:sp>
        <p:nvSpPr>
          <p:cNvPr id="13" name="Text 10"/>
          <p:cNvSpPr txBox="1"/>
          <p:nvPr/>
        </p:nvSpPr>
        <p:spPr>
          <a:xfrm>
            <a:off x="771754" y="1781251"/>
            <a:ext cx="1162202" cy="162763"/>
          </a:xfrm>
          <a:prstGeom prst="rect">
            <a:avLst/>
          </a:prstGeom>
          <a:noFill/>
          <a:ln/>
        </p:spPr>
        <p:txBody>
          <a:bodyPr wrap="square" lIns="0" tIns="0" rIns="0" bIns="0" rtlCol="0" anchor="ctr"/>
          <a:lstStyle/>
          <a:p>
            <a:pPr algn="l" indent="0" marL="0">
              <a:buNone/>
            </a:pPr>
            <a:r>
              <a:rPr lang="en-US" sz="900" b="1" dirty="0">
                <a:solidFill>
                  <a:srgbClr val="64748B"/>
                </a:solidFill>
                <a:latin typeface="Noto Sans JP" pitchFamily="34" charset="0"/>
                <a:ea typeface="Noto Sans JP" pitchFamily="34" charset="-122"/>
                <a:cs typeface="Noto Sans JP" pitchFamily="34" charset="-120"/>
              </a:rPr>
              <a:t>ツール名 / カテゴリ</a:t>
            </a:r>
            <a:endParaRPr lang="en-US" sz="900" dirty="0"/>
          </a:p>
        </p:txBody>
      </p:sp>
      <p:sp>
        <p:nvSpPr>
          <p:cNvPr id="14" name="Shape 11"/>
          <p:cNvSpPr/>
          <p:nvPr/>
        </p:nvSpPr>
        <p:spPr>
          <a:xfrm>
            <a:off x="2647188" y="1686154"/>
            <a:ext cx="2029054" cy="381305"/>
          </a:xfrm>
          <a:prstGeom prst="rect">
            <a:avLst/>
          </a:prstGeom>
          <a:solidFill>
            <a:srgbClr val="F8FAFC"/>
          </a:solidFill>
          <a:ln/>
        </p:spPr>
      </p:sp>
      <p:sp>
        <p:nvSpPr>
          <p:cNvPr id="15" name="Shape 12"/>
          <p:cNvSpPr/>
          <p:nvPr/>
        </p:nvSpPr>
        <p:spPr>
          <a:xfrm>
            <a:off x="2647188" y="2048256"/>
            <a:ext cx="2029054" cy="19202"/>
          </a:xfrm>
          <a:prstGeom prst="rect">
            <a:avLst/>
          </a:prstGeom>
          <a:solidFill>
            <a:srgbClr val="E2E8F0"/>
          </a:solidFill>
          <a:ln/>
        </p:spPr>
      </p:sp>
      <p:sp>
        <p:nvSpPr>
          <p:cNvPr id="16" name="Text 13"/>
          <p:cNvSpPr txBox="1"/>
          <p:nvPr/>
        </p:nvSpPr>
        <p:spPr>
          <a:xfrm>
            <a:off x="2799893" y="1781251"/>
            <a:ext cx="571500" cy="162763"/>
          </a:xfrm>
          <a:prstGeom prst="rect">
            <a:avLst/>
          </a:prstGeom>
          <a:noFill/>
          <a:ln/>
        </p:spPr>
        <p:txBody>
          <a:bodyPr wrap="square" lIns="0" tIns="0" rIns="0" bIns="0" rtlCol="0" anchor="ctr"/>
          <a:lstStyle/>
          <a:p>
            <a:pPr algn="l" indent="0" marL="0">
              <a:buNone/>
            </a:pPr>
            <a:r>
              <a:rPr lang="en-US" sz="900" b="1" dirty="0">
                <a:solidFill>
                  <a:srgbClr val="64748B"/>
                </a:solidFill>
                <a:latin typeface="Noto Sans JP" pitchFamily="34" charset="0"/>
                <a:ea typeface="Noto Sans JP" pitchFamily="34" charset="-122"/>
                <a:cs typeface="Noto Sans JP" pitchFamily="34" charset="-120"/>
              </a:rPr>
              <a:t>機能概要</a:t>
            </a:r>
            <a:endParaRPr lang="en-US" sz="900" dirty="0"/>
          </a:p>
        </p:txBody>
      </p:sp>
      <p:sp>
        <p:nvSpPr>
          <p:cNvPr id="17" name="Shape 14"/>
          <p:cNvSpPr/>
          <p:nvPr/>
        </p:nvSpPr>
        <p:spPr>
          <a:xfrm>
            <a:off x="4676242" y="1686154"/>
            <a:ext cx="2438705" cy="381305"/>
          </a:xfrm>
          <a:prstGeom prst="rect">
            <a:avLst/>
          </a:prstGeom>
          <a:solidFill>
            <a:srgbClr val="F8FAFC"/>
          </a:solidFill>
          <a:ln/>
        </p:spPr>
      </p:sp>
      <p:sp>
        <p:nvSpPr>
          <p:cNvPr id="18" name="Shape 15"/>
          <p:cNvSpPr/>
          <p:nvPr/>
        </p:nvSpPr>
        <p:spPr>
          <a:xfrm>
            <a:off x="4676242" y="2048256"/>
            <a:ext cx="2438705" cy="19202"/>
          </a:xfrm>
          <a:prstGeom prst="rect">
            <a:avLst/>
          </a:prstGeom>
          <a:solidFill>
            <a:srgbClr val="E2E8F0"/>
          </a:solidFill>
          <a:ln/>
        </p:spPr>
      </p:sp>
      <p:sp>
        <p:nvSpPr>
          <p:cNvPr id="19" name="Text 16"/>
          <p:cNvSpPr txBox="1"/>
          <p:nvPr/>
        </p:nvSpPr>
        <p:spPr>
          <a:xfrm>
            <a:off x="4828032" y="1781251"/>
            <a:ext cx="1209751" cy="162763"/>
          </a:xfrm>
          <a:prstGeom prst="rect">
            <a:avLst/>
          </a:prstGeom>
          <a:noFill/>
          <a:ln/>
        </p:spPr>
        <p:txBody>
          <a:bodyPr wrap="square" lIns="0" tIns="0" rIns="0" bIns="0" rtlCol="0" anchor="ctr"/>
          <a:lstStyle/>
          <a:p>
            <a:pPr algn="l" indent="0" marL="0">
              <a:buNone/>
            </a:pPr>
            <a:r>
              <a:rPr lang="en-US" sz="900" b="1" dirty="0">
                <a:solidFill>
                  <a:srgbClr val="64748B"/>
                </a:solidFill>
                <a:latin typeface="Noto Sans JP" pitchFamily="34" charset="0"/>
                <a:ea typeface="Noto Sans JP" pitchFamily="34" charset="-122"/>
                <a:cs typeface="Noto Sans JP" pitchFamily="34" charset="-120"/>
              </a:rPr>
              <a:t>入力データ (INPUT)</a:t>
            </a:r>
            <a:endParaRPr lang="en-US" sz="900" dirty="0"/>
          </a:p>
        </p:txBody>
      </p:sp>
      <p:sp>
        <p:nvSpPr>
          <p:cNvPr id="20" name="Shape 17"/>
          <p:cNvSpPr/>
          <p:nvPr/>
        </p:nvSpPr>
        <p:spPr>
          <a:xfrm>
            <a:off x="7110374" y="1686154"/>
            <a:ext cx="2438705" cy="381305"/>
          </a:xfrm>
          <a:prstGeom prst="rect">
            <a:avLst/>
          </a:prstGeom>
          <a:solidFill>
            <a:srgbClr val="F8FAFC"/>
          </a:solidFill>
          <a:ln/>
        </p:spPr>
      </p:sp>
      <p:sp>
        <p:nvSpPr>
          <p:cNvPr id="21" name="Shape 18"/>
          <p:cNvSpPr/>
          <p:nvPr/>
        </p:nvSpPr>
        <p:spPr>
          <a:xfrm>
            <a:off x="7110374" y="2048256"/>
            <a:ext cx="2438705" cy="19202"/>
          </a:xfrm>
          <a:prstGeom prst="rect">
            <a:avLst/>
          </a:prstGeom>
          <a:solidFill>
            <a:srgbClr val="E2E8F0"/>
          </a:solidFill>
          <a:ln/>
        </p:spPr>
      </p:sp>
      <p:sp>
        <p:nvSpPr>
          <p:cNvPr id="22" name="Text 19"/>
          <p:cNvSpPr txBox="1"/>
          <p:nvPr/>
        </p:nvSpPr>
        <p:spPr>
          <a:xfrm>
            <a:off x="7262165" y="1781251"/>
            <a:ext cx="1334110" cy="162763"/>
          </a:xfrm>
          <a:prstGeom prst="rect">
            <a:avLst/>
          </a:prstGeom>
          <a:noFill/>
          <a:ln/>
        </p:spPr>
        <p:txBody>
          <a:bodyPr wrap="square" lIns="0" tIns="0" rIns="0" bIns="0" rtlCol="0" anchor="ctr"/>
          <a:lstStyle/>
          <a:p>
            <a:pPr algn="l" indent="0" marL="0">
              <a:buNone/>
            </a:pPr>
            <a:r>
              <a:rPr lang="en-US" sz="900" b="1" dirty="0">
                <a:solidFill>
                  <a:srgbClr val="64748B"/>
                </a:solidFill>
                <a:latin typeface="Noto Sans JP" pitchFamily="34" charset="0"/>
                <a:ea typeface="Noto Sans JP" pitchFamily="34" charset="-122"/>
                <a:cs typeface="Noto Sans JP" pitchFamily="34" charset="-120"/>
              </a:rPr>
              <a:t>出力データ (OUTPUT)</a:t>
            </a:r>
            <a:endParaRPr lang="en-US" sz="900" dirty="0"/>
          </a:p>
        </p:txBody>
      </p:sp>
      <p:sp>
        <p:nvSpPr>
          <p:cNvPr id="23" name="Shape 20"/>
          <p:cNvSpPr/>
          <p:nvPr/>
        </p:nvSpPr>
        <p:spPr>
          <a:xfrm>
            <a:off x="9544507" y="1686154"/>
            <a:ext cx="2029054" cy="381305"/>
          </a:xfrm>
          <a:prstGeom prst="rect">
            <a:avLst/>
          </a:prstGeom>
          <a:solidFill>
            <a:srgbClr val="F8FAFC"/>
          </a:solidFill>
          <a:ln/>
        </p:spPr>
      </p:sp>
      <p:sp>
        <p:nvSpPr>
          <p:cNvPr id="24" name="Shape 21"/>
          <p:cNvSpPr/>
          <p:nvPr/>
        </p:nvSpPr>
        <p:spPr>
          <a:xfrm>
            <a:off x="9544507" y="2048256"/>
            <a:ext cx="2029054" cy="19202"/>
          </a:xfrm>
          <a:prstGeom prst="rect">
            <a:avLst/>
          </a:prstGeom>
          <a:solidFill>
            <a:srgbClr val="E2E8F0"/>
          </a:solidFill>
          <a:ln/>
        </p:spPr>
      </p:sp>
      <p:sp>
        <p:nvSpPr>
          <p:cNvPr id="25" name="Text 22"/>
          <p:cNvSpPr txBox="1"/>
          <p:nvPr/>
        </p:nvSpPr>
        <p:spPr>
          <a:xfrm>
            <a:off x="9696298" y="1781251"/>
            <a:ext cx="571500" cy="162763"/>
          </a:xfrm>
          <a:prstGeom prst="rect">
            <a:avLst/>
          </a:prstGeom>
          <a:noFill/>
          <a:ln/>
        </p:spPr>
        <p:txBody>
          <a:bodyPr wrap="square" lIns="0" tIns="0" rIns="0" bIns="0" rtlCol="0" anchor="ctr"/>
          <a:lstStyle/>
          <a:p>
            <a:pPr algn="l" indent="0" marL="0">
              <a:buNone/>
            </a:pPr>
            <a:r>
              <a:rPr lang="en-US" sz="900" b="1" dirty="0">
                <a:solidFill>
                  <a:srgbClr val="64748B"/>
                </a:solidFill>
                <a:latin typeface="Noto Sans JP" pitchFamily="34" charset="0"/>
                <a:ea typeface="Noto Sans JP" pitchFamily="34" charset="-122"/>
                <a:cs typeface="Noto Sans JP" pitchFamily="34" charset="-120"/>
              </a:rPr>
              <a:t>主な用途</a:t>
            </a:r>
            <a:endParaRPr lang="en-US" sz="900" dirty="0"/>
          </a:p>
        </p:txBody>
      </p:sp>
      <p:sp>
        <p:nvSpPr>
          <p:cNvPr id="26" name="Shape 23"/>
          <p:cNvSpPr/>
          <p:nvPr/>
        </p:nvSpPr>
        <p:spPr>
          <a:xfrm>
            <a:off x="619049" y="2600554"/>
            <a:ext cx="2029054" cy="9144"/>
          </a:xfrm>
          <a:prstGeom prst="rect">
            <a:avLst/>
          </a:prstGeom>
          <a:solidFill>
            <a:srgbClr val="F1F5F9"/>
          </a:solidFill>
          <a:ln/>
        </p:spPr>
      </p:sp>
      <p:sp>
        <p:nvSpPr>
          <p:cNvPr id="27" name="Text 24"/>
          <p:cNvSpPr txBox="1"/>
          <p:nvPr/>
        </p:nvSpPr>
        <p:spPr>
          <a:xfrm>
            <a:off x="771754" y="2237537"/>
            <a:ext cx="1311250"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initialize_slide 初期化</a:t>
            </a:r>
            <a:endParaRPr lang="en-US" sz="900" dirty="0"/>
          </a:p>
        </p:txBody>
      </p:sp>
      <p:sp>
        <p:nvSpPr>
          <p:cNvPr id="28" name="Shape 25"/>
          <p:cNvSpPr/>
          <p:nvPr/>
        </p:nvSpPr>
        <p:spPr>
          <a:xfrm>
            <a:off x="2647188" y="2600554"/>
            <a:ext cx="2029054" cy="9144"/>
          </a:xfrm>
          <a:prstGeom prst="rect">
            <a:avLst/>
          </a:prstGeom>
          <a:solidFill>
            <a:srgbClr val="F1F5F9"/>
          </a:solidFill>
          <a:ln/>
        </p:spPr>
      </p:sp>
      <p:sp>
        <p:nvSpPr>
          <p:cNvPr id="29" name="Text 26"/>
          <p:cNvSpPr txBox="1"/>
          <p:nvPr/>
        </p:nvSpPr>
        <p:spPr>
          <a:xfrm>
            <a:off x="2799893" y="2152498"/>
            <a:ext cx="1805940"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プロジェクト設定とデザインシステムの定義</a:t>
            </a:r>
            <a:endParaRPr lang="en-US" sz="900" dirty="0"/>
          </a:p>
        </p:txBody>
      </p:sp>
      <p:sp>
        <p:nvSpPr>
          <p:cNvPr id="30" name="Shape 27"/>
          <p:cNvSpPr/>
          <p:nvPr/>
        </p:nvSpPr>
        <p:spPr>
          <a:xfrm>
            <a:off x="4676242" y="2600554"/>
            <a:ext cx="2438705" cy="9144"/>
          </a:xfrm>
          <a:prstGeom prst="rect">
            <a:avLst/>
          </a:prstGeom>
          <a:solidFill>
            <a:srgbClr val="F1F5F9"/>
          </a:solidFill>
          <a:ln/>
        </p:spPr>
      </p:sp>
      <p:sp>
        <p:nvSpPr>
          <p:cNvPr id="31" name="Text 28"/>
          <p:cNvSpPr txBox="1"/>
          <p:nvPr/>
        </p:nvSpPr>
        <p:spPr>
          <a:xfrm>
            <a:off x="4828032" y="2170786"/>
            <a:ext cx="2153412"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プロジェクト名、説明、デザイン参照、サイズ</a:t>
            </a:r>
            <a:endParaRPr lang="en-US" sz="900" dirty="0"/>
          </a:p>
        </p:txBody>
      </p:sp>
      <p:sp>
        <p:nvSpPr>
          <p:cNvPr id="32" name="Shape 29"/>
          <p:cNvSpPr/>
          <p:nvPr/>
        </p:nvSpPr>
        <p:spPr>
          <a:xfrm>
            <a:off x="7110374" y="2600554"/>
            <a:ext cx="2438705" cy="9144"/>
          </a:xfrm>
          <a:prstGeom prst="rect">
            <a:avLst/>
          </a:prstGeom>
          <a:solidFill>
            <a:srgbClr val="F1F5F9"/>
          </a:solidFill>
          <a:ln/>
        </p:spPr>
      </p:sp>
      <p:sp>
        <p:nvSpPr>
          <p:cNvPr id="33" name="Text 30"/>
          <p:cNvSpPr txBox="1"/>
          <p:nvPr/>
        </p:nvSpPr>
        <p:spPr>
          <a:xfrm>
            <a:off x="7262165" y="2170786"/>
            <a:ext cx="2143354"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環境設定済みプロジェクト、基本スタイル</a:t>
            </a:r>
            <a:endParaRPr lang="en-US" sz="900" dirty="0"/>
          </a:p>
        </p:txBody>
      </p:sp>
      <p:sp>
        <p:nvSpPr>
          <p:cNvPr id="34" name="Shape 31"/>
          <p:cNvSpPr/>
          <p:nvPr/>
        </p:nvSpPr>
        <p:spPr>
          <a:xfrm>
            <a:off x="9544507" y="2600554"/>
            <a:ext cx="2029054" cy="9144"/>
          </a:xfrm>
          <a:prstGeom prst="rect">
            <a:avLst/>
          </a:prstGeom>
          <a:solidFill>
            <a:srgbClr val="F1F5F9"/>
          </a:solidFill>
          <a:ln/>
        </p:spPr>
      </p:sp>
      <p:sp>
        <p:nvSpPr>
          <p:cNvPr id="35" name="Text 32"/>
          <p:cNvSpPr txBox="1"/>
          <p:nvPr/>
        </p:nvSpPr>
        <p:spPr>
          <a:xfrm>
            <a:off x="9696298" y="2152498"/>
            <a:ext cx="1805940"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HPBトンマナ設定、フォント指定</a:t>
            </a:r>
            <a:endParaRPr lang="en-US" sz="900" dirty="0"/>
          </a:p>
        </p:txBody>
      </p:sp>
      <p:sp>
        <p:nvSpPr>
          <p:cNvPr id="36" name="Shape 33"/>
          <p:cNvSpPr/>
          <p:nvPr/>
        </p:nvSpPr>
        <p:spPr>
          <a:xfrm>
            <a:off x="619049" y="3142793"/>
            <a:ext cx="2029054" cy="9144"/>
          </a:xfrm>
          <a:prstGeom prst="rect">
            <a:avLst/>
          </a:prstGeom>
          <a:solidFill>
            <a:srgbClr val="F1F5F9"/>
          </a:solidFill>
          <a:ln/>
        </p:spPr>
      </p:sp>
      <p:sp>
        <p:nvSpPr>
          <p:cNvPr id="37" name="Text 34"/>
          <p:cNvSpPr txBox="1"/>
          <p:nvPr/>
        </p:nvSpPr>
        <p:spPr>
          <a:xfrm>
            <a:off x="771754" y="2779776"/>
            <a:ext cx="1397203"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insert_new_slides 構成</a:t>
            </a:r>
            <a:endParaRPr lang="en-US" sz="900" dirty="0"/>
          </a:p>
        </p:txBody>
      </p:sp>
      <p:sp>
        <p:nvSpPr>
          <p:cNvPr id="38" name="Shape 35"/>
          <p:cNvSpPr/>
          <p:nvPr/>
        </p:nvSpPr>
        <p:spPr>
          <a:xfrm>
            <a:off x="2647188" y="3142793"/>
            <a:ext cx="2029054" cy="9144"/>
          </a:xfrm>
          <a:prstGeom prst="rect">
            <a:avLst/>
          </a:prstGeom>
          <a:solidFill>
            <a:srgbClr val="F1F5F9"/>
          </a:solidFill>
          <a:ln/>
        </p:spPr>
      </p:sp>
      <p:sp>
        <p:nvSpPr>
          <p:cNvPr id="39" name="Text 36"/>
          <p:cNvSpPr txBox="1"/>
          <p:nvPr/>
        </p:nvSpPr>
        <p:spPr>
          <a:xfrm>
            <a:off x="2799893" y="2693822"/>
            <a:ext cx="1796796"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スライド構成案とテンプレートの自動提案</a:t>
            </a:r>
            <a:endParaRPr lang="en-US" sz="900" dirty="0"/>
          </a:p>
        </p:txBody>
      </p:sp>
      <p:sp>
        <p:nvSpPr>
          <p:cNvPr id="40" name="Shape 37"/>
          <p:cNvSpPr/>
          <p:nvPr/>
        </p:nvSpPr>
        <p:spPr>
          <a:xfrm>
            <a:off x="4676242" y="3142793"/>
            <a:ext cx="2438705" cy="9144"/>
          </a:xfrm>
          <a:prstGeom prst="rect">
            <a:avLst/>
          </a:prstGeom>
          <a:solidFill>
            <a:srgbClr val="F1F5F9"/>
          </a:solidFill>
          <a:ln/>
        </p:spPr>
      </p:sp>
      <p:sp>
        <p:nvSpPr>
          <p:cNvPr id="41" name="Text 38"/>
          <p:cNvSpPr txBox="1"/>
          <p:nvPr/>
        </p:nvSpPr>
        <p:spPr>
          <a:xfrm>
            <a:off x="4828032" y="2788920"/>
            <a:ext cx="18004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タスク概要、ページ数、挿入位置</a:t>
            </a:r>
            <a:endParaRPr lang="en-US" sz="900" dirty="0"/>
          </a:p>
        </p:txBody>
      </p:sp>
      <p:sp>
        <p:nvSpPr>
          <p:cNvPr id="42" name="Shape 39"/>
          <p:cNvSpPr/>
          <p:nvPr/>
        </p:nvSpPr>
        <p:spPr>
          <a:xfrm>
            <a:off x="7110374" y="3142793"/>
            <a:ext cx="2438705" cy="9144"/>
          </a:xfrm>
          <a:prstGeom prst="rect">
            <a:avLst/>
          </a:prstGeom>
          <a:solidFill>
            <a:srgbClr val="F1F5F9"/>
          </a:solidFill>
          <a:ln/>
        </p:spPr>
      </p:sp>
      <p:sp>
        <p:nvSpPr>
          <p:cNvPr id="43" name="Text 40"/>
          <p:cNvSpPr txBox="1"/>
          <p:nvPr/>
        </p:nvSpPr>
        <p:spPr>
          <a:xfrm>
            <a:off x="7262165" y="2712110"/>
            <a:ext cx="2210105"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スライド枠（23枚）、アウトライン、テンプレ定義</a:t>
            </a:r>
            <a:endParaRPr lang="en-US" sz="900" dirty="0"/>
          </a:p>
        </p:txBody>
      </p:sp>
      <p:sp>
        <p:nvSpPr>
          <p:cNvPr id="44" name="Shape 41"/>
          <p:cNvSpPr/>
          <p:nvPr/>
        </p:nvSpPr>
        <p:spPr>
          <a:xfrm>
            <a:off x="9544507" y="3142793"/>
            <a:ext cx="2029054" cy="9144"/>
          </a:xfrm>
          <a:prstGeom prst="rect">
            <a:avLst/>
          </a:prstGeom>
          <a:solidFill>
            <a:srgbClr val="F1F5F9"/>
          </a:solidFill>
          <a:ln/>
        </p:spPr>
      </p:sp>
      <p:sp>
        <p:nvSpPr>
          <p:cNvPr id="45" name="Text 42"/>
          <p:cNvSpPr txBox="1"/>
          <p:nvPr/>
        </p:nvSpPr>
        <p:spPr>
          <a:xfrm>
            <a:off x="9696298" y="2779776"/>
            <a:ext cx="1311250"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全体構成の骨組み作成</a:t>
            </a:r>
            <a:endParaRPr lang="en-US" sz="900" dirty="0"/>
          </a:p>
        </p:txBody>
      </p:sp>
      <p:sp>
        <p:nvSpPr>
          <p:cNvPr id="46" name="Shape 43"/>
          <p:cNvSpPr/>
          <p:nvPr/>
        </p:nvSpPr>
        <p:spPr>
          <a:xfrm>
            <a:off x="619049" y="3684118"/>
            <a:ext cx="2029054" cy="9144"/>
          </a:xfrm>
          <a:prstGeom prst="rect">
            <a:avLst/>
          </a:prstGeom>
          <a:solidFill>
            <a:srgbClr val="F1F5F9"/>
          </a:solidFill>
          <a:ln/>
        </p:spPr>
      </p:sp>
      <p:sp>
        <p:nvSpPr>
          <p:cNvPr id="47" name="Text 44"/>
          <p:cNvSpPr txBox="1"/>
          <p:nvPr/>
        </p:nvSpPr>
        <p:spPr>
          <a:xfrm>
            <a:off x="771754" y="3321101"/>
            <a:ext cx="1101852"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modify_slide 制作</a:t>
            </a:r>
            <a:endParaRPr lang="en-US" sz="900" dirty="0"/>
          </a:p>
        </p:txBody>
      </p:sp>
      <p:sp>
        <p:nvSpPr>
          <p:cNvPr id="48" name="Shape 45"/>
          <p:cNvSpPr/>
          <p:nvPr/>
        </p:nvSpPr>
        <p:spPr>
          <a:xfrm>
            <a:off x="2647188" y="3684118"/>
            <a:ext cx="2029054" cy="9144"/>
          </a:xfrm>
          <a:prstGeom prst="rect">
            <a:avLst/>
          </a:prstGeom>
          <a:solidFill>
            <a:srgbClr val="F1F5F9"/>
          </a:solidFill>
          <a:ln/>
        </p:spPr>
      </p:sp>
      <p:sp>
        <p:nvSpPr>
          <p:cNvPr id="49" name="Text 46"/>
          <p:cNvSpPr txBox="1"/>
          <p:nvPr/>
        </p:nvSpPr>
        <p:spPr>
          <a:xfrm>
            <a:off x="2799893" y="3235147"/>
            <a:ext cx="1787652"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HTML/CSS生成とコンテンツ配置</a:t>
            </a:r>
            <a:endParaRPr lang="en-US" sz="900" dirty="0"/>
          </a:p>
        </p:txBody>
      </p:sp>
      <p:sp>
        <p:nvSpPr>
          <p:cNvPr id="50" name="Shape 47"/>
          <p:cNvSpPr/>
          <p:nvPr/>
        </p:nvSpPr>
        <p:spPr>
          <a:xfrm>
            <a:off x="4676242" y="3684118"/>
            <a:ext cx="2438705" cy="9144"/>
          </a:xfrm>
          <a:prstGeom prst="rect">
            <a:avLst/>
          </a:prstGeom>
          <a:solidFill>
            <a:srgbClr val="F1F5F9"/>
          </a:solidFill>
          <a:ln/>
        </p:spPr>
      </p:sp>
      <p:sp>
        <p:nvSpPr>
          <p:cNvPr id="51" name="Text 48"/>
          <p:cNvSpPr txBox="1"/>
          <p:nvPr/>
        </p:nvSpPr>
        <p:spPr>
          <a:xfrm>
            <a:off x="4828032" y="3330245"/>
            <a:ext cx="21717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ページIndex、テンプレKey、タスク指示</a:t>
            </a:r>
            <a:endParaRPr lang="en-US" sz="900" dirty="0"/>
          </a:p>
        </p:txBody>
      </p:sp>
      <p:sp>
        <p:nvSpPr>
          <p:cNvPr id="52" name="Shape 49"/>
          <p:cNvSpPr/>
          <p:nvPr/>
        </p:nvSpPr>
        <p:spPr>
          <a:xfrm>
            <a:off x="7110374" y="3684118"/>
            <a:ext cx="2438705" cy="9144"/>
          </a:xfrm>
          <a:prstGeom prst="rect">
            <a:avLst/>
          </a:prstGeom>
          <a:solidFill>
            <a:srgbClr val="F1F5F9"/>
          </a:solidFill>
          <a:ln/>
        </p:spPr>
      </p:sp>
      <p:sp>
        <p:nvSpPr>
          <p:cNvPr id="53" name="Text 50"/>
          <p:cNvSpPr txBox="1"/>
          <p:nvPr/>
        </p:nvSpPr>
        <p:spPr>
          <a:xfrm>
            <a:off x="7262165" y="3253435"/>
            <a:ext cx="2181758"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完成スライド(HTML)、新規テンプレート保存</a:t>
            </a:r>
            <a:endParaRPr lang="en-US" sz="900" dirty="0"/>
          </a:p>
        </p:txBody>
      </p:sp>
      <p:sp>
        <p:nvSpPr>
          <p:cNvPr id="54" name="Shape 51"/>
          <p:cNvSpPr/>
          <p:nvPr/>
        </p:nvSpPr>
        <p:spPr>
          <a:xfrm>
            <a:off x="9544507" y="3684118"/>
            <a:ext cx="2029054" cy="9144"/>
          </a:xfrm>
          <a:prstGeom prst="rect">
            <a:avLst/>
          </a:prstGeom>
          <a:solidFill>
            <a:srgbClr val="F1F5F9"/>
          </a:solidFill>
          <a:ln/>
        </p:spPr>
      </p:sp>
      <p:sp>
        <p:nvSpPr>
          <p:cNvPr id="55" name="Text 52"/>
          <p:cNvSpPr txBox="1"/>
          <p:nvPr/>
        </p:nvSpPr>
        <p:spPr>
          <a:xfrm>
            <a:off x="9696298" y="3321101"/>
            <a:ext cx="1796796"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各ページの実装、デザイン適用</a:t>
            </a:r>
            <a:endParaRPr lang="en-US" sz="900" dirty="0"/>
          </a:p>
        </p:txBody>
      </p:sp>
      <p:sp>
        <p:nvSpPr>
          <p:cNvPr id="56" name="Shape 53"/>
          <p:cNvSpPr/>
          <p:nvPr/>
        </p:nvSpPr>
        <p:spPr>
          <a:xfrm>
            <a:off x="619049" y="4225442"/>
            <a:ext cx="2029054" cy="9144"/>
          </a:xfrm>
          <a:prstGeom prst="rect">
            <a:avLst/>
          </a:prstGeom>
          <a:solidFill>
            <a:srgbClr val="F1F5F9"/>
          </a:solidFill>
          <a:ln/>
        </p:spPr>
      </p:sp>
      <p:sp>
        <p:nvSpPr>
          <p:cNvPr id="57" name="Text 54"/>
          <p:cNvSpPr txBox="1"/>
          <p:nvPr/>
        </p:nvSpPr>
        <p:spPr>
          <a:xfrm>
            <a:off x="771754" y="3862426"/>
            <a:ext cx="787298"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crawler 収集</a:t>
            </a:r>
            <a:endParaRPr lang="en-US" sz="900" dirty="0"/>
          </a:p>
        </p:txBody>
      </p:sp>
      <p:sp>
        <p:nvSpPr>
          <p:cNvPr id="58" name="Shape 55"/>
          <p:cNvSpPr/>
          <p:nvPr/>
        </p:nvSpPr>
        <p:spPr>
          <a:xfrm>
            <a:off x="2647188" y="4225442"/>
            <a:ext cx="2029054" cy="9144"/>
          </a:xfrm>
          <a:prstGeom prst="rect">
            <a:avLst/>
          </a:prstGeom>
          <a:solidFill>
            <a:srgbClr val="F1F5F9"/>
          </a:solidFill>
          <a:ln/>
        </p:spPr>
      </p:sp>
      <p:sp>
        <p:nvSpPr>
          <p:cNvPr id="59" name="Text 56"/>
          <p:cNvSpPr txBox="1"/>
          <p:nvPr/>
        </p:nvSpPr>
        <p:spPr>
          <a:xfrm>
            <a:off x="2799893" y="3777386"/>
            <a:ext cx="1787652"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指定URLからの構造化データ抽出</a:t>
            </a:r>
            <a:endParaRPr lang="en-US" sz="900" dirty="0"/>
          </a:p>
        </p:txBody>
      </p:sp>
      <p:sp>
        <p:nvSpPr>
          <p:cNvPr id="60" name="Shape 57"/>
          <p:cNvSpPr/>
          <p:nvPr/>
        </p:nvSpPr>
        <p:spPr>
          <a:xfrm>
            <a:off x="4676242" y="4225442"/>
            <a:ext cx="2438705" cy="9144"/>
          </a:xfrm>
          <a:prstGeom prst="rect">
            <a:avLst/>
          </a:prstGeom>
          <a:solidFill>
            <a:srgbClr val="F1F5F9"/>
          </a:solidFill>
          <a:ln/>
        </p:spPr>
      </p:sp>
      <p:sp>
        <p:nvSpPr>
          <p:cNvPr id="61" name="Text 58"/>
          <p:cNvSpPr txBox="1"/>
          <p:nvPr/>
        </p:nvSpPr>
        <p:spPr>
          <a:xfrm>
            <a:off x="4828032" y="3871570"/>
            <a:ext cx="116220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対象URL (Siena渋谷)</a:t>
            </a:r>
            <a:endParaRPr lang="en-US" sz="900" dirty="0"/>
          </a:p>
        </p:txBody>
      </p:sp>
      <p:sp>
        <p:nvSpPr>
          <p:cNvPr id="62" name="Shape 59"/>
          <p:cNvSpPr/>
          <p:nvPr/>
        </p:nvSpPr>
        <p:spPr>
          <a:xfrm>
            <a:off x="7110374" y="4225442"/>
            <a:ext cx="2438705" cy="9144"/>
          </a:xfrm>
          <a:prstGeom prst="rect">
            <a:avLst/>
          </a:prstGeom>
          <a:solidFill>
            <a:srgbClr val="F1F5F9"/>
          </a:solidFill>
          <a:ln/>
        </p:spPr>
      </p:sp>
      <p:sp>
        <p:nvSpPr>
          <p:cNvPr id="63" name="Text 60"/>
          <p:cNvSpPr txBox="1"/>
          <p:nvPr/>
        </p:nvSpPr>
        <p:spPr>
          <a:xfrm>
            <a:off x="7262165" y="3795674"/>
            <a:ext cx="2143354"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メニュー、価格、クーポン、キャッチコピー</a:t>
            </a:r>
            <a:endParaRPr lang="en-US" sz="900" dirty="0"/>
          </a:p>
        </p:txBody>
      </p:sp>
      <p:sp>
        <p:nvSpPr>
          <p:cNvPr id="64" name="Shape 61"/>
          <p:cNvSpPr/>
          <p:nvPr/>
        </p:nvSpPr>
        <p:spPr>
          <a:xfrm>
            <a:off x="9544507" y="4225442"/>
            <a:ext cx="2029054" cy="9144"/>
          </a:xfrm>
          <a:prstGeom prst="rect">
            <a:avLst/>
          </a:prstGeom>
          <a:solidFill>
            <a:srgbClr val="F1F5F9"/>
          </a:solidFill>
          <a:ln/>
        </p:spPr>
      </p:sp>
      <p:sp>
        <p:nvSpPr>
          <p:cNvPr id="65" name="Text 62"/>
          <p:cNvSpPr txBox="1"/>
          <p:nvPr/>
        </p:nvSpPr>
        <p:spPr>
          <a:xfrm>
            <a:off x="9696298" y="3862426"/>
            <a:ext cx="1805940"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ベンチマーク情報の正確な取得</a:t>
            </a:r>
            <a:endParaRPr lang="en-US" sz="900" dirty="0"/>
          </a:p>
        </p:txBody>
      </p:sp>
      <p:sp>
        <p:nvSpPr>
          <p:cNvPr id="66" name="Shape 63"/>
          <p:cNvSpPr/>
          <p:nvPr/>
        </p:nvSpPr>
        <p:spPr>
          <a:xfrm>
            <a:off x="619049" y="4594860"/>
            <a:ext cx="2029054" cy="9144"/>
          </a:xfrm>
          <a:prstGeom prst="rect">
            <a:avLst/>
          </a:prstGeom>
          <a:solidFill>
            <a:srgbClr val="F1F5F9"/>
          </a:solidFill>
          <a:ln/>
        </p:spPr>
      </p:sp>
      <p:sp>
        <p:nvSpPr>
          <p:cNvPr id="67" name="Text 64"/>
          <p:cNvSpPr txBox="1"/>
          <p:nvPr/>
        </p:nvSpPr>
        <p:spPr>
          <a:xfrm>
            <a:off x="771754" y="4318711"/>
            <a:ext cx="1434694"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batch_web_search 収集</a:t>
            </a:r>
            <a:endParaRPr lang="en-US" sz="900" dirty="0"/>
          </a:p>
        </p:txBody>
      </p:sp>
      <p:sp>
        <p:nvSpPr>
          <p:cNvPr id="68" name="Shape 65"/>
          <p:cNvSpPr/>
          <p:nvPr/>
        </p:nvSpPr>
        <p:spPr>
          <a:xfrm>
            <a:off x="2647188" y="4594860"/>
            <a:ext cx="2029054" cy="9144"/>
          </a:xfrm>
          <a:prstGeom prst="rect">
            <a:avLst/>
          </a:prstGeom>
          <a:solidFill>
            <a:srgbClr val="F1F5F9"/>
          </a:solidFill>
          <a:ln/>
        </p:spPr>
      </p:sp>
      <p:sp>
        <p:nvSpPr>
          <p:cNvPr id="69" name="Text 66"/>
          <p:cNvSpPr txBox="1"/>
          <p:nvPr/>
        </p:nvSpPr>
        <p:spPr>
          <a:xfrm>
            <a:off x="2799893" y="4318711"/>
            <a:ext cx="1796796"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複数クエリによる並列検索実行</a:t>
            </a:r>
            <a:endParaRPr lang="en-US" sz="900" dirty="0"/>
          </a:p>
        </p:txBody>
      </p:sp>
      <p:sp>
        <p:nvSpPr>
          <p:cNvPr id="70" name="Shape 67"/>
          <p:cNvSpPr/>
          <p:nvPr/>
        </p:nvSpPr>
        <p:spPr>
          <a:xfrm>
            <a:off x="4676242" y="4594860"/>
            <a:ext cx="2438705" cy="9144"/>
          </a:xfrm>
          <a:prstGeom prst="rect">
            <a:avLst/>
          </a:prstGeom>
          <a:solidFill>
            <a:srgbClr val="F1F5F9"/>
          </a:solidFill>
          <a:ln/>
        </p:spPr>
      </p:sp>
      <p:sp>
        <p:nvSpPr>
          <p:cNvPr id="71" name="Text 68"/>
          <p:cNvSpPr txBox="1"/>
          <p:nvPr/>
        </p:nvSpPr>
        <p:spPr>
          <a:xfrm>
            <a:off x="4828032" y="4327855"/>
            <a:ext cx="17913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検索クエリ配列（エリア、条件）</a:t>
            </a:r>
            <a:endParaRPr lang="en-US" sz="900" dirty="0"/>
          </a:p>
        </p:txBody>
      </p:sp>
      <p:sp>
        <p:nvSpPr>
          <p:cNvPr id="72" name="Shape 69"/>
          <p:cNvSpPr/>
          <p:nvPr/>
        </p:nvSpPr>
        <p:spPr>
          <a:xfrm>
            <a:off x="7110374" y="4594860"/>
            <a:ext cx="2438705" cy="9144"/>
          </a:xfrm>
          <a:prstGeom prst="rect">
            <a:avLst/>
          </a:prstGeom>
          <a:solidFill>
            <a:srgbClr val="F1F5F9"/>
          </a:solidFill>
          <a:ln/>
        </p:spPr>
      </p:sp>
      <p:sp>
        <p:nvSpPr>
          <p:cNvPr id="73" name="Text 70"/>
          <p:cNvSpPr txBox="1"/>
          <p:nvPr/>
        </p:nvSpPr>
        <p:spPr>
          <a:xfrm>
            <a:off x="7262165" y="4327855"/>
            <a:ext cx="21433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競合サロンリスト、商圏情報、トレンド</a:t>
            </a:r>
            <a:endParaRPr lang="en-US" sz="900" dirty="0"/>
          </a:p>
        </p:txBody>
      </p:sp>
      <p:sp>
        <p:nvSpPr>
          <p:cNvPr id="74" name="Shape 71"/>
          <p:cNvSpPr/>
          <p:nvPr/>
        </p:nvSpPr>
        <p:spPr>
          <a:xfrm>
            <a:off x="9544507" y="4594860"/>
            <a:ext cx="2029054" cy="9144"/>
          </a:xfrm>
          <a:prstGeom prst="rect">
            <a:avLst/>
          </a:prstGeom>
          <a:solidFill>
            <a:srgbClr val="F1F5F9"/>
          </a:solidFill>
          <a:ln/>
        </p:spPr>
      </p:sp>
      <p:sp>
        <p:nvSpPr>
          <p:cNvPr id="75" name="Text 72"/>
          <p:cNvSpPr txBox="1"/>
          <p:nvPr/>
        </p:nvSpPr>
        <p:spPr>
          <a:xfrm>
            <a:off x="9696298" y="4318711"/>
            <a:ext cx="1559052"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競合探索、市場環境の把握</a:t>
            </a:r>
            <a:endParaRPr lang="en-US" sz="900" dirty="0"/>
          </a:p>
        </p:txBody>
      </p:sp>
      <p:sp>
        <p:nvSpPr>
          <p:cNvPr id="76" name="Shape 73"/>
          <p:cNvSpPr/>
          <p:nvPr/>
        </p:nvSpPr>
        <p:spPr>
          <a:xfrm>
            <a:off x="619049" y="4965192"/>
            <a:ext cx="2029054" cy="9144"/>
          </a:xfrm>
          <a:prstGeom prst="rect">
            <a:avLst/>
          </a:prstGeom>
          <a:solidFill>
            <a:srgbClr val="F1F5F9"/>
          </a:solidFill>
          <a:ln/>
        </p:spPr>
      </p:sp>
      <p:sp>
        <p:nvSpPr>
          <p:cNvPr id="77" name="Text 74"/>
          <p:cNvSpPr txBox="1"/>
          <p:nvPr/>
        </p:nvSpPr>
        <p:spPr>
          <a:xfrm>
            <a:off x="771754" y="4689043"/>
            <a:ext cx="949147"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TodoWrite 管理</a:t>
            </a:r>
            <a:endParaRPr lang="en-US" sz="900" dirty="0"/>
          </a:p>
        </p:txBody>
      </p:sp>
      <p:sp>
        <p:nvSpPr>
          <p:cNvPr id="78" name="Shape 75"/>
          <p:cNvSpPr/>
          <p:nvPr/>
        </p:nvSpPr>
        <p:spPr>
          <a:xfrm>
            <a:off x="2647188" y="4965192"/>
            <a:ext cx="2029054" cy="9144"/>
          </a:xfrm>
          <a:prstGeom prst="rect">
            <a:avLst/>
          </a:prstGeom>
          <a:solidFill>
            <a:srgbClr val="F1F5F9"/>
          </a:solidFill>
          <a:ln/>
        </p:spPr>
      </p:sp>
      <p:sp>
        <p:nvSpPr>
          <p:cNvPr id="79" name="Text 76"/>
          <p:cNvSpPr txBox="1"/>
          <p:nvPr/>
        </p:nvSpPr>
        <p:spPr>
          <a:xfrm>
            <a:off x="2799893" y="4689043"/>
            <a:ext cx="1682496"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タスク進捗の追跡と状態管理</a:t>
            </a:r>
            <a:endParaRPr lang="en-US" sz="900" dirty="0"/>
          </a:p>
        </p:txBody>
      </p:sp>
      <p:sp>
        <p:nvSpPr>
          <p:cNvPr id="80" name="Shape 77"/>
          <p:cNvSpPr/>
          <p:nvPr/>
        </p:nvSpPr>
        <p:spPr>
          <a:xfrm>
            <a:off x="4676242" y="4965192"/>
            <a:ext cx="2438705" cy="9144"/>
          </a:xfrm>
          <a:prstGeom prst="rect">
            <a:avLst/>
          </a:prstGeom>
          <a:solidFill>
            <a:srgbClr val="F1F5F9"/>
          </a:solidFill>
          <a:ln/>
        </p:spPr>
      </p:sp>
      <p:sp>
        <p:nvSpPr>
          <p:cNvPr id="81" name="Text 78"/>
          <p:cNvSpPr txBox="1"/>
          <p:nvPr/>
        </p:nvSpPr>
        <p:spPr>
          <a:xfrm>
            <a:off x="4828032" y="4698187"/>
            <a:ext cx="16861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タスクID、ステータス、優先度</a:t>
            </a:r>
            <a:endParaRPr lang="en-US" sz="900" dirty="0"/>
          </a:p>
        </p:txBody>
      </p:sp>
      <p:sp>
        <p:nvSpPr>
          <p:cNvPr id="82" name="Shape 79"/>
          <p:cNvSpPr/>
          <p:nvPr/>
        </p:nvSpPr>
        <p:spPr>
          <a:xfrm>
            <a:off x="7110374" y="4965192"/>
            <a:ext cx="2438705" cy="9144"/>
          </a:xfrm>
          <a:prstGeom prst="rect">
            <a:avLst/>
          </a:prstGeom>
          <a:solidFill>
            <a:srgbClr val="F1F5F9"/>
          </a:solidFill>
          <a:ln/>
        </p:spPr>
      </p:sp>
      <p:sp>
        <p:nvSpPr>
          <p:cNvPr id="83" name="Text 80"/>
          <p:cNvSpPr txBox="1"/>
          <p:nvPr/>
        </p:nvSpPr>
        <p:spPr>
          <a:xfrm>
            <a:off x="7262165" y="4698187"/>
            <a:ext cx="15718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進捗ログ、未完了タスク一覧</a:t>
            </a:r>
            <a:endParaRPr lang="en-US" sz="900" dirty="0"/>
          </a:p>
        </p:txBody>
      </p:sp>
      <p:sp>
        <p:nvSpPr>
          <p:cNvPr id="84" name="Shape 81"/>
          <p:cNvSpPr/>
          <p:nvPr/>
        </p:nvSpPr>
        <p:spPr>
          <a:xfrm>
            <a:off x="9544507" y="4965192"/>
            <a:ext cx="2029054" cy="9144"/>
          </a:xfrm>
          <a:prstGeom prst="rect">
            <a:avLst/>
          </a:prstGeom>
          <a:solidFill>
            <a:srgbClr val="F1F5F9"/>
          </a:solidFill>
          <a:ln/>
        </p:spPr>
      </p:sp>
      <p:sp>
        <p:nvSpPr>
          <p:cNvPr id="85" name="Text 82"/>
          <p:cNvSpPr txBox="1"/>
          <p:nvPr/>
        </p:nvSpPr>
        <p:spPr>
          <a:xfrm>
            <a:off x="9696298" y="4689043"/>
            <a:ext cx="1805940"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プロセス漏れの防止、進行管理</a:t>
            </a:r>
            <a:endParaRPr lang="en-US" sz="900" dirty="0"/>
          </a:p>
        </p:txBody>
      </p:sp>
      <p:sp>
        <p:nvSpPr>
          <p:cNvPr id="86" name="Shape 83"/>
          <p:cNvSpPr/>
          <p:nvPr/>
        </p:nvSpPr>
        <p:spPr>
          <a:xfrm>
            <a:off x="619049" y="5336438"/>
            <a:ext cx="2029054" cy="9144"/>
          </a:xfrm>
          <a:prstGeom prst="rect">
            <a:avLst/>
          </a:prstGeom>
          <a:solidFill>
            <a:srgbClr val="F1F5F9"/>
          </a:solidFill>
          <a:ln/>
        </p:spPr>
      </p:sp>
      <p:sp>
        <p:nvSpPr>
          <p:cNvPr id="87" name="Text 84"/>
          <p:cNvSpPr txBox="1"/>
          <p:nvPr/>
        </p:nvSpPr>
        <p:spPr>
          <a:xfrm>
            <a:off x="771754" y="5060290"/>
            <a:ext cx="1292047"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adjust_viewport 制御</a:t>
            </a:r>
            <a:endParaRPr lang="en-US" sz="900" dirty="0"/>
          </a:p>
        </p:txBody>
      </p:sp>
      <p:sp>
        <p:nvSpPr>
          <p:cNvPr id="88" name="Shape 85"/>
          <p:cNvSpPr/>
          <p:nvPr/>
        </p:nvSpPr>
        <p:spPr>
          <a:xfrm>
            <a:off x="2647188" y="5336438"/>
            <a:ext cx="2029054" cy="9144"/>
          </a:xfrm>
          <a:prstGeom prst="rect">
            <a:avLst/>
          </a:prstGeom>
          <a:solidFill>
            <a:srgbClr val="F1F5F9"/>
          </a:solidFill>
          <a:ln/>
        </p:spPr>
      </p:sp>
      <p:sp>
        <p:nvSpPr>
          <p:cNvPr id="89" name="Text 86"/>
          <p:cNvSpPr txBox="1"/>
          <p:nvPr/>
        </p:nvSpPr>
        <p:spPr>
          <a:xfrm>
            <a:off x="2799893" y="5060290"/>
            <a:ext cx="1682496"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スライド表示位置の切り替え</a:t>
            </a:r>
            <a:endParaRPr lang="en-US" sz="900" dirty="0"/>
          </a:p>
        </p:txBody>
      </p:sp>
      <p:sp>
        <p:nvSpPr>
          <p:cNvPr id="90" name="Shape 87"/>
          <p:cNvSpPr/>
          <p:nvPr/>
        </p:nvSpPr>
        <p:spPr>
          <a:xfrm>
            <a:off x="4676242" y="5336438"/>
            <a:ext cx="2438705" cy="9144"/>
          </a:xfrm>
          <a:prstGeom prst="rect">
            <a:avLst/>
          </a:prstGeom>
          <a:solidFill>
            <a:srgbClr val="F1F5F9"/>
          </a:solidFill>
          <a:ln/>
        </p:spPr>
      </p:sp>
      <p:sp>
        <p:nvSpPr>
          <p:cNvPr id="91" name="Text 88"/>
          <p:cNvSpPr txBox="1"/>
          <p:nvPr/>
        </p:nvSpPr>
        <p:spPr>
          <a:xfrm>
            <a:off x="4828032" y="5068519"/>
            <a:ext cx="12289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ターゲットページ番号</a:t>
            </a:r>
            <a:endParaRPr lang="en-US" sz="900" dirty="0"/>
          </a:p>
        </p:txBody>
      </p:sp>
      <p:sp>
        <p:nvSpPr>
          <p:cNvPr id="92" name="Shape 89"/>
          <p:cNvSpPr/>
          <p:nvPr/>
        </p:nvSpPr>
        <p:spPr>
          <a:xfrm>
            <a:off x="7110374" y="5336438"/>
            <a:ext cx="2438705" cy="9144"/>
          </a:xfrm>
          <a:prstGeom prst="rect">
            <a:avLst/>
          </a:prstGeom>
          <a:solidFill>
            <a:srgbClr val="F1F5F9"/>
          </a:solidFill>
          <a:ln/>
        </p:spPr>
      </p:sp>
      <p:sp>
        <p:nvSpPr>
          <p:cNvPr id="93" name="Text 90"/>
          <p:cNvSpPr txBox="1"/>
          <p:nvPr/>
        </p:nvSpPr>
        <p:spPr>
          <a:xfrm>
            <a:off x="7262165" y="5068519"/>
            <a:ext cx="10104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ビューポート更新</a:t>
            </a:r>
            <a:endParaRPr lang="en-US" sz="900" dirty="0"/>
          </a:p>
        </p:txBody>
      </p:sp>
      <p:sp>
        <p:nvSpPr>
          <p:cNvPr id="94" name="Shape 91"/>
          <p:cNvSpPr/>
          <p:nvPr/>
        </p:nvSpPr>
        <p:spPr>
          <a:xfrm>
            <a:off x="9544507" y="5336438"/>
            <a:ext cx="2029054" cy="9144"/>
          </a:xfrm>
          <a:prstGeom prst="rect">
            <a:avLst/>
          </a:prstGeom>
          <a:solidFill>
            <a:srgbClr val="F1F5F9"/>
          </a:solidFill>
          <a:ln/>
        </p:spPr>
      </p:sp>
      <p:sp>
        <p:nvSpPr>
          <p:cNvPr id="95" name="Text 92"/>
          <p:cNvSpPr txBox="1"/>
          <p:nvPr/>
        </p:nvSpPr>
        <p:spPr>
          <a:xfrm>
            <a:off x="9696298" y="5060290"/>
            <a:ext cx="1559052"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作成結果の即時確認・修正</a:t>
            </a:r>
            <a:endParaRPr lang="en-US" sz="900" dirty="0"/>
          </a:p>
        </p:txBody>
      </p:sp>
      <p:sp>
        <p:nvSpPr>
          <p:cNvPr id="96" name="Text 93"/>
          <p:cNvSpPr txBox="1"/>
          <p:nvPr/>
        </p:nvSpPr>
        <p:spPr>
          <a:xfrm>
            <a:off x="771754" y="5515661"/>
            <a:ext cx="1292047"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Chart.js (CDN) 可視化</a:t>
            </a:r>
            <a:endParaRPr lang="en-US" sz="900" dirty="0"/>
          </a:p>
        </p:txBody>
      </p:sp>
      <p:sp>
        <p:nvSpPr>
          <p:cNvPr id="97" name="Text 94"/>
          <p:cNvSpPr txBox="1"/>
          <p:nvPr/>
        </p:nvSpPr>
        <p:spPr>
          <a:xfrm>
            <a:off x="2799893" y="5515661"/>
            <a:ext cx="1796796" cy="181051"/>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インタラクティブなグラフ描画</a:t>
            </a:r>
            <a:endParaRPr lang="en-US" sz="900" dirty="0"/>
          </a:p>
        </p:txBody>
      </p:sp>
      <p:sp>
        <p:nvSpPr>
          <p:cNvPr id="98" name="Text 95"/>
          <p:cNvSpPr txBox="1"/>
          <p:nvPr/>
        </p:nvSpPr>
        <p:spPr>
          <a:xfrm>
            <a:off x="4828032" y="5524805"/>
            <a:ext cx="16861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データセット、オプション設定</a:t>
            </a:r>
            <a:endParaRPr lang="en-US" sz="900" dirty="0"/>
          </a:p>
        </p:txBody>
      </p:sp>
      <p:sp>
        <p:nvSpPr>
          <p:cNvPr id="99" name="Text 96"/>
          <p:cNvSpPr txBox="1"/>
          <p:nvPr/>
        </p:nvSpPr>
        <p:spPr>
          <a:xfrm>
            <a:off x="7262165" y="5524805"/>
            <a:ext cx="18004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棒グラフ、散布図、折れ線グラフ</a:t>
            </a:r>
            <a:endParaRPr lang="en-US" sz="900" dirty="0"/>
          </a:p>
        </p:txBody>
      </p:sp>
      <p:sp>
        <p:nvSpPr>
          <p:cNvPr id="100" name="Text 97"/>
          <p:cNvSpPr txBox="1"/>
          <p:nvPr/>
        </p:nvSpPr>
        <p:spPr>
          <a:xfrm>
            <a:off x="9696298" y="5430622"/>
            <a:ext cx="1796796" cy="352958"/>
          </a:xfrm>
          <a:prstGeom prst="rect">
            <a:avLst/>
          </a:prstGeom>
          <a:noFill/>
          <a:ln/>
        </p:spPr>
        <p:txBody>
          <a:bodyPr wrap="square" lIns="0" tIns="0" rIns="0" bIns="0" rtlCol="0" anchor="ctr"/>
          <a:lstStyle/>
          <a:p>
            <a:pPr algn="l" indent="0" marL="0">
              <a:buNone/>
            </a:pPr>
            <a:r>
              <a:rPr lang="en-US" sz="900" dirty="0">
                <a:solidFill>
                  <a:srgbClr val="334155"/>
                </a:solidFill>
                <a:latin typeface="Noto Sans JP" pitchFamily="34" charset="0"/>
                <a:ea typeface="Noto Sans JP" pitchFamily="34" charset="-122"/>
                <a:cs typeface="Noto Sans JP" pitchFamily="34" charset="-120"/>
              </a:rPr>
              <a:t>価格分布、ポジショニング、予測</a:t>
            </a:r>
            <a:endParaRPr lang="en-US" sz="900" dirty="0"/>
          </a:p>
        </p:txBody>
      </p:sp>
      <p:sp>
        <p:nvSpPr>
          <p:cNvPr id="101" name="Shape 98"/>
          <p:cNvSpPr/>
          <p:nvPr/>
        </p:nvSpPr>
        <p:spPr>
          <a:xfrm>
            <a:off x="0" y="0"/>
            <a:ext cx="12191695" cy="761695"/>
          </a:xfrm>
          <a:prstGeom prst="rect">
            <a:avLst/>
          </a:prstGeom>
          <a:solidFill>
            <a:srgbClr val="FFFFFF"/>
          </a:solidFill>
          <a:ln/>
        </p:spPr>
      </p:sp>
      <p:sp>
        <p:nvSpPr>
          <p:cNvPr id="102" name="Shape 99"/>
          <p:cNvSpPr/>
          <p:nvPr/>
        </p:nvSpPr>
        <p:spPr>
          <a:xfrm>
            <a:off x="0" y="752551"/>
            <a:ext cx="12191695" cy="9144"/>
          </a:xfrm>
          <a:prstGeom prst="rect">
            <a:avLst/>
          </a:prstGeom>
          <a:solidFill>
            <a:srgbClr val="F3F4F6"/>
          </a:solidFill>
          <a:ln/>
        </p:spPr>
      </p:sp>
      <p:sp>
        <p:nvSpPr>
          <p:cNvPr id="103" name="Shape 100"/>
          <p:cNvSpPr/>
          <p:nvPr/>
        </p:nvSpPr>
        <p:spPr>
          <a:xfrm>
            <a:off x="609905" y="224028"/>
            <a:ext cx="304495" cy="304495"/>
          </a:xfrm>
          <a:prstGeom prst="roundRect">
            <a:avLst>
              <a:gd name="adj" fmla="val 56306"/>
            </a:avLst>
          </a:prstGeom>
          <a:solidFill>
            <a:srgbClr val="3B82F6"/>
          </a:solidFill>
          <a:ln/>
        </p:spPr>
      </p:sp>
      <p:pic>
        <p:nvPicPr>
          <p:cNvPr id="104" name="Image 1" descr="preencoded.png">    </p:cNvPr>
          <p:cNvPicPr>
            <a:picLocks noChangeAspect="1"/>
          </p:cNvPicPr>
          <p:nvPr/>
        </p:nvPicPr>
        <p:blipFill>
          <a:blip r:embed="rId2"/>
          <a:srcRect l="0" r="0" t="0" b="0"/>
          <a:stretch/>
        </p:blipFill>
        <p:spPr>
          <a:xfrm>
            <a:off x="694944" y="309982"/>
            <a:ext cx="133502" cy="133502"/>
          </a:xfrm>
          <a:prstGeom prst="rect">
            <a:avLst/>
          </a:prstGeom>
        </p:spPr>
      </p:pic>
      <p:sp>
        <p:nvSpPr>
          <p:cNvPr id="105" name="Text 101"/>
          <p:cNvSpPr txBox="1"/>
          <p:nvPr/>
        </p:nvSpPr>
        <p:spPr>
          <a:xfrm>
            <a:off x="990295" y="280721"/>
            <a:ext cx="2052828"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PROCESS DOCUMENTATION</a:t>
            </a:r>
            <a:endParaRPr lang="en-US" sz="1000" dirty="0"/>
          </a:p>
        </p:txBody>
      </p:sp>
      <p:sp>
        <p:nvSpPr>
          <p:cNvPr id="106" name="Text 102"/>
          <p:cNvSpPr txBox="1"/>
          <p:nvPr/>
        </p:nvSpPr>
        <p:spPr>
          <a:xfrm>
            <a:off x="10434218" y="280721"/>
            <a:ext cx="1252728"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08. 使用ツール一覧</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609905"/>
            <a:ext cx="12191695" cy="6248095"/>
          </a:xfrm>
          <a:prstGeom prst="rect">
            <a:avLst/>
          </a:prstGeom>
          <a:solidFill>
            <a:srgbClr val="F9FAFB"/>
          </a:solidFill>
          <a:ln/>
        </p:spPr>
      </p:sp>
      <p:sp>
        <p:nvSpPr>
          <p:cNvPr id="5" name="Text 3"/>
          <p:cNvSpPr txBox="1"/>
          <p:nvPr/>
        </p:nvSpPr>
        <p:spPr>
          <a:xfrm>
            <a:off x="457200" y="923544"/>
            <a:ext cx="8587130"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高品質なスライドを安定して生成するための5つのプロンプトパターン。 「役割の明確化」「入力データの構造化」「出力形式の指定」を組み合わせることで、AIの回答精度を最大化します。</a:t>
            </a:r>
            <a:endParaRPr lang="en-US" sz="1000" dirty="0"/>
          </a:p>
        </p:txBody>
      </p:sp>
      <p:sp>
        <p:nvSpPr>
          <p:cNvPr id="6" name="Shape 4"/>
          <p:cNvSpPr/>
          <p:nvPr/>
        </p:nvSpPr>
        <p:spPr>
          <a:xfrm>
            <a:off x="457200" y="1576426"/>
            <a:ext cx="4401007" cy="2829154"/>
          </a:xfrm>
          <a:prstGeom prst="roundRect">
            <a:avLst>
              <a:gd name="adj" fmla="val 1306"/>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7" name="Image 0" descr="preencoded.png">    </p:cNvPr>
          <p:cNvPicPr>
            <a:picLocks noChangeAspect="1"/>
          </p:cNvPicPr>
          <p:nvPr/>
        </p:nvPicPr>
        <p:blipFill>
          <a:blip r:embed="rId1"/>
          <a:srcRect l="-2512" r="-2512" t="0" b="0"/>
          <a:stretch/>
        </p:blipFill>
        <p:spPr>
          <a:xfrm>
            <a:off x="619049" y="1774850"/>
            <a:ext cx="105156" cy="133502"/>
          </a:xfrm>
          <a:prstGeom prst="rect">
            <a:avLst/>
          </a:prstGeom>
        </p:spPr>
      </p:pic>
      <p:sp>
        <p:nvSpPr>
          <p:cNvPr id="8" name="Text 5"/>
          <p:cNvSpPr txBox="1"/>
          <p:nvPr/>
        </p:nvSpPr>
        <p:spPr>
          <a:xfrm>
            <a:off x="800100" y="1738274"/>
            <a:ext cx="1636776"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1) 要求定義テンプレート</a:t>
            </a:r>
            <a:endParaRPr lang="en-US" sz="1000" dirty="0"/>
          </a:p>
        </p:txBody>
      </p:sp>
      <p:sp>
        <p:nvSpPr>
          <p:cNvPr id="9" name="Text 6"/>
          <p:cNvSpPr txBox="1"/>
          <p:nvPr/>
        </p:nvSpPr>
        <p:spPr>
          <a:xfrm>
            <a:off x="619049" y="2010766"/>
            <a:ext cx="3616452" cy="181051"/>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曖昧な要望を具体的な仕様に変換するための質問生成パターン。</a:t>
            </a:r>
            <a:endParaRPr lang="en-US" sz="900" dirty="0"/>
          </a:p>
        </p:txBody>
      </p:sp>
      <p:sp>
        <p:nvSpPr>
          <p:cNvPr id="10" name="Shape 7"/>
          <p:cNvSpPr/>
          <p:nvPr/>
        </p:nvSpPr>
        <p:spPr>
          <a:xfrm>
            <a:off x="619049" y="2305202"/>
            <a:ext cx="4076395" cy="1218895"/>
          </a:xfrm>
          <a:prstGeom prst="roundRect">
            <a:avLst>
              <a:gd name="adj" fmla="val 4689"/>
            </a:avLst>
          </a:prstGeom>
          <a:solidFill>
            <a:srgbClr val="1E293B"/>
          </a:solidFill>
          <a:ln/>
          <a:effectLst>
            <a:outerShdw sx="100000" sy="100000" kx="0" ky="0" algn="bl" rotWithShape="0" blurRad="63500" dist="38100" dir="5400000">
              <a:srgbClr val="000000">
                <a:alpha val="10000"/>
              </a:srgbClr>
            </a:outerShdw>
          </a:effectLst>
        </p:spPr>
      </p:sp>
      <p:sp>
        <p:nvSpPr>
          <p:cNvPr id="11" name="Shape 8"/>
          <p:cNvSpPr/>
          <p:nvPr/>
        </p:nvSpPr>
        <p:spPr>
          <a:xfrm>
            <a:off x="619049" y="2305202"/>
            <a:ext cx="38405" cy="1218895"/>
          </a:xfrm>
          <a:prstGeom prst="rect">
            <a:avLst/>
          </a:prstGeom>
          <a:solidFill>
            <a:srgbClr val="3B82F6"/>
          </a:solidFill>
          <a:ln/>
        </p:spPr>
      </p:sp>
      <p:sp>
        <p:nvSpPr>
          <p:cNvPr id="12" name="Text 9"/>
          <p:cNvSpPr txBox="1"/>
          <p:nvPr/>
        </p:nvSpPr>
        <p:spPr>
          <a:xfrm>
            <a:off x="809244" y="2457907"/>
            <a:ext cx="4389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Role:</a:t>
            </a:r>
            <a:endParaRPr lang="en-US" sz="900" dirty="0"/>
          </a:p>
        </p:txBody>
      </p:sp>
      <p:sp>
        <p:nvSpPr>
          <p:cNvPr id="13" name="Text 10"/>
          <p:cNvSpPr txBox="1"/>
          <p:nvPr/>
        </p:nvSpPr>
        <p:spPr>
          <a:xfrm>
            <a:off x="1153058" y="2457907"/>
            <a:ext cx="1666951"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Professional Consultant</a:t>
            </a:r>
            <a:endParaRPr lang="en-US" sz="900" dirty="0"/>
          </a:p>
        </p:txBody>
      </p:sp>
      <p:sp>
        <p:nvSpPr>
          <p:cNvPr id="14" name="Text 11"/>
          <p:cNvSpPr txBox="1"/>
          <p:nvPr/>
        </p:nvSpPr>
        <p:spPr>
          <a:xfrm>
            <a:off x="2730398" y="2457907"/>
            <a:ext cx="4389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Goal:</a:t>
            </a:r>
            <a:endParaRPr lang="en-US" sz="900" dirty="0"/>
          </a:p>
        </p:txBody>
      </p:sp>
      <p:sp>
        <p:nvSpPr>
          <p:cNvPr id="15" name="Text 12"/>
          <p:cNvSpPr txBox="1"/>
          <p:nvPr/>
        </p:nvSpPr>
        <p:spPr>
          <a:xfrm>
            <a:off x="809244" y="2457907"/>
            <a:ext cx="3314700"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Clarify vague requests into specs</a:t>
            </a:r>
            <a:endParaRPr lang="en-US" sz="900" dirty="0"/>
          </a:p>
        </p:txBody>
      </p:sp>
      <p:sp>
        <p:nvSpPr>
          <p:cNvPr id="16" name="Text 13"/>
          <p:cNvSpPr txBox="1"/>
          <p:nvPr/>
        </p:nvSpPr>
        <p:spPr>
          <a:xfrm>
            <a:off x="2113178" y="2617927"/>
            <a:ext cx="505663"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Input:</a:t>
            </a:r>
            <a:endParaRPr lang="en-US" sz="900" dirty="0"/>
          </a:p>
        </p:txBody>
      </p:sp>
      <p:sp>
        <p:nvSpPr>
          <p:cNvPr id="17" name="Text 14"/>
          <p:cNvSpPr txBox="1"/>
          <p:nvPr/>
        </p:nvSpPr>
        <p:spPr>
          <a:xfrm>
            <a:off x="2524658" y="2617927"/>
            <a:ext cx="162763"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a:t>
            </a:r>
            <a:endParaRPr lang="en-US" sz="900" dirty="0"/>
          </a:p>
        </p:txBody>
      </p:sp>
      <p:sp>
        <p:nvSpPr>
          <p:cNvPr id="18" name="Text 15"/>
          <p:cNvSpPr txBox="1"/>
          <p:nvPr/>
        </p:nvSpPr>
        <p:spPr>
          <a:xfrm>
            <a:off x="2593238" y="2617927"/>
            <a:ext cx="1047902"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{User Request}</a:t>
            </a:r>
            <a:endParaRPr lang="en-US" sz="900" dirty="0"/>
          </a:p>
        </p:txBody>
      </p:sp>
      <p:sp>
        <p:nvSpPr>
          <p:cNvPr id="19" name="Text 16"/>
          <p:cNvSpPr txBox="1"/>
          <p:nvPr/>
        </p:nvSpPr>
        <p:spPr>
          <a:xfrm>
            <a:off x="3553358" y="2617927"/>
            <a:ext cx="162763"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a:t>
            </a:r>
            <a:endParaRPr lang="en-US" sz="900" dirty="0"/>
          </a:p>
        </p:txBody>
      </p:sp>
      <p:sp>
        <p:nvSpPr>
          <p:cNvPr id="20" name="Text 17"/>
          <p:cNvSpPr txBox="1"/>
          <p:nvPr/>
        </p:nvSpPr>
        <p:spPr>
          <a:xfrm>
            <a:off x="3621938" y="2617927"/>
            <a:ext cx="571500"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Action:</a:t>
            </a:r>
            <a:endParaRPr lang="en-US" sz="900" dirty="0"/>
          </a:p>
        </p:txBody>
      </p:sp>
      <p:sp>
        <p:nvSpPr>
          <p:cNvPr id="21" name="Text 18"/>
          <p:cNvSpPr txBox="1"/>
          <p:nvPr/>
        </p:nvSpPr>
        <p:spPr>
          <a:xfrm>
            <a:off x="809244" y="2617927"/>
            <a:ext cx="3791102" cy="629107"/>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Ask 5 questions to define: 1. Target Audience &amp; Phase 2. Core Message &amp; Theme 3. Volume &amp; Structure 4. Design Tone 5. Data Needs</a:t>
            </a:r>
            <a:endParaRPr lang="en-US" sz="900" dirty="0"/>
          </a:p>
        </p:txBody>
      </p:sp>
      <p:sp>
        <p:nvSpPr>
          <p:cNvPr id="22" name="Shape 19"/>
          <p:cNvSpPr/>
          <p:nvPr/>
        </p:nvSpPr>
        <p:spPr>
          <a:xfrm>
            <a:off x="457200" y="4594860"/>
            <a:ext cx="4401007" cy="2324405"/>
          </a:xfrm>
          <a:prstGeom prst="roundRect">
            <a:avLst>
              <a:gd name="adj" fmla="val 1935"/>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3" name="Image 1" descr="preencoded.png">    </p:cNvPr>
          <p:cNvPicPr>
            <a:picLocks noChangeAspect="1"/>
          </p:cNvPicPr>
          <p:nvPr/>
        </p:nvPicPr>
        <p:blipFill>
          <a:blip r:embed="rId2"/>
          <a:srcRect l="-2838" r="-2838" t="0" b="0"/>
          <a:stretch/>
        </p:blipFill>
        <p:spPr>
          <a:xfrm>
            <a:off x="619049" y="4793285"/>
            <a:ext cx="123444" cy="133502"/>
          </a:xfrm>
          <a:prstGeom prst="rect">
            <a:avLst/>
          </a:prstGeom>
        </p:spPr>
      </p:pic>
      <p:sp>
        <p:nvSpPr>
          <p:cNvPr id="24" name="Text 20"/>
          <p:cNvSpPr txBox="1"/>
          <p:nvPr/>
        </p:nvSpPr>
        <p:spPr>
          <a:xfrm>
            <a:off x="819302" y="4756709"/>
            <a:ext cx="1779422"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2) データ抽出テンプレート</a:t>
            </a:r>
            <a:endParaRPr lang="en-US" sz="1000" dirty="0"/>
          </a:p>
        </p:txBody>
      </p:sp>
      <p:sp>
        <p:nvSpPr>
          <p:cNvPr id="25" name="Text 21"/>
          <p:cNvSpPr txBox="1"/>
          <p:nvPr/>
        </p:nvSpPr>
        <p:spPr>
          <a:xfrm>
            <a:off x="619049" y="5029200"/>
            <a:ext cx="3482950" cy="181051"/>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URLから必要な情報を構造化データとして抽出するパターン。</a:t>
            </a:r>
            <a:endParaRPr lang="en-US" sz="900" dirty="0"/>
          </a:p>
        </p:txBody>
      </p:sp>
      <p:sp>
        <p:nvSpPr>
          <p:cNvPr id="26" name="Shape 22"/>
          <p:cNvSpPr/>
          <p:nvPr/>
        </p:nvSpPr>
        <p:spPr>
          <a:xfrm>
            <a:off x="619049" y="5323637"/>
            <a:ext cx="4076395" cy="1429207"/>
          </a:xfrm>
          <a:prstGeom prst="roundRect">
            <a:avLst>
              <a:gd name="adj" fmla="val 3412"/>
            </a:avLst>
          </a:prstGeom>
          <a:solidFill>
            <a:srgbClr val="1E293B"/>
          </a:solidFill>
          <a:ln/>
          <a:effectLst>
            <a:outerShdw sx="100000" sy="100000" kx="0" ky="0" algn="bl" rotWithShape="0" blurRad="63500" dist="38100" dir="5400000">
              <a:srgbClr val="000000">
                <a:alpha val="10000"/>
              </a:srgbClr>
            </a:outerShdw>
          </a:effectLst>
        </p:spPr>
      </p:sp>
      <p:sp>
        <p:nvSpPr>
          <p:cNvPr id="27" name="Shape 23"/>
          <p:cNvSpPr/>
          <p:nvPr/>
        </p:nvSpPr>
        <p:spPr>
          <a:xfrm>
            <a:off x="619049" y="5323637"/>
            <a:ext cx="38405" cy="1429207"/>
          </a:xfrm>
          <a:prstGeom prst="rect">
            <a:avLst/>
          </a:prstGeom>
          <a:solidFill>
            <a:srgbClr val="3B82F6"/>
          </a:solidFill>
          <a:ln/>
        </p:spPr>
      </p:sp>
      <p:sp>
        <p:nvSpPr>
          <p:cNvPr id="28" name="Text 24"/>
          <p:cNvSpPr txBox="1"/>
          <p:nvPr/>
        </p:nvSpPr>
        <p:spPr>
          <a:xfrm>
            <a:off x="809244" y="5476342"/>
            <a:ext cx="4389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Task:</a:t>
            </a:r>
            <a:endParaRPr lang="en-US" sz="900" dirty="0"/>
          </a:p>
        </p:txBody>
      </p:sp>
      <p:sp>
        <p:nvSpPr>
          <p:cNvPr id="29" name="Text 25"/>
          <p:cNvSpPr txBox="1"/>
          <p:nvPr/>
        </p:nvSpPr>
        <p:spPr>
          <a:xfrm>
            <a:off x="809244" y="5476342"/>
            <a:ext cx="2076602"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Extract salon data from URL</a:t>
            </a:r>
            <a:endParaRPr lang="en-US" sz="900" dirty="0"/>
          </a:p>
        </p:txBody>
      </p:sp>
      <p:sp>
        <p:nvSpPr>
          <p:cNvPr id="30" name="Text 26"/>
          <p:cNvSpPr txBox="1"/>
          <p:nvPr/>
        </p:nvSpPr>
        <p:spPr>
          <a:xfrm>
            <a:off x="1015898" y="5636362"/>
            <a:ext cx="571500"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Source:</a:t>
            </a:r>
            <a:endParaRPr lang="en-US" sz="900" dirty="0"/>
          </a:p>
        </p:txBody>
      </p:sp>
      <p:sp>
        <p:nvSpPr>
          <p:cNvPr id="31" name="Text 27"/>
          <p:cNvSpPr txBox="1"/>
          <p:nvPr/>
        </p:nvSpPr>
        <p:spPr>
          <a:xfrm>
            <a:off x="1495958" y="5636362"/>
            <a:ext cx="2220163"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https://beauty.hotpepper.jp/...</a:t>
            </a:r>
            <a:endParaRPr lang="en-US" sz="900" dirty="0"/>
          </a:p>
        </p:txBody>
      </p:sp>
      <p:sp>
        <p:nvSpPr>
          <p:cNvPr id="32" name="Text 28"/>
          <p:cNvSpPr txBox="1"/>
          <p:nvPr/>
        </p:nvSpPr>
        <p:spPr>
          <a:xfrm>
            <a:off x="809244" y="5636362"/>
            <a:ext cx="3381451" cy="305410"/>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Output Format:</a:t>
            </a:r>
            <a:endParaRPr lang="en-US" sz="900" dirty="0"/>
          </a:p>
        </p:txBody>
      </p:sp>
      <p:sp>
        <p:nvSpPr>
          <p:cNvPr id="33" name="Text 29"/>
          <p:cNvSpPr txBox="1"/>
          <p:nvPr/>
        </p:nvSpPr>
        <p:spPr>
          <a:xfrm>
            <a:off x="1289304" y="5796382"/>
            <a:ext cx="181051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JSON-like Summary - Name:</a:t>
            </a:r>
            <a:endParaRPr lang="en-US" sz="900" dirty="0"/>
          </a:p>
        </p:txBody>
      </p:sp>
      <p:sp>
        <p:nvSpPr>
          <p:cNvPr id="34" name="Text 30"/>
          <p:cNvSpPr txBox="1"/>
          <p:nvPr/>
        </p:nvSpPr>
        <p:spPr>
          <a:xfrm>
            <a:off x="3004718" y="5796382"/>
            <a:ext cx="914400"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{Salon Name}</a:t>
            </a:r>
            <a:endParaRPr lang="en-US" sz="900" dirty="0"/>
          </a:p>
        </p:txBody>
      </p:sp>
      <p:sp>
        <p:nvSpPr>
          <p:cNvPr id="35" name="Text 31"/>
          <p:cNvSpPr txBox="1"/>
          <p:nvPr/>
        </p:nvSpPr>
        <p:spPr>
          <a:xfrm>
            <a:off x="809244" y="5796382"/>
            <a:ext cx="3724351" cy="629107"/>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Menus: [List top 5 categories] - Pricing: {Cut: ¥xx, Color: ¥xx} - Coupons: [New, Repeater, Student] - Copywriting: [Catchphrase, Keywords]</a:t>
            </a:r>
            <a:endParaRPr lang="en-US" sz="900" dirty="0"/>
          </a:p>
        </p:txBody>
      </p:sp>
      <p:sp>
        <p:nvSpPr>
          <p:cNvPr id="36" name="Text 32"/>
          <p:cNvSpPr txBox="1"/>
          <p:nvPr/>
        </p:nvSpPr>
        <p:spPr>
          <a:xfrm>
            <a:off x="3278124" y="6276442"/>
            <a:ext cx="848563"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Constraint:</a:t>
            </a:r>
            <a:endParaRPr lang="en-US" sz="900" dirty="0"/>
          </a:p>
        </p:txBody>
      </p:sp>
      <p:sp>
        <p:nvSpPr>
          <p:cNvPr id="37" name="Text 33"/>
          <p:cNvSpPr txBox="1"/>
          <p:nvPr/>
        </p:nvSpPr>
        <p:spPr>
          <a:xfrm>
            <a:off x="809244" y="6276442"/>
            <a:ext cx="3591763"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Use exact numbers from source.</a:t>
            </a:r>
            <a:endParaRPr lang="en-US" sz="900" dirty="0"/>
          </a:p>
        </p:txBody>
      </p:sp>
      <p:sp>
        <p:nvSpPr>
          <p:cNvPr id="38" name="Shape 34"/>
          <p:cNvSpPr/>
          <p:nvPr/>
        </p:nvSpPr>
        <p:spPr>
          <a:xfrm>
            <a:off x="5044745" y="1576426"/>
            <a:ext cx="3258007" cy="5333695"/>
          </a:xfrm>
          <a:prstGeom prst="roundRect">
            <a:avLst>
              <a:gd name="adj" fmla="val 985"/>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39" name="Image 2" descr="preencoded.png">    </p:cNvPr>
          <p:cNvPicPr>
            <a:picLocks noChangeAspect="1"/>
          </p:cNvPicPr>
          <p:nvPr/>
        </p:nvPicPr>
        <p:blipFill>
          <a:blip r:embed="rId3"/>
          <a:srcRect l="-837" r="-837" t="0" b="0"/>
          <a:stretch/>
        </p:blipFill>
        <p:spPr>
          <a:xfrm>
            <a:off x="5206594" y="1774850"/>
            <a:ext cx="152705" cy="133502"/>
          </a:xfrm>
          <a:prstGeom prst="rect">
            <a:avLst/>
          </a:prstGeom>
        </p:spPr>
      </p:pic>
      <p:sp>
        <p:nvSpPr>
          <p:cNvPr id="40" name="Text 35"/>
          <p:cNvSpPr txBox="1"/>
          <p:nvPr/>
        </p:nvSpPr>
        <p:spPr>
          <a:xfrm>
            <a:off x="5435194" y="1738274"/>
            <a:ext cx="1912925"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3) スライド生成テンプレート</a:t>
            </a:r>
            <a:endParaRPr lang="en-US" sz="1000" dirty="0"/>
          </a:p>
        </p:txBody>
      </p:sp>
      <p:sp>
        <p:nvSpPr>
          <p:cNvPr id="41" name="Text 36"/>
          <p:cNvSpPr txBox="1"/>
          <p:nvPr/>
        </p:nvSpPr>
        <p:spPr>
          <a:xfrm>
            <a:off x="5206594" y="2010766"/>
            <a:ext cx="2987345" cy="352958"/>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ツール `modify_slide` を正確に制御するための指示パターン。</a:t>
            </a:r>
            <a:endParaRPr lang="en-US" sz="900" dirty="0"/>
          </a:p>
        </p:txBody>
      </p:sp>
      <p:sp>
        <p:nvSpPr>
          <p:cNvPr id="42" name="Shape 37"/>
          <p:cNvSpPr/>
          <p:nvPr/>
        </p:nvSpPr>
        <p:spPr>
          <a:xfrm>
            <a:off x="5206594" y="2476195"/>
            <a:ext cx="2933395" cy="4276649"/>
          </a:xfrm>
          <a:prstGeom prst="roundRect">
            <a:avLst>
              <a:gd name="adj" fmla="val 810"/>
            </a:avLst>
          </a:prstGeom>
          <a:solidFill>
            <a:srgbClr val="1E293B"/>
          </a:solidFill>
          <a:ln/>
          <a:effectLst>
            <a:outerShdw sx="100000" sy="100000" kx="0" ky="0" algn="bl" rotWithShape="0" blurRad="63500" dist="38100" dir="5400000">
              <a:srgbClr val="000000">
                <a:alpha val="10000"/>
              </a:srgbClr>
            </a:outerShdw>
          </a:effectLst>
        </p:spPr>
      </p:sp>
      <p:sp>
        <p:nvSpPr>
          <p:cNvPr id="43" name="Shape 38"/>
          <p:cNvSpPr/>
          <p:nvPr/>
        </p:nvSpPr>
        <p:spPr>
          <a:xfrm>
            <a:off x="5206594" y="2476195"/>
            <a:ext cx="38405" cy="4276649"/>
          </a:xfrm>
          <a:prstGeom prst="rect">
            <a:avLst/>
          </a:prstGeom>
          <a:solidFill>
            <a:srgbClr val="3B82F6"/>
          </a:solidFill>
          <a:ln/>
        </p:spPr>
      </p:sp>
      <p:sp>
        <p:nvSpPr>
          <p:cNvPr id="44" name="Text 39"/>
          <p:cNvSpPr txBox="1"/>
          <p:nvPr/>
        </p:nvSpPr>
        <p:spPr>
          <a:xfrm>
            <a:off x="5396789" y="2628900"/>
            <a:ext cx="638251"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Command:</a:t>
            </a:r>
            <a:endParaRPr lang="en-US" sz="900" dirty="0"/>
          </a:p>
        </p:txBody>
      </p:sp>
      <p:sp>
        <p:nvSpPr>
          <p:cNvPr id="45" name="Text 40"/>
          <p:cNvSpPr txBox="1"/>
          <p:nvPr/>
        </p:nvSpPr>
        <p:spPr>
          <a:xfrm>
            <a:off x="5945429" y="2628900"/>
            <a:ext cx="914400"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modify_slide</a:t>
            </a:r>
            <a:endParaRPr lang="en-US" sz="900" dirty="0"/>
          </a:p>
        </p:txBody>
      </p:sp>
      <p:sp>
        <p:nvSpPr>
          <p:cNvPr id="46" name="Text 41"/>
          <p:cNvSpPr txBox="1"/>
          <p:nvPr/>
        </p:nvSpPr>
        <p:spPr>
          <a:xfrm>
            <a:off x="6768389" y="2628900"/>
            <a:ext cx="848563"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Parameters:</a:t>
            </a:r>
            <a:endParaRPr lang="en-US" sz="900" dirty="0"/>
          </a:p>
        </p:txBody>
      </p:sp>
      <p:sp>
        <p:nvSpPr>
          <p:cNvPr id="47" name="Text 42"/>
          <p:cNvSpPr txBox="1"/>
          <p:nvPr/>
        </p:nvSpPr>
        <p:spPr>
          <a:xfrm>
            <a:off x="5396789" y="2628900"/>
            <a:ext cx="2352751"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index:</a:t>
            </a:r>
            <a:endParaRPr lang="en-US" sz="900" dirty="0"/>
          </a:p>
        </p:txBody>
      </p:sp>
      <p:sp>
        <p:nvSpPr>
          <p:cNvPr id="48" name="Text 43"/>
          <p:cNvSpPr txBox="1"/>
          <p:nvPr/>
        </p:nvSpPr>
        <p:spPr>
          <a:xfrm>
            <a:off x="5808269" y="2788006"/>
            <a:ext cx="1047902"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{Slide Number}</a:t>
            </a:r>
            <a:endParaRPr lang="en-US" sz="900" dirty="0"/>
          </a:p>
        </p:txBody>
      </p:sp>
      <p:sp>
        <p:nvSpPr>
          <p:cNvPr id="49" name="Text 44"/>
          <p:cNvSpPr txBox="1"/>
          <p:nvPr/>
        </p:nvSpPr>
        <p:spPr>
          <a:xfrm>
            <a:off x="6768389" y="2788006"/>
            <a:ext cx="112471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new_temp_key:</a:t>
            </a:r>
            <a:endParaRPr lang="en-US" sz="900" dirty="0"/>
          </a:p>
        </p:txBody>
      </p:sp>
      <p:sp>
        <p:nvSpPr>
          <p:cNvPr id="50" name="Text 45"/>
          <p:cNvSpPr txBox="1"/>
          <p:nvPr/>
        </p:nvSpPr>
        <p:spPr>
          <a:xfrm>
            <a:off x="5396789" y="2948026"/>
            <a:ext cx="1047902"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{Template Key}</a:t>
            </a:r>
            <a:endParaRPr lang="en-US" sz="900" dirty="0"/>
          </a:p>
        </p:txBody>
      </p:sp>
      <p:sp>
        <p:nvSpPr>
          <p:cNvPr id="51" name="Text 46"/>
          <p:cNvSpPr txBox="1"/>
          <p:nvPr/>
        </p:nvSpPr>
        <p:spPr>
          <a:xfrm>
            <a:off x="5396789" y="2948026"/>
            <a:ext cx="2695651"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task_brief: "Create a slide for</a:t>
            </a:r>
            <a:endParaRPr lang="en-US" sz="900" dirty="0"/>
          </a:p>
        </p:txBody>
      </p:sp>
      <p:sp>
        <p:nvSpPr>
          <p:cNvPr id="52" name="Text 47"/>
          <p:cNvSpPr txBox="1"/>
          <p:nvPr/>
        </p:nvSpPr>
        <p:spPr>
          <a:xfrm>
            <a:off x="6014009" y="3108046"/>
            <a:ext cx="571500"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{Topic}</a:t>
            </a:r>
            <a:endParaRPr lang="en-US" sz="900" dirty="0"/>
          </a:p>
        </p:txBody>
      </p:sp>
      <p:sp>
        <p:nvSpPr>
          <p:cNvPr id="53" name="Text 48"/>
          <p:cNvSpPr txBox="1"/>
          <p:nvPr/>
        </p:nvSpPr>
        <p:spPr>
          <a:xfrm>
            <a:off x="6494069" y="3108046"/>
            <a:ext cx="70500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Header:</a:t>
            </a:r>
            <a:endParaRPr lang="en-US" sz="900" dirty="0"/>
          </a:p>
        </p:txBody>
      </p:sp>
      <p:sp>
        <p:nvSpPr>
          <p:cNvPr id="54" name="Text 49"/>
          <p:cNvSpPr txBox="1"/>
          <p:nvPr/>
        </p:nvSpPr>
        <p:spPr>
          <a:xfrm>
            <a:off x="7111289" y="3108046"/>
            <a:ext cx="571500"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{Title}</a:t>
            </a:r>
            <a:endParaRPr lang="en-US" sz="900" dirty="0"/>
          </a:p>
        </p:txBody>
      </p:sp>
      <p:sp>
        <p:nvSpPr>
          <p:cNvPr id="55" name="Text 50"/>
          <p:cNvSpPr txBox="1"/>
          <p:nvPr/>
        </p:nvSpPr>
        <p:spPr>
          <a:xfrm>
            <a:off x="5396789" y="3108046"/>
            <a:ext cx="2695651"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Body: - Point 1:</a:t>
            </a:r>
            <a:endParaRPr lang="en-US" sz="900" dirty="0"/>
          </a:p>
        </p:txBody>
      </p:sp>
      <p:sp>
        <p:nvSpPr>
          <p:cNvPr id="56" name="Text 51"/>
          <p:cNvSpPr txBox="1"/>
          <p:nvPr/>
        </p:nvSpPr>
        <p:spPr>
          <a:xfrm>
            <a:off x="6082589" y="3268066"/>
            <a:ext cx="638251"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{Detail}</a:t>
            </a:r>
            <a:endParaRPr lang="en-US" sz="900" dirty="0"/>
          </a:p>
        </p:txBody>
      </p:sp>
      <p:sp>
        <p:nvSpPr>
          <p:cNvPr id="57" name="Text 52"/>
          <p:cNvSpPr txBox="1"/>
          <p:nvPr/>
        </p:nvSpPr>
        <p:spPr>
          <a:xfrm>
            <a:off x="6631229" y="3268066"/>
            <a:ext cx="78181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Point 2:</a:t>
            </a:r>
            <a:endParaRPr lang="en-US" sz="900" dirty="0"/>
          </a:p>
        </p:txBody>
      </p:sp>
      <p:sp>
        <p:nvSpPr>
          <p:cNvPr id="58" name="Text 53"/>
          <p:cNvSpPr txBox="1"/>
          <p:nvPr/>
        </p:nvSpPr>
        <p:spPr>
          <a:xfrm>
            <a:off x="7317029" y="3268066"/>
            <a:ext cx="638251"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{Detail}</a:t>
            </a:r>
            <a:endParaRPr lang="en-US" sz="900" dirty="0"/>
          </a:p>
        </p:txBody>
      </p:sp>
      <p:sp>
        <p:nvSpPr>
          <p:cNvPr id="59" name="Text 54"/>
          <p:cNvSpPr txBox="1"/>
          <p:nvPr/>
        </p:nvSpPr>
        <p:spPr>
          <a:xfrm>
            <a:off x="5396789" y="3268066"/>
            <a:ext cx="2695651"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Visual:</a:t>
            </a:r>
            <a:endParaRPr lang="en-US" sz="900" dirty="0"/>
          </a:p>
        </p:txBody>
      </p:sp>
      <p:sp>
        <p:nvSpPr>
          <p:cNvPr id="60" name="Text 55"/>
          <p:cNvSpPr txBox="1"/>
          <p:nvPr/>
        </p:nvSpPr>
        <p:spPr>
          <a:xfrm>
            <a:off x="5876849" y="3428086"/>
            <a:ext cx="914400"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{Chart Type}</a:t>
            </a:r>
            <a:endParaRPr lang="en-US" sz="900" dirty="0"/>
          </a:p>
        </p:txBody>
      </p:sp>
      <p:sp>
        <p:nvSpPr>
          <p:cNvPr id="61" name="Text 56"/>
          <p:cNvSpPr txBox="1"/>
          <p:nvPr/>
        </p:nvSpPr>
        <p:spPr>
          <a:xfrm>
            <a:off x="6699809" y="3428086"/>
            <a:ext cx="70500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with data</a:t>
            </a:r>
            <a:endParaRPr lang="en-US" sz="900" dirty="0"/>
          </a:p>
        </p:txBody>
      </p:sp>
      <p:sp>
        <p:nvSpPr>
          <p:cNvPr id="62" name="Text 57"/>
          <p:cNvSpPr txBox="1"/>
          <p:nvPr/>
        </p:nvSpPr>
        <p:spPr>
          <a:xfrm>
            <a:off x="5396789" y="3428086"/>
            <a:ext cx="2496312" cy="305410"/>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{[Data Array]}</a:t>
            </a:r>
            <a:endParaRPr lang="en-US" sz="900" dirty="0"/>
          </a:p>
        </p:txBody>
      </p:sp>
      <p:sp>
        <p:nvSpPr>
          <p:cNvPr id="63" name="Text 58"/>
          <p:cNvSpPr txBox="1"/>
          <p:nvPr/>
        </p:nvSpPr>
        <p:spPr>
          <a:xfrm>
            <a:off x="5396789" y="3588106"/>
            <a:ext cx="2419502"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Tone: Professional, Data-driven."</a:t>
            </a:r>
            <a:endParaRPr lang="en-US" sz="900" dirty="0"/>
          </a:p>
        </p:txBody>
      </p:sp>
      <p:sp>
        <p:nvSpPr>
          <p:cNvPr id="64" name="Shape 59"/>
          <p:cNvSpPr/>
          <p:nvPr/>
        </p:nvSpPr>
        <p:spPr>
          <a:xfrm>
            <a:off x="8484718" y="1576426"/>
            <a:ext cx="3258007" cy="2991002"/>
          </a:xfrm>
          <a:prstGeom prst="roundRect">
            <a:avLst>
              <a:gd name="adj" fmla="val 1168"/>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65" name="Text 60"/>
          <p:cNvSpPr txBox="1"/>
          <p:nvPr/>
        </p:nvSpPr>
        <p:spPr>
          <a:xfrm>
            <a:off x="8723376" y="1738274"/>
            <a:ext cx="1645920"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4) 比較・ポジショニング</a:t>
            </a:r>
            <a:endParaRPr lang="en-US" sz="1000" dirty="0"/>
          </a:p>
        </p:txBody>
      </p:sp>
      <p:sp>
        <p:nvSpPr>
          <p:cNvPr id="66" name="Text 61"/>
          <p:cNvSpPr txBox="1"/>
          <p:nvPr/>
        </p:nvSpPr>
        <p:spPr>
          <a:xfrm>
            <a:off x="8646566" y="2010766"/>
            <a:ext cx="2406701" cy="181051"/>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軸と配置ルールを定義して分析図を生成。</a:t>
            </a:r>
            <a:endParaRPr lang="en-US" sz="900" dirty="0"/>
          </a:p>
        </p:txBody>
      </p:sp>
      <p:sp>
        <p:nvSpPr>
          <p:cNvPr id="67" name="Shape 62"/>
          <p:cNvSpPr/>
          <p:nvPr/>
        </p:nvSpPr>
        <p:spPr>
          <a:xfrm>
            <a:off x="8646566" y="2305202"/>
            <a:ext cx="2933395" cy="1218895"/>
          </a:xfrm>
          <a:prstGeom prst="roundRect">
            <a:avLst>
              <a:gd name="adj" fmla="val 4689"/>
            </a:avLst>
          </a:prstGeom>
          <a:solidFill>
            <a:srgbClr val="1E293B"/>
          </a:solidFill>
          <a:ln/>
          <a:effectLst>
            <a:outerShdw sx="100000" sy="100000" kx="0" ky="0" algn="bl" rotWithShape="0" blurRad="63500" dist="38100" dir="5400000">
              <a:srgbClr val="000000">
                <a:alpha val="10000"/>
              </a:srgbClr>
            </a:outerShdw>
          </a:effectLst>
        </p:spPr>
      </p:sp>
      <p:sp>
        <p:nvSpPr>
          <p:cNvPr id="68" name="Shape 63"/>
          <p:cNvSpPr/>
          <p:nvPr/>
        </p:nvSpPr>
        <p:spPr>
          <a:xfrm>
            <a:off x="8646566" y="2305202"/>
            <a:ext cx="38405" cy="1218895"/>
          </a:xfrm>
          <a:prstGeom prst="rect">
            <a:avLst/>
          </a:prstGeom>
          <a:solidFill>
            <a:srgbClr val="3B82F6"/>
          </a:solidFill>
          <a:ln/>
        </p:spPr>
      </p:sp>
      <p:sp>
        <p:nvSpPr>
          <p:cNvPr id="69" name="Text 64"/>
          <p:cNvSpPr txBox="1"/>
          <p:nvPr/>
        </p:nvSpPr>
        <p:spPr>
          <a:xfrm>
            <a:off x="8837676" y="2457907"/>
            <a:ext cx="571500"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Visual:</a:t>
            </a:r>
            <a:endParaRPr lang="en-US" sz="900" dirty="0"/>
          </a:p>
        </p:txBody>
      </p:sp>
      <p:sp>
        <p:nvSpPr>
          <p:cNvPr id="70" name="Text 65"/>
          <p:cNvSpPr txBox="1"/>
          <p:nvPr/>
        </p:nvSpPr>
        <p:spPr>
          <a:xfrm>
            <a:off x="9317736" y="2457907"/>
            <a:ext cx="139080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2-Axis Scatter Plot</a:t>
            </a:r>
            <a:endParaRPr lang="en-US" sz="900" dirty="0"/>
          </a:p>
        </p:txBody>
      </p:sp>
      <p:sp>
        <p:nvSpPr>
          <p:cNvPr id="71" name="Text 66"/>
          <p:cNvSpPr txBox="1"/>
          <p:nvPr/>
        </p:nvSpPr>
        <p:spPr>
          <a:xfrm>
            <a:off x="8837676" y="2457907"/>
            <a:ext cx="2009851" cy="305410"/>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X-Axis:</a:t>
            </a:r>
            <a:endParaRPr lang="en-US" sz="900" dirty="0"/>
          </a:p>
        </p:txBody>
      </p:sp>
      <p:sp>
        <p:nvSpPr>
          <p:cNvPr id="72" name="Text 67"/>
          <p:cNvSpPr txBox="1"/>
          <p:nvPr/>
        </p:nvSpPr>
        <p:spPr>
          <a:xfrm>
            <a:off x="9180576" y="2617927"/>
            <a:ext cx="139080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Price (Low to High)</a:t>
            </a:r>
            <a:endParaRPr lang="en-US" sz="900" dirty="0"/>
          </a:p>
        </p:txBody>
      </p:sp>
      <p:sp>
        <p:nvSpPr>
          <p:cNvPr id="73" name="Text 68"/>
          <p:cNvSpPr txBox="1"/>
          <p:nvPr/>
        </p:nvSpPr>
        <p:spPr>
          <a:xfrm>
            <a:off x="10483596" y="2617927"/>
            <a:ext cx="571500"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Y-Axis:</a:t>
            </a:r>
            <a:endParaRPr lang="en-US" sz="900" dirty="0"/>
          </a:p>
        </p:txBody>
      </p:sp>
      <p:sp>
        <p:nvSpPr>
          <p:cNvPr id="74" name="Text 69"/>
          <p:cNvSpPr txBox="1"/>
          <p:nvPr/>
        </p:nvSpPr>
        <p:spPr>
          <a:xfrm>
            <a:off x="8837676" y="2617927"/>
            <a:ext cx="2628900"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Brand (Casual to Luxury)</a:t>
            </a:r>
            <a:endParaRPr lang="en-US" sz="900" dirty="0"/>
          </a:p>
        </p:txBody>
      </p:sp>
      <p:sp>
        <p:nvSpPr>
          <p:cNvPr id="75" name="Text 70"/>
          <p:cNvSpPr txBox="1"/>
          <p:nvPr/>
        </p:nvSpPr>
        <p:spPr>
          <a:xfrm>
            <a:off x="10072116" y="2777947"/>
            <a:ext cx="4389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Plot:</a:t>
            </a:r>
            <a:endParaRPr lang="en-US" sz="900" dirty="0"/>
          </a:p>
        </p:txBody>
      </p:sp>
      <p:sp>
        <p:nvSpPr>
          <p:cNvPr id="76" name="Text 71"/>
          <p:cNvSpPr txBox="1"/>
          <p:nvPr/>
        </p:nvSpPr>
        <p:spPr>
          <a:xfrm>
            <a:off x="10415016" y="2777947"/>
            <a:ext cx="162763"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a:t>
            </a:r>
            <a:endParaRPr lang="en-US" sz="900" dirty="0"/>
          </a:p>
        </p:txBody>
      </p:sp>
      <p:sp>
        <p:nvSpPr>
          <p:cNvPr id="77" name="Text 72"/>
          <p:cNvSpPr txBox="1"/>
          <p:nvPr/>
        </p:nvSpPr>
        <p:spPr>
          <a:xfrm>
            <a:off x="8837676" y="2777947"/>
            <a:ext cx="2496312" cy="305410"/>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{Benchmark Salon}</a:t>
            </a:r>
            <a:endParaRPr lang="en-US" sz="900" dirty="0"/>
          </a:p>
        </p:txBody>
      </p:sp>
      <p:sp>
        <p:nvSpPr>
          <p:cNvPr id="78" name="Text 73"/>
          <p:cNvSpPr txBox="1"/>
          <p:nvPr/>
        </p:nvSpPr>
        <p:spPr>
          <a:xfrm>
            <a:off x="9249156" y="2937967"/>
            <a:ext cx="112471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(Mid, High) -</a:t>
            </a:r>
            <a:endParaRPr lang="en-US" sz="900" dirty="0"/>
          </a:p>
        </p:txBody>
      </p:sp>
      <p:sp>
        <p:nvSpPr>
          <p:cNvPr id="79" name="Text 74"/>
          <p:cNvSpPr txBox="1"/>
          <p:nvPr/>
        </p:nvSpPr>
        <p:spPr>
          <a:xfrm>
            <a:off x="10277856" y="2937967"/>
            <a:ext cx="1047902"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{Competitor A}</a:t>
            </a:r>
            <a:endParaRPr lang="en-US" sz="900" dirty="0"/>
          </a:p>
        </p:txBody>
      </p:sp>
      <p:sp>
        <p:nvSpPr>
          <p:cNvPr id="80" name="Text 75"/>
          <p:cNvSpPr txBox="1"/>
          <p:nvPr/>
        </p:nvSpPr>
        <p:spPr>
          <a:xfrm>
            <a:off x="8837676" y="2937967"/>
            <a:ext cx="2628900"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(Low, Low)</a:t>
            </a:r>
            <a:endParaRPr lang="en-US" sz="900" dirty="0"/>
          </a:p>
        </p:txBody>
      </p:sp>
      <p:sp>
        <p:nvSpPr>
          <p:cNvPr id="81" name="Text 76"/>
          <p:cNvSpPr txBox="1"/>
          <p:nvPr/>
        </p:nvSpPr>
        <p:spPr>
          <a:xfrm>
            <a:off x="9523476" y="3097987"/>
            <a:ext cx="7818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Highlight:</a:t>
            </a:r>
            <a:endParaRPr lang="en-US" sz="900" dirty="0"/>
          </a:p>
        </p:txBody>
      </p:sp>
      <p:sp>
        <p:nvSpPr>
          <p:cNvPr id="82" name="Text 77"/>
          <p:cNvSpPr txBox="1"/>
          <p:nvPr/>
        </p:nvSpPr>
        <p:spPr>
          <a:xfrm>
            <a:off x="8837676" y="3097987"/>
            <a:ext cx="2496312"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Empty space at (Mid, High)</a:t>
            </a:r>
            <a:endParaRPr lang="en-US" sz="900" dirty="0"/>
          </a:p>
        </p:txBody>
      </p:sp>
      <p:sp>
        <p:nvSpPr>
          <p:cNvPr id="83" name="Shape 78"/>
          <p:cNvSpPr/>
          <p:nvPr/>
        </p:nvSpPr>
        <p:spPr>
          <a:xfrm>
            <a:off x="8484718" y="4754880"/>
            <a:ext cx="3258007" cy="2162556"/>
          </a:xfrm>
          <a:prstGeom prst="roundRect">
            <a:avLst>
              <a:gd name="adj" fmla="val 2235"/>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84" name="Image 3" descr="preencoded.png">    </p:cNvPr>
          <p:cNvPicPr>
            <a:picLocks noChangeAspect="1"/>
          </p:cNvPicPr>
          <p:nvPr/>
        </p:nvPicPr>
        <p:blipFill>
          <a:blip r:embed="rId4"/>
          <a:srcRect l="-2512" r="-2512" t="0" b="0"/>
          <a:stretch/>
        </p:blipFill>
        <p:spPr>
          <a:xfrm>
            <a:off x="8646566" y="4953305"/>
            <a:ext cx="105156" cy="133502"/>
          </a:xfrm>
          <a:prstGeom prst="rect">
            <a:avLst/>
          </a:prstGeom>
        </p:spPr>
      </p:pic>
      <p:sp>
        <p:nvSpPr>
          <p:cNvPr id="85" name="Text 79"/>
          <p:cNvSpPr txBox="1"/>
          <p:nvPr/>
        </p:nvSpPr>
        <p:spPr>
          <a:xfrm>
            <a:off x="8827618" y="4916729"/>
            <a:ext cx="1550822" cy="200254"/>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5) QA指示テンプレート</a:t>
            </a:r>
            <a:endParaRPr lang="en-US" sz="1000" dirty="0"/>
          </a:p>
        </p:txBody>
      </p:sp>
      <p:sp>
        <p:nvSpPr>
          <p:cNvPr id="86" name="Text 80"/>
          <p:cNvSpPr txBox="1"/>
          <p:nvPr/>
        </p:nvSpPr>
        <p:spPr>
          <a:xfrm>
            <a:off x="8646566" y="5189220"/>
            <a:ext cx="2273198" cy="181051"/>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品質基準に基づいた修正指示パターン。</a:t>
            </a:r>
            <a:endParaRPr lang="en-US" sz="900" dirty="0"/>
          </a:p>
        </p:txBody>
      </p:sp>
      <p:sp>
        <p:nvSpPr>
          <p:cNvPr id="87" name="Shape 81"/>
          <p:cNvSpPr/>
          <p:nvPr/>
        </p:nvSpPr>
        <p:spPr>
          <a:xfrm>
            <a:off x="8646566" y="5483657"/>
            <a:ext cx="2933395" cy="1266444"/>
          </a:xfrm>
          <a:prstGeom prst="roundRect">
            <a:avLst>
              <a:gd name="adj" fmla="val 4343"/>
            </a:avLst>
          </a:prstGeom>
          <a:solidFill>
            <a:srgbClr val="1E293B"/>
          </a:solidFill>
          <a:ln/>
          <a:effectLst>
            <a:outerShdw sx="100000" sy="100000" kx="0" ky="0" algn="bl" rotWithShape="0" blurRad="63500" dist="38100" dir="5400000">
              <a:srgbClr val="000000">
                <a:alpha val="10000"/>
              </a:srgbClr>
            </a:outerShdw>
          </a:effectLst>
        </p:spPr>
      </p:sp>
      <p:sp>
        <p:nvSpPr>
          <p:cNvPr id="88" name="Shape 82"/>
          <p:cNvSpPr/>
          <p:nvPr/>
        </p:nvSpPr>
        <p:spPr>
          <a:xfrm>
            <a:off x="8646566" y="5483657"/>
            <a:ext cx="38405" cy="1266444"/>
          </a:xfrm>
          <a:prstGeom prst="rect">
            <a:avLst/>
          </a:prstGeom>
          <a:solidFill>
            <a:srgbClr val="3B82F6"/>
          </a:solidFill>
          <a:ln/>
        </p:spPr>
      </p:sp>
      <p:sp>
        <p:nvSpPr>
          <p:cNvPr id="89" name="Text 83"/>
          <p:cNvSpPr txBox="1"/>
          <p:nvPr/>
        </p:nvSpPr>
        <p:spPr>
          <a:xfrm>
            <a:off x="8837676" y="5636362"/>
            <a:ext cx="104790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Review Target:</a:t>
            </a:r>
            <a:endParaRPr lang="en-US" sz="900" dirty="0"/>
          </a:p>
        </p:txBody>
      </p:sp>
      <p:sp>
        <p:nvSpPr>
          <p:cNvPr id="90" name="Text 84"/>
          <p:cNvSpPr txBox="1"/>
          <p:nvPr/>
        </p:nvSpPr>
        <p:spPr>
          <a:xfrm>
            <a:off x="9797796" y="5636362"/>
            <a:ext cx="438912"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Slide</a:t>
            </a:r>
            <a:endParaRPr lang="en-US" sz="900" dirty="0"/>
          </a:p>
        </p:txBody>
      </p:sp>
      <p:sp>
        <p:nvSpPr>
          <p:cNvPr id="91" name="Text 85"/>
          <p:cNvSpPr txBox="1"/>
          <p:nvPr/>
        </p:nvSpPr>
        <p:spPr>
          <a:xfrm>
            <a:off x="10140696" y="5636362"/>
            <a:ext cx="295351"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{N}</a:t>
            </a:r>
            <a:endParaRPr lang="en-US" sz="900" dirty="0"/>
          </a:p>
        </p:txBody>
      </p:sp>
      <p:sp>
        <p:nvSpPr>
          <p:cNvPr id="92" name="Text 86"/>
          <p:cNvSpPr txBox="1"/>
          <p:nvPr/>
        </p:nvSpPr>
        <p:spPr>
          <a:xfrm>
            <a:off x="10346436" y="5636362"/>
            <a:ext cx="781812"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Checklist:</a:t>
            </a:r>
            <a:endParaRPr lang="en-US" sz="900" dirty="0"/>
          </a:p>
        </p:txBody>
      </p:sp>
      <p:sp>
        <p:nvSpPr>
          <p:cNvPr id="93" name="Text 87"/>
          <p:cNvSpPr txBox="1"/>
          <p:nvPr/>
        </p:nvSpPr>
        <p:spPr>
          <a:xfrm>
            <a:off x="8837676" y="5636362"/>
            <a:ext cx="2695651" cy="467258"/>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 ] Is data factual? - [ ] Is layout consistent? - [ ] Is text legible?</a:t>
            </a:r>
            <a:endParaRPr lang="en-US" sz="900" dirty="0"/>
          </a:p>
        </p:txBody>
      </p:sp>
      <p:sp>
        <p:nvSpPr>
          <p:cNvPr id="94" name="Text 88"/>
          <p:cNvSpPr txBox="1"/>
          <p:nvPr/>
        </p:nvSpPr>
        <p:spPr>
          <a:xfrm>
            <a:off x="8837676" y="6116422"/>
            <a:ext cx="848563" cy="143561"/>
          </a:xfrm>
          <a:prstGeom prst="rect">
            <a:avLst/>
          </a:prstGeom>
          <a:noFill/>
          <a:ln/>
        </p:spPr>
        <p:txBody>
          <a:bodyPr wrap="square" lIns="0" tIns="0" rIns="0" bIns="0" rtlCol="0" anchor="ctr"/>
          <a:lstStyle/>
          <a:p>
            <a:pPr algn="l" indent="0" marL="0">
              <a:buNone/>
            </a:pPr>
            <a:r>
              <a:rPr lang="en-US" sz="900" b="1" dirty="0">
                <a:solidFill>
                  <a:srgbClr val="60A5FA"/>
                </a:solidFill>
                <a:latin typeface="IBM Plex Mono" pitchFamily="34" charset="0"/>
                <a:ea typeface="IBM Plex Mono" pitchFamily="34" charset="-122"/>
                <a:cs typeface="IBM Plex Mono" pitchFamily="34" charset="-120"/>
              </a:rPr>
              <a:t>Correction:</a:t>
            </a:r>
            <a:endParaRPr lang="en-US" sz="900" dirty="0"/>
          </a:p>
        </p:txBody>
      </p:sp>
      <p:sp>
        <p:nvSpPr>
          <p:cNvPr id="95" name="Text 89"/>
          <p:cNvSpPr txBox="1"/>
          <p:nvPr/>
        </p:nvSpPr>
        <p:spPr>
          <a:xfrm>
            <a:off x="9592056" y="6116422"/>
            <a:ext cx="981151"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"Update slide</a:t>
            </a:r>
            <a:endParaRPr lang="en-US" sz="900" dirty="0"/>
          </a:p>
        </p:txBody>
      </p:sp>
      <p:sp>
        <p:nvSpPr>
          <p:cNvPr id="96" name="Text 90"/>
          <p:cNvSpPr txBox="1"/>
          <p:nvPr/>
        </p:nvSpPr>
        <p:spPr>
          <a:xfrm>
            <a:off x="10483596" y="6116422"/>
            <a:ext cx="295351"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{N}</a:t>
            </a:r>
            <a:endParaRPr lang="en-US" sz="900" dirty="0"/>
          </a:p>
        </p:txBody>
      </p:sp>
      <p:sp>
        <p:nvSpPr>
          <p:cNvPr id="97" name="Text 91"/>
          <p:cNvSpPr txBox="1"/>
          <p:nvPr/>
        </p:nvSpPr>
        <p:spPr>
          <a:xfrm>
            <a:off x="8837676" y="6116422"/>
            <a:ext cx="2563063"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Change chart color to</a:t>
            </a:r>
            <a:endParaRPr lang="en-US" sz="900" dirty="0"/>
          </a:p>
        </p:txBody>
      </p:sp>
      <p:sp>
        <p:nvSpPr>
          <p:cNvPr id="98" name="Text 92"/>
          <p:cNvSpPr txBox="1"/>
          <p:nvPr/>
        </p:nvSpPr>
        <p:spPr>
          <a:xfrm>
            <a:off x="9797796" y="6276442"/>
            <a:ext cx="571500"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#FF6B35</a:t>
            </a:r>
            <a:endParaRPr lang="en-US" sz="900" dirty="0"/>
          </a:p>
        </p:txBody>
      </p:sp>
      <p:sp>
        <p:nvSpPr>
          <p:cNvPr id="99" name="Text 93"/>
          <p:cNvSpPr txBox="1"/>
          <p:nvPr/>
        </p:nvSpPr>
        <p:spPr>
          <a:xfrm>
            <a:off x="8837676" y="6276442"/>
            <a:ext cx="2563063" cy="305410"/>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 Verify price data against</a:t>
            </a:r>
            <a:endParaRPr lang="en-US" sz="900" dirty="0"/>
          </a:p>
        </p:txBody>
      </p:sp>
      <p:sp>
        <p:nvSpPr>
          <p:cNvPr id="100" name="Text 94"/>
          <p:cNvSpPr txBox="1"/>
          <p:nvPr/>
        </p:nvSpPr>
        <p:spPr>
          <a:xfrm>
            <a:off x="9660636" y="6436462"/>
            <a:ext cx="638251" cy="143561"/>
          </a:xfrm>
          <a:prstGeom prst="rect">
            <a:avLst/>
          </a:prstGeom>
          <a:noFill/>
          <a:ln/>
        </p:spPr>
        <p:txBody>
          <a:bodyPr wrap="square" lIns="0" tIns="0" rIns="0" bIns="0" rtlCol="0" anchor="ctr"/>
          <a:lstStyle/>
          <a:p>
            <a:pPr algn="l" indent="0" marL="0">
              <a:buNone/>
            </a:pPr>
            <a:r>
              <a:rPr lang="en-US" sz="900" dirty="0">
                <a:solidFill>
                  <a:srgbClr val="F472B6"/>
                </a:solidFill>
                <a:latin typeface="IBM Plex Mono" pitchFamily="34" charset="0"/>
                <a:ea typeface="IBM Plex Mono" pitchFamily="34" charset="-122"/>
                <a:cs typeface="IBM Plex Mono" pitchFamily="34" charset="-120"/>
              </a:rPr>
              <a:t>{Source}</a:t>
            </a:r>
            <a:endParaRPr lang="en-US" sz="900" dirty="0"/>
          </a:p>
        </p:txBody>
      </p:sp>
      <p:sp>
        <p:nvSpPr>
          <p:cNvPr id="101" name="Text 95"/>
          <p:cNvSpPr txBox="1"/>
          <p:nvPr/>
        </p:nvSpPr>
        <p:spPr>
          <a:xfrm>
            <a:off x="10209276" y="6436462"/>
            <a:ext cx="228600" cy="143561"/>
          </a:xfrm>
          <a:prstGeom prst="rect">
            <a:avLst/>
          </a:prstGeom>
          <a:noFill/>
          <a:ln/>
        </p:spPr>
        <p:txBody>
          <a:bodyPr wrap="square" lIns="0" tIns="0" rIns="0" bIns="0" rtlCol="0" anchor="ctr"/>
          <a:lstStyle/>
          <a:p>
            <a:pPr algn="l" indent="0" marL="0">
              <a:buNone/>
            </a:pPr>
            <a:r>
              <a:rPr lang="en-US" sz="900" dirty="0">
                <a:solidFill>
                  <a:srgbClr val="E2E8F0"/>
                </a:solidFill>
                <a:latin typeface="IBM Plex Mono" pitchFamily="34" charset="0"/>
                <a:ea typeface="IBM Plex Mono" pitchFamily="34" charset="-122"/>
                <a:cs typeface="IBM Plex Mono" pitchFamily="34" charset="-120"/>
              </a:rPr>
              <a:t>."</a:t>
            </a:r>
            <a:endParaRPr lang="en-US" sz="900" dirty="0"/>
          </a:p>
        </p:txBody>
      </p:sp>
      <p:sp>
        <p:nvSpPr>
          <p:cNvPr id="102" name="Shape 96"/>
          <p:cNvSpPr/>
          <p:nvPr/>
        </p:nvSpPr>
        <p:spPr>
          <a:xfrm>
            <a:off x="9387230" y="6590995"/>
            <a:ext cx="75895" cy="75895"/>
          </a:xfrm>
          <a:prstGeom prst="roundRect">
            <a:avLst>
              <a:gd name="adj" fmla="val 1204822"/>
            </a:avLst>
          </a:prstGeom>
          <a:solidFill>
            <a:srgbClr val="10B981">
              <a:alpha val="83000"/>
            </a:srgbClr>
          </a:solidFill>
          <a:ln/>
        </p:spPr>
      </p:sp>
      <p:sp>
        <p:nvSpPr>
          <p:cNvPr id="103" name="Text 97"/>
          <p:cNvSpPr txBox="1"/>
          <p:nvPr/>
        </p:nvSpPr>
        <p:spPr>
          <a:xfrm>
            <a:off x="9539935" y="6562649"/>
            <a:ext cx="2286000" cy="133502"/>
          </a:xfrm>
          <a:prstGeom prst="rect">
            <a:avLst/>
          </a:prstGeom>
          <a:noFill/>
          <a:ln/>
        </p:spPr>
        <p:txBody>
          <a:bodyPr wrap="square" lIns="0" tIns="0" rIns="0" bIns="0" rtlCol="0" anchor="ctr"/>
          <a:lstStyle/>
          <a:p>
            <a:pPr algn="l" indent="0" marL="0">
              <a:buNone/>
            </a:pPr>
            <a:r>
              <a:rPr lang="en-US" sz="900" dirty="0">
                <a:solidFill>
                  <a:srgbClr val="9CA3AF"/>
                </a:solidFill>
                <a:latin typeface="ui-monospace" pitchFamily="34" charset="0"/>
                <a:ea typeface="ui-monospace" pitchFamily="34" charset="-122"/>
                <a:cs typeface="ui-monospace" pitchFamily="34" charset="-120"/>
              </a:rPr>
              <a:t>Structured Prompting System v1.0</a:t>
            </a:r>
            <a:endParaRPr lang="en-US" sz="900" dirty="0"/>
          </a:p>
        </p:txBody>
      </p:sp>
      <p:sp>
        <p:nvSpPr>
          <p:cNvPr id="104" name="Shape 98"/>
          <p:cNvSpPr/>
          <p:nvPr/>
        </p:nvSpPr>
        <p:spPr>
          <a:xfrm>
            <a:off x="0" y="0"/>
            <a:ext cx="12191695" cy="609905"/>
          </a:xfrm>
          <a:prstGeom prst="rect">
            <a:avLst/>
          </a:prstGeom>
          <a:solidFill>
            <a:srgbClr val="FFFFFF"/>
          </a:solidFill>
          <a:ln/>
        </p:spPr>
      </p:sp>
      <p:sp>
        <p:nvSpPr>
          <p:cNvPr id="105" name="Shape 99"/>
          <p:cNvSpPr/>
          <p:nvPr/>
        </p:nvSpPr>
        <p:spPr>
          <a:xfrm>
            <a:off x="0" y="600761"/>
            <a:ext cx="12191695" cy="9144"/>
          </a:xfrm>
          <a:prstGeom prst="rect">
            <a:avLst/>
          </a:prstGeom>
          <a:solidFill>
            <a:srgbClr val="F3F4F6"/>
          </a:solidFill>
          <a:ln/>
        </p:spPr>
      </p:sp>
      <p:sp>
        <p:nvSpPr>
          <p:cNvPr id="106" name="Shape 100"/>
          <p:cNvSpPr/>
          <p:nvPr/>
        </p:nvSpPr>
        <p:spPr>
          <a:xfrm>
            <a:off x="457200" y="147218"/>
            <a:ext cx="304495" cy="304495"/>
          </a:xfrm>
          <a:prstGeom prst="roundRect">
            <a:avLst>
              <a:gd name="adj" fmla="val 75075"/>
            </a:avLst>
          </a:prstGeom>
          <a:solidFill>
            <a:srgbClr val="0F4C81"/>
          </a:solidFill>
          <a:ln/>
        </p:spPr>
      </p:sp>
      <p:pic>
        <p:nvPicPr>
          <p:cNvPr id="107" name="Image 4" descr="preencoded.png">    </p:cNvPr>
          <p:cNvPicPr>
            <a:picLocks noChangeAspect="1"/>
          </p:cNvPicPr>
          <p:nvPr/>
        </p:nvPicPr>
        <p:blipFill>
          <a:blip r:embed="rId5"/>
          <a:srcRect l="-837" r="-837" t="0" b="0"/>
          <a:stretch/>
        </p:blipFill>
        <p:spPr>
          <a:xfrm>
            <a:off x="533095" y="233172"/>
            <a:ext cx="152705" cy="133502"/>
          </a:xfrm>
          <a:prstGeom prst="rect">
            <a:avLst/>
          </a:prstGeom>
        </p:spPr>
      </p:pic>
      <p:sp>
        <p:nvSpPr>
          <p:cNvPr id="108" name="Shape 101"/>
          <p:cNvSpPr/>
          <p:nvPr/>
        </p:nvSpPr>
        <p:spPr>
          <a:xfrm>
            <a:off x="9323222" y="261518"/>
            <a:ext cx="75895" cy="75895"/>
          </a:xfrm>
          <a:prstGeom prst="roundRect">
            <a:avLst>
              <a:gd name="adj" fmla="val 1204822"/>
            </a:avLst>
          </a:prstGeom>
          <a:solidFill>
            <a:srgbClr val="3B82F6"/>
          </a:solidFill>
          <a:ln/>
        </p:spPr>
      </p:sp>
      <p:sp>
        <p:nvSpPr>
          <p:cNvPr id="109" name="Text 102"/>
          <p:cNvSpPr txBox="1"/>
          <p:nvPr/>
        </p:nvSpPr>
        <p:spPr>
          <a:xfrm>
            <a:off x="875995" y="157277"/>
            <a:ext cx="217170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プロンプト設計パターン</a:t>
            </a:r>
            <a:endParaRPr lang="en-US" sz="1500" dirty="0"/>
          </a:p>
        </p:txBody>
      </p:sp>
      <p:sp>
        <p:nvSpPr>
          <p:cNvPr id="110" name="Text 103"/>
          <p:cNvSpPr txBox="1"/>
          <p:nvPr/>
        </p:nvSpPr>
        <p:spPr>
          <a:xfrm>
            <a:off x="9437522" y="213970"/>
            <a:ext cx="16002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PROCESS DOCUMENTATION</a:t>
            </a:r>
            <a:endParaRPr lang="en-US" sz="900" dirty="0"/>
          </a:p>
        </p:txBody>
      </p:sp>
      <p:sp>
        <p:nvSpPr>
          <p:cNvPr id="111" name="Text 104"/>
          <p:cNvSpPr txBox="1"/>
          <p:nvPr/>
        </p:nvSpPr>
        <p:spPr>
          <a:xfrm>
            <a:off x="11100816" y="204826"/>
            <a:ext cx="738835"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Phase 3-4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485546"/>
            <a:ext cx="12191695" cy="7591349"/>
          </a:xfrm>
          <a:prstGeom prst="rect">
            <a:avLst/>
          </a:prstGeom>
          <a:solidFill>
            <a:srgbClr val="F9FAFB"/>
          </a:solidFill>
          <a:ln/>
        </p:spPr>
      </p:sp>
      <p:sp>
        <p:nvSpPr>
          <p:cNvPr id="5" name="Shape 3"/>
          <p:cNvSpPr/>
          <p:nvPr/>
        </p:nvSpPr>
        <p:spPr>
          <a:xfrm>
            <a:off x="381305" y="866851"/>
            <a:ext cx="3715207" cy="2180844"/>
          </a:xfrm>
          <a:prstGeom prst="roundRect">
            <a:avLst>
              <a:gd name="adj" fmla="val 2197"/>
            </a:avLst>
          </a:prstGeom>
          <a:solidFill>
            <a:srgbClr val="FFFFFF"/>
          </a:solidFill>
          <a:ln w="12700">
            <a:solidFill>
              <a:srgbClr val="E5E7EB"/>
            </a:solidFill>
            <a:prstDash val="solid"/>
          </a:ln>
        </p:spPr>
      </p:sp>
      <p:sp>
        <p:nvSpPr>
          <p:cNvPr id="6" name="Shape 4"/>
          <p:cNvSpPr/>
          <p:nvPr/>
        </p:nvSpPr>
        <p:spPr>
          <a:xfrm>
            <a:off x="381305" y="866851"/>
            <a:ext cx="38405" cy="2153412"/>
          </a:xfrm>
          <a:prstGeom prst="rect">
            <a:avLst/>
          </a:prstGeom>
          <a:solidFill>
            <a:srgbClr val="E5E7EB"/>
          </a:solidFill>
          <a:ln/>
        </p:spPr>
      </p:sp>
      <p:pic>
        <p:nvPicPr>
          <p:cNvPr id="7" name="Image 0" descr="preencoded.png">    </p:cNvPr>
          <p:cNvPicPr>
            <a:picLocks noChangeAspect="1"/>
          </p:cNvPicPr>
          <p:nvPr/>
        </p:nvPicPr>
        <p:blipFill>
          <a:blip r:embed="rId1">
            <a:alphaModFix amt="20000"/>
          </a:blip>
          <a:srcRect l="-1648" r="-1648" t="0" b="0"/>
          <a:stretch/>
        </p:blipFill>
        <p:spPr>
          <a:xfrm>
            <a:off x="3756355" y="1028700"/>
            <a:ext cx="171907" cy="190195"/>
          </a:xfrm>
          <a:prstGeom prst="rect">
            <a:avLst/>
          </a:prstGeom>
        </p:spPr>
      </p:pic>
      <p:sp>
        <p:nvSpPr>
          <p:cNvPr id="8" name="Shape 5"/>
          <p:cNvSpPr/>
          <p:nvPr/>
        </p:nvSpPr>
        <p:spPr>
          <a:xfrm>
            <a:off x="580644" y="1104595"/>
            <a:ext cx="1076249" cy="200254"/>
          </a:xfrm>
          <a:prstGeom prst="roundRect">
            <a:avLst>
              <a:gd name="adj" fmla="val 86975"/>
            </a:avLst>
          </a:prstGeom>
          <a:solidFill>
            <a:srgbClr val="DBEAFE"/>
          </a:solidFill>
          <a:ln/>
        </p:spPr>
      </p:sp>
      <p:sp>
        <p:nvSpPr>
          <p:cNvPr id="9" name="Text 6"/>
          <p:cNvSpPr txBox="1"/>
          <p:nvPr/>
        </p:nvSpPr>
        <p:spPr>
          <a:xfrm>
            <a:off x="657454" y="1123798"/>
            <a:ext cx="1004011" cy="152705"/>
          </a:xfrm>
          <a:prstGeom prst="rect">
            <a:avLst/>
          </a:prstGeom>
          <a:noFill/>
          <a:ln/>
        </p:spPr>
        <p:txBody>
          <a:bodyPr wrap="square" lIns="0" tIns="0" rIns="0" bIns="0" rtlCol="0" anchor="ctr"/>
          <a:lstStyle/>
          <a:p>
            <a:pPr algn="l" indent="0" marL="0">
              <a:buNone/>
            </a:pPr>
            <a:r>
              <a:rPr lang="en-US" sz="800" b="1" dirty="0">
                <a:solidFill>
                  <a:srgbClr val="1D4ED8"/>
                </a:solidFill>
                <a:latin typeface="Noto Sans JP" pitchFamily="34" charset="0"/>
                <a:ea typeface="Noto Sans JP" pitchFamily="34" charset="-122"/>
                <a:cs typeface="Noto Sans JP" pitchFamily="34" charset="-120"/>
              </a:rPr>
              <a:t>DATA INTEGRITY</a:t>
            </a:r>
            <a:endParaRPr lang="en-US" sz="800" dirty="0"/>
          </a:p>
        </p:txBody>
      </p:sp>
      <p:pic>
        <p:nvPicPr>
          <p:cNvPr id="10" name="Image 1" descr="preencoded.png">    </p:cNvPr>
          <p:cNvPicPr>
            <a:picLocks noChangeAspect="1"/>
          </p:cNvPicPr>
          <p:nvPr/>
        </p:nvPicPr>
        <p:blipFill>
          <a:blip r:embed="rId2"/>
          <a:srcRect l="0" r="0" t="-1100" b="-1100"/>
          <a:stretch/>
        </p:blipFill>
        <p:spPr>
          <a:xfrm>
            <a:off x="580644" y="1522476"/>
            <a:ext cx="114300" cy="133502"/>
          </a:xfrm>
          <a:prstGeom prst="rect">
            <a:avLst/>
          </a:prstGeom>
        </p:spPr>
      </p:pic>
      <p:sp>
        <p:nvSpPr>
          <p:cNvPr id="11" name="Text 7"/>
          <p:cNvSpPr txBox="1"/>
          <p:nvPr/>
        </p:nvSpPr>
        <p:spPr>
          <a:xfrm>
            <a:off x="771754" y="1455725"/>
            <a:ext cx="1653235"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事実性 (Factuality)</a:t>
            </a:r>
            <a:endParaRPr lang="en-US" sz="1300" dirty="0"/>
          </a:p>
        </p:txBody>
      </p:sp>
      <p:sp>
        <p:nvSpPr>
          <p:cNvPr id="12" name="Text 8"/>
          <p:cNvSpPr txBox="1"/>
          <p:nvPr/>
        </p:nvSpPr>
        <p:spPr>
          <a:xfrm>
            <a:off x="580644" y="1807769"/>
            <a:ext cx="3300984"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価格、メニュー名、数値データはベンチマーク元の原文と完全に一致しているか。推測値の場合は「推定」と明記されているか。</a:t>
            </a:r>
            <a:endParaRPr lang="en-US" sz="1000" dirty="0"/>
          </a:p>
        </p:txBody>
      </p:sp>
      <p:sp>
        <p:nvSpPr>
          <p:cNvPr id="13" name="Shape 9"/>
          <p:cNvSpPr/>
          <p:nvPr/>
        </p:nvSpPr>
        <p:spPr>
          <a:xfrm>
            <a:off x="580644" y="2563063"/>
            <a:ext cx="3314700" cy="9144"/>
          </a:xfrm>
          <a:prstGeom prst="rect">
            <a:avLst/>
          </a:prstGeom>
          <a:solidFill>
            <a:srgbClr val="F3F4F6"/>
          </a:solidFill>
          <a:ln/>
        </p:spPr>
      </p:sp>
      <p:sp>
        <p:nvSpPr>
          <p:cNvPr id="14" name="Text 10"/>
          <p:cNvSpPr txBox="1"/>
          <p:nvPr/>
        </p:nvSpPr>
        <p:spPr>
          <a:xfrm>
            <a:off x="580644" y="267736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15" name="Text 11"/>
          <p:cNvSpPr txBox="1"/>
          <p:nvPr/>
        </p:nvSpPr>
        <p:spPr>
          <a:xfrm>
            <a:off x="2745943" y="2677363"/>
            <a:ext cx="12390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原文照合・引用元明記</a:t>
            </a:r>
            <a:endParaRPr lang="en-US" sz="900" dirty="0"/>
          </a:p>
        </p:txBody>
      </p:sp>
      <p:sp>
        <p:nvSpPr>
          <p:cNvPr id="16" name="Shape 12"/>
          <p:cNvSpPr/>
          <p:nvPr/>
        </p:nvSpPr>
        <p:spPr>
          <a:xfrm>
            <a:off x="4241902" y="866851"/>
            <a:ext cx="3715207" cy="2180844"/>
          </a:xfrm>
          <a:prstGeom prst="roundRect">
            <a:avLst>
              <a:gd name="adj" fmla="val 2197"/>
            </a:avLst>
          </a:prstGeom>
          <a:solidFill>
            <a:srgbClr val="FFFFFF"/>
          </a:solidFill>
          <a:ln w="12700">
            <a:solidFill>
              <a:srgbClr val="E5E7EB"/>
            </a:solidFill>
            <a:prstDash val="solid"/>
          </a:ln>
        </p:spPr>
      </p:sp>
      <p:sp>
        <p:nvSpPr>
          <p:cNvPr id="17" name="Shape 13"/>
          <p:cNvSpPr/>
          <p:nvPr/>
        </p:nvSpPr>
        <p:spPr>
          <a:xfrm>
            <a:off x="4241902" y="866851"/>
            <a:ext cx="38405" cy="2153412"/>
          </a:xfrm>
          <a:prstGeom prst="rect">
            <a:avLst/>
          </a:prstGeom>
          <a:solidFill>
            <a:srgbClr val="E5E7EB"/>
          </a:solidFill>
          <a:ln/>
        </p:spPr>
      </p:sp>
      <p:pic>
        <p:nvPicPr>
          <p:cNvPr id="18" name="Image 2" descr="preencoded.png">    </p:cNvPr>
          <p:cNvPicPr>
            <a:picLocks noChangeAspect="1"/>
          </p:cNvPicPr>
          <p:nvPr/>
        </p:nvPicPr>
        <p:blipFill>
          <a:blip r:embed="rId3">
            <a:alphaModFix amt="20000"/>
          </a:blip>
          <a:srcRect l="-1648" r="-1648" t="0" b="0"/>
          <a:stretch/>
        </p:blipFill>
        <p:spPr>
          <a:xfrm>
            <a:off x="7616952" y="1028700"/>
            <a:ext cx="171907" cy="190195"/>
          </a:xfrm>
          <a:prstGeom prst="rect">
            <a:avLst/>
          </a:prstGeom>
        </p:spPr>
      </p:pic>
      <p:sp>
        <p:nvSpPr>
          <p:cNvPr id="19" name="Shape 14"/>
          <p:cNvSpPr/>
          <p:nvPr/>
        </p:nvSpPr>
        <p:spPr>
          <a:xfrm>
            <a:off x="4442155" y="1104595"/>
            <a:ext cx="685800" cy="200254"/>
          </a:xfrm>
          <a:prstGeom prst="roundRect">
            <a:avLst>
              <a:gd name="adj" fmla="val 86975"/>
            </a:avLst>
          </a:prstGeom>
          <a:solidFill>
            <a:srgbClr val="D1FAE5"/>
          </a:solidFill>
          <a:ln/>
        </p:spPr>
      </p:sp>
      <p:sp>
        <p:nvSpPr>
          <p:cNvPr id="20" name="Text 15"/>
          <p:cNvSpPr txBox="1"/>
          <p:nvPr/>
        </p:nvSpPr>
        <p:spPr>
          <a:xfrm>
            <a:off x="4518050" y="1123798"/>
            <a:ext cx="613562" cy="152705"/>
          </a:xfrm>
          <a:prstGeom prst="rect">
            <a:avLst/>
          </a:prstGeom>
          <a:noFill/>
          <a:ln/>
        </p:spPr>
        <p:txBody>
          <a:bodyPr wrap="square" lIns="0" tIns="0" rIns="0" bIns="0" rtlCol="0" anchor="ctr"/>
          <a:lstStyle/>
          <a:p>
            <a:pPr algn="l" indent="0" marL="0">
              <a:buNone/>
            </a:pPr>
            <a:r>
              <a:rPr lang="en-US" sz="800" b="1" dirty="0">
                <a:solidFill>
                  <a:srgbClr val="047857"/>
                </a:solidFill>
                <a:latin typeface="Noto Sans JP" pitchFamily="34" charset="0"/>
                <a:ea typeface="Noto Sans JP" pitchFamily="34" charset="-122"/>
                <a:cs typeface="Noto Sans JP" pitchFamily="34" charset="-120"/>
              </a:rPr>
              <a:t>PROCESS</a:t>
            </a:r>
            <a:endParaRPr lang="en-US" sz="800" dirty="0"/>
          </a:p>
        </p:txBody>
      </p:sp>
      <p:pic>
        <p:nvPicPr>
          <p:cNvPr id="21" name="Image 3" descr="preencoded.png">    </p:cNvPr>
          <p:cNvPicPr>
            <a:picLocks noChangeAspect="1"/>
          </p:cNvPicPr>
          <p:nvPr/>
        </p:nvPicPr>
        <p:blipFill>
          <a:blip r:embed="rId4"/>
          <a:srcRect l="0" r="0" t="0" b="0"/>
          <a:stretch/>
        </p:blipFill>
        <p:spPr>
          <a:xfrm>
            <a:off x="4442155" y="1522476"/>
            <a:ext cx="133502" cy="133502"/>
          </a:xfrm>
          <a:prstGeom prst="rect">
            <a:avLst/>
          </a:prstGeom>
        </p:spPr>
      </p:pic>
      <p:sp>
        <p:nvSpPr>
          <p:cNvPr id="22" name="Text 16"/>
          <p:cNvSpPr txBox="1"/>
          <p:nvPr/>
        </p:nvSpPr>
        <p:spPr>
          <a:xfrm>
            <a:off x="4651553" y="1455725"/>
            <a:ext cx="2119579"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再現性 (Reproducibility)</a:t>
            </a:r>
            <a:endParaRPr lang="en-US" sz="1300" dirty="0"/>
          </a:p>
        </p:txBody>
      </p:sp>
      <p:sp>
        <p:nvSpPr>
          <p:cNvPr id="23" name="Text 17"/>
          <p:cNvSpPr txBox="1"/>
          <p:nvPr/>
        </p:nvSpPr>
        <p:spPr>
          <a:xfrm>
            <a:off x="4442155" y="1807769"/>
            <a:ext cx="3300984"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生成に使用したプロンプトと入出力ログは保存されているか。別の担当者が同じ手順で同様の成果物を作成できるか。</a:t>
            </a:r>
            <a:endParaRPr lang="en-US" sz="1000" dirty="0"/>
          </a:p>
        </p:txBody>
      </p:sp>
      <p:sp>
        <p:nvSpPr>
          <p:cNvPr id="24" name="Shape 18"/>
          <p:cNvSpPr/>
          <p:nvPr/>
        </p:nvSpPr>
        <p:spPr>
          <a:xfrm>
            <a:off x="4442155" y="2563063"/>
            <a:ext cx="3314700" cy="9144"/>
          </a:xfrm>
          <a:prstGeom prst="rect">
            <a:avLst/>
          </a:prstGeom>
          <a:solidFill>
            <a:srgbClr val="F3F4F6"/>
          </a:solidFill>
          <a:ln/>
        </p:spPr>
      </p:sp>
      <p:sp>
        <p:nvSpPr>
          <p:cNvPr id="25" name="Text 19"/>
          <p:cNvSpPr txBox="1"/>
          <p:nvPr/>
        </p:nvSpPr>
        <p:spPr>
          <a:xfrm>
            <a:off x="4442155" y="267736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26" name="Text 20"/>
          <p:cNvSpPr txBox="1"/>
          <p:nvPr/>
        </p:nvSpPr>
        <p:spPr>
          <a:xfrm>
            <a:off x="6720840" y="2677363"/>
            <a:ext cx="11247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ログ保存・手順書化</a:t>
            </a:r>
            <a:endParaRPr lang="en-US" sz="900" dirty="0"/>
          </a:p>
        </p:txBody>
      </p:sp>
      <p:sp>
        <p:nvSpPr>
          <p:cNvPr id="27" name="Shape 21"/>
          <p:cNvSpPr/>
          <p:nvPr/>
        </p:nvSpPr>
        <p:spPr>
          <a:xfrm>
            <a:off x="8102498" y="866851"/>
            <a:ext cx="3715207" cy="2180844"/>
          </a:xfrm>
          <a:prstGeom prst="roundRect">
            <a:avLst>
              <a:gd name="adj" fmla="val 2197"/>
            </a:avLst>
          </a:prstGeom>
          <a:solidFill>
            <a:srgbClr val="FFFFFF"/>
          </a:solidFill>
          <a:ln w="12700">
            <a:solidFill>
              <a:srgbClr val="E5E7EB"/>
            </a:solidFill>
            <a:prstDash val="solid"/>
          </a:ln>
        </p:spPr>
      </p:sp>
      <p:sp>
        <p:nvSpPr>
          <p:cNvPr id="28" name="Shape 22"/>
          <p:cNvSpPr/>
          <p:nvPr/>
        </p:nvSpPr>
        <p:spPr>
          <a:xfrm>
            <a:off x="8102498" y="866851"/>
            <a:ext cx="38405" cy="2153412"/>
          </a:xfrm>
          <a:prstGeom prst="rect">
            <a:avLst/>
          </a:prstGeom>
          <a:solidFill>
            <a:srgbClr val="E5E7EB"/>
          </a:solidFill>
          <a:ln/>
        </p:spPr>
      </p:sp>
      <p:pic>
        <p:nvPicPr>
          <p:cNvPr id="29" name="Image 4" descr="preencoded.png">    </p:cNvPr>
          <p:cNvPicPr>
            <a:picLocks noChangeAspect="1"/>
          </p:cNvPicPr>
          <p:nvPr/>
        </p:nvPicPr>
        <p:blipFill>
          <a:blip r:embed="rId5">
            <a:alphaModFix amt="20000"/>
          </a:blip>
          <a:srcRect l="-1648" r="-1648" t="0" b="0"/>
          <a:stretch/>
        </p:blipFill>
        <p:spPr>
          <a:xfrm>
            <a:off x="11477549" y="1028700"/>
            <a:ext cx="171907" cy="190195"/>
          </a:xfrm>
          <a:prstGeom prst="rect">
            <a:avLst/>
          </a:prstGeom>
        </p:spPr>
      </p:pic>
      <p:sp>
        <p:nvSpPr>
          <p:cNvPr id="30" name="Shape 23"/>
          <p:cNvSpPr/>
          <p:nvPr/>
        </p:nvSpPr>
        <p:spPr>
          <a:xfrm>
            <a:off x="8302752" y="1104595"/>
            <a:ext cx="590702" cy="200254"/>
          </a:xfrm>
          <a:prstGeom prst="roundRect">
            <a:avLst>
              <a:gd name="adj" fmla="val 86975"/>
            </a:avLst>
          </a:prstGeom>
          <a:solidFill>
            <a:srgbClr val="EDE9FE"/>
          </a:solidFill>
          <a:ln/>
        </p:spPr>
      </p:sp>
      <p:sp>
        <p:nvSpPr>
          <p:cNvPr id="31" name="Text 24"/>
          <p:cNvSpPr txBox="1"/>
          <p:nvPr/>
        </p:nvSpPr>
        <p:spPr>
          <a:xfrm>
            <a:off x="8378647" y="1123798"/>
            <a:ext cx="518465" cy="152705"/>
          </a:xfrm>
          <a:prstGeom prst="rect">
            <a:avLst/>
          </a:prstGeom>
          <a:noFill/>
          <a:ln/>
        </p:spPr>
        <p:txBody>
          <a:bodyPr wrap="square" lIns="0" tIns="0" rIns="0" bIns="0" rtlCol="0" anchor="ctr"/>
          <a:lstStyle/>
          <a:p>
            <a:pPr algn="l" indent="0" marL="0">
              <a:buNone/>
            </a:pPr>
            <a:r>
              <a:rPr lang="en-US" sz="800" b="1" dirty="0">
                <a:solidFill>
                  <a:srgbClr val="6D28D9"/>
                </a:solidFill>
                <a:latin typeface="Noto Sans JP" pitchFamily="34" charset="0"/>
                <a:ea typeface="Noto Sans JP" pitchFamily="34" charset="-122"/>
                <a:cs typeface="Noto Sans JP" pitchFamily="34" charset="-120"/>
              </a:rPr>
              <a:t>DESIGN</a:t>
            </a:r>
            <a:endParaRPr lang="en-US" sz="800" dirty="0"/>
          </a:p>
        </p:txBody>
      </p:sp>
      <p:pic>
        <p:nvPicPr>
          <p:cNvPr id="32" name="Image 5" descr="preencoded.png">    </p:cNvPr>
          <p:cNvPicPr>
            <a:picLocks noChangeAspect="1"/>
          </p:cNvPicPr>
          <p:nvPr/>
        </p:nvPicPr>
        <p:blipFill>
          <a:blip r:embed="rId6"/>
          <a:srcRect l="0" r="0" t="0" b="0"/>
          <a:stretch/>
        </p:blipFill>
        <p:spPr>
          <a:xfrm>
            <a:off x="8302752" y="1522476"/>
            <a:ext cx="133502" cy="133502"/>
          </a:xfrm>
          <a:prstGeom prst="rect">
            <a:avLst/>
          </a:prstGeom>
        </p:spPr>
      </p:pic>
      <p:sp>
        <p:nvSpPr>
          <p:cNvPr id="33" name="Text 25"/>
          <p:cNvSpPr txBox="1"/>
          <p:nvPr/>
        </p:nvSpPr>
        <p:spPr>
          <a:xfrm>
            <a:off x="8512150" y="1455725"/>
            <a:ext cx="1824228"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一貫性 (Consistency)</a:t>
            </a:r>
            <a:endParaRPr lang="en-US" sz="1300" dirty="0"/>
          </a:p>
        </p:txBody>
      </p:sp>
      <p:sp>
        <p:nvSpPr>
          <p:cNvPr id="34" name="Text 26"/>
          <p:cNvSpPr txBox="1"/>
          <p:nvPr/>
        </p:nvSpPr>
        <p:spPr>
          <a:xfrm>
            <a:off x="8302752" y="1807769"/>
            <a:ext cx="3367735"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ブランドカラー（HPBオレンジ）、フォント（ヒラギノ）、用語の統一、余白ルールが全ページで守られているか。</a:t>
            </a:r>
            <a:endParaRPr lang="en-US" sz="1000" dirty="0"/>
          </a:p>
        </p:txBody>
      </p:sp>
      <p:sp>
        <p:nvSpPr>
          <p:cNvPr id="35" name="Shape 27"/>
          <p:cNvSpPr/>
          <p:nvPr/>
        </p:nvSpPr>
        <p:spPr>
          <a:xfrm>
            <a:off x="8302752" y="2563063"/>
            <a:ext cx="3314700" cy="9144"/>
          </a:xfrm>
          <a:prstGeom prst="rect">
            <a:avLst/>
          </a:prstGeom>
          <a:solidFill>
            <a:srgbClr val="F3F4F6"/>
          </a:solidFill>
          <a:ln/>
        </p:spPr>
      </p:sp>
      <p:sp>
        <p:nvSpPr>
          <p:cNvPr id="36" name="Text 28"/>
          <p:cNvSpPr txBox="1"/>
          <p:nvPr/>
        </p:nvSpPr>
        <p:spPr>
          <a:xfrm>
            <a:off x="8302752" y="267736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37" name="Text 29"/>
          <p:cNvSpPr txBox="1"/>
          <p:nvPr/>
        </p:nvSpPr>
        <p:spPr>
          <a:xfrm>
            <a:off x="10582351" y="2677363"/>
            <a:ext cx="11247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トンマナ・表記統一</a:t>
            </a:r>
            <a:endParaRPr lang="en-US" sz="900" dirty="0"/>
          </a:p>
        </p:txBody>
      </p:sp>
      <p:sp>
        <p:nvSpPr>
          <p:cNvPr id="38" name="Shape 30"/>
          <p:cNvSpPr/>
          <p:nvPr/>
        </p:nvSpPr>
        <p:spPr>
          <a:xfrm>
            <a:off x="381305" y="3191256"/>
            <a:ext cx="3715207" cy="2180844"/>
          </a:xfrm>
          <a:prstGeom prst="roundRect">
            <a:avLst>
              <a:gd name="adj" fmla="val 2197"/>
            </a:avLst>
          </a:prstGeom>
          <a:solidFill>
            <a:srgbClr val="FFFFFF"/>
          </a:solidFill>
          <a:ln w="12700">
            <a:solidFill>
              <a:srgbClr val="E5E7EB"/>
            </a:solidFill>
            <a:prstDash val="solid"/>
          </a:ln>
        </p:spPr>
      </p:sp>
      <p:sp>
        <p:nvSpPr>
          <p:cNvPr id="39" name="Shape 31"/>
          <p:cNvSpPr/>
          <p:nvPr/>
        </p:nvSpPr>
        <p:spPr>
          <a:xfrm>
            <a:off x="381305" y="3191256"/>
            <a:ext cx="38405" cy="2153412"/>
          </a:xfrm>
          <a:prstGeom prst="rect">
            <a:avLst/>
          </a:prstGeom>
          <a:solidFill>
            <a:srgbClr val="E5E7EB"/>
          </a:solidFill>
          <a:ln/>
        </p:spPr>
      </p:sp>
      <p:pic>
        <p:nvPicPr>
          <p:cNvPr id="40" name="Image 6" descr="preencoded.png">    </p:cNvPr>
          <p:cNvPicPr>
            <a:picLocks noChangeAspect="1"/>
          </p:cNvPicPr>
          <p:nvPr/>
        </p:nvPicPr>
        <p:blipFill>
          <a:blip r:embed="rId7">
            <a:alphaModFix amt="20000"/>
          </a:blip>
          <a:srcRect l="-1648" r="-1648" t="0" b="0"/>
          <a:stretch/>
        </p:blipFill>
        <p:spPr>
          <a:xfrm>
            <a:off x="3756355" y="3353105"/>
            <a:ext cx="171907" cy="190195"/>
          </a:xfrm>
          <a:prstGeom prst="rect">
            <a:avLst/>
          </a:prstGeom>
        </p:spPr>
      </p:pic>
      <p:sp>
        <p:nvSpPr>
          <p:cNvPr id="41" name="Shape 32"/>
          <p:cNvSpPr/>
          <p:nvPr/>
        </p:nvSpPr>
        <p:spPr>
          <a:xfrm>
            <a:off x="580644" y="3429000"/>
            <a:ext cx="961949" cy="200254"/>
          </a:xfrm>
          <a:prstGeom prst="roundRect">
            <a:avLst>
              <a:gd name="adj" fmla="val 86975"/>
            </a:avLst>
          </a:prstGeom>
          <a:solidFill>
            <a:srgbClr val="FEF3C7"/>
          </a:solidFill>
          <a:ln/>
        </p:spPr>
      </p:sp>
      <p:sp>
        <p:nvSpPr>
          <p:cNvPr id="42" name="Text 33"/>
          <p:cNvSpPr txBox="1"/>
          <p:nvPr/>
        </p:nvSpPr>
        <p:spPr>
          <a:xfrm>
            <a:off x="657454" y="3448202"/>
            <a:ext cx="889711" cy="152705"/>
          </a:xfrm>
          <a:prstGeom prst="rect">
            <a:avLst/>
          </a:prstGeom>
          <a:noFill/>
          <a:ln/>
        </p:spPr>
        <p:txBody>
          <a:bodyPr wrap="square" lIns="0" tIns="0" rIns="0" bIns="0" rtlCol="0" anchor="ctr"/>
          <a:lstStyle/>
          <a:p>
            <a:pPr algn="l" indent="0" marL="0">
              <a:buNone/>
            </a:pPr>
            <a:r>
              <a:rPr lang="en-US" sz="800" b="1" dirty="0">
                <a:solidFill>
                  <a:srgbClr val="B45309"/>
                </a:solidFill>
                <a:latin typeface="Noto Sans JP" pitchFamily="34" charset="0"/>
                <a:ea typeface="Noto Sans JP" pitchFamily="34" charset="-122"/>
                <a:cs typeface="Noto Sans JP" pitchFamily="34" charset="-120"/>
              </a:rPr>
              <a:t>UX / CONTENT</a:t>
            </a:r>
            <a:endParaRPr lang="en-US" sz="800" dirty="0"/>
          </a:p>
        </p:txBody>
      </p:sp>
      <p:pic>
        <p:nvPicPr>
          <p:cNvPr id="43" name="Image 7" descr="preencoded.png">    </p:cNvPr>
          <p:cNvPicPr>
            <a:picLocks noChangeAspect="1"/>
          </p:cNvPicPr>
          <p:nvPr/>
        </p:nvPicPr>
        <p:blipFill>
          <a:blip r:embed="rId8"/>
          <a:srcRect l="-837" r="-837" t="0" b="0"/>
          <a:stretch/>
        </p:blipFill>
        <p:spPr>
          <a:xfrm>
            <a:off x="580644" y="3846881"/>
            <a:ext cx="152705" cy="133502"/>
          </a:xfrm>
          <a:prstGeom prst="rect">
            <a:avLst/>
          </a:prstGeom>
        </p:spPr>
      </p:pic>
      <p:sp>
        <p:nvSpPr>
          <p:cNvPr id="44" name="Text 34"/>
          <p:cNvSpPr txBox="1"/>
          <p:nvPr/>
        </p:nvSpPr>
        <p:spPr>
          <a:xfrm>
            <a:off x="809244" y="3780130"/>
            <a:ext cx="1776679"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可読性 (Readability)</a:t>
            </a:r>
            <a:endParaRPr lang="en-US" sz="1300" dirty="0"/>
          </a:p>
        </p:txBody>
      </p:sp>
      <p:sp>
        <p:nvSpPr>
          <p:cNvPr id="45" name="Text 35"/>
          <p:cNvSpPr txBox="1"/>
          <p:nvPr/>
        </p:nvSpPr>
        <p:spPr>
          <a:xfrm>
            <a:off x="580644" y="4132174"/>
            <a:ext cx="3310128"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「1スライド1メッセージ」の原則に従っているか。文字サイズは適切か。情報過多で要点が埋もれていないか。</a:t>
            </a:r>
            <a:endParaRPr lang="en-US" sz="1000" dirty="0"/>
          </a:p>
        </p:txBody>
      </p:sp>
      <p:sp>
        <p:nvSpPr>
          <p:cNvPr id="46" name="Shape 36"/>
          <p:cNvSpPr/>
          <p:nvPr/>
        </p:nvSpPr>
        <p:spPr>
          <a:xfrm>
            <a:off x="580644" y="4887468"/>
            <a:ext cx="3314700" cy="9144"/>
          </a:xfrm>
          <a:prstGeom prst="rect">
            <a:avLst/>
          </a:prstGeom>
          <a:solidFill>
            <a:srgbClr val="F3F4F6"/>
          </a:solidFill>
          <a:ln/>
        </p:spPr>
      </p:sp>
      <p:sp>
        <p:nvSpPr>
          <p:cNvPr id="47" name="Text 37"/>
          <p:cNvSpPr txBox="1"/>
          <p:nvPr/>
        </p:nvSpPr>
        <p:spPr>
          <a:xfrm>
            <a:off x="580644" y="5001768"/>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48" name="Text 38"/>
          <p:cNvSpPr txBox="1"/>
          <p:nvPr/>
        </p:nvSpPr>
        <p:spPr>
          <a:xfrm>
            <a:off x="2860243" y="5001768"/>
            <a:ext cx="11247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情報量制御・階層化</a:t>
            </a:r>
            <a:endParaRPr lang="en-US" sz="900" dirty="0"/>
          </a:p>
        </p:txBody>
      </p:sp>
      <p:sp>
        <p:nvSpPr>
          <p:cNvPr id="49" name="Shape 39"/>
          <p:cNvSpPr/>
          <p:nvPr/>
        </p:nvSpPr>
        <p:spPr>
          <a:xfrm>
            <a:off x="4241902" y="3191256"/>
            <a:ext cx="3715207" cy="2180844"/>
          </a:xfrm>
          <a:prstGeom prst="roundRect">
            <a:avLst>
              <a:gd name="adj" fmla="val 2197"/>
            </a:avLst>
          </a:prstGeom>
          <a:solidFill>
            <a:srgbClr val="FFFFFF"/>
          </a:solidFill>
          <a:ln w="12700">
            <a:solidFill>
              <a:srgbClr val="E5E7EB"/>
            </a:solidFill>
            <a:prstDash val="solid"/>
          </a:ln>
        </p:spPr>
      </p:sp>
      <p:sp>
        <p:nvSpPr>
          <p:cNvPr id="50" name="Shape 40"/>
          <p:cNvSpPr/>
          <p:nvPr/>
        </p:nvSpPr>
        <p:spPr>
          <a:xfrm>
            <a:off x="4241902" y="3191256"/>
            <a:ext cx="38405" cy="2153412"/>
          </a:xfrm>
          <a:prstGeom prst="rect">
            <a:avLst/>
          </a:prstGeom>
          <a:solidFill>
            <a:srgbClr val="E5E7EB"/>
          </a:solidFill>
          <a:ln/>
        </p:spPr>
      </p:sp>
      <p:pic>
        <p:nvPicPr>
          <p:cNvPr id="51" name="Image 8" descr="preencoded.png">    </p:cNvPr>
          <p:cNvPicPr>
            <a:picLocks noChangeAspect="1"/>
          </p:cNvPicPr>
          <p:nvPr/>
        </p:nvPicPr>
        <p:blipFill>
          <a:blip r:embed="rId9">
            <a:alphaModFix amt="20000"/>
          </a:blip>
          <a:srcRect l="-1648" r="-1648" t="0" b="0"/>
          <a:stretch/>
        </p:blipFill>
        <p:spPr>
          <a:xfrm>
            <a:off x="7616952" y="3353105"/>
            <a:ext cx="171907" cy="190195"/>
          </a:xfrm>
          <a:prstGeom prst="rect">
            <a:avLst/>
          </a:prstGeom>
        </p:spPr>
      </p:pic>
      <p:sp>
        <p:nvSpPr>
          <p:cNvPr id="52" name="Shape 41"/>
          <p:cNvSpPr/>
          <p:nvPr/>
        </p:nvSpPr>
        <p:spPr>
          <a:xfrm>
            <a:off x="4442155" y="3429000"/>
            <a:ext cx="1028700" cy="200254"/>
          </a:xfrm>
          <a:prstGeom prst="roundRect">
            <a:avLst>
              <a:gd name="adj" fmla="val 86975"/>
            </a:avLst>
          </a:prstGeom>
          <a:solidFill>
            <a:srgbClr val="E0E7FF"/>
          </a:solidFill>
          <a:ln/>
        </p:spPr>
      </p:sp>
      <p:sp>
        <p:nvSpPr>
          <p:cNvPr id="53" name="Text 42"/>
          <p:cNvSpPr txBox="1"/>
          <p:nvPr/>
        </p:nvSpPr>
        <p:spPr>
          <a:xfrm>
            <a:off x="4518050" y="3448202"/>
            <a:ext cx="956462" cy="152705"/>
          </a:xfrm>
          <a:prstGeom prst="rect">
            <a:avLst/>
          </a:prstGeom>
          <a:noFill/>
          <a:ln/>
        </p:spPr>
        <p:txBody>
          <a:bodyPr wrap="square" lIns="0" tIns="0" rIns="0" bIns="0" rtlCol="0" anchor="ctr"/>
          <a:lstStyle/>
          <a:p>
            <a:pPr algn="l" indent="0" marL="0">
              <a:buNone/>
            </a:pPr>
            <a:r>
              <a:rPr lang="en-US" sz="800" b="1" dirty="0">
                <a:solidFill>
                  <a:srgbClr val="4338CA"/>
                </a:solidFill>
                <a:latin typeface="Noto Sans JP" pitchFamily="34" charset="0"/>
                <a:ea typeface="Noto Sans JP" pitchFamily="34" charset="-122"/>
                <a:cs typeface="Noto Sans JP" pitchFamily="34" charset="-120"/>
              </a:rPr>
              <a:t>VISUALIZATION</a:t>
            </a:r>
            <a:endParaRPr lang="en-US" sz="800" dirty="0"/>
          </a:p>
        </p:txBody>
      </p:sp>
      <p:pic>
        <p:nvPicPr>
          <p:cNvPr id="54" name="Image 9" descr="preencoded.png">    </p:cNvPr>
          <p:cNvPicPr>
            <a:picLocks noChangeAspect="1"/>
          </p:cNvPicPr>
          <p:nvPr/>
        </p:nvPicPr>
        <p:blipFill>
          <a:blip r:embed="rId10"/>
          <a:srcRect l="-837" r="-837" t="0" b="0"/>
          <a:stretch/>
        </p:blipFill>
        <p:spPr>
          <a:xfrm>
            <a:off x="4442155" y="3846881"/>
            <a:ext cx="152705" cy="133502"/>
          </a:xfrm>
          <a:prstGeom prst="rect">
            <a:avLst/>
          </a:prstGeom>
        </p:spPr>
      </p:pic>
      <p:sp>
        <p:nvSpPr>
          <p:cNvPr id="55" name="Text 43"/>
          <p:cNvSpPr txBox="1"/>
          <p:nvPr/>
        </p:nvSpPr>
        <p:spPr>
          <a:xfrm>
            <a:off x="4670755" y="3780130"/>
            <a:ext cx="1548079"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視認性 (Visibility)</a:t>
            </a:r>
            <a:endParaRPr lang="en-US" sz="1300" dirty="0"/>
          </a:p>
        </p:txBody>
      </p:sp>
      <p:sp>
        <p:nvSpPr>
          <p:cNvPr id="56" name="Text 44"/>
          <p:cNvSpPr txBox="1"/>
          <p:nvPr/>
        </p:nvSpPr>
        <p:spPr>
          <a:xfrm>
            <a:off x="4442155" y="4132174"/>
            <a:ext cx="3300984"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グラフや図解に凡例・軸ラベル・単位が明示されているか。配色は色覚多様性に配慮されているか。</a:t>
            </a:r>
            <a:endParaRPr lang="en-US" sz="1000" dirty="0"/>
          </a:p>
        </p:txBody>
      </p:sp>
      <p:sp>
        <p:nvSpPr>
          <p:cNvPr id="57" name="Shape 45"/>
          <p:cNvSpPr/>
          <p:nvPr/>
        </p:nvSpPr>
        <p:spPr>
          <a:xfrm>
            <a:off x="4442155" y="4887468"/>
            <a:ext cx="3314700" cy="9144"/>
          </a:xfrm>
          <a:prstGeom prst="rect">
            <a:avLst/>
          </a:prstGeom>
          <a:solidFill>
            <a:srgbClr val="F3F4F6"/>
          </a:solidFill>
          <a:ln/>
        </p:spPr>
      </p:sp>
      <p:sp>
        <p:nvSpPr>
          <p:cNvPr id="58" name="Text 46"/>
          <p:cNvSpPr txBox="1"/>
          <p:nvPr/>
        </p:nvSpPr>
        <p:spPr>
          <a:xfrm>
            <a:off x="4442155" y="5001768"/>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59" name="Text 47"/>
          <p:cNvSpPr txBox="1"/>
          <p:nvPr/>
        </p:nvSpPr>
        <p:spPr>
          <a:xfrm>
            <a:off x="6835140" y="5001768"/>
            <a:ext cx="10104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単位・凡例の確認</a:t>
            </a:r>
            <a:endParaRPr lang="en-US" sz="900" dirty="0"/>
          </a:p>
        </p:txBody>
      </p:sp>
      <p:sp>
        <p:nvSpPr>
          <p:cNvPr id="60" name="Shape 48"/>
          <p:cNvSpPr/>
          <p:nvPr/>
        </p:nvSpPr>
        <p:spPr>
          <a:xfrm>
            <a:off x="8102498" y="3191256"/>
            <a:ext cx="3715207" cy="2180844"/>
          </a:xfrm>
          <a:prstGeom prst="roundRect">
            <a:avLst>
              <a:gd name="adj" fmla="val 2197"/>
            </a:avLst>
          </a:prstGeom>
          <a:solidFill>
            <a:srgbClr val="FFFFFF"/>
          </a:solidFill>
          <a:ln w="12700">
            <a:solidFill>
              <a:srgbClr val="E5E7EB"/>
            </a:solidFill>
            <a:prstDash val="solid"/>
          </a:ln>
        </p:spPr>
      </p:sp>
      <p:sp>
        <p:nvSpPr>
          <p:cNvPr id="61" name="Shape 49"/>
          <p:cNvSpPr/>
          <p:nvPr/>
        </p:nvSpPr>
        <p:spPr>
          <a:xfrm>
            <a:off x="8102498" y="3191256"/>
            <a:ext cx="38405" cy="2153412"/>
          </a:xfrm>
          <a:prstGeom prst="rect">
            <a:avLst/>
          </a:prstGeom>
          <a:solidFill>
            <a:srgbClr val="E5E7EB"/>
          </a:solidFill>
          <a:ln/>
        </p:spPr>
      </p:sp>
      <p:pic>
        <p:nvPicPr>
          <p:cNvPr id="62" name="Image 10" descr="preencoded.png">    </p:cNvPr>
          <p:cNvPicPr>
            <a:picLocks noChangeAspect="1"/>
          </p:cNvPicPr>
          <p:nvPr/>
        </p:nvPicPr>
        <p:blipFill>
          <a:blip r:embed="rId11">
            <a:alphaModFix amt="20000"/>
          </a:blip>
          <a:srcRect l="-1648" r="-1648" t="0" b="0"/>
          <a:stretch/>
        </p:blipFill>
        <p:spPr>
          <a:xfrm>
            <a:off x="11477549" y="3353105"/>
            <a:ext cx="171907" cy="190195"/>
          </a:xfrm>
          <a:prstGeom prst="rect">
            <a:avLst/>
          </a:prstGeom>
        </p:spPr>
      </p:pic>
      <p:sp>
        <p:nvSpPr>
          <p:cNvPr id="63" name="Shape 50"/>
          <p:cNvSpPr/>
          <p:nvPr/>
        </p:nvSpPr>
        <p:spPr>
          <a:xfrm>
            <a:off x="8302752" y="3429000"/>
            <a:ext cx="990295" cy="200254"/>
          </a:xfrm>
          <a:prstGeom prst="roundRect">
            <a:avLst>
              <a:gd name="adj" fmla="val 86975"/>
            </a:avLst>
          </a:prstGeom>
          <a:solidFill>
            <a:srgbClr val="FEE2E2"/>
          </a:solidFill>
          <a:ln/>
        </p:spPr>
      </p:sp>
      <p:sp>
        <p:nvSpPr>
          <p:cNvPr id="64" name="Text 51"/>
          <p:cNvSpPr txBox="1"/>
          <p:nvPr/>
        </p:nvSpPr>
        <p:spPr>
          <a:xfrm>
            <a:off x="8378647" y="3448202"/>
            <a:ext cx="918972" cy="152705"/>
          </a:xfrm>
          <a:prstGeom prst="rect">
            <a:avLst/>
          </a:prstGeom>
          <a:noFill/>
          <a:ln/>
        </p:spPr>
        <p:txBody>
          <a:bodyPr wrap="square" lIns="0" tIns="0" rIns="0" bIns="0" rtlCol="0" anchor="ctr"/>
          <a:lstStyle/>
          <a:p>
            <a:pPr algn="l" indent="0" marL="0">
              <a:buNone/>
            </a:pPr>
            <a:r>
              <a:rPr lang="en-US" sz="800" b="1" dirty="0">
                <a:solidFill>
                  <a:srgbClr val="B91C1C"/>
                </a:solidFill>
                <a:latin typeface="Noto Sans JP" pitchFamily="34" charset="0"/>
                <a:ea typeface="Noto Sans JP" pitchFamily="34" charset="-122"/>
                <a:cs typeface="Noto Sans JP" pitchFamily="34" charset="-120"/>
              </a:rPr>
              <a:t>REQUIREMENT</a:t>
            </a:r>
            <a:endParaRPr lang="en-US" sz="800" dirty="0"/>
          </a:p>
        </p:txBody>
      </p:sp>
      <p:pic>
        <p:nvPicPr>
          <p:cNvPr id="65" name="Image 11" descr="preencoded.png">    </p:cNvPr>
          <p:cNvPicPr>
            <a:picLocks noChangeAspect="1"/>
          </p:cNvPicPr>
          <p:nvPr/>
        </p:nvPicPr>
        <p:blipFill>
          <a:blip r:embed="rId12"/>
          <a:srcRect l="-2512" r="-2512" t="0" b="0"/>
          <a:stretch/>
        </p:blipFill>
        <p:spPr>
          <a:xfrm>
            <a:off x="8302752" y="3846881"/>
            <a:ext cx="105156" cy="133502"/>
          </a:xfrm>
          <a:prstGeom prst="rect">
            <a:avLst/>
          </a:prstGeom>
        </p:spPr>
      </p:pic>
      <p:sp>
        <p:nvSpPr>
          <p:cNvPr id="66" name="Text 52"/>
          <p:cNvSpPr txBox="1"/>
          <p:nvPr/>
        </p:nvSpPr>
        <p:spPr>
          <a:xfrm>
            <a:off x="8483803" y="3780130"/>
            <a:ext cx="2005279"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完全性 (Completeness)</a:t>
            </a:r>
            <a:endParaRPr lang="en-US" sz="1300" dirty="0"/>
          </a:p>
        </p:txBody>
      </p:sp>
      <p:sp>
        <p:nvSpPr>
          <p:cNvPr id="67" name="Text 53"/>
          <p:cNvSpPr txBox="1"/>
          <p:nvPr/>
        </p:nvSpPr>
        <p:spPr>
          <a:xfrm>
            <a:off x="8302752" y="4132174"/>
            <a:ext cx="3320186"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要求定義された全23枚のスライドが欠けなく作成されているか。必須項目（メール文面など）が網羅されているか。</a:t>
            </a:r>
            <a:endParaRPr lang="en-US" sz="1000" dirty="0"/>
          </a:p>
        </p:txBody>
      </p:sp>
      <p:sp>
        <p:nvSpPr>
          <p:cNvPr id="68" name="Shape 54"/>
          <p:cNvSpPr/>
          <p:nvPr/>
        </p:nvSpPr>
        <p:spPr>
          <a:xfrm>
            <a:off x="8302752" y="4887468"/>
            <a:ext cx="3314700" cy="9144"/>
          </a:xfrm>
          <a:prstGeom prst="rect">
            <a:avLst/>
          </a:prstGeom>
          <a:solidFill>
            <a:srgbClr val="F3F4F6"/>
          </a:solidFill>
          <a:ln/>
        </p:spPr>
      </p:sp>
      <p:sp>
        <p:nvSpPr>
          <p:cNvPr id="69" name="Text 55"/>
          <p:cNvSpPr txBox="1"/>
          <p:nvPr/>
        </p:nvSpPr>
        <p:spPr>
          <a:xfrm>
            <a:off x="8302752" y="5001768"/>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70" name="Text 56"/>
          <p:cNvSpPr txBox="1"/>
          <p:nvPr/>
        </p:nvSpPr>
        <p:spPr>
          <a:xfrm>
            <a:off x="10726826" y="5001768"/>
            <a:ext cx="972007"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要件網羅率100%</a:t>
            </a:r>
            <a:endParaRPr lang="en-US" sz="900" dirty="0"/>
          </a:p>
        </p:txBody>
      </p:sp>
      <p:sp>
        <p:nvSpPr>
          <p:cNvPr id="71" name="Shape 57"/>
          <p:cNvSpPr/>
          <p:nvPr/>
        </p:nvSpPr>
        <p:spPr>
          <a:xfrm>
            <a:off x="381305" y="5515661"/>
            <a:ext cx="3715207" cy="2180844"/>
          </a:xfrm>
          <a:prstGeom prst="roundRect">
            <a:avLst>
              <a:gd name="adj" fmla="val 2197"/>
            </a:avLst>
          </a:prstGeom>
          <a:solidFill>
            <a:srgbClr val="FFFFFF"/>
          </a:solidFill>
          <a:ln w="12700">
            <a:solidFill>
              <a:srgbClr val="E5E7EB"/>
            </a:solidFill>
            <a:prstDash val="solid"/>
          </a:ln>
        </p:spPr>
      </p:sp>
      <p:sp>
        <p:nvSpPr>
          <p:cNvPr id="72" name="Shape 58"/>
          <p:cNvSpPr/>
          <p:nvPr/>
        </p:nvSpPr>
        <p:spPr>
          <a:xfrm>
            <a:off x="381305" y="5515661"/>
            <a:ext cx="38405" cy="2153412"/>
          </a:xfrm>
          <a:prstGeom prst="rect">
            <a:avLst/>
          </a:prstGeom>
          <a:solidFill>
            <a:srgbClr val="E5E7EB"/>
          </a:solidFill>
          <a:ln/>
        </p:spPr>
      </p:sp>
      <p:pic>
        <p:nvPicPr>
          <p:cNvPr id="73" name="Image 12" descr="preencoded.png">    </p:cNvPr>
          <p:cNvPicPr>
            <a:picLocks noChangeAspect="1"/>
          </p:cNvPicPr>
          <p:nvPr/>
        </p:nvPicPr>
        <p:blipFill>
          <a:blip r:embed="rId13">
            <a:alphaModFix amt="20000"/>
          </a:blip>
          <a:srcRect l="-1648" r="-1648" t="0" b="0"/>
          <a:stretch/>
        </p:blipFill>
        <p:spPr>
          <a:xfrm>
            <a:off x="3756355" y="5677510"/>
            <a:ext cx="171907" cy="190195"/>
          </a:xfrm>
          <a:prstGeom prst="rect">
            <a:avLst/>
          </a:prstGeom>
        </p:spPr>
      </p:pic>
      <p:sp>
        <p:nvSpPr>
          <p:cNvPr id="74" name="Shape 59"/>
          <p:cNvSpPr/>
          <p:nvPr/>
        </p:nvSpPr>
        <p:spPr>
          <a:xfrm>
            <a:off x="580644" y="5754319"/>
            <a:ext cx="895198" cy="200254"/>
          </a:xfrm>
          <a:prstGeom prst="roundRect">
            <a:avLst>
              <a:gd name="adj" fmla="val 86975"/>
            </a:avLst>
          </a:prstGeom>
          <a:solidFill>
            <a:srgbClr val="F3F4F6"/>
          </a:solidFill>
          <a:ln/>
        </p:spPr>
      </p:sp>
      <p:sp>
        <p:nvSpPr>
          <p:cNvPr id="75" name="Text 60"/>
          <p:cNvSpPr txBox="1"/>
          <p:nvPr/>
        </p:nvSpPr>
        <p:spPr>
          <a:xfrm>
            <a:off x="657454" y="5772607"/>
            <a:ext cx="822960" cy="152705"/>
          </a:xfrm>
          <a:prstGeom prst="rect">
            <a:avLst/>
          </a:prstGeom>
          <a:noFill/>
          <a:ln/>
        </p:spPr>
        <p:txBody>
          <a:bodyPr wrap="square" lIns="0" tIns="0" rIns="0" bIns="0" rtlCol="0" anchor="ctr"/>
          <a:lstStyle/>
          <a:p>
            <a:pPr algn="l" indent="0" marL="0">
              <a:buNone/>
            </a:pPr>
            <a:r>
              <a:rPr lang="en-US" sz="800" b="1" dirty="0">
                <a:solidFill>
                  <a:srgbClr val="374151"/>
                </a:solidFill>
                <a:latin typeface="Noto Sans JP" pitchFamily="34" charset="0"/>
                <a:ea typeface="Noto Sans JP" pitchFamily="34" charset="-122"/>
                <a:cs typeface="Noto Sans JP" pitchFamily="34" charset="-120"/>
              </a:rPr>
              <a:t>COMPLIANCE</a:t>
            </a:r>
            <a:endParaRPr lang="en-US" sz="800" dirty="0"/>
          </a:p>
        </p:txBody>
      </p:sp>
      <p:pic>
        <p:nvPicPr>
          <p:cNvPr id="76" name="Image 13" descr="preencoded.png">    </p:cNvPr>
          <p:cNvPicPr>
            <a:picLocks noChangeAspect="1"/>
          </p:cNvPicPr>
          <p:nvPr/>
        </p:nvPicPr>
        <p:blipFill>
          <a:blip r:embed="rId14"/>
          <a:srcRect l="0" r="0" t="-1100" b="-1100"/>
          <a:stretch/>
        </p:blipFill>
        <p:spPr>
          <a:xfrm>
            <a:off x="580644" y="6171286"/>
            <a:ext cx="114300" cy="133502"/>
          </a:xfrm>
          <a:prstGeom prst="rect">
            <a:avLst/>
          </a:prstGeom>
        </p:spPr>
      </p:pic>
      <p:sp>
        <p:nvSpPr>
          <p:cNvPr id="77" name="Text 61"/>
          <p:cNvSpPr txBox="1"/>
          <p:nvPr/>
        </p:nvSpPr>
        <p:spPr>
          <a:xfrm>
            <a:off x="771754" y="6104534"/>
            <a:ext cx="2024482"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セキュリティ (Security)</a:t>
            </a:r>
            <a:endParaRPr lang="en-US" sz="1300" dirty="0"/>
          </a:p>
        </p:txBody>
      </p:sp>
      <p:sp>
        <p:nvSpPr>
          <p:cNvPr id="78" name="Text 62"/>
          <p:cNvSpPr txBox="1"/>
          <p:nvPr/>
        </p:nvSpPr>
        <p:spPr>
          <a:xfrm>
            <a:off x="580644" y="6456578"/>
            <a:ext cx="3290926"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公開すべきでない個人情報や機密データが含まれていないか。ダミーデータを使用すべき箇所が適切に処理されているか。</a:t>
            </a:r>
            <a:endParaRPr lang="en-US" sz="1000" dirty="0"/>
          </a:p>
        </p:txBody>
      </p:sp>
      <p:sp>
        <p:nvSpPr>
          <p:cNvPr id="79" name="Shape 63"/>
          <p:cNvSpPr/>
          <p:nvPr/>
        </p:nvSpPr>
        <p:spPr>
          <a:xfrm>
            <a:off x="580644" y="7211873"/>
            <a:ext cx="3314700" cy="9144"/>
          </a:xfrm>
          <a:prstGeom prst="rect">
            <a:avLst/>
          </a:prstGeom>
          <a:solidFill>
            <a:srgbClr val="F3F4F6"/>
          </a:solidFill>
          <a:ln/>
        </p:spPr>
      </p:sp>
      <p:sp>
        <p:nvSpPr>
          <p:cNvPr id="80" name="Text 64"/>
          <p:cNvSpPr txBox="1"/>
          <p:nvPr/>
        </p:nvSpPr>
        <p:spPr>
          <a:xfrm>
            <a:off x="580644" y="732617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81" name="Text 65"/>
          <p:cNvSpPr txBox="1"/>
          <p:nvPr/>
        </p:nvSpPr>
        <p:spPr>
          <a:xfrm>
            <a:off x="2825496" y="7326173"/>
            <a:ext cx="1153058"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PIIチェック・匿名化</a:t>
            </a:r>
            <a:endParaRPr lang="en-US" sz="900" dirty="0"/>
          </a:p>
        </p:txBody>
      </p:sp>
      <p:sp>
        <p:nvSpPr>
          <p:cNvPr id="82" name="Shape 66"/>
          <p:cNvSpPr/>
          <p:nvPr/>
        </p:nvSpPr>
        <p:spPr>
          <a:xfrm>
            <a:off x="4241902" y="5515661"/>
            <a:ext cx="3715207" cy="2180844"/>
          </a:xfrm>
          <a:prstGeom prst="roundRect">
            <a:avLst>
              <a:gd name="adj" fmla="val 2197"/>
            </a:avLst>
          </a:prstGeom>
          <a:solidFill>
            <a:srgbClr val="FFFFFF"/>
          </a:solidFill>
          <a:ln w="12700">
            <a:solidFill>
              <a:srgbClr val="E5E7EB"/>
            </a:solidFill>
            <a:prstDash val="solid"/>
          </a:ln>
        </p:spPr>
      </p:sp>
      <p:sp>
        <p:nvSpPr>
          <p:cNvPr id="83" name="Shape 67"/>
          <p:cNvSpPr/>
          <p:nvPr/>
        </p:nvSpPr>
        <p:spPr>
          <a:xfrm>
            <a:off x="4241902" y="5515661"/>
            <a:ext cx="38405" cy="2153412"/>
          </a:xfrm>
          <a:prstGeom prst="rect">
            <a:avLst/>
          </a:prstGeom>
          <a:solidFill>
            <a:srgbClr val="E5E7EB"/>
          </a:solidFill>
          <a:ln/>
        </p:spPr>
      </p:sp>
      <p:pic>
        <p:nvPicPr>
          <p:cNvPr id="84" name="Image 14" descr="preencoded.png">    </p:cNvPr>
          <p:cNvPicPr>
            <a:picLocks noChangeAspect="1"/>
          </p:cNvPicPr>
          <p:nvPr/>
        </p:nvPicPr>
        <p:blipFill>
          <a:blip r:embed="rId15">
            <a:alphaModFix amt="20000"/>
          </a:blip>
          <a:srcRect l="-1648" r="-1648" t="0" b="0"/>
          <a:stretch/>
        </p:blipFill>
        <p:spPr>
          <a:xfrm>
            <a:off x="7616952" y="5677510"/>
            <a:ext cx="171907" cy="190195"/>
          </a:xfrm>
          <a:prstGeom prst="rect">
            <a:avLst/>
          </a:prstGeom>
        </p:spPr>
      </p:pic>
      <p:sp>
        <p:nvSpPr>
          <p:cNvPr id="85" name="Text 68"/>
          <p:cNvSpPr txBox="1"/>
          <p:nvPr/>
        </p:nvSpPr>
        <p:spPr>
          <a:xfrm>
            <a:off x="4518050" y="5772607"/>
            <a:ext cx="680314" cy="152705"/>
          </a:xfrm>
          <a:prstGeom prst="rect">
            <a:avLst/>
          </a:prstGeom>
          <a:noFill/>
          <a:ln/>
        </p:spPr>
        <p:txBody>
          <a:bodyPr wrap="square" lIns="0" tIns="0" rIns="0" bIns="0" rtlCol="0" anchor="ctr"/>
          <a:lstStyle/>
          <a:p>
            <a:pPr algn="l" indent="0" marL="0">
              <a:buNone/>
            </a:pPr>
            <a:r>
              <a:rPr lang="en-US" sz="800" b="1" dirty="0">
                <a:solidFill>
                  <a:srgbClr val="000000"/>
                </a:solidFill>
                <a:latin typeface="Noto Sans JP" pitchFamily="34" charset="0"/>
                <a:ea typeface="Noto Sans JP" pitchFamily="34" charset="-122"/>
                <a:cs typeface="Noto Sans JP" pitchFamily="34" charset="-120"/>
              </a:rPr>
              <a:t>USABILITY</a:t>
            </a:r>
            <a:endParaRPr lang="en-US" sz="800" dirty="0"/>
          </a:p>
        </p:txBody>
      </p:sp>
      <p:pic>
        <p:nvPicPr>
          <p:cNvPr id="86" name="Image 15" descr="preencoded.png">    </p:cNvPr>
          <p:cNvPicPr>
            <a:picLocks noChangeAspect="1"/>
          </p:cNvPicPr>
          <p:nvPr/>
        </p:nvPicPr>
        <p:blipFill>
          <a:blip r:embed="rId16"/>
          <a:srcRect l="0" r="0" t="0" b="0"/>
          <a:stretch/>
        </p:blipFill>
        <p:spPr>
          <a:xfrm>
            <a:off x="4442155" y="6171286"/>
            <a:ext cx="133502" cy="133502"/>
          </a:xfrm>
          <a:prstGeom prst="rect">
            <a:avLst/>
          </a:prstGeom>
        </p:spPr>
      </p:pic>
      <p:sp>
        <p:nvSpPr>
          <p:cNvPr id="87" name="Text 69"/>
          <p:cNvSpPr txBox="1"/>
          <p:nvPr/>
        </p:nvSpPr>
        <p:spPr>
          <a:xfrm>
            <a:off x="4651553" y="6104534"/>
            <a:ext cx="2358238"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差し替え性 (Replaceability)</a:t>
            </a:r>
            <a:endParaRPr lang="en-US" sz="1300" dirty="0"/>
          </a:p>
        </p:txBody>
      </p:sp>
      <p:sp>
        <p:nvSpPr>
          <p:cNvPr id="88" name="Text 70"/>
          <p:cNvSpPr txBox="1"/>
          <p:nvPr/>
        </p:nvSpPr>
        <p:spPr>
          <a:xfrm>
            <a:off x="4442155" y="6456578"/>
            <a:ext cx="3300984"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提案先が変わった際、容易にデータを差し替えられる構造（プレースホルダ、分離設計）になっているか。</a:t>
            </a:r>
            <a:endParaRPr lang="en-US" sz="1000" dirty="0"/>
          </a:p>
        </p:txBody>
      </p:sp>
      <p:sp>
        <p:nvSpPr>
          <p:cNvPr id="89" name="Shape 71"/>
          <p:cNvSpPr/>
          <p:nvPr/>
        </p:nvSpPr>
        <p:spPr>
          <a:xfrm>
            <a:off x="4442155" y="7211873"/>
            <a:ext cx="3314700" cy="9144"/>
          </a:xfrm>
          <a:prstGeom prst="rect">
            <a:avLst/>
          </a:prstGeom>
          <a:solidFill>
            <a:srgbClr val="F3F4F6"/>
          </a:solidFill>
          <a:ln/>
        </p:spPr>
      </p:sp>
      <p:sp>
        <p:nvSpPr>
          <p:cNvPr id="90" name="Text 72"/>
          <p:cNvSpPr txBox="1"/>
          <p:nvPr/>
        </p:nvSpPr>
        <p:spPr>
          <a:xfrm>
            <a:off x="4442155" y="732617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91" name="Text 73"/>
          <p:cNvSpPr txBox="1"/>
          <p:nvPr/>
        </p:nvSpPr>
        <p:spPr>
          <a:xfrm>
            <a:off x="6724498" y="7326173"/>
            <a:ext cx="1114654"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テンプレート構造化</a:t>
            </a:r>
            <a:endParaRPr lang="en-US" sz="900" dirty="0"/>
          </a:p>
        </p:txBody>
      </p:sp>
      <p:sp>
        <p:nvSpPr>
          <p:cNvPr id="92" name="Shape 74"/>
          <p:cNvSpPr/>
          <p:nvPr/>
        </p:nvSpPr>
        <p:spPr>
          <a:xfrm>
            <a:off x="8102498" y="5515661"/>
            <a:ext cx="3715207" cy="2180844"/>
          </a:xfrm>
          <a:prstGeom prst="roundRect">
            <a:avLst>
              <a:gd name="adj" fmla="val 2197"/>
            </a:avLst>
          </a:prstGeom>
          <a:solidFill>
            <a:srgbClr val="FFFFFF"/>
          </a:solidFill>
          <a:ln w="12700">
            <a:solidFill>
              <a:srgbClr val="E5E7EB"/>
            </a:solidFill>
            <a:prstDash val="solid"/>
          </a:ln>
        </p:spPr>
      </p:sp>
      <p:sp>
        <p:nvSpPr>
          <p:cNvPr id="93" name="Shape 75"/>
          <p:cNvSpPr/>
          <p:nvPr/>
        </p:nvSpPr>
        <p:spPr>
          <a:xfrm>
            <a:off x="8102498" y="5515661"/>
            <a:ext cx="38405" cy="2153412"/>
          </a:xfrm>
          <a:prstGeom prst="rect">
            <a:avLst/>
          </a:prstGeom>
          <a:solidFill>
            <a:srgbClr val="E5E7EB"/>
          </a:solidFill>
          <a:ln/>
        </p:spPr>
      </p:sp>
      <p:pic>
        <p:nvPicPr>
          <p:cNvPr id="94" name="Image 16" descr="preencoded.png">    </p:cNvPr>
          <p:cNvPicPr>
            <a:picLocks noChangeAspect="1"/>
          </p:cNvPicPr>
          <p:nvPr/>
        </p:nvPicPr>
        <p:blipFill>
          <a:blip r:embed="rId17">
            <a:alphaModFix amt="20000"/>
          </a:blip>
          <a:srcRect l="-1648" r="-1648" t="0" b="0"/>
          <a:stretch/>
        </p:blipFill>
        <p:spPr>
          <a:xfrm>
            <a:off x="11477549" y="5677510"/>
            <a:ext cx="171907" cy="190195"/>
          </a:xfrm>
          <a:prstGeom prst="rect">
            <a:avLst/>
          </a:prstGeom>
        </p:spPr>
      </p:pic>
      <p:sp>
        <p:nvSpPr>
          <p:cNvPr id="95" name="Text 76"/>
          <p:cNvSpPr txBox="1"/>
          <p:nvPr/>
        </p:nvSpPr>
        <p:spPr>
          <a:xfrm>
            <a:off x="8378647" y="5772607"/>
            <a:ext cx="747065" cy="152705"/>
          </a:xfrm>
          <a:prstGeom prst="rect">
            <a:avLst/>
          </a:prstGeom>
          <a:noFill/>
          <a:ln/>
        </p:spPr>
        <p:txBody>
          <a:bodyPr wrap="square" lIns="0" tIns="0" rIns="0" bIns="0" rtlCol="0" anchor="ctr"/>
          <a:lstStyle/>
          <a:p>
            <a:pPr algn="l" indent="0" marL="0">
              <a:buNone/>
            </a:pPr>
            <a:r>
              <a:rPr lang="en-US" sz="800" b="1" dirty="0">
                <a:solidFill>
                  <a:srgbClr val="000000"/>
                </a:solidFill>
                <a:latin typeface="Noto Sans JP" pitchFamily="34" charset="0"/>
                <a:ea typeface="Noto Sans JP" pitchFamily="34" charset="-122"/>
                <a:cs typeface="Noto Sans JP" pitchFamily="34" charset="-120"/>
              </a:rPr>
              <a:t>WORKFLOW</a:t>
            </a:r>
            <a:endParaRPr lang="en-US" sz="800" dirty="0"/>
          </a:p>
        </p:txBody>
      </p:sp>
      <p:pic>
        <p:nvPicPr>
          <p:cNvPr id="96" name="Image 17" descr="preencoded.png">    </p:cNvPr>
          <p:cNvPicPr>
            <a:picLocks noChangeAspect="1"/>
          </p:cNvPicPr>
          <p:nvPr/>
        </p:nvPicPr>
        <p:blipFill>
          <a:blip r:embed="rId18"/>
          <a:srcRect l="0" r="0" t="-1100" b="-1100"/>
          <a:stretch/>
        </p:blipFill>
        <p:spPr>
          <a:xfrm>
            <a:off x="8302752" y="6171286"/>
            <a:ext cx="114300" cy="133502"/>
          </a:xfrm>
          <a:prstGeom prst="rect">
            <a:avLst/>
          </a:prstGeom>
        </p:spPr>
      </p:pic>
      <p:sp>
        <p:nvSpPr>
          <p:cNvPr id="97" name="Text 77"/>
          <p:cNvSpPr txBox="1"/>
          <p:nvPr/>
        </p:nvSpPr>
        <p:spPr>
          <a:xfrm>
            <a:off x="8492947" y="6104534"/>
            <a:ext cx="2024482"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レビュー (Review Gate)</a:t>
            </a:r>
            <a:endParaRPr lang="en-US" sz="1300" dirty="0"/>
          </a:p>
        </p:txBody>
      </p:sp>
      <p:sp>
        <p:nvSpPr>
          <p:cNvPr id="98" name="Text 78"/>
          <p:cNvSpPr txBox="1"/>
          <p:nvPr/>
        </p:nvSpPr>
        <p:spPr>
          <a:xfrm>
            <a:off x="8302752" y="6456578"/>
            <a:ext cx="3300984"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作成者レビュー→品質レビュー→最終承認のプロセスを経ているか。承認者のサインオフが得られているか。</a:t>
            </a:r>
            <a:endParaRPr lang="en-US" sz="1000" dirty="0"/>
          </a:p>
        </p:txBody>
      </p:sp>
      <p:sp>
        <p:nvSpPr>
          <p:cNvPr id="99" name="Shape 79"/>
          <p:cNvSpPr/>
          <p:nvPr/>
        </p:nvSpPr>
        <p:spPr>
          <a:xfrm>
            <a:off x="8302752" y="7211873"/>
            <a:ext cx="3314700" cy="9144"/>
          </a:xfrm>
          <a:prstGeom prst="rect">
            <a:avLst/>
          </a:prstGeom>
          <a:solidFill>
            <a:srgbClr val="F3F4F6"/>
          </a:solidFill>
          <a:ln/>
        </p:spPr>
      </p:sp>
      <p:sp>
        <p:nvSpPr>
          <p:cNvPr id="100" name="Text 80"/>
          <p:cNvSpPr txBox="1"/>
          <p:nvPr/>
        </p:nvSpPr>
        <p:spPr>
          <a:xfrm>
            <a:off x="8302752" y="7326173"/>
            <a:ext cx="838505"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CHECK POINT</a:t>
            </a:r>
            <a:endParaRPr lang="en-US" sz="900" dirty="0"/>
          </a:p>
        </p:txBody>
      </p:sp>
      <p:sp>
        <p:nvSpPr>
          <p:cNvPr id="101" name="Text 81"/>
          <p:cNvSpPr txBox="1"/>
          <p:nvPr/>
        </p:nvSpPr>
        <p:spPr>
          <a:xfrm>
            <a:off x="10810951" y="7326173"/>
            <a:ext cx="8961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承認フロー完了</a:t>
            </a:r>
            <a:endParaRPr lang="en-US" sz="900" dirty="0"/>
          </a:p>
        </p:txBody>
      </p:sp>
      <p:sp>
        <p:nvSpPr>
          <p:cNvPr id="102" name="Shape 82"/>
          <p:cNvSpPr/>
          <p:nvPr/>
        </p:nvSpPr>
        <p:spPr>
          <a:xfrm>
            <a:off x="0" y="0"/>
            <a:ext cx="12191695" cy="485546"/>
          </a:xfrm>
          <a:prstGeom prst="rect">
            <a:avLst/>
          </a:prstGeom>
          <a:solidFill>
            <a:srgbClr val="FFFFFF"/>
          </a:solidFill>
          <a:ln/>
        </p:spPr>
      </p:sp>
      <p:sp>
        <p:nvSpPr>
          <p:cNvPr id="103" name="Shape 83"/>
          <p:cNvSpPr/>
          <p:nvPr/>
        </p:nvSpPr>
        <p:spPr>
          <a:xfrm>
            <a:off x="0" y="476402"/>
            <a:ext cx="12191695" cy="9144"/>
          </a:xfrm>
          <a:prstGeom prst="rect">
            <a:avLst/>
          </a:prstGeom>
          <a:solidFill>
            <a:srgbClr val="F3F4F6"/>
          </a:solidFill>
          <a:ln/>
        </p:spPr>
      </p:sp>
      <p:sp>
        <p:nvSpPr>
          <p:cNvPr id="104" name="Shape 84"/>
          <p:cNvSpPr/>
          <p:nvPr/>
        </p:nvSpPr>
        <p:spPr>
          <a:xfrm>
            <a:off x="609905" y="47549"/>
            <a:ext cx="381305" cy="381305"/>
          </a:xfrm>
          <a:prstGeom prst="roundRect">
            <a:avLst>
              <a:gd name="adj" fmla="val 47962"/>
            </a:avLst>
          </a:prstGeom>
          <a:solidFill>
            <a:srgbClr val="2563EB"/>
          </a:solidFill>
          <a:ln/>
          <a:effectLst>
            <a:outerShdw sx="100000" sy="100000" kx="0" ky="0" algn="bl" rotWithShape="0" blurRad="12700" dist="12700" dir="16200000">
              <a:srgbClr val="000000">
                <a:alpha val="75000"/>
              </a:srgbClr>
            </a:outerShdw>
          </a:effectLst>
        </p:spPr>
      </p:sp>
      <p:pic>
        <p:nvPicPr>
          <p:cNvPr id="105" name="Image 18" descr="preencoded.png">    </p:cNvPr>
          <p:cNvPicPr>
            <a:picLocks noChangeAspect="1"/>
          </p:cNvPicPr>
          <p:nvPr/>
        </p:nvPicPr>
        <p:blipFill>
          <a:blip r:embed="rId19"/>
          <a:srcRect l="-1773" r="-1773" t="0" b="0"/>
          <a:stretch/>
        </p:blipFill>
        <p:spPr>
          <a:xfrm>
            <a:off x="733349" y="152705"/>
            <a:ext cx="133502" cy="171907"/>
          </a:xfrm>
          <a:prstGeom prst="rect">
            <a:avLst/>
          </a:prstGeom>
        </p:spPr>
      </p:pic>
      <p:sp>
        <p:nvSpPr>
          <p:cNvPr id="106" name="Shape 85"/>
          <p:cNvSpPr/>
          <p:nvPr/>
        </p:nvSpPr>
        <p:spPr>
          <a:xfrm>
            <a:off x="9186062" y="57607"/>
            <a:ext cx="2400300" cy="362102"/>
          </a:xfrm>
          <a:prstGeom prst="roundRect">
            <a:avLst>
              <a:gd name="adj" fmla="val 252526"/>
            </a:avLst>
          </a:prstGeom>
          <a:solidFill>
            <a:srgbClr val="F9FAFB"/>
          </a:solidFill>
          <a:ln w="12700">
            <a:solidFill>
              <a:srgbClr val="F3F4F6"/>
            </a:solidFill>
            <a:prstDash val="solid"/>
          </a:ln>
        </p:spPr>
      </p:sp>
      <p:pic>
        <p:nvPicPr>
          <p:cNvPr id="107" name="Image 19" descr="preencoded.png">    </p:cNvPr>
          <p:cNvPicPr>
            <a:picLocks noChangeAspect="1"/>
          </p:cNvPicPr>
          <p:nvPr/>
        </p:nvPicPr>
        <p:blipFill>
          <a:blip r:embed="rId20"/>
          <a:srcRect l="0" r="0" t="0" b="0"/>
          <a:stretch/>
        </p:blipFill>
        <p:spPr>
          <a:xfrm>
            <a:off x="9347911" y="161849"/>
            <a:ext cx="152705" cy="152705"/>
          </a:xfrm>
          <a:prstGeom prst="rect">
            <a:avLst/>
          </a:prstGeom>
        </p:spPr>
      </p:pic>
      <p:sp>
        <p:nvSpPr>
          <p:cNvPr id="108" name="Text 86"/>
          <p:cNvSpPr txBox="1"/>
          <p:nvPr/>
        </p:nvSpPr>
        <p:spPr>
          <a:xfrm>
            <a:off x="1143000" y="-9144"/>
            <a:ext cx="1371600"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QUALITY ASSURANCE</a:t>
            </a:r>
            <a:endParaRPr lang="en-US" sz="900" dirty="0"/>
          </a:p>
        </p:txBody>
      </p:sp>
      <p:sp>
        <p:nvSpPr>
          <p:cNvPr id="109" name="Text 87"/>
          <p:cNvSpPr txBox="1"/>
          <p:nvPr/>
        </p:nvSpPr>
        <p:spPr>
          <a:xfrm>
            <a:off x="1143000" y="152705"/>
            <a:ext cx="2628900"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品質保証チェックリスト</a:t>
            </a:r>
            <a:endParaRPr lang="en-US" sz="1800" dirty="0"/>
          </a:p>
        </p:txBody>
      </p:sp>
      <p:sp>
        <p:nvSpPr>
          <p:cNvPr id="110" name="Text 88"/>
          <p:cNvSpPr txBox="1"/>
          <p:nvPr/>
        </p:nvSpPr>
        <p:spPr>
          <a:xfrm>
            <a:off x="9614916" y="142646"/>
            <a:ext cx="1910182"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9つの観点による出荷判定基準</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Shape 3"/>
          <p:cNvSpPr/>
          <p:nvPr/>
        </p:nvSpPr>
        <p:spPr>
          <a:xfrm>
            <a:off x="609905" y="1143000"/>
            <a:ext cx="323698" cy="381305"/>
          </a:xfrm>
          <a:prstGeom prst="roundRect">
            <a:avLst>
              <a:gd name="adj" fmla="val 66467"/>
            </a:avLst>
          </a:prstGeom>
          <a:solidFill>
            <a:srgbClr val="DBEAFE"/>
          </a:solidFill>
          <a:ln/>
        </p:spPr>
      </p:sp>
      <p:pic>
        <p:nvPicPr>
          <p:cNvPr id="6" name="Image 0" descr="preencoded.png">    </p:cNvPr>
          <p:cNvPicPr>
            <a:picLocks noChangeAspect="1"/>
          </p:cNvPicPr>
          <p:nvPr/>
        </p:nvPicPr>
        <p:blipFill>
          <a:blip r:embed="rId1"/>
          <a:srcRect l="0" r="0" t="0" b="0"/>
          <a:stretch/>
        </p:blipFill>
        <p:spPr>
          <a:xfrm>
            <a:off x="685800" y="1249985"/>
            <a:ext cx="171907" cy="171907"/>
          </a:xfrm>
          <a:prstGeom prst="rect">
            <a:avLst/>
          </a:prstGeom>
        </p:spPr>
      </p:pic>
      <p:sp>
        <p:nvSpPr>
          <p:cNvPr id="7" name="Text 4"/>
          <p:cNvSpPr txBox="1"/>
          <p:nvPr/>
        </p:nvSpPr>
        <p:spPr>
          <a:xfrm>
            <a:off x="1047902" y="1162202"/>
            <a:ext cx="31437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再現可能な生成ワークフロー</a:t>
            </a:r>
            <a:endParaRPr lang="en-US" sz="1800" dirty="0"/>
          </a:p>
        </p:txBody>
      </p:sp>
      <p:sp>
        <p:nvSpPr>
          <p:cNvPr id="8" name="Shape 5"/>
          <p:cNvSpPr/>
          <p:nvPr/>
        </p:nvSpPr>
        <p:spPr>
          <a:xfrm>
            <a:off x="609905" y="1676095"/>
            <a:ext cx="10972800" cy="1390802"/>
          </a:xfrm>
          <a:prstGeom prst="roundRect">
            <a:avLst>
              <a:gd name="adj" fmla="val 5404"/>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9" name="Shape 6"/>
          <p:cNvSpPr/>
          <p:nvPr/>
        </p:nvSpPr>
        <p:spPr>
          <a:xfrm>
            <a:off x="1228954" y="2143354"/>
            <a:ext cx="9734702" cy="19202"/>
          </a:xfrm>
          <a:prstGeom prst="rect">
            <a:avLst/>
          </a:prstGeom>
          <a:solidFill>
            <a:srgbClr val="F3F4F6"/>
          </a:solidFill>
          <a:ln/>
        </p:spPr>
      </p:sp>
      <p:sp>
        <p:nvSpPr>
          <p:cNvPr id="10" name="Shape 7"/>
          <p:cNvSpPr/>
          <p:nvPr/>
        </p:nvSpPr>
        <p:spPr>
          <a:xfrm>
            <a:off x="609905" y="3372307"/>
            <a:ext cx="5333695" cy="1923898"/>
          </a:xfrm>
          <a:prstGeom prst="roundRect">
            <a:avLst>
              <a:gd name="adj" fmla="val 282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1" name="Shape 8"/>
          <p:cNvSpPr/>
          <p:nvPr/>
        </p:nvSpPr>
        <p:spPr>
          <a:xfrm>
            <a:off x="847649" y="3610051"/>
            <a:ext cx="323698" cy="381305"/>
          </a:xfrm>
          <a:prstGeom prst="roundRect">
            <a:avLst>
              <a:gd name="adj" fmla="val 66467"/>
            </a:avLst>
          </a:prstGeom>
          <a:solidFill>
            <a:srgbClr val="EDE9FE"/>
          </a:solidFill>
          <a:ln/>
        </p:spPr>
      </p:sp>
      <p:pic>
        <p:nvPicPr>
          <p:cNvPr id="12" name="Image 1" descr="preencoded.png">    </p:cNvPr>
          <p:cNvPicPr>
            <a:picLocks noChangeAspect="1"/>
          </p:cNvPicPr>
          <p:nvPr/>
        </p:nvPicPr>
        <p:blipFill>
          <a:blip r:embed="rId2"/>
          <a:srcRect l="-33" r="-33" t="0" b="0"/>
          <a:stretch/>
        </p:blipFill>
        <p:spPr>
          <a:xfrm>
            <a:off x="923544" y="3733495"/>
            <a:ext cx="171907" cy="152705"/>
          </a:xfrm>
          <a:prstGeom prst="rect">
            <a:avLst/>
          </a:prstGeom>
        </p:spPr>
      </p:pic>
      <p:sp>
        <p:nvSpPr>
          <p:cNvPr id="13" name="Text 9"/>
          <p:cNvSpPr txBox="1"/>
          <p:nvPr/>
        </p:nvSpPr>
        <p:spPr>
          <a:xfrm>
            <a:off x="1285646" y="3676802"/>
            <a:ext cx="15005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テンプレート戦略</a:t>
            </a:r>
            <a:endParaRPr lang="en-US" sz="1300" dirty="0"/>
          </a:p>
        </p:txBody>
      </p:sp>
      <p:pic>
        <p:nvPicPr>
          <p:cNvPr id="14" name="Image 2" descr="preencoded.png">    </p:cNvPr>
          <p:cNvPicPr>
            <a:picLocks noChangeAspect="1"/>
          </p:cNvPicPr>
          <p:nvPr/>
        </p:nvPicPr>
        <p:blipFill>
          <a:blip r:embed="rId3"/>
          <a:srcRect l="0" r="0" t="0" b="0"/>
          <a:stretch/>
        </p:blipFill>
        <p:spPr>
          <a:xfrm>
            <a:off x="847649" y="4181551"/>
            <a:ext cx="152705" cy="152705"/>
          </a:xfrm>
          <a:prstGeom prst="rect">
            <a:avLst/>
          </a:prstGeom>
        </p:spPr>
      </p:pic>
      <p:sp>
        <p:nvSpPr>
          <p:cNvPr id="15" name="Text 10"/>
          <p:cNvSpPr txBox="1"/>
          <p:nvPr/>
        </p:nvSpPr>
        <p:spPr>
          <a:xfrm>
            <a:off x="1114654" y="4143146"/>
            <a:ext cx="15672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共通テンプレで速度向上</a:t>
            </a:r>
            <a:endParaRPr lang="en-US" sz="1000" dirty="0"/>
          </a:p>
        </p:txBody>
      </p:sp>
      <p:sp>
        <p:nvSpPr>
          <p:cNvPr id="16" name="Text 11"/>
          <p:cNvSpPr txBox="1"/>
          <p:nvPr/>
        </p:nvSpPr>
        <p:spPr>
          <a:xfrm>
            <a:off x="1114654" y="4362602"/>
            <a:ext cx="43251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「比較表」「2カラム」など汎用性の高いレイアウトを再利用し、工数を50%削減。</a:t>
            </a:r>
            <a:endParaRPr lang="en-US" sz="900" dirty="0"/>
          </a:p>
        </p:txBody>
      </p:sp>
      <p:pic>
        <p:nvPicPr>
          <p:cNvPr id="17" name="Image 3" descr="preencoded.png">    </p:cNvPr>
          <p:cNvPicPr>
            <a:picLocks noChangeAspect="1"/>
          </p:cNvPicPr>
          <p:nvPr/>
        </p:nvPicPr>
        <p:blipFill>
          <a:blip r:embed="rId4"/>
          <a:srcRect l="0" r="0" t="0" b="0"/>
          <a:stretch/>
        </p:blipFill>
        <p:spPr>
          <a:xfrm>
            <a:off x="847649" y="4714646"/>
            <a:ext cx="152705" cy="152705"/>
          </a:xfrm>
          <a:prstGeom prst="rect">
            <a:avLst/>
          </a:prstGeom>
        </p:spPr>
      </p:pic>
      <p:sp>
        <p:nvSpPr>
          <p:cNvPr id="18" name="Text 12"/>
          <p:cNvSpPr txBox="1"/>
          <p:nvPr/>
        </p:nvSpPr>
        <p:spPr>
          <a:xfrm>
            <a:off x="1114654" y="4677156"/>
            <a:ext cx="15672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専用テンプレで質を担保</a:t>
            </a:r>
            <a:endParaRPr lang="en-US" sz="1000" dirty="0"/>
          </a:p>
        </p:txBody>
      </p:sp>
      <p:sp>
        <p:nvSpPr>
          <p:cNvPr id="19" name="Text 13"/>
          <p:cNvSpPr txBox="1"/>
          <p:nvPr/>
        </p:nvSpPr>
        <p:spPr>
          <a:xfrm>
            <a:off x="1114654" y="4895698"/>
            <a:ext cx="4372661"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「ポジショニングマップ」「メール文面」など独自の価値が高いページは専用設計。</a:t>
            </a:r>
            <a:endParaRPr lang="en-US" sz="900" dirty="0"/>
          </a:p>
        </p:txBody>
      </p:sp>
      <p:sp>
        <p:nvSpPr>
          <p:cNvPr id="20" name="Shape 14"/>
          <p:cNvSpPr/>
          <p:nvPr/>
        </p:nvSpPr>
        <p:spPr>
          <a:xfrm>
            <a:off x="6248095" y="3372307"/>
            <a:ext cx="5333695" cy="1923898"/>
          </a:xfrm>
          <a:prstGeom prst="roundRect">
            <a:avLst>
              <a:gd name="adj" fmla="val 282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1" name="Image 4" descr="preencoded.png">    </p:cNvPr>
          <p:cNvPicPr>
            <a:picLocks noChangeAspect="1"/>
          </p:cNvPicPr>
          <p:nvPr/>
        </p:nvPicPr>
        <p:blipFill>
          <a:blip r:embed="rId5"/>
          <a:srcRect l="0" r="0" t="-43" b="-43"/>
          <a:stretch/>
        </p:blipFill>
        <p:spPr>
          <a:xfrm>
            <a:off x="6562649" y="3733495"/>
            <a:ext cx="133502" cy="152705"/>
          </a:xfrm>
          <a:prstGeom prst="rect">
            <a:avLst/>
          </a:prstGeom>
        </p:spPr>
      </p:pic>
      <p:sp>
        <p:nvSpPr>
          <p:cNvPr id="22" name="Text 15"/>
          <p:cNvSpPr txBox="1"/>
          <p:nvPr/>
        </p:nvSpPr>
        <p:spPr>
          <a:xfrm>
            <a:off x="6886346" y="3676802"/>
            <a:ext cx="15005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データ差替・管理</a:t>
            </a:r>
            <a:endParaRPr lang="en-US" sz="1300" dirty="0"/>
          </a:p>
        </p:txBody>
      </p:sp>
      <p:pic>
        <p:nvPicPr>
          <p:cNvPr id="23" name="Image 5" descr="preencoded.png">    </p:cNvPr>
          <p:cNvPicPr>
            <a:picLocks noChangeAspect="1"/>
          </p:cNvPicPr>
          <p:nvPr/>
        </p:nvPicPr>
        <p:blipFill>
          <a:blip r:embed="rId6"/>
          <a:srcRect l="0" r="0" t="0" b="0"/>
          <a:stretch/>
        </p:blipFill>
        <p:spPr>
          <a:xfrm>
            <a:off x="6486754" y="4181551"/>
            <a:ext cx="152705" cy="152705"/>
          </a:xfrm>
          <a:prstGeom prst="rect">
            <a:avLst/>
          </a:prstGeom>
        </p:spPr>
      </p:pic>
      <p:sp>
        <p:nvSpPr>
          <p:cNvPr id="24" name="Text 16"/>
          <p:cNvSpPr txBox="1"/>
          <p:nvPr/>
        </p:nvSpPr>
        <p:spPr>
          <a:xfrm>
            <a:off x="6752844" y="4143146"/>
            <a:ext cx="17007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抽出ロジックと表示の分離</a:t>
            </a:r>
            <a:endParaRPr lang="en-US" sz="1000" dirty="0"/>
          </a:p>
        </p:txBody>
      </p:sp>
      <p:sp>
        <p:nvSpPr>
          <p:cNvPr id="25" name="Text 17"/>
          <p:cNvSpPr txBox="1"/>
          <p:nvPr/>
        </p:nvSpPr>
        <p:spPr>
          <a:xfrm>
            <a:off x="6752844" y="4362602"/>
            <a:ext cx="42675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クローラーで取得したJSONデータを、スライド生成プロンプトに流し込む構造。</a:t>
            </a:r>
            <a:endParaRPr lang="en-US" sz="900" dirty="0"/>
          </a:p>
        </p:txBody>
      </p:sp>
      <p:pic>
        <p:nvPicPr>
          <p:cNvPr id="26" name="Image 6" descr="preencoded.png">    </p:cNvPr>
          <p:cNvPicPr>
            <a:picLocks noChangeAspect="1"/>
          </p:cNvPicPr>
          <p:nvPr/>
        </p:nvPicPr>
        <p:blipFill>
          <a:blip r:embed="rId7"/>
          <a:srcRect l="0" r="0" t="0" b="0"/>
          <a:stretch/>
        </p:blipFill>
        <p:spPr>
          <a:xfrm>
            <a:off x="6486754" y="4714646"/>
            <a:ext cx="152705" cy="152705"/>
          </a:xfrm>
          <a:prstGeom prst="rect">
            <a:avLst/>
          </a:prstGeom>
        </p:spPr>
      </p:pic>
      <p:sp>
        <p:nvSpPr>
          <p:cNvPr id="27" name="Text 18"/>
          <p:cNvSpPr txBox="1"/>
          <p:nvPr/>
        </p:nvSpPr>
        <p:spPr>
          <a:xfrm>
            <a:off x="6752844" y="4677156"/>
            <a:ext cx="1824228"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プレースホルダによる拡張性</a:t>
            </a:r>
            <a:endParaRPr lang="en-US" sz="1000" dirty="0"/>
          </a:p>
        </p:txBody>
      </p:sp>
      <p:sp>
        <p:nvSpPr>
          <p:cNvPr id="28" name="Text 19"/>
          <p:cNvSpPr txBox="1"/>
          <p:nvPr/>
        </p:nvSpPr>
        <p:spPr>
          <a:xfrm>
            <a:off x="6752844" y="4895698"/>
            <a:ext cx="43150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実データがない場合でも、ダミーデータで枠組みを維持し、後から差し替え可能。</a:t>
            </a:r>
            <a:endParaRPr lang="en-US" sz="900" dirty="0"/>
          </a:p>
        </p:txBody>
      </p:sp>
      <p:sp>
        <p:nvSpPr>
          <p:cNvPr id="29" name="Shape 20"/>
          <p:cNvSpPr/>
          <p:nvPr/>
        </p:nvSpPr>
        <p:spPr>
          <a:xfrm>
            <a:off x="609905" y="5600700"/>
            <a:ext cx="10972800" cy="1257300"/>
          </a:xfrm>
          <a:prstGeom prst="roundRect">
            <a:avLst>
              <a:gd name="adj" fmla="val 6612"/>
            </a:avLst>
          </a:prstGeom>
          <a:solidFill>
            <a:srgbClr val="2563EB"/>
          </a:solidFill>
          <a:ln/>
          <a:effectLst>
            <a:outerShdw sx="100000" sy="100000" kx="0" ky="0" algn="bl" rotWithShape="0" blurRad="12700" dist="12700" dir="16200000">
              <a:srgbClr val="000000">
                <a:alpha val="75000"/>
              </a:srgbClr>
            </a:outerShdw>
          </a:effectLst>
        </p:spPr>
      </p:sp>
      <p:pic>
        <p:nvPicPr>
          <p:cNvPr id="30" name="Image 7" descr="preencoded.png">    </p:cNvPr>
          <p:cNvPicPr>
            <a:picLocks noChangeAspect="1"/>
          </p:cNvPicPr>
          <p:nvPr/>
        </p:nvPicPr>
        <p:blipFill>
          <a:blip r:embed="rId8"/>
          <a:srcRect l="0" r="0" t="0" b="0"/>
          <a:stretch/>
        </p:blipFill>
        <p:spPr>
          <a:xfrm>
            <a:off x="838505" y="5867705"/>
            <a:ext cx="190195" cy="190195"/>
          </a:xfrm>
          <a:prstGeom prst="rect">
            <a:avLst/>
          </a:prstGeom>
        </p:spPr>
      </p:pic>
      <p:sp>
        <p:nvSpPr>
          <p:cNvPr id="31" name="Text 21"/>
          <p:cNvSpPr txBox="1"/>
          <p:nvPr/>
        </p:nvSpPr>
        <p:spPr>
          <a:xfrm>
            <a:off x="1143000" y="5820156"/>
            <a:ext cx="1390802"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NEXT ACTION</a:t>
            </a:r>
            <a:endParaRPr lang="en-US" sz="1500" dirty="0"/>
          </a:p>
        </p:txBody>
      </p:sp>
      <p:sp>
        <p:nvSpPr>
          <p:cNvPr id="32" name="Text 22"/>
          <p:cNvSpPr txBox="1"/>
          <p:nvPr/>
        </p:nvSpPr>
        <p:spPr>
          <a:xfrm>
            <a:off x="838505" y="6172200"/>
            <a:ext cx="8220456" cy="457200"/>
          </a:xfrm>
          <a:prstGeom prst="rect">
            <a:avLst/>
          </a:prstGeom>
          <a:noFill/>
          <a:ln/>
        </p:spPr>
        <p:txBody>
          <a:bodyPr wrap="square" lIns="0" tIns="0" rIns="0" bIns="0" rtlCol="0" anchor="ctr"/>
          <a:lstStyle/>
          <a:p>
            <a:pPr algn="l" indent="0" marL="0">
              <a:buNone/>
            </a:pPr>
            <a:r>
              <a:rPr lang="en-US" sz="1200" dirty="0">
                <a:solidFill>
                  <a:srgbClr val="DBEAFE"/>
                </a:solidFill>
                <a:latin typeface="Noto Sans JP" pitchFamily="34" charset="0"/>
                <a:ea typeface="Noto Sans JP" pitchFamily="34" charset="-122"/>
                <a:cs typeface="Noto Sans JP" pitchFamily="34" charset="-120"/>
              </a:rPr>
              <a:t>別サロンのURLを指定するだけで、この全プロセス（23枚生成）を自動実行可能です。 営業チーム全体への横展開により、提案資料作成工数を90%削減します。</a:t>
            </a:r>
            <a:endParaRPr lang="en-US" sz="1200" dirty="0"/>
          </a:p>
        </p:txBody>
      </p:sp>
      <p:sp>
        <p:nvSpPr>
          <p:cNvPr id="33" name="Shape 23"/>
          <p:cNvSpPr/>
          <p:nvPr/>
        </p:nvSpPr>
        <p:spPr>
          <a:xfrm>
            <a:off x="10180930" y="5982005"/>
            <a:ext cx="9144" cy="495605"/>
          </a:xfrm>
          <a:prstGeom prst="rect">
            <a:avLst/>
          </a:prstGeom>
          <a:solidFill>
            <a:srgbClr val="60A5FA"/>
          </a:solidFill>
          <a:ln/>
        </p:spPr>
      </p:sp>
      <p:sp>
        <p:nvSpPr>
          <p:cNvPr id="34" name="Text 24"/>
          <p:cNvSpPr txBox="1"/>
          <p:nvPr/>
        </p:nvSpPr>
        <p:spPr>
          <a:xfrm>
            <a:off x="9266530" y="5971946"/>
            <a:ext cx="848563" cy="162763"/>
          </a:xfrm>
          <a:prstGeom prst="rect">
            <a:avLst/>
          </a:prstGeom>
          <a:noFill/>
          <a:ln/>
        </p:spPr>
        <p:txBody>
          <a:bodyPr wrap="square" lIns="0" tIns="0" rIns="0" bIns="0" rtlCol="0" anchor="ctr"/>
          <a:lstStyle/>
          <a:p>
            <a:pPr algn="ctr" indent="0" marL="0">
              <a:buNone/>
            </a:pPr>
            <a:r>
              <a:rPr lang="en-US" sz="900" b="1" dirty="0">
                <a:solidFill>
                  <a:srgbClr val="BFDBFE"/>
                </a:solidFill>
                <a:latin typeface="Noto Sans JP" pitchFamily="34" charset="0"/>
                <a:ea typeface="Noto Sans JP" pitchFamily="34" charset="-122"/>
                <a:cs typeface="Noto Sans JP" pitchFamily="34" charset="-120"/>
              </a:rPr>
              <a:t>AUTOMATION</a:t>
            </a:r>
            <a:endParaRPr lang="en-US" sz="900" dirty="0"/>
          </a:p>
        </p:txBody>
      </p:sp>
      <p:sp>
        <p:nvSpPr>
          <p:cNvPr id="35" name="Text 25"/>
          <p:cNvSpPr txBox="1"/>
          <p:nvPr/>
        </p:nvSpPr>
        <p:spPr>
          <a:xfrm>
            <a:off x="9332366" y="6152998"/>
            <a:ext cx="800100" cy="333756"/>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100%</a:t>
            </a:r>
            <a:endParaRPr lang="en-US" sz="1800" dirty="0"/>
          </a:p>
        </p:txBody>
      </p:sp>
      <p:sp>
        <p:nvSpPr>
          <p:cNvPr id="36" name="Text 26"/>
          <p:cNvSpPr txBox="1"/>
          <p:nvPr/>
        </p:nvSpPr>
        <p:spPr>
          <a:xfrm>
            <a:off x="10489082" y="5971946"/>
            <a:ext cx="800100" cy="162763"/>
          </a:xfrm>
          <a:prstGeom prst="rect">
            <a:avLst/>
          </a:prstGeom>
          <a:noFill/>
          <a:ln/>
        </p:spPr>
        <p:txBody>
          <a:bodyPr wrap="square" lIns="0" tIns="0" rIns="0" bIns="0" rtlCol="0" anchor="ctr"/>
          <a:lstStyle/>
          <a:p>
            <a:pPr algn="ctr" indent="0" marL="0">
              <a:buNone/>
            </a:pPr>
            <a:r>
              <a:rPr lang="en-US" sz="900" b="1" dirty="0">
                <a:solidFill>
                  <a:srgbClr val="BFDBFE"/>
                </a:solidFill>
                <a:latin typeface="Noto Sans JP" pitchFamily="34" charset="0"/>
                <a:ea typeface="Noto Sans JP" pitchFamily="34" charset="-122"/>
                <a:cs typeface="Noto Sans JP" pitchFamily="34" charset="-120"/>
              </a:rPr>
              <a:t>SCALABILITY</a:t>
            </a:r>
            <a:endParaRPr lang="en-US" sz="900" dirty="0"/>
          </a:p>
        </p:txBody>
      </p:sp>
      <p:sp>
        <p:nvSpPr>
          <p:cNvPr id="37" name="Text 27"/>
          <p:cNvSpPr txBox="1"/>
          <p:nvPr/>
        </p:nvSpPr>
        <p:spPr>
          <a:xfrm>
            <a:off x="10582351" y="6152998"/>
            <a:ext cx="705002" cy="333756"/>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High</a:t>
            </a:r>
            <a:endParaRPr lang="en-US" sz="1800" dirty="0"/>
          </a:p>
        </p:txBody>
      </p:sp>
      <p:sp>
        <p:nvSpPr>
          <p:cNvPr id="38" name="Shape 28"/>
          <p:cNvSpPr/>
          <p:nvPr/>
        </p:nvSpPr>
        <p:spPr>
          <a:xfrm>
            <a:off x="0" y="0"/>
            <a:ext cx="12191695" cy="761695"/>
          </a:xfrm>
          <a:prstGeom prst="rect">
            <a:avLst/>
          </a:prstGeom>
          <a:solidFill>
            <a:srgbClr val="FFFFFF"/>
          </a:solidFill>
          <a:ln/>
        </p:spPr>
      </p:sp>
      <p:sp>
        <p:nvSpPr>
          <p:cNvPr id="39" name="Shape 29"/>
          <p:cNvSpPr/>
          <p:nvPr/>
        </p:nvSpPr>
        <p:spPr>
          <a:xfrm>
            <a:off x="0" y="752551"/>
            <a:ext cx="12191695" cy="9144"/>
          </a:xfrm>
          <a:prstGeom prst="rect">
            <a:avLst/>
          </a:prstGeom>
          <a:solidFill>
            <a:srgbClr val="F3F4F6"/>
          </a:solidFill>
          <a:ln/>
        </p:spPr>
      </p:sp>
      <p:sp>
        <p:nvSpPr>
          <p:cNvPr id="40" name="Shape 30"/>
          <p:cNvSpPr/>
          <p:nvPr/>
        </p:nvSpPr>
        <p:spPr>
          <a:xfrm>
            <a:off x="609905" y="224028"/>
            <a:ext cx="304495" cy="304495"/>
          </a:xfrm>
          <a:prstGeom prst="roundRect">
            <a:avLst>
              <a:gd name="adj" fmla="val 56306"/>
            </a:avLst>
          </a:prstGeom>
          <a:solidFill>
            <a:srgbClr val="2563EB"/>
          </a:solidFill>
          <a:ln/>
        </p:spPr>
      </p:sp>
      <p:pic>
        <p:nvPicPr>
          <p:cNvPr id="41" name="Image 8" descr="preencoded.png">    </p:cNvPr>
          <p:cNvPicPr>
            <a:picLocks noChangeAspect="1"/>
          </p:cNvPicPr>
          <p:nvPr/>
        </p:nvPicPr>
        <p:blipFill>
          <a:blip r:embed="rId9"/>
          <a:srcRect l="0" r="0" t="-43" b="-43"/>
          <a:stretch/>
        </p:blipFill>
        <p:spPr>
          <a:xfrm>
            <a:off x="10099548" y="299923"/>
            <a:ext cx="133502" cy="152705"/>
          </a:xfrm>
          <a:prstGeom prst="rect">
            <a:avLst/>
          </a:prstGeom>
        </p:spPr>
      </p:pic>
      <p:sp>
        <p:nvSpPr>
          <p:cNvPr id="42" name="Text 31"/>
          <p:cNvSpPr txBox="1"/>
          <p:nvPr/>
        </p:nvSpPr>
        <p:spPr>
          <a:xfrm>
            <a:off x="683057" y="280721"/>
            <a:ext cx="262433"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13</a:t>
            </a:r>
            <a:endParaRPr lang="en-US" sz="1000" dirty="0"/>
          </a:p>
        </p:txBody>
      </p:sp>
      <p:sp>
        <p:nvSpPr>
          <p:cNvPr id="43" name="Text 32"/>
          <p:cNvSpPr txBox="1"/>
          <p:nvPr/>
        </p:nvSpPr>
        <p:spPr>
          <a:xfrm>
            <a:off x="1067105" y="233172"/>
            <a:ext cx="228600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まとめ・次のアクション</a:t>
            </a:r>
            <a:endParaRPr lang="en-US" sz="1500" dirty="0"/>
          </a:p>
        </p:txBody>
      </p:sp>
      <p:sp>
        <p:nvSpPr>
          <p:cNvPr id="44" name="Text 33"/>
          <p:cNvSpPr txBox="1"/>
          <p:nvPr/>
        </p:nvSpPr>
        <p:spPr>
          <a:xfrm>
            <a:off x="10309860" y="280721"/>
            <a:ext cx="137708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PROCESS SUMMARY</a:t>
            </a:r>
            <a:endParaRPr lang="en-US" sz="1000" dirty="0"/>
          </a:p>
        </p:txBody>
      </p:sp>
      <p:sp>
        <p:nvSpPr>
          <p:cNvPr id="45" name="Shape 34"/>
          <p:cNvSpPr/>
          <p:nvPr/>
        </p:nvSpPr>
        <p:spPr>
          <a:xfrm>
            <a:off x="10526573" y="1914754"/>
            <a:ext cx="457200" cy="457200"/>
          </a:xfrm>
          <a:prstGeom prst="roundRect">
            <a:avLst>
              <a:gd name="adj" fmla="val 200000"/>
            </a:avLst>
          </a:prstGeom>
          <a:solidFill>
            <a:srgbClr val="10B981"/>
          </a:solidFill>
          <a:ln/>
          <a:effectLst>
            <a:outerShdw sx="100000" sy="100000" kx="0" ky="0" algn="bl" rotWithShape="0" blurRad="12700" dist="12700" dir="16200000">
              <a:srgbClr val="000000">
                <a:alpha val="75000"/>
              </a:srgbClr>
            </a:outerShdw>
          </a:effectLst>
        </p:spPr>
      </p:sp>
      <p:pic>
        <p:nvPicPr>
          <p:cNvPr id="46" name="Image 9" descr="preencoded.png">    </p:cNvPr>
          <p:cNvPicPr>
            <a:picLocks noChangeAspect="1"/>
          </p:cNvPicPr>
          <p:nvPr/>
        </p:nvPicPr>
        <p:blipFill>
          <a:blip r:embed="rId10"/>
          <a:srcRect l="0" r="0" t="-43" b="-43"/>
          <a:stretch/>
        </p:blipFill>
        <p:spPr>
          <a:xfrm>
            <a:off x="10688422" y="2066544"/>
            <a:ext cx="133502" cy="152705"/>
          </a:xfrm>
          <a:prstGeom prst="rect">
            <a:avLst/>
          </a:prstGeom>
        </p:spPr>
      </p:pic>
      <p:sp>
        <p:nvSpPr>
          <p:cNvPr id="47" name="Text 35"/>
          <p:cNvSpPr txBox="1"/>
          <p:nvPr/>
        </p:nvSpPr>
        <p:spPr>
          <a:xfrm>
            <a:off x="10592410" y="2438705"/>
            <a:ext cx="419710" cy="162763"/>
          </a:xfrm>
          <a:prstGeom prst="rect">
            <a:avLst/>
          </a:prstGeom>
          <a:noFill/>
          <a:ln/>
        </p:spPr>
        <p:txBody>
          <a:bodyPr wrap="square" lIns="0" tIns="0" rIns="0" bIns="0" rtlCol="0" anchor="ctr"/>
          <a:lstStyle/>
          <a:p>
            <a:pPr algn="ctr" indent="0" marL="0">
              <a:buNone/>
            </a:pPr>
            <a:r>
              <a:rPr lang="en-US" sz="900" b="1" dirty="0">
                <a:solidFill>
                  <a:srgbClr val="059669"/>
                </a:solidFill>
                <a:latin typeface="Noto Sans JP" pitchFamily="34" charset="0"/>
                <a:ea typeface="Noto Sans JP" pitchFamily="34" charset="-122"/>
                <a:cs typeface="Noto Sans JP" pitchFamily="34" charset="-120"/>
              </a:rPr>
              <a:t>DONE</a:t>
            </a:r>
            <a:endParaRPr lang="en-US" sz="900" dirty="0"/>
          </a:p>
        </p:txBody>
      </p:sp>
      <p:sp>
        <p:nvSpPr>
          <p:cNvPr id="48" name="Text 36"/>
          <p:cNvSpPr txBox="1"/>
          <p:nvPr/>
        </p:nvSpPr>
        <p:spPr>
          <a:xfrm>
            <a:off x="10621670" y="2638044"/>
            <a:ext cx="367589"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完了</a:t>
            </a:r>
            <a:endParaRPr lang="en-US" sz="1000" dirty="0"/>
          </a:p>
        </p:txBody>
      </p:sp>
      <p:sp>
        <p:nvSpPr>
          <p:cNvPr id="49" name="Shape 37"/>
          <p:cNvSpPr/>
          <p:nvPr/>
        </p:nvSpPr>
        <p:spPr>
          <a:xfrm>
            <a:off x="1208837" y="1914754"/>
            <a:ext cx="457200" cy="457200"/>
          </a:xfrm>
          <a:prstGeom prst="roundRect">
            <a:avLst>
              <a:gd name="adj" fmla="val 200000"/>
            </a:avLst>
          </a:prstGeom>
          <a:solidFill>
            <a:srgbClr val="EFF6FF"/>
          </a:solidFill>
          <a:ln w="12700">
            <a:solidFill>
              <a:srgbClr val="DBEAFE"/>
            </a:solidFill>
            <a:prstDash val="solid"/>
          </a:ln>
        </p:spPr>
      </p:sp>
      <p:sp>
        <p:nvSpPr>
          <p:cNvPr id="50" name="Text 38"/>
          <p:cNvSpPr txBox="1"/>
          <p:nvPr/>
        </p:nvSpPr>
        <p:spPr>
          <a:xfrm>
            <a:off x="1346911"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01</a:t>
            </a:r>
            <a:endParaRPr lang="en-US" sz="1200" dirty="0"/>
          </a:p>
        </p:txBody>
      </p:sp>
      <p:sp>
        <p:nvSpPr>
          <p:cNvPr id="51" name="Text 39"/>
          <p:cNvSpPr txBox="1"/>
          <p:nvPr/>
        </p:nvSpPr>
        <p:spPr>
          <a:xfrm>
            <a:off x="1201522"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1</a:t>
            </a:r>
            <a:endParaRPr lang="en-US" sz="900" dirty="0"/>
          </a:p>
        </p:txBody>
      </p:sp>
      <p:sp>
        <p:nvSpPr>
          <p:cNvPr id="52" name="Text 40"/>
          <p:cNvSpPr txBox="1"/>
          <p:nvPr/>
        </p:nvSpPr>
        <p:spPr>
          <a:xfrm>
            <a:off x="1170432" y="2638044"/>
            <a:ext cx="633679"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要求定義</a:t>
            </a:r>
            <a:endParaRPr lang="en-US" sz="1000" dirty="0"/>
          </a:p>
        </p:txBody>
      </p:sp>
      <p:sp>
        <p:nvSpPr>
          <p:cNvPr id="53" name="Shape 41"/>
          <p:cNvSpPr/>
          <p:nvPr/>
        </p:nvSpPr>
        <p:spPr>
          <a:xfrm>
            <a:off x="2539289" y="1914754"/>
            <a:ext cx="457200" cy="457200"/>
          </a:xfrm>
          <a:prstGeom prst="roundRect">
            <a:avLst>
              <a:gd name="adj" fmla="val 200000"/>
            </a:avLst>
          </a:prstGeom>
          <a:solidFill>
            <a:srgbClr val="EFF6FF"/>
          </a:solidFill>
          <a:ln w="12700">
            <a:solidFill>
              <a:srgbClr val="DBEAFE"/>
            </a:solidFill>
            <a:prstDash val="solid"/>
          </a:ln>
        </p:spPr>
      </p:sp>
      <p:sp>
        <p:nvSpPr>
          <p:cNvPr id="54" name="Text 42"/>
          <p:cNvSpPr txBox="1"/>
          <p:nvPr/>
        </p:nvSpPr>
        <p:spPr>
          <a:xfrm>
            <a:off x="2678278"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02</a:t>
            </a:r>
            <a:endParaRPr lang="en-US" sz="1200" dirty="0"/>
          </a:p>
        </p:txBody>
      </p:sp>
      <p:sp>
        <p:nvSpPr>
          <p:cNvPr id="55" name="Text 43"/>
          <p:cNvSpPr txBox="1"/>
          <p:nvPr/>
        </p:nvSpPr>
        <p:spPr>
          <a:xfrm>
            <a:off x="2532888"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2</a:t>
            </a:r>
            <a:endParaRPr lang="en-US" sz="900" dirty="0"/>
          </a:p>
        </p:txBody>
      </p:sp>
      <p:sp>
        <p:nvSpPr>
          <p:cNvPr id="56" name="Text 44"/>
          <p:cNvSpPr txBox="1"/>
          <p:nvPr/>
        </p:nvSpPr>
        <p:spPr>
          <a:xfrm>
            <a:off x="2500884" y="2638044"/>
            <a:ext cx="643738"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URL取得</a:t>
            </a:r>
            <a:endParaRPr lang="en-US" sz="1000" dirty="0"/>
          </a:p>
        </p:txBody>
      </p:sp>
      <p:sp>
        <p:nvSpPr>
          <p:cNvPr id="57" name="Shape 45"/>
          <p:cNvSpPr/>
          <p:nvPr/>
        </p:nvSpPr>
        <p:spPr>
          <a:xfrm>
            <a:off x="3870655" y="1914754"/>
            <a:ext cx="457200" cy="457200"/>
          </a:xfrm>
          <a:prstGeom prst="roundRect">
            <a:avLst>
              <a:gd name="adj" fmla="val 200000"/>
            </a:avLst>
          </a:prstGeom>
          <a:solidFill>
            <a:srgbClr val="EFF6FF"/>
          </a:solidFill>
          <a:ln w="12700">
            <a:solidFill>
              <a:srgbClr val="DBEAFE"/>
            </a:solidFill>
            <a:prstDash val="solid"/>
          </a:ln>
        </p:spPr>
      </p:sp>
      <p:sp>
        <p:nvSpPr>
          <p:cNvPr id="58" name="Text 46"/>
          <p:cNvSpPr txBox="1"/>
          <p:nvPr/>
        </p:nvSpPr>
        <p:spPr>
          <a:xfrm>
            <a:off x="4009644"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03</a:t>
            </a:r>
            <a:endParaRPr lang="en-US" sz="1200" dirty="0"/>
          </a:p>
        </p:txBody>
      </p:sp>
      <p:sp>
        <p:nvSpPr>
          <p:cNvPr id="59" name="Text 47"/>
          <p:cNvSpPr txBox="1"/>
          <p:nvPr/>
        </p:nvSpPr>
        <p:spPr>
          <a:xfrm>
            <a:off x="3863340"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2</a:t>
            </a:r>
            <a:endParaRPr lang="en-US" sz="900" dirty="0"/>
          </a:p>
        </p:txBody>
      </p:sp>
      <p:sp>
        <p:nvSpPr>
          <p:cNvPr id="60" name="Text 48"/>
          <p:cNvSpPr txBox="1"/>
          <p:nvPr/>
        </p:nvSpPr>
        <p:spPr>
          <a:xfrm>
            <a:off x="3765499" y="2638044"/>
            <a:ext cx="767182"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データ収集</a:t>
            </a:r>
            <a:endParaRPr lang="en-US" sz="1000" dirty="0"/>
          </a:p>
        </p:txBody>
      </p:sp>
      <p:sp>
        <p:nvSpPr>
          <p:cNvPr id="61" name="Shape 49"/>
          <p:cNvSpPr/>
          <p:nvPr/>
        </p:nvSpPr>
        <p:spPr>
          <a:xfrm>
            <a:off x="5202022" y="1914754"/>
            <a:ext cx="457200" cy="457200"/>
          </a:xfrm>
          <a:prstGeom prst="roundRect">
            <a:avLst>
              <a:gd name="adj" fmla="val 200000"/>
            </a:avLst>
          </a:prstGeom>
          <a:solidFill>
            <a:srgbClr val="EFF6FF"/>
          </a:solidFill>
          <a:ln w="12700">
            <a:solidFill>
              <a:srgbClr val="DBEAFE"/>
            </a:solidFill>
            <a:prstDash val="solid"/>
          </a:ln>
        </p:spPr>
      </p:sp>
      <p:sp>
        <p:nvSpPr>
          <p:cNvPr id="62" name="Text 50"/>
          <p:cNvSpPr txBox="1"/>
          <p:nvPr/>
        </p:nvSpPr>
        <p:spPr>
          <a:xfrm>
            <a:off x="5340096"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04</a:t>
            </a:r>
            <a:endParaRPr lang="en-US" sz="1200" dirty="0"/>
          </a:p>
        </p:txBody>
      </p:sp>
      <p:sp>
        <p:nvSpPr>
          <p:cNvPr id="63" name="Text 51"/>
          <p:cNvSpPr txBox="1"/>
          <p:nvPr/>
        </p:nvSpPr>
        <p:spPr>
          <a:xfrm>
            <a:off x="5194706"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3</a:t>
            </a:r>
            <a:endParaRPr lang="en-US" sz="900" dirty="0"/>
          </a:p>
        </p:txBody>
      </p:sp>
      <p:sp>
        <p:nvSpPr>
          <p:cNvPr id="64" name="Text 52"/>
          <p:cNvSpPr txBox="1"/>
          <p:nvPr/>
        </p:nvSpPr>
        <p:spPr>
          <a:xfrm>
            <a:off x="5163617" y="2638044"/>
            <a:ext cx="633679"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構成設計</a:t>
            </a:r>
            <a:endParaRPr lang="en-US" sz="1000" dirty="0"/>
          </a:p>
        </p:txBody>
      </p:sp>
      <p:sp>
        <p:nvSpPr>
          <p:cNvPr id="65" name="Shape 53"/>
          <p:cNvSpPr/>
          <p:nvPr/>
        </p:nvSpPr>
        <p:spPr>
          <a:xfrm>
            <a:off x="6533388" y="1914754"/>
            <a:ext cx="457200" cy="457200"/>
          </a:xfrm>
          <a:prstGeom prst="roundRect">
            <a:avLst>
              <a:gd name="adj" fmla="val 200000"/>
            </a:avLst>
          </a:prstGeom>
          <a:solidFill>
            <a:srgbClr val="EFF6FF"/>
          </a:solidFill>
          <a:ln w="12700">
            <a:solidFill>
              <a:srgbClr val="DBEAFE"/>
            </a:solidFill>
            <a:prstDash val="solid"/>
          </a:ln>
        </p:spPr>
      </p:sp>
      <p:sp>
        <p:nvSpPr>
          <p:cNvPr id="66" name="Text 54"/>
          <p:cNvSpPr txBox="1"/>
          <p:nvPr/>
        </p:nvSpPr>
        <p:spPr>
          <a:xfrm>
            <a:off x="6671462"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05</a:t>
            </a:r>
            <a:endParaRPr lang="en-US" sz="1200" dirty="0"/>
          </a:p>
        </p:txBody>
      </p:sp>
      <p:sp>
        <p:nvSpPr>
          <p:cNvPr id="67" name="Text 55"/>
          <p:cNvSpPr txBox="1"/>
          <p:nvPr/>
        </p:nvSpPr>
        <p:spPr>
          <a:xfrm>
            <a:off x="6526073"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3</a:t>
            </a:r>
            <a:endParaRPr lang="en-US" sz="900" dirty="0"/>
          </a:p>
        </p:txBody>
      </p:sp>
      <p:sp>
        <p:nvSpPr>
          <p:cNvPr id="68" name="Text 56"/>
          <p:cNvSpPr txBox="1"/>
          <p:nvPr/>
        </p:nvSpPr>
        <p:spPr>
          <a:xfrm>
            <a:off x="6430061" y="2638044"/>
            <a:ext cx="767182"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テンプレ化</a:t>
            </a:r>
            <a:endParaRPr lang="en-US" sz="1000" dirty="0"/>
          </a:p>
        </p:txBody>
      </p:sp>
      <p:sp>
        <p:nvSpPr>
          <p:cNvPr id="69" name="Shape 57"/>
          <p:cNvSpPr/>
          <p:nvPr/>
        </p:nvSpPr>
        <p:spPr>
          <a:xfrm>
            <a:off x="7863840" y="1914754"/>
            <a:ext cx="457200" cy="457200"/>
          </a:xfrm>
          <a:prstGeom prst="roundRect">
            <a:avLst>
              <a:gd name="adj" fmla="val 200000"/>
            </a:avLst>
          </a:prstGeom>
          <a:solidFill>
            <a:srgbClr val="2563EB"/>
          </a:solidFill>
          <a:ln/>
          <a:effectLst>
            <a:outerShdw sx="100000" sy="100000" kx="0" ky="0" algn="bl" rotWithShape="0" blurRad="12700" dist="12700" dir="16200000">
              <a:srgbClr val="000000">
                <a:alpha val="75000"/>
              </a:srgbClr>
            </a:outerShdw>
          </a:effectLst>
        </p:spPr>
      </p:sp>
      <p:sp>
        <p:nvSpPr>
          <p:cNvPr id="70" name="Text 58"/>
          <p:cNvSpPr txBox="1"/>
          <p:nvPr/>
        </p:nvSpPr>
        <p:spPr>
          <a:xfrm>
            <a:off x="8002829" y="2029054"/>
            <a:ext cx="295351"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06</a:t>
            </a:r>
            <a:endParaRPr lang="en-US" sz="1200" dirty="0"/>
          </a:p>
        </p:txBody>
      </p:sp>
      <p:sp>
        <p:nvSpPr>
          <p:cNvPr id="71" name="Text 59"/>
          <p:cNvSpPr txBox="1"/>
          <p:nvPr/>
        </p:nvSpPr>
        <p:spPr>
          <a:xfrm>
            <a:off x="7857439" y="2438705"/>
            <a:ext cx="562356" cy="162763"/>
          </a:xfrm>
          <a:prstGeom prst="rect">
            <a:avLst/>
          </a:prstGeom>
          <a:noFill/>
          <a:ln/>
        </p:spPr>
        <p:txBody>
          <a:bodyPr wrap="square" lIns="0" tIns="0" rIns="0" bIns="0" rtlCol="0" anchor="ctr"/>
          <a:lstStyle/>
          <a:p>
            <a:pPr algn="ctr" indent="0" marL="0">
              <a:buNone/>
            </a:pPr>
            <a:r>
              <a:rPr lang="en-US" sz="900" b="1" dirty="0">
                <a:solidFill>
                  <a:srgbClr val="2563EB"/>
                </a:solidFill>
                <a:latin typeface="Noto Sans JP" pitchFamily="34" charset="0"/>
                <a:ea typeface="Noto Sans JP" pitchFamily="34" charset="-122"/>
                <a:cs typeface="Noto Sans JP" pitchFamily="34" charset="-120"/>
              </a:rPr>
              <a:t>PHASE 4</a:t>
            </a:r>
            <a:endParaRPr lang="en-US" sz="900" dirty="0"/>
          </a:p>
        </p:txBody>
      </p:sp>
      <p:sp>
        <p:nvSpPr>
          <p:cNvPr id="72" name="Text 60"/>
          <p:cNvSpPr txBox="1"/>
          <p:nvPr/>
        </p:nvSpPr>
        <p:spPr>
          <a:xfrm>
            <a:off x="7826350" y="2638044"/>
            <a:ext cx="633679"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制作実行</a:t>
            </a:r>
            <a:endParaRPr lang="en-US" sz="1000" dirty="0"/>
          </a:p>
        </p:txBody>
      </p:sp>
      <p:sp>
        <p:nvSpPr>
          <p:cNvPr id="73" name="Shape 61"/>
          <p:cNvSpPr/>
          <p:nvPr/>
        </p:nvSpPr>
        <p:spPr>
          <a:xfrm>
            <a:off x="9195206" y="1914754"/>
            <a:ext cx="457200" cy="457200"/>
          </a:xfrm>
          <a:prstGeom prst="roundRect">
            <a:avLst>
              <a:gd name="adj" fmla="val 200000"/>
            </a:avLst>
          </a:prstGeom>
          <a:solidFill>
            <a:srgbClr val="EFF6FF"/>
          </a:solidFill>
          <a:ln w="12700">
            <a:solidFill>
              <a:srgbClr val="DBEAFE"/>
            </a:solidFill>
            <a:prstDash val="solid"/>
          </a:ln>
        </p:spPr>
      </p:sp>
      <p:sp>
        <p:nvSpPr>
          <p:cNvPr id="74" name="Text 62"/>
          <p:cNvSpPr txBox="1"/>
          <p:nvPr/>
        </p:nvSpPr>
        <p:spPr>
          <a:xfrm>
            <a:off x="9334195" y="2029054"/>
            <a:ext cx="295351" cy="228600"/>
          </a:xfrm>
          <a:prstGeom prst="rect">
            <a:avLst/>
          </a:prstGeom>
          <a:noFill/>
          <a:ln/>
        </p:spPr>
        <p:txBody>
          <a:bodyPr wrap="square" lIns="0" tIns="0" rIns="0" bIns="0" rtlCol="0" anchor="ctr"/>
          <a:lstStyle/>
          <a:p>
            <a:pPr algn="ctr" indent="0" marL="0">
              <a:buNone/>
            </a:pPr>
            <a:r>
              <a:rPr lang="en-US" sz="1200" b="1" dirty="0">
                <a:solidFill>
                  <a:srgbClr val="2563EB"/>
                </a:solidFill>
                <a:latin typeface="Noto Sans JP" pitchFamily="34" charset="0"/>
                <a:ea typeface="Noto Sans JP" pitchFamily="34" charset="-122"/>
                <a:cs typeface="Noto Sans JP" pitchFamily="34" charset="-120"/>
              </a:rPr>
              <a:t>07</a:t>
            </a:r>
            <a:endParaRPr lang="en-US" sz="1200" dirty="0"/>
          </a:p>
        </p:txBody>
      </p:sp>
      <p:sp>
        <p:nvSpPr>
          <p:cNvPr id="75" name="Text 63"/>
          <p:cNvSpPr txBox="1"/>
          <p:nvPr/>
        </p:nvSpPr>
        <p:spPr>
          <a:xfrm>
            <a:off x="9187891" y="2438705"/>
            <a:ext cx="562356"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PHASE 5</a:t>
            </a:r>
            <a:endParaRPr lang="en-US" sz="900" dirty="0"/>
          </a:p>
        </p:txBody>
      </p:sp>
      <p:sp>
        <p:nvSpPr>
          <p:cNvPr id="76" name="Text 64"/>
          <p:cNvSpPr txBox="1"/>
          <p:nvPr/>
        </p:nvSpPr>
        <p:spPr>
          <a:xfrm>
            <a:off x="9197035" y="2638044"/>
            <a:ext cx="557784"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QA検証</a:t>
            </a:r>
            <a:endParaRPr lang="en-US" sz="1000" dirty="0"/>
          </a:p>
        </p:txBody>
      </p:sp>
      <p:pic>
        <p:nvPicPr>
          <p:cNvPr id="77" name="Image 10" descr="preencoded.png">    </p:cNvPr>
          <p:cNvPicPr>
            <a:picLocks noChangeAspect="1"/>
          </p:cNvPicPr>
          <p:nvPr/>
        </p:nvPicPr>
        <p:blipFill>
          <a:blip r:embed="rId11"/>
          <a:srcRect l="0" r="0" t="-180" b="-180"/>
          <a:stretch/>
        </p:blipFill>
        <p:spPr>
          <a:xfrm>
            <a:off x="2159813" y="2305202"/>
            <a:ext cx="95098" cy="152705"/>
          </a:xfrm>
          <a:prstGeom prst="rect">
            <a:avLst/>
          </a:prstGeom>
        </p:spPr>
      </p:pic>
      <p:pic>
        <p:nvPicPr>
          <p:cNvPr id="78" name="Image 11" descr="preencoded.png">    </p:cNvPr>
          <p:cNvPicPr>
            <a:picLocks noChangeAspect="1"/>
          </p:cNvPicPr>
          <p:nvPr/>
        </p:nvPicPr>
        <p:blipFill>
          <a:blip r:embed="rId12"/>
          <a:srcRect l="0" r="0" t="-180" b="-180"/>
          <a:stretch/>
        </p:blipFill>
        <p:spPr>
          <a:xfrm>
            <a:off x="3491179" y="2305202"/>
            <a:ext cx="95098" cy="152705"/>
          </a:xfrm>
          <a:prstGeom prst="rect">
            <a:avLst/>
          </a:prstGeom>
        </p:spPr>
      </p:pic>
      <p:pic>
        <p:nvPicPr>
          <p:cNvPr id="79" name="Image 12" descr="preencoded.png">    </p:cNvPr>
          <p:cNvPicPr>
            <a:picLocks noChangeAspect="1"/>
          </p:cNvPicPr>
          <p:nvPr/>
        </p:nvPicPr>
        <p:blipFill>
          <a:blip r:embed="rId13"/>
          <a:srcRect l="0" r="0" t="-180" b="-180"/>
          <a:stretch/>
        </p:blipFill>
        <p:spPr>
          <a:xfrm>
            <a:off x="4821631" y="2305202"/>
            <a:ext cx="95098" cy="152705"/>
          </a:xfrm>
          <a:prstGeom prst="rect">
            <a:avLst/>
          </a:prstGeom>
        </p:spPr>
      </p:pic>
      <p:pic>
        <p:nvPicPr>
          <p:cNvPr id="80" name="Image 13" descr="preencoded.png">    </p:cNvPr>
          <p:cNvPicPr>
            <a:picLocks noChangeAspect="1"/>
          </p:cNvPicPr>
          <p:nvPr/>
        </p:nvPicPr>
        <p:blipFill>
          <a:blip r:embed="rId14"/>
          <a:srcRect l="0" r="0" t="-180" b="-180"/>
          <a:stretch/>
        </p:blipFill>
        <p:spPr>
          <a:xfrm>
            <a:off x="6152998" y="2305202"/>
            <a:ext cx="95098" cy="152705"/>
          </a:xfrm>
          <a:prstGeom prst="rect">
            <a:avLst/>
          </a:prstGeom>
        </p:spPr>
      </p:pic>
      <p:pic>
        <p:nvPicPr>
          <p:cNvPr id="81" name="Image 14" descr="preencoded.png">    </p:cNvPr>
          <p:cNvPicPr>
            <a:picLocks noChangeAspect="1"/>
          </p:cNvPicPr>
          <p:nvPr/>
        </p:nvPicPr>
        <p:blipFill>
          <a:blip r:embed="rId15"/>
          <a:srcRect l="0" r="0" t="-180" b="-180"/>
          <a:stretch/>
        </p:blipFill>
        <p:spPr>
          <a:xfrm>
            <a:off x="7484364" y="2305202"/>
            <a:ext cx="95098" cy="152705"/>
          </a:xfrm>
          <a:prstGeom prst="rect">
            <a:avLst/>
          </a:prstGeom>
        </p:spPr>
      </p:pic>
      <p:pic>
        <p:nvPicPr>
          <p:cNvPr id="82" name="Image 15" descr="preencoded.png">    </p:cNvPr>
          <p:cNvPicPr>
            <a:picLocks noChangeAspect="1"/>
          </p:cNvPicPr>
          <p:nvPr/>
        </p:nvPicPr>
        <p:blipFill>
          <a:blip r:embed="rId16"/>
          <a:srcRect l="0" r="0" t="-180" b="-180"/>
          <a:stretch/>
        </p:blipFill>
        <p:spPr>
          <a:xfrm>
            <a:off x="8815730" y="2305202"/>
            <a:ext cx="95098" cy="152705"/>
          </a:xfrm>
          <a:prstGeom prst="rect">
            <a:avLst/>
          </a:prstGeom>
        </p:spPr>
      </p:pic>
      <p:pic>
        <p:nvPicPr>
          <p:cNvPr id="83" name="Image 16" descr="preencoded.png">    </p:cNvPr>
          <p:cNvPicPr>
            <a:picLocks noChangeAspect="1"/>
          </p:cNvPicPr>
          <p:nvPr/>
        </p:nvPicPr>
        <p:blipFill>
          <a:blip r:embed="rId17"/>
          <a:srcRect l="0" r="0" t="-180" b="-180"/>
          <a:stretch/>
        </p:blipFill>
        <p:spPr>
          <a:xfrm>
            <a:off x="10146182" y="2305202"/>
            <a:ext cx="95098" cy="1527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9296705" y="-761695"/>
            <a:ext cx="3657600" cy="3657600"/>
          </a:xfrm>
          <a:prstGeom prst="ellipse">
            <a:avLst/>
          </a:prstGeom>
          <a:solidFill>
            <a:srgbClr val="FF6B35">
              <a:alpha val="10000"/>
            </a:srgbClr>
          </a:solidFill>
          <a:ln/>
        </p:spPr>
      </p:sp>
      <p:sp>
        <p:nvSpPr>
          <p:cNvPr id="5" name="Shape 3"/>
          <p:cNvSpPr/>
          <p:nvPr/>
        </p:nvSpPr>
        <p:spPr>
          <a:xfrm>
            <a:off x="8229600" y="3657600"/>
            <a:ext cx="2438705" cy="2438705"/>
          </a:xfrm>
          <a:prstGeom prst="ellipse">
            <a:avLst/>
          </a:prstGeom>
          <a:solidFill>
            <a:srgbClr val="60A5FA">
              <a:alpha val="10000"/>
            </a:srgbClr>
          </a:solidFill>
          <a:ln/>
        </p:spPr>
      </p:sp>
      <p:sp>
        <p:nvSpPr>
          <p:cNvPr id="6" name="Shape 4"/>
          <p:cNvSpPr/>
          <p:nvPr/>
        </p:nvSpPr>
        <p:spPr>
          <a:xfrm>
            <a:off x="8128102" y="0"/>
            <a:ext cx="4067251" cy="6858000"/>
          </a:xfrm>
          <a:prstGeom prst="rect">
            <a:avLst/>
          </a:prstGeom>
          <a:solidFill>
            <a:srgbClr val="FFF0E9">
              <a:alpha val="80000"/>
            </a:srgbClr>
          </a:solidFill>
          <a:ln/>
        </p:spPr>
      </p:sp>
      <p:sp>
        <p:nvSpPr>
          <p:cNvPr id="7" name="Shape 5"/>
          <p:cNvSpPr/>
          <p:nvPr/>
        </p:nvSpPr>
        <p:spPr>
          <a:xfrm>
            <a:off x="10110521" y="2286000"/>
            <a:ext cx="1324051" cy="714146"/>
          </a:xfrm>
          <a:prstGeom prst="roundRect">
            <a:avLst>
              <a:gd name="adj" fmla="val 20487"/>
            </a:avLst>
          </a:prstGeom>
          <a:solidFill>
            <a:srgbClr val="FFFFFF">
              <a:alpha val="80000"/>
            </a:srgbClr>
          </a:solidFill>
          <a:ln/>
          <a:effectLst>
            <a:outerShdw sx="100000" sy="100000" kx="0" ky="0" algn="bl" rotWithShape="0" blurRad="12700" dist="12700" dir="16200000">
              <a:srgbClr val="000000">
                <a:alpha val="75000"/>
              </a:srgbClr>
            </a:outerShdw>
          </a:effectLst>
        </p:spPr>
      </p:sp>
      <p:sp>
        <p:nvSpPr>
          <p:cNvPr id="8" name="Shape 6"/>
          <p:cNvSpPr/>
          <p:nvPr/>
        </p:nvSpPr>
        <p:spPr>
          <a:xfrm>
            <a:off x="10253167" y="2412187"/>
            <a:ext cx="418795" cy="437998"/>
          </a:xfrm>
          <a:prstGeom prst="roundRect">
            <a:avLst>
              <a:gd name="adj" fmla="val 39698"/>
            </a:avLst>
          </a:prstGeom>
          <a:solidFill>
            <a:srgbClr val="DBEAFE">
              <a:alpha val="80000"/>
            </a:srgbClr>
          </a:solidFill>
          <a:ln/>
        </p:spPr>
      </p:sp>
      <p:pic>
        <p:nvPicPr>
          <p:cNvPr id="9" name="Image 0" descr="preencoded.png">    </p:cNvPr>
          <p:cNvPicPr>
            <a:picLocks noChangeAspect="1"/>
          </p:cNvPicPr>
          <p:nvPr/>
        </p:nvPicPr>
        <p:blipFill>
          <a:blip r:embed="rId1">
            <a:alphaModFix amt="80000"/>
          </a:blip>
          <a:srcRect l="0" r="0" t="0" b="0"/>
          <a:stretch/>
        </p:blipFill>
        <p:spPr>
          <a:xfrm>
            <a:off x="10334549" y="2492654"/>
            <a:ext cx="256946" cy="256946"/>
          </a:xfrm>
          <a:prstGeom prst="rect">
            <a:avLst/>
          </a:prstGeom>
        </p:spPr>
      </p:pic>
      <p:sp>
        <p:nvSpPr>
          <p:cNvPr id="10" name="Text 7"/>
          <p:cNvSpPr txBox="1"/>
          <p:nvPr/>
        </p:nvSpPr>
        <p:spPr>
          <a:xfrm>
            <a:off x="10769803" y="2443277"/>
            <a:ext cx="609905" cy="191110"/>
          </a:xfrm>
          <a:prstGeom prst="rect">
            <a:avLst/>
          </a:prstGeom>
          <a:noFill/>
          <a:ln/>
        </p:spPr>
        <p:txBody>
          <a:bodyPr wrap="square" lIns="0" tIns="0" rIns="0" bIns="0" rtlCol="0" anchor="ctr"/>
          <a:lstStyle/>
          <a:p>
            <a:pPr algn="l" indent="0" marL="0">
              <a:buNone/>
            </a:pPr>
            <a:r>
              <a:rPr lang="en-US" sz="900" b="1" dirty="0">
                <a:solidFill>
                  <a:srgbClr val="9CA3AF">
                    <a:alpha val="80000"/>
                  </a:srgbClr>
                </a:solidFill>
                <a:latin typeface="Noto Sans JP" pitchFamily="34" charset="0"/>
                <a:ea typeface="Noto Sans JP" pitchFamily="34" charset="-122"/>
                <a:cs typeface="Noto Sans JP" pitchFamily="34" charset="-120"/>
              </a:rPr>
              <a:t>GROWTH</a:t>
            </a:r>
            <a:endParaRPr lang="en-US" sz="900" dirty="0"/>
          </a:p>
        </p:txBody>
      </p:sp>
      <p:sp>
        <p:nvSpPr>
          <p:cNvPr id="11" name="Text 8"/>
          <p:cNvSpPr txBox="1"/>
          <p:nvPr/>
        </p:nvSpPr>
        <p:spPr>
          <a:xfrm>
            <a:off x="10757916" y="2605126"/>
            <a:ext cx="638251" cy="257861"/>
          </a:xfrm>
          <a:prstGeom prst="rect">
            <a:avLst/>
          </a:prstGeom>
          <a:noFill/>
          <a:ln/>
        </p:spPr>
        <p:txBody>
          <a:bodyPr wrap="square" lIns="0" tIns="0" rIns="0" bIns="0" rtlCol="0" anchor="ctr"/>
          <a:lstStyle/>
          <a:p>
            <a:pPr algn="l" indent="0" marL="0">
              <a:buNone/>
            </a:pPr>
            <a:r>
              <a:rPr lang="en-US" sz="1200" b="1" dirty="0">
                <a:solidFill>
                  <a:srgbClr val="1F2937">
                    <a:alpha val="80000"/>
                  </a:srgbClr>
                </a:solidFill>
                <a:latin typeface="Noto Sans JP" pitchFamily="34" charset="0"/>
                <a:ea typeface="Noto Sans JP" pitchFamily="34" charset="-122"/>
                <a:cs typeface="Noto Sans JP" pitchFamily="34" charset="-120"/>
              </a:rPr>
              <a:t>+125%</a:t>
            </a:r>
            <a:endParaRPr lang="en-US" sz="1200" dirty="0"/>
          </a:p>
        </p:txBody>
      </p:sp>
      <p:sp>
        <p:nvSpPr>
          <p:cNvPr id="12" name="Shape 9"/>
          <p:cNvSpPr/>
          <p:nvPr/>
        </p:nvSpPr>
        <p:spPr>
          <a:xfrm>
            <a:off x="9460382" y="3857854"/>
            <a:ext cx="1514246" cy="714146"/>
          </a:xfrm>
          <a:prstGeom prst="roundRect">
            <a:avLst>
              <a:gd name="adj" fmla="val 20487"/>
            </a:avLst>
          </a:prstGeom>
          <a:solidFill>
            <a:srgbClr val="FFFFFF">
              <a:alpha val="80000"/>
            </a:srgbClr>
          </a:solidFill>
          <a:ln/>
          <a:effectLst>
            <a:outerShdw sx="100000" sy="100000" kx="0" ky="0" algn="bl" rotWithShape="0" blurRad="12700" dist="12700" dir="16200000">
              <a:srgbClr val="000000">
                <a:alpha val="75000"/>
              </a:srgbClr>
            </a:outerShdw>
          </a:effectLst>
        </p:spPr>
      </p:sp>
      <p:sp>
        <p:nvSpPr>
          <p:cNvPr id="13" name="Shape 10"/>
          <p:cNvSpPr/>
          <p:nvPr/>
        </p:nvSpPr>
        <p:spPr>
          <a:xfrm>
            <a:off x="9605772" y="4016045"/>
            <a:ext cx="466344" cy="428854"/>
          </a:xfrm>
          <a:prstGeom prst="roundRect">
            <a:avLst>
              <a:gd name="adj" fmla="val 37906"/>
            </a:avLst>
          </a:prstGeom>
          <a:solidFill>
            <a:srgbClr val="D1FAE5">
              <a:alpha val="80000"/>
            </a:srgbClr>
          </a:solidFill>
          <a:ln/>
        </p:spPr>
      </p:sp>
      <p:pic>
        <p:nvPicPr>
          <p:cNvPr id="14" name="Image 1" descr="preencoded.png">    </p:cNvPr>
          <p:cNvPicPr>
            <a:picLocks noChangeAspect="1"/>
          </p:cNvPicPr>
          <p:nvPr/>
        </p:nvPicPr>
        <p:blipFill>
          <a:blip r:embed="rId2">
            <a:alphaModFix amt="80000"/>
          </a:blip>
          <a:srcRect l="0" r="0" t="-2740" b="-2740"/>
          <a:stretch/>
        </p:blipFill>
        <p:spPr>
          <a:xfrm>
            <a:off x="9684410" y="4094683"/>
            <a:ext cx="304495" cy="256946"/>
          </a:xfrm>
          <a:prstGeom prst="rect">
            <a:avLst/>
          </a:prstGeom>
        </p:spPr>
      </p:pic>
      <p:sp>
        <p:nvSpPr>
          <p:cNvPr id="15" name="Text 11"/>
          <p:cNvSpPr txBox="1"/>
          <p:nvPr/>
        </p:nvSpPr>
        <p:spPr>
          <a:xfrm>
            <a:off x="10167214" y="3994099"/>
            <a:ext cx="743407" cy="191110"/>
          </a:xfrm>
          <a:prstGeom prst="rect">
            <a:avLst/>
          </a:prstGeom>
          <a:noFill/>
          <a:ln/>
        </p:spPr>
        <p:txBody>
          <a:bodyPr wrap="square" lIns="0" tIns="0" rIns="0" bIns="0" rtlCol="0" anchor="ctr"/>
          <a:lstStyle/>
          <a:p>
            <a:pPr algn="l" indent="0" marL="0">
              <a:buNone/>
            </a:pPr>
            <a:r>
              <a:rPr lang="en-US" sz="900" b="1" dirty="0">
                <a:solidFill>
                  <a:srgbClr val="9CA3AF">
                    <a:alpha val="80000"/>
                  </a:srgbClr>
                </a:solidFill>
                <a:latin typeface="Noto Sans JP" pitchFamily="34" charset="0"/>
                <a:ea typeface="Noto Sans JP" pitchFamily="34" charset="-122"/>
                <a:cs typeface="Noto Sans JP" pitchFamily="34" charset="-120"/>
              </a:rPr>
              <a:t>TARGETING</a:t>
            </a:r>
            <a:endParaRPr lang="en-US" sz="900" dirty="0"/>
          </a:p>
        </p:txBody>
      </p:sp>
      <p:sp>
        <p:nvSpPr>
          <p:cNvPr id="16" name="Text 12"/>
          <p:cNvSpPr txBox="1"/>
          <p:nvPr/>
        </p:nvSpPr>
        <p:spPr>
          <a:xfrm>
            <a:off x="10173614" y="4155948"/>
            <a:ext cx="762610" cy="257861"/>
          </a:xfrm>
          <a:prstGeom prst="rect">
            <a:avLst/>
          </a:prstGeom>
          <a:noFill/>
          <a:ln/>
        </p:spPr>
        <p:txBody>
          <a:bodyPr wrap="square" lIns="0" tIns="0" rIns="0" bIns="0" rtlCol="0" anchor="ctr"/>
          <a:lstStyle/>
          <a:p>
            <a:pPr algn="l" indent="0" marL="0">
              <a:buNone/>
            </a:pPr>
            <a:r>
              <a:rPr lang="en-US" sz="1200" b="1" dirty="0">
                <a:solidFill>
                  <a:srgbClr val="1F2937">
                    <a:alpha val="80000"/>
                  </a:srgbClr>
                </a:solidFill>
                <a:latin typeface="Noto Sans JP" pitchFamily="34" charset="0"/>
                <a:ea typeface="Noto Sans JP" pitchFamily="34" charset="-122"/>
                <a:cs typeface="Noto Sans JP" pitchFamily="34" charset="-120"/>
              </a:rPr>
              <a:t>F1層獲得</a:t>
            </a:r>
            <a:endParaRPr lang="en-US" sz="1200" dirty="0"/>
          </a:p>
        </p:txBody>
      </p:sp>
      <p:sp>
        <p:nvSpPr>
          <p:cNvPr id="17" name="Shape 13"/>
          <p:cNvSpPr/>
          <p:nvPr/>
        </p:nvSpPr>
        <p:spPr>
          <a:xfrm>
            <a:off x="0" y="6743700"/>
            <a:ext cx="12191695" cy="114300"/>
          </a:xfrm>
          <a:prstGeom prst="rect">
            <a:avLst/>
          </a:prstGeom>
          <a:solidFill>
            <a:srgbClr val="FF6B35"/>
          </a:solidFill>
          <a:ln/>
        </p:spPr>
      </p:sp>
      <p:sp>
        <p:nvSpPr>
          <p:cNvPr id="18" name="Shape 14"/>
          <p:cNvSpPr/>
          <p:nvPr/>
        </p:nvSpPr>
        <p:spPr>
          <a:xfrm>
            <a:off x="609905" y="457200"/>
            <a:ext cx="381305" cy="381305"/>
          </a:xfrm>
          <a:prstGeom prst="roundRect">
            <a:avLst>
              <a:gd name="adj" fmla="val 47962"/>
            </a:avLst>
          </a:prstGeom>
          <a:solidFill>
            <a:srgbClr val="FF6B35"/>
          </a:solidFill>
          <a:ln/>
        </p:spPr>
      </p:sp>
      <p:pic>
        <p:nvPicPr>
          <p:cNvPr id="19" name="Image 2" descr="preencoded.png">    </p:cNvPr>
          <p:cNvPicPr>
            <a:picLocks noChangeAspect="1"/>
          </p:cNvPicPr>
          <p:nvPr/>
        </p:nvPicPr>
        <p:blipFill>
          <a:blip r:embed="rId3"/>
          <a:srcRect l="0" r="0" t="0" b="0"/>
          <a:stretch/>
        </p:blipFill>
        <p:spPr>
          <a:xfrm>
            <a:off x="705002" y="552298"/>
            <a:ext cx="190195" cy="190195"/>
          </a:xfrm>
          <a:prstGeom prst="rect">
            <a:avLst/>
          </a:prstGeom>
        </p:spPr>
      </p:pic>
      <p:sp>
        <p:nvSpPr>
          <p:cNvPr id="20" name="Text 15"/>
          <p:cNvSpPr txBox="1"/>
          <p:nvPr/>
        </p:nvSpPr>
        <p:spPr>
          <a:xfrm>
            <a:off x="1104595" y="523951"/>
            <a:ext cx="1967789" cy="247802"/>
          </a:xfrm>
          <a:prstGeom prst="rect">
            <a:avLst/>
          </a:prstGeom>
          <a:noFill/>
          <a:ln/>
        </p:spPr>
        <p:txBody>
          <a:bodyPr wrap="square" lIns="0" tIns="0" rIns="0" bIns="0" rtlCol="0" anchor="ctr"/>
          <a:lstStyle/>
          <a:p>
            <a:pPr algn="l" indent="0" marL="0">
              <a:buNone/>
            </a:pPr>
            <a:r>
              <a:rPr lang="en-US" sz="1300" b="1" dirty="0">
                <a:solidFill>
                  <a:srgbClr val="6B7280"/>
                </a:solidFill>
                <a:latin typeface="Noto Sans JP" pitchFamily="34" charset="0"/>
                <a:ea typeface="Noto Sans JP" pitchFamily="34" charset="-122"/>
                <a:cs typeface="Noto Sans JP" pitchFamily="34" charset="-120"/>
              </a:rPr>
              <a:t>SALON CONSULTING</a:t>
            </a:r>
            <a:endParaRPr lang="en-US" sz="1300" dirty="0"/>
          </a:p>
        </p:txBody>
      </p:sp>
      <p:sp>
        <p:nvSpPr>
          <p:cNvPr id="21" name="Shape 16"/>
          <p:cNvSpPr/>
          <p:nvPr/>
        </p:nvSpPr>
        <p:spPr>
          <a:xfrm>
            <a:off x="609905" y="3595421"/>
            <a:ext cx="38405" cy="895198"/>
          </a:xfrm>
          <a:prstGeom prst="rect">
            <a:avLst/>
          </a:prstGeom>
          <a:solidFill>
            <a:srgbClr val="E5E7EB"/>
          </a:solidFill>
          <a:ln/>
        </p:spPr>
      </p:sp>
      <p:sp>
        <p:nvSpPr>
          <p:cNvPr id="22" name="Shape 17"/>
          <p:cNvSpPr/>
          <p:nvPr/>
        </p:nvSpPr>
        <p:spPr>
          <a:xfrm>
            <a:off x="609905" y="4947818"/>
            <a:ext cx="7315200" cy="9144"/>
          </a:xfrm>
          <a:prstGeom prst="rect">
            <a:avLst/>
          </a:prstGeom>
          <a:solidFill>
            <a:srgbClr val="E5E7EB"/>
          </a:solidFill>
          <a:ln/>
        </p:spPr>
      </p:sp>
      <p:sp>
        <p:nvSpPr>
          <p:cNvPr id="23" name="Shape 18"/>
          <p:cNvSpPr/>
          <p:nvPr/>
        </p:nvSpPr>
        <p:spPr>
          <a:xfrm>
            <a:off x="609905" y="1433779"/>
            <a:ext cx="2771546" cy="342900"/>
          </a:xfrm>
          <a:prstGeom prst="roundRect">
            <a:avLst>
              <a:gd name="adj" fmla="val 266667"/>
            </a:avLst>
          </a:prstGeom>
          <a:solidFill>
            <a:srgbClr val="FF6B35"/>
          </a:solidFill>
          <a:ln/>
        </p:spPr>
      </p:sp>
      <p:sp>
        <p:nvSpPr>
          <p:cNvPr id="24" name="Text 19"/>
          <p:cNvSpPr txBox="1"/>
          <p:nvPr/>
        </p:nvSpPr>
        <p:spPr>
          <a:xfrm>
            <a:off x="761695" y="1509674"/>
            <a:ext cx="2567635"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COMPETITIVE ANALYSIS &amp; STRATEGY</a:t>
            </a:r>
            <a:endParaRPr lang="en-US" sz="1000" dirty="0"/>
          </a:p>
        </p:txBody>
      </p:sp>
      <p:sp>
        <p:nvSpPr>
          <p:cNvPr id="25" name="Text 20"/>
          <p:cNvSpPr txBox="1"/>
          <p:nvPr/>
        </p:nvSpPr>
        <p:spPr>
          <a:xfrm>
            <a:off x="609905" y="1880921"/>
            <a:ext cx="9134856" cy="1543507"/>
          </a:xfrm>
          <a:prstGeom prst="rect">
            <a:avLst/>
          </a:prstGeom>
          <a:noFill/>
          <a:ln/>
        </p:spPr>
        <p:txBody>
          <a:bodyPr wrap="square" lIns="0" tIns="0" rIns="0" bIns="0" rtlCol="0" anchor="ctr"/>
          <a:lstStyle/>
          <a:p>
            <a:pPr algn="l" indent="0" marL="0">
              <a:buNone/>
            </a:pPr>
            <a:r>
              <a:rPr lang="en-US" sz="4500" b="1" dirty="0">
                <a:solidFill>
                  <a:srgbClr val="1F2937"/>
                </a:solidFill>
                <a:latin typeface="Noto Sans JP" pitchFamily="34" charset="0"/>
                <a:ea typeface="Noto Sans JP" pitchFamily="34" charset="-122"/>
                <a:cs typeface="Noto Sans JP" pitchFamily="34" charset="-120"/>
              </a:rPr>
              <a:t>ベンチマーク分析に基づく 戦略的Web集客提案書</a:t>
            </a:r>
            <a:endParaRPr lang="en-US" sz="4500" dirty="0"/>
          </a:p>
        </p:txBody>
      </p:sp>
      <p:sp>
        <p:nvSpPr>
          <p:cNvPr id="26" name="Text 21"/>
          <p:cNvSpPr txBox="1"/>
          <p:nvPr/>
        </p:nvSpPr>
        <p:spPr>
          <a:xfrm>
            <a:off x="875995" y="3690518"/>
            <a:ext cx="5582412" cy="333756"/>
          </a:xfrm>
          <a:prstGeom prst="rect">
            <a:avLst/>
          </a:prstGeom>
          <a:noFill/>
          <a:ln/>
        </p:spPr>
        <p:txBody>
          <a:bodyPr wrap="square" lIns="0" tIns="0" rIns="0" bIns="0" rtlCol="0" anchor="ctr"/>
          <a:lstStyle/>
          <a:p>
            <a:pPr algn="l" indent="0" marL="0">
              <a:buNone/>
            </a:pPr>
            <a:r>
              <a:rPr lang="en-US" sz="1800" dirty="0">
                <a:solidFill>
                  <a:srgbClr val="4B5563"/>
                </a:solidFill>
                <a:latin typeface="Noto Sans JP" pitchFamily="34" charset="0"/>
                <a:ea typeface="Noto Sans JP" pitchFamily="34" charset="-122"/>
                <a:cs typeface="Noto Sans JP" pitchFamily="34" charset="-120"/>
              </a:rPr>
              <a:t>競合サロン「Siena渋谷」の成功要因分析から導く、</a:t>
            </a:r>
            <a:endParaRPr lang="en-US" sz="1800" dirty="0"/>
          </a:p>
        </p:txBody>
      </p:sp>
      <p:sp>
        <p:nvSpPr>
          <p:cNvPr id="27" name="Text 22"/>
          <p:cNvSpPr txBox="1"/>
          <p:nvPr/>
        </p:nvSpPr>
        <p:spPr>
          <a:xfrm>
            <a:off x="875995" y="4062679"/>
            <a:ext cx="4743907" cy="333756"/>
          </a:xfrm>
          <a:prstGeom prst="rect">
            <a:avLst/>
          </a:prstGeom>
          <a:noFill/>
          <a:ln/>
        </p:spPr>
        <p:txBody>
          <a:bodyPr wrap="square" lIns="0" tIns="0" rIns="0" bIns="0" rtlCol="0" anchor="ctr"/>
          <a:lstStyle/>
          <a:p>
            <a:pPr algn="l" indent="0" marL="0">
              <a:buNone/>
            </a:pPr>
            <a:r>
              <a:rPr lang="en-US" sz="1800" dirty="0">
                <a:solidFill>
                  <a:srgbClr val="4B5563"/>
                </a:solidFill>
                <a:latin typeface="Noto Sans JP" pitchFamily="34" charset="0"/>
                <a:ea typeface="Noto Sans JP" pitchFamily="34" charset="-122"/>
                <a:cs typeface="Noto Sans JP" pitchFamily="34" charset="-120"/>
              </a:rPr>
              <a:t>貴店の独自性と収益最大化のための掲載戦略</a:t>
            </a:r>
            <a:endParaRPr lang="en-US" sz="1800" dirty="0"/>
          </a:p>
        </p:txBody>
      </p:sp>
      <p:sp>
        <p:nvSpPr>
          <p:cNvPr id="28" name="Text 23"/>
          <p:cNvSpPr txBox="1"/>
          <p:nvPr/>
        </p:nvSpPr>
        <p:spPr>
          <a:xfrm>
            <a:off x="609905" y="5262372"/>
            <a:ext cx="1205179"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PROPOSAL FOR</a:t>
            </a:r>
            <a:endParaRPr lang="en-US" sz="1000" dirty="0"/>
          </a:p>
        </p:txBody>
      </p:sp>
      <p:sp>
        <p:nvSpPr>
          <p:cNvPr id="29" name="Text 24"/>
          <p:cNvSpPr txBox="1"/>
          <p:nvPr/>
        </p:nvSpPr>
        <p:spPr>
          <a:xfrm>
            <a:off x="609905" y="5481828"/>
            <a:ext cx="18580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新規ご提案サロン様</a:t>
            </a:r>
            <a:endParaRPr lang="en-US" sz="1500" dirty="0"/>
          </a:p>
        </p:txBody>
      </p:sp>
      <p:sp>
        <p:nvSpPr>
          <p:cNvPr id="30" name="Text 25"/>
          <p:cNvSpPr txBox="1"/>
          <p:nvPr/>
        </p:nvSpPr>
        <p:spPr>
          <a:xfrm>
            <a:off x="4496105" y="5262372"/>
            <a:ext cx="46268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DATE</a:t>
            </a:r>
            <a:endParaRPr lang="en-US" sz="1000" dirty="0"/>
          </a:p>
        </p:txBody>
      </p:sp>
      <p:sp>
        <p:nvSpPr>
          <p:cNvPr id="31" name="Text 26"/>
          <p:cNvSpPr txBox="1"/>
          <p:nvPr/>
        </p:nvSpPr>
        <p:spPr>
          <a:xfrm>
            <a:off x="4496105" y="5481828"/>
            <a:ext cx="139080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2026年1月3日</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0" y="752551"/>
            <a:ext cx="12191695" cy="9144"/>
          </a:xfrm>
          <a:prstGeom prst="rect">
            <a:avLst/>
          </a:prstGeom>
          <a:solidFill>
            <a:srgbClr val="F3F4F6"/>
          </a:solidFill>
          <a:ln/>
        </p:spPr>
      </p:sp>
      <p:sp>
        <p:nvSpPr>
          <p:cNvPr id="5" name="Shape 3"/>
          <p:cNvSpPr/>
          <p:nvPr/>
        </p:nvSpPr>
        <p:spPr>
          <a:xfrm>
            <a:off x="609905" y="224028"/>
            <a:ext cx="304495" cy="304495"/>
          </a:xfrm>
          <a:prstGeom prst="roundRect">
            <a:avLst>
              <a:gd name="adj" fmla="val 56306"/>
            </a:avLst>
          </a:prstGeom>
          <a:solidFill>
            <a:srgbClr val="FF6B35"/>
          </a:solidFill>
          <a:ln/>
        </p:spPr>
      </p:sp>
      <p:pic>
        <p:nvPicPr>
          <p:cNvPr id="6" name="Image 0" descr="preencoded.png">    </p:cNvPr>
          <p:cNvPicPr>
            <a:picLocks noChangeAspect="1"/>
          </p:cNvPicPr>
          <p:nvPr/>
        </p:nvPicPr>
        <p:blipFill>
          <a:blip r:embed="rId1"/>
          <a:srcRect l="0" r="0" t="0" b="0"/>
          <a:stretch/>
        </p:blipFill>
        <p:spPr>
          <a:xfrm>
            <a:off x="694944" y="309982"/>
            <a:ext cx="133502" cy="133502"/>
          </a:xfrm>
          <a:prstGeom prst="rect">
            <a:avLst/>
          </a:prstGeom>
        </p:spPr>
      </p:pic>
      <p:sp>
        <p:nvSpPr>
          <p:cNvPr id="7" name="Text 4"/>
          <p:cNvSpPr txBox="1"/>
          <p:nvPr/>
        </p:nvSpPr>
        <p:spPr>
          <a:xfrm>
            <a:off x="990295" y="280721"/>
            <a:ext cx="2339035"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SALON CONSULTING PROPOSAL</a:t>
            </a:r>
            <a:endParaRPr lang="en-US" sz="1000" dirty="0"/>
          </a:p>
        </p:txBody>
      </p:sp>
      <p:sp>
        <p:nvSpPr>
          <p:cNvPr id="8" name="Text 5"/>
          <p:cNvSpPr txBox="1"/>
          <p:nvPr/>
        </p:nvSpPr>
        <p:spPr>
          <a:xfrm>
            <a:off x="10916107" y="280721"/>
            <a:ext cx="7671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2026.01.03</a:t>
            </a:r>
            <a:endParaRPr lang="en-US" sz="1000" dirty="0"/>
          </a:p>
        </p:txBody>
      </p:sp>
      <p:sp>
        <p:nvSpPr>
          <p:cNvPr id="9" name="Text 6"/>
          <p:cNvSpPr txBox="1"/>
          <p:nvPr/>
        </p:nvSpPr>
        <p:spPr>
          <a:xfrm>
            <a:off x="609905" y="2295144"/>
            <a:ext cx="1690726" cy="191110"/>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TABLE OF CONTENTS</a:t>
            </a:r>
            <a:endParaRPr lang="en-US" sz="1000" dirty="0"/>
          </a:p>
        </p:txBody>
      </p:sp>
      <p:sp>
        <p:nvSpPr>
          <p:cNvPr id="10" name="Text 7"/>
          <p:cNvSpPr txBox="1"/>
          <p:nvPr/>
        </p:nvSpPr>
        <p:spPr>
          <a:xfrm>
            <a:off x="609905" y="2523744"/>
            <a:ext cx="1724558" cy="667512"/>
          </a:xfrm>
          <a:prstGeom prst="rect">
            <a:avLst/>
          </a:prstGeom>
          <a:noFill/>
          <a:ln/>
        </p:spPr>
        <p:txBody>
          <a:bodyPr wrap="square" lIns="0" tIns="0" rIns="0" bIns="0" rtlCol="0" anchor="ctr"/>
          <a:lstStyle/>
          <a:p>
            <a:pPr algn="l" indent="0" marL="0">
              <a:buNone/>
            </a:pPr>
            <a:r>
              <a:rPr lang="en-US" sz="3600" b="1" dirty="0">
                <a:solidFill>
                  <a:srgbClr val="1F2937"/>
                </a:solidFill>
                <a:latin typeface="Noto Sans JP" pitchFamily="34" charset="0"/>
                <a:ea typeface="Noto Sans JP" pitchFamily="34" charset="-122"/>
                <a:cs typeface="Noto Sans JP" pitchFamily="34" charset="-120"/>
              </a:rPr>
              <a:t>本日の</a:t>
            </a:r>
            <a:endParaRPr lang="en-US" sz="3600" dirty="0"/>
          </a:p>
        </p:txBody>
      </p:sp>
      <p:sp>
        <p:nvSpPr>
          <p:cNvPr id="11" name="Text 8"/>
          <p:cNvSpPr txBox="1"/>
          <p:nvPr/>
        </p:nvSpPr>
        <p:spPr>
          <a:xfrm>
            <a:off x="609905" y="3095244"/>
            <a:ext cx="2638958" cy="667512"/>
          </a:xfrm>
          <a:prstGeom prst="rect">
            <a:avLst/>
          </a:prstGeom>
          <a:noFill/>
          <a:ln/>
        </p:spPr>
        <p:txBody>
          <a:bodyPr wrap="square" lIns="0" tIns="0" rIns="0" bIns="0" rtlCol="0" anchor="ctr"/>
          <a:lstStyle/>
          <a:p>
            <a:pPr algn="l" indent="0" marL="0">
              <a:buNone/>
            </a:pPr>
            <a:r>
              <a:rPr lang="en-US" sz="3600" b="1" dirty="0">
                <a:solidFill>
                  <a:srgbClr val="1F2937"/>
                </a:solidFill>
                <a:latin typeface="Noto Sans JP" pitchFamily="34" charset="0"/>
                <a:ea typeface="Noto Sans JP" pitchFamily="34" charset="-122"/>
                <a:cs typeface="Noto Sans JP" pitchFamily="34" charset="-120"/>
              </a:rPr>
              <a:t>ご提案内容</a:t>
            </a:r>
            <a:endParaRPr lang="en-US" sz="3600" dirty="0"/>
          </a:p>
        </p:txBody>
      </p:sp>
      <p:sp>
        <p:nvSpPr>
          <p:cNvPr id="12" name="Text 9"/>
          <p:cNvSpPr txBox="1"/>
          <p:nvPr/>
        </p:nvSpPr>
        <p:spPr>
          <a:xfrm>
            <a:off x="609905" y="4028846"/>
            <a:ext cx="2410358"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競合サロンの徹底分析から見えた</a:t>
            </a:r>
            <a:endParaRPr lang="en-US" sz="1200" dirty="0"/>
          </a:p>
        </p:txBody>
      </p:sp>
      <p:sp>
        <p:nvSpPr>
          <p:cNvPr id="13" name="Text 10"/>
          <p:cNvSpPr txBox="1"/>
          <p:nvPr/>
        </p:nvSpPr>
        <p:spPr>
          <a:xfrm>
            <a:off x="609905" y="4276649"/>
            <a:ext cx="1485900"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市場の空白地帯と、</a:t>
            </a:r>
            <a:endParaRPr lang="en-US" sz="1200" dirty="0"/>
          </a:p>
        </p:txBody>
      </p:sp>
      <p:sp>
        <p:nvSpPr>
          <p:cNvPr id="14" name="Text 11"/>
          <p:cNvSpPr txBox="1"/>
          <p:nvPr/>
        </p:nvSpPr>
        <p:spPr>
          <a:xfrm>
            <a:off x="609905" y="4524451"/>
            <a:ext cx="2705710"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貴店が取るべき具体的な戦略について</a:t>
            </a:r>
            <a:endParaRPr lang="en-US" sz="1200" dirty="0"/>
          </a:p>
        </p:txBody>
      </p:sp>
      <p:sp>
        <p:nvSpPr>
          <p:cNvPr id="15" name="Text 12"/>
          <p:cNvSpPr txBox="1"/>
          <p:nvPr/>
        </p:nvSpPr>
        <p:spPr>
          <a:xfrm>
            <a:off x="609905" y="4772254"/>
            <a:ext cx="2324405"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5つのステップでご説明します。</a:t>
            </a:r>
            <a:endParaRPr lang="en-US" sz="1200" dirty="0"/>
          </a:p>
        </p:txBody>
      </p:sp>
      <p:sp>
        <p:nvSpPr>
          <p:cNvPr id="16" name="Shape 13"/>
          <p:cNvSpPr/>
          <p:nvPr/>
        </p:nvSpPr>
        <p:spPr>
          <a:xfrm>
            <a:off x="609905" y="5315407"/>
            <a:ext cx="609905" cy="38405"/>
          </a:xfrm>
          <a:prstGeom prst="rect">
            <a:avLst/>
          </a:prstGeom>
          <a:solidFill>
            <a:srgbClr val="FF6B35"/>
          </a:solidFill>
          <a:ln/>
        </p:spPr>
      </p:sp>
      <p:sp>
        <p:nvSpPr>
          <p:cNvPr id="17" name="Shape 14"/>
          <p:cNvSpPr/>
          <p:nvPr/>
        </p:nvSpPr>
        <p:spPr>
          <a:xfrm>
            <a:off x="4267505" y="1143000"/>
            <a:ext cx="9144" cy="5333695"/>
          </a:xfrm>
          <a:prstGeom prst="rect">
            <a:avLst/>
          </a:prstGeom>
          <a:solidFill>
            <a:srgbClr val="F3F4F6"/>
          </a:solidFill>
          <a:ln/>
        </p:spPr>
      </p:sp>
      <p:sp>
        <p:nvSpPr>
          <p:cNvPr id="18" name="Shape 15"/>
          <p:cNvSpPr/>
          <p:nvPr/>
        </p:nvSpPr>
        <p:spPr>
          <a:xfrm>
            <a:off x="4581144" y="1143000"/>
            <a:ext cx="7000646" cy="914400"/>
          </a:xfrm>
          <a:prstGeom prst="roundRect">
            <a:avLst>
              <a:gd name="adj" fmla="val 1250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19" name="Shape 16"/>
          <p:cNvSpPr/>
          <p:nvPr/>
        </p:nvSpPr>
        <p:spPr>
          <a:xfrm>
            <a:off x="4591202" y="1152144"/>
            <a:ext cx="38405" cy="895198"/>
          </a:xfrm>
          <a:prstGeom prst="rect">
            <a:avLst/>
          </a:prstGeom>
          <a:solidFill>
            <a:srgbClr val="FF6B35"/>
          </a:solidFill>
          <a:ln/>
        </p:spPr>
      </p:sp>
      <p:sp>
        <p:nvSpPr>
          <p:cNvPr id="20" name="Text 17"/>
          <p:cNvSpPr txBox="1"/>
          <p:nvPr/>
        </p:nvSpPr>
        <p:spPr>
          <a:xfrm>
            <a:off x="4781398" y="1257300"/>
            <a:ext cx="905256" cy="667512"/>
          </a:xfrm>
          <a:prstGeom prst="rect">
            <a:avLst/>
          </a:prstGeom>
          <a:noFill/>
          <a:ln/>
        </p:spPr>
        <p:txBody>
          <a:bodyPr wrap="square" lIns="0" tIns="0" rIns="0" bIns="0" rtlCol="0" anchor="ctr"/>
          <a:lstStyle/>
          <a:p>
            <a:pPr algn="l" indent="0" marL="0">
              <a:buNone/>
            </a:pPr>
            <a:r>
              <a:rPr lang="en-US" sz="3600" b="1" dirty="0">
                <a:solidFill>
                  <a:srgbClr val="E5E7EB"/>
                </a:solidFill>
                <a:latin typeface="Noto Sans JP" pitchFamily="34" charset="0"/>
                <a:ea typeface="Noto Sans JP" pitchFamily="34" charset="-122"/>
                <a:cs typeface="Noto Sans JP" pitchFamily="34" charset="-120"/>
              </a:rPr>
              <a:t>01</a:t>
            </a:r>
            <a:endParaRPr lang="en-US" sz="3600" dirty="0"/>
          </a:p>
        </p:txBody>
      </p:sp>
      <p:pic>
        <p:nvPicPr>
          <p:cNvPr id="21" name="Image 1" descr="preencoded.png">    </p:cNvPr>
          <p:cNvPicPr>
            <a:picLocks noChangeAspect="1"/>
          </p:cNvPicPr>
          <p:nvPr/>
        </p:nvPicPr>
        <p:blipFill>
          <a:blip r:embed="rId2"/>
          <a:srcRect l="0" r="0" t="0" b="0"/>
          <a:stretch/>
        </p:blipFill>
        <p:spPr>
          <a:xfrm>
            <a:off x="5566867" y="1419149"/>
            <a:ext cx="133502" cy="133502"/>
          </a:xfrm>
          <a:prstGeom prst="rect">
            <a:avLst/>
          </a:prstGeom>
        </p:spPr>
      </p:pic>
      <p:sp>
        <p:nvSpPr>
          <p:cNvPr id="22" name="Text 18"/>
          <p:cNvSpPr txBox="1"/>
          <p:nvPr/>
        </p:nvSpPr>
        <p:spPr>
          <a:xfrm>
            <a:off x="5776265" y="1343254"/>
            <a:ext cx="2048256"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ベンチマーク詳細分析</a:t>
            </a:r>
            <a:endParaRPr lang="en-US" sz="1500" dirty="0"/>
          </a:p>
        </p:txBody>
      </p:sp>
      <p:sp>
        <p:nvSpPr>
          <p:cNvPr id="23" name="Text 19"/>
          <p:cNvSpPr txBox="1"/>
          <p:nvPr/>
        </p:nvSpPr>
        <p:spPr>
          <a:xfrm>
            <a:off x="5566867" y="1657807"/>
            <a:ext cx="3119933"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「Siena渋谷」のメニュー・価格・集客戦略の解剖</a:t>
            </a:r>
            <a:endParaRPr lang="en-US" sz="1000" dirty="0"/>
          </a:p>
        </p:txBody>
      </p:sp>
      <p:sp>
        <p:nvSpPr>
          <p:cNvPr id="24" name="Shape 20"/>
          <p:cNvSpPr/>
          <p:nvPr/>
        </p:nvSpPr>
        <p:spPr>
          <a:xfrm>
            <a:off x="11001146" y="1410005"/>
            <a:ext cx="381305" cy="381305"/>
          </a:xfrm>
          <a:prstGeom prst="roundRect">
            <a:avLst>
              <a:gd name="adj" fmla="val 239808"/>
            </a:avLst>
          </a:prstGeom>
          <a:solidFill>
            <a:srgbClr val="FFF0E9"/>
          </a:solidFill>
          <a:ln/>
        </p:spPr>
      </p:sp>
      <p:pic>
        <p:nvPicPr>
          <p:cNvPr id="25" name="Image 2" descr="preencoded.png">    </p:cNvPr>
          <p:cNvPicPr>
            <a:picLocks noChangeAspect="1"/>
          </p:cNvPicPr>
          <p:nvPr/>
        </p:nvPicPr>
        <p:blipFill>
          <a:blip r:embed="rId3"/>
          <a:srcRect l="0" r="0" t="-43" b="-43"/>
          <a:stretch/>
        </p:blipFill>
        <p:spPr>
          <a:xfrm>
            <a:off x="11125505" y="1524305"/>
            <a:ext cx="133502" cy="152705"/>
          </a:xfrm>
          <a:prstGeom prst="rect">
            <a:avLst/>
          </a:prstGeom>
        </p:spPr>
      </p:pic>
      <p:sp>
        <p:nvSpPr>
          <p:cNvPr id="26" name="Shape 21"/>
          <p:cNvSpPr/>
          <p:nvPr/>
        </p:nvSpPr>
        <p:spPr>
          <a:xfrm>
            <a:off x="4581144" y="2247595"/>
            <a:ext cx="7000646" cy="914400"/>
          </a:xfrm>
          <a:prstGeom prst="roundRect">
            <a:avLst>
              <a:gd name="adj" fmla="val 1250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27" name="Shape 22"/>
          <p:cNvSpPr/>
          <p:nvPr/>
        </p:nvSpPr>
        <p:spPr>
          <a:xfrm>
            <a:off x="4591202" y="2257654"/>
            <a:ext cx="38405" cy="895198"/>
          </a:xfrm>
          <a:prstGeom prst="rect">
            <a:avLst/>
          </a:prstGeom>
          <a:solidFill>
            <a:srgbClr val="E5E7EB"/>
          </a:solidFill>
          <a:ln/>
        </p:spPr>
      </p:sp>
      <p:sp>
        <p:nvSpPr>
          <p:cNvPr id="28" name="Text 23"/>
          <p:cNvSpPr txBox="1"/>
          <p:nvPr/>
        </p:nvSpPr>
        <p:spPr>
          <a:xfrm>
            <a:off x="4781398" y="2361895"/>
            <a:ext cx="905256" cy="667512"/>
          </a:xfrm>
          <a:prstGeom prst="rect">
            <a:avLst/>
          </a:prstGeom>
          <a:noFill/>
          <a:ln/>
        </p:spPr>
        <p:txBody>
          <a:bodyPr wrap="square" lIns="0" tIns="0" rIns="0" bIns="0" rtlCol="0" anchor="ctr"/>
          <a:lstStyle/>
          <a:p>
            <a:pPr algn="l" indent="0" marL="0">
              <a:buNone/>
            </a:pPr>
            <a:r>
              <a:rPr lang="en-US" sz="3600" b="1" dirty="0">
                <a:solidFill>
                  <a:srgbClr val="E5E7EB"/>
                </a:solidFill>
                <a:latin typeface="Noto Sans JP" pitchFamily="34" charset="0"/>
                <a:ea typeface="Noto Sans JP" pitchFamily="34" charset="-122"/>
                <a:cs typeface="Noto Sans JP" pitchFamily="34" charset="-120"/>
              </a:rPr>
              <a:t>02</a:t>
            </a:r>
            <a:endParaRPr lang="en-US" sz="3600" dirty="0"/>
          </a:p>
        </p:txBody>
      </p:sp>
      <p:pic>
        <p:nvPicPr>
          <p:cNvPr id="29" name="Image 3" descr="preencoded.png">    </p:cNvPr>
          <p:cNvPicPr>
            <a:picLocks noChangeAspect="1"/>
          </p:cNvPicPr>
          <p:nvPr/>
        </p:nvPicPr>
        <p:blipFill>
          <a:blip r:embed="rId4"/>
          <a:srcRect l="-837" r="-837" t="0" b="0"/>
          <a:stretch/>
        </p:blipFill>
        <p:spPr>
          <a:xfrm>
            <a:off x="5566867" y="2523744"/>
            <a:ext cx="152705" cy="133502"/>
          </a:xfrm>
          <a:prstGeom prst="rect">
            <a:avLst/>
          </a:prstGeom>
        </p:spPr>
      </p:pic>
      <p:sp>
        <p:nvSpPr>
          <p:cNvPr id="30" name="Text 24"/>
          <p:cNvSpPr txBox="1"/>
          <p:nvPr/>
        </p:nvSpPr>
        <p:spPr>
          <a:xfrm>
            <a:off x="5795467" y="2447849"/>
            <a:ext cx="18580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競合環境・商圏分析</a:t>
            </a:r>
            <a:endParaRPr lang="en-US" sz="1500" dirty="0"/>
          </a:p>
        </p:txBody>
      </p:sp>
      <p:sp>
        <p:nvSpPr>
          <p:cNvPr id="31" name="Text 25"/>
          <p:cNvSpPr txBox="1"/>
          <p:nvPr/>
        </p:nvSpPr>
        <p:spPr>
          <a:xfrm>
            <a:off x="5566867" y="2762402"/>
            <a:ext cx="34344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渋谷エリアおよび広域商圏（代官山・銀座）の競合動向</a:t>
            </a:r>
            <a:endParaRPr lang="en-US" sz="1000" dirty="0"/>
          </a:p>
        </p:txBody>
      </p:sp>
      <p:sp>
        <p:nvSpPr>
          <p:cNvPr id="32" name="Shape 26"/>
          <p:cNvSpPr/>
          <p:nvPr/>
        </p:nvSpPr>
        <p:spPr>
          <a:xfrm>
            <a:off x="4581144" y="3353105"/>
            <a:ext cx="7000646" cy="914400"/>
          </a:xfrm>
          <a:prstGeom prst="roundRect">
            <a:avLst>
              <a:gd name="adj" fmla="val 1250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33" name="Shape 27"/>
          <p:cNvSpPr/>
          <p:nvPr/>
        </p:nvSpPr>
        <p:spPr>
          <a:xfrm>
            <a:off x="4591202" y="3362249"/>
            <a:ext cx="38405" cy="895198"/>
          </a:xfrm>
          <a:prstGeom prst="rect">
            <a:avLst/>
          </a:prstGeom>
          <a:solidFill>
            <a:srgbClr val="E5E7EB"/>
          </a:solidFill>
          <a:ln/>
        </p:spPr>
      </p:sp>
      <p:sp>
        <p:nvSpPr>
          <p:cNvPr id="34" name="Text 28"/>
          <p:cNvSpPr txBox="1"/>
          <p:nvPr/>
        </p:nvSpPr>
        <p:spPr>
          <a:xfrm>
            <a:off x="4781398" y="3467405"/>
            <a:ext cx="905256" cy="667512"/>
          </a:xfrm>
          <a:prstGeom prst="rect">
            <a:avLst/>
          </a:prstGeom>
          <a:noFill/>
          <a:ln/>
        </p:spPr>
        <p:txBody>
          <a:bodyPr wrap="square" lIns="0" tIns="0" rIns="0" bIns="0" rtlCol="0" anchor="ctr"/>
          <a:lstStyle/>
          <a:p>
            <a:pPr algn="l" indent="0" marL="0">
              <a:buNone/>
            </a:pPr>
            <a:r>
              <a:rPr lang="en-US" sz="3600" b="1" dirty="0">
                <a:solidFill>
                  <a:srgbClr val="E5E7EB"/>
                </a:solidFill>
                <a:latin typeface="Noto Sans JP" pitchFamily="34" charset="0"/>
                <a:ea typeface="Noto Sans JP" pitchFamily="34" charset="-122"/>
                <a:cs typeface="Noto Sans JP" pitchFamily="34" charset="-120"/>
              </a:rPr>
              <a:t>03</a:t>
            </a:r>
            <a:endParaRPr lang="en-US" sz="3600" dirty="0"/>
          </a:p>
        </p:txBody>
      </p:sp>
      <p:pic>
        <p:nvPicPr>
          <p:cNvPr id="35" name="Image 4" descr="preencoded.png">    </p:cNvPr>
          <p:cNvPicPr>
            <a:picLocks noChangeAspect="1"/>
          </p:cNvPicPr>
          <p:nvPr/>
        </p:nvPicPr>
        <p:blipFill>
          <a:blip r:embed="rId5"/>
          <a:srcRect l="0" r="0" t="0" b="0"/>
          <a:stretch/>
        </p:blipFill>
        <p:spPr>
          <a:xfrm>
            <a:off x="5566867" y="3629254"/>
            <a:ext cx="133502" cy="133502"/>
          </a:xfrm>
          <a:prstGeom prst="rect">
            <a:avLst/>
          </a:prstGeom>
        </p:spPr>
      </p:pic>
      <p:sp>
        <p:nvSpPr>
          <p:cNvPr id="36" name="Text 29"/>
          <p:cNvSpPr txBox="1"/>
          <p:nvPr/>
        </p:nvSpPr>
        <p:spPr>
          <a:xfrm>
            <a:off x="5776265" y="3552444"/>
            <a:ext cx="18580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ポジショニング戦略</a:t>
            </a:r>
            <a:endParaRPr lang="en-US" sz="1500" dirty="0"/>
          </a:p>
        </p:txBody>
      </p:sp>
      <p:sp>
        <p:nvSpPr>
          <p:cNvPr id="37" name="Text 30"/>
          <p:cNvSpPr txBox="1"/>
          <p:nvPr/>
        </p:nvSpPr>
        <p:spPr>
          <a:xfrm>
            <a:off x="5566867" y="3866998"/>
            <a:ext cx="337687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2軸マップによる市場の空白地帯（勝てる領域）の特定</a:t>
            </a:r>
            <a:endParaRPr lang="en-US" sz="1000" dirty="0"/>
          </a:p>
        </p:txBody>
      </p:sp>
      <p:sp>
        <p:nvSpPr>
          <p:cNvPr id="38" name="Shape 31"/>
          <p:cNvSpPr/>
          <p:nvPr/>
        </p:nvSpPr>
        <p:spPr>
          <a:xfrm>
            <a:off x="4581144" y="4457700"/>
            <a:ext cx="7000646" cy="914400"/>
          </a:xfrm>
          <a:prstGeom prst="roundRect">
            <a:avLst>
              <a:gd name="adj" fmla="val 1250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39" name="Shape 32"/>
          <p:cNvSpPr/>
          <p:nvPr/>
        </p:nvSpPr>
        <p:spPr>
          <a:xfrm>
            <a:off x="4591202" y="4466844"/>
            <a:ext cx="38405" cy="895198"/>
          </a:xfrm>
          <a:prstGeom prst="rect">
            <a:avLst/>
          </a:prstGeom>
          <a:solidFill>
            <a:srgbClr val="E5E7EB"/>
          </a:solidFill>
          <a:ln/>
        </p:spPr>
      </p:sp>
      <p:sp>
        <p:nvSpPr>
          <p:cNvPr id="40" name="Text 33"/>
          <p:cNvSpPr txBox="1"/>
          <p:nvPr/>
        </p:nvSpPr>
        <p:spPr>
          <a:xfrm>
            <a:off x="4781398" y="4572000"/>
            <a:ext cx="905256" cy="667512"/>
          </a:xfrm>
          <a:prstGeom prst="rect">
            <a:avLst/>
          </a:prstGeom>
          <a:noFill/>
          <a:ln/>
        </p:spPr>
        <p:txBody>
          <a:bodyPr wrap="square" lIns="0" tIns="0" rIns="0" bIns="0" rtlCol="0" anchor="ctr"/>
          <a:lstStyle/>
          <a:p>
            <a:pPr algn="l" indent="0" marL="0">
              <a:buNone/>
            </a:pPr>
            <a:r>
              <a:rPr lang="en-US" sz="3600" b="1" dirty="0">
                <a:solidFill>
                  <a:srgbClr val="E5E7EB"/>
                </a:solidFill>
                <a:latin typeface="Noto Sans JP" pitchFamily="34" charset="0"/>
                <a:ea typeface="Noto Sans JP" pitchFamily="34" charset="-122"/>
                <a:cs typeface="Noto Sans JP" pitchFamily="34" charset="-120"/>
              </a:rPr>
              <a:t>04</a:t>
            </a:r>
            <a:endParaRPr lang="en-US" sz="3600" dirty="0"/>
          </a:p>
        </p:txBody>
      </p:sp>
      <p:pic>
        <p:nvPicPr>
          <p:cNvPr id="41" name="Image 5" descr="preencoded.png">    </p:cNvPr>
          <p:cNvPicPr>
            <a:picLocks noChangeAspect="1"/>
          </p:cNvPicPr>
          <p:nvPr/>
        </p:nvPicPr>
        <p:blipFill>
          <a:blip r:embed="rId6"/>
          <a:srcRect l="0" r="0" t="0" b="0"/>
          <a:stretch/>
        </p:blipFill>
        <p:spPr>
          <a:xfrm>
            <a:off x="5566867" y="4733849"/>
            <a:ext cx="133502" cy="133502"/>
          </a:xfrm>
          <a:prstGeom prst="rect">
            <a:avLst/>
          </a:prstGeom>
        </p:spPr>
      </p:pic>
      <p:sp>
        <p:nvSpPr>
          <p:cNvPr id="42" name="Text 34"/>
          <p:cNvSpPr txBox="1"/>
          <p:nvPr/>
        </p:nvSpPr>
        <p:spPr>
          <a:xfrm>
            <a:off x="5776265" y="4657954"/>
            <a:ext cx="166695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具体的な掲載提案</a:t>
            </a:r>
            <a:endParaRPr lang="en-US" sz="1500" dirty="0"/>
          </a:p>
        </p:txBody>
      </p:sp>
      <p:sp>
        <p:nvSpPr>
          <p:cNvPr id="43" name="Text 35"/>
          <p:cNvSpPr txBox="1"/>
          <p:nvPr/>
        </p:nvSpPr>
        <p:spPr>
          <a:xfrm>
            <a:off x="5566867" y="4972507"/>
            <a:ext cx="34344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推奨メニュー・適正価格・響くコピー・クーポン設計案</a:t>
            </a:r>
            <a:endParaRPr lang="en-US" sz="1000" dirty="0"/>
          </a:p>
        </p:txBody>
      </p:sp>
      <p:sp>
        <p:nvSpPr>
          <p:cNvPr id="44" name="Shape 36"/>
          <p:cNvSpPr/>
          <p:nvPr/>
        </p:nvSpPr>
        <p:spPr>
          <a:xfrm>
            <a:off x="4581144" y="5562295"/>
            <a:ext cx="7000646" cy="914400"/>
          </a:xfrm>
          <a:prstGeom prst="roundRect">
            <a:avLst>
              <a:gd name="adj" fmla="val 1250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45" name="Shape 37"/>
          <p:cNvSpPr/>
          <p:nvPr/>
        </p:nvSpPr>
        <p:spPr>
          <a:xfrm>
            <a:off x="4591202" y="5572354"/>
            <a:ext cx="38405" cy="895198"/>
          </a:xfrm>
          <a:prstGeom prst="rect">
            <a:avLst/>
          </a:prstGeom>
          <a:solidFill>
            <a:srgbClr val="E5E7EB"/>
          </a:solidFill>
          <a:ln/>
        </p:spPr>
      </p:sp>
      <p:sp>
        <p:nvSpPr>
          <p:cNvPr id="46" name="Text 38"/>
          <p:cNvSpPr txBox="1"/>
          <p:nvPr/>
        </p:nvSpPr>
        <p:spPr>
          <a:xfrm>
            <a:off x="4781398" y="5676595"/>
            <a:ext cx="905256" cy="667512"/>
          </a:xfrm>
          <a:prstGeom prst="rect">
            <a:avLst/>
          </a:prstGeom>
          <a:noFill/>
          <a:ln/>
        </p:spPr>
        <p:txBody>
          <a:bodyPr wrap="square" lIns="0" tIns="0" rIns="0" bIns="0" rtlCol="0" anchor="ctr"/>
          <a:lstStyle/>
          <a:p>
            <a:pPr algn="l" indent="0" marL="0">
              <a:buNone/>
            </a:pPr>
            <a:r>
              <a:rPr lang="en-US" sz="3600" b="1" dirty="0">
                <a:solidFill>
                  <a:srgbClr val="E5E7EB"/>
                </a:solidFill>
                <a:latin typeface="Noto Sans JP" pitchFamily="34" charset="0"/>
                <a:ea typeface="Noto Sans JP" pitchFamily="34" charset="-122"/>
                <a:cs typeface="Noto Sans JP" pitchFamily="34" charset="-120"/>
              </a:rPr>
              <a:t>05</a:t>
            </a:r>
            <a:endParaRPr lang="en-US" sz="3600" dirty="0"/>
          </a:p>
        </p:txBody>
      </p:sp>
      <p:pic>
        <p:nvPicPr>
          <p:cNvPr id="47" name="Image 6" descr="preencoded.png">    </p:cNvPr>
          <p:cNvPicPr>
            <a:picLocks noChangeAspect="1"/>
          </p:cNvPicPr>
          <p:nvPr/>
        </p:nvPicPr>
        <p:blipFill>
          <a:blip r:embed="rId7"/>
          <a:srcRect l="0" r="0" t="0" b="0"/>
          <a:stretch/>
        </p:blipFill>
        <p:spPr>
          <a:xfrm>
            <a:off x="5566867" y="5838444"/>
            <a:ext cx="133502" cy="133502"/>
          </a:xfrm>
          <a:prstGeom prst="rect">
            <a:avLst/>
          </a:prstGeom>
        </p:spPr>
      </p:pic>
      <p:sp>
        <p:nvSpPr>
          <p:cNvPr id="48" name="Text 39"/>
          <p:cNvSpPr txBox="1"/>
          <p:nvPr/>
        </p:nvSpPr>
        <p:spPr>
          <a:xfrm>
            <a:off x="5776265" y="5762549"/>
            <a:ext cx="203911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効果予測とアクション</a:t>
            </a:r>
            <a:endParaRPr lang="en-US" sz="1500" dirty="0"/>
          </a:p>
        </p:txBody>
      </p:sp>
      <p:sp>
        <p:nvSpPr>
          <p:cNvPr id="49" name="Text 40"/>
          <p:cNvSpPr txBox="1"/>
          <p:nvPr/>
        </p:nvSpPr>
        <p:spPr>
          <a:xfrm>
            <a:off x="5566867" y="6077102"/>
            <a:ext cx="37005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期待される集客効果シミュレーションと今後のロードマップ</a:t>
            </a:r>
            <a:endParaRPr lang="en-US" sz="1000" dirty="0"/>
          </a:p>
        </p:txBody>
      </p:sp>
      <p:sp>
        <p:nvSpPr>
          <p:cNvPr id="50" name="Shape 41"/>
          <p:cNvSpPr/>
          <p:nvPr/>
        </p:nvSpPr>
        <p:spPr>
          <a:xfrm>
            <a:off x="10972800" y="5639105"/>
            <a:ext cx="2438705" cy="2438705"/>
          </a:xfrm>
          <a:prstGeom prst="roundRect">
            <a:avLst>
              <a:gd name="adj" fmla="val 37495"/>
            </a:avLst>
          </a:prstGeom>
          <a:solidFill>
            <a:srgbClr val="F9FAFB"/>
          </a:solidFill>
          <a:ln/>
        </p:spPr>
      </p:sp>
      <p:sp>
        <p:nvSpPr>
          <p:cNvPr id="51" name="Shape 42"/>
          <p:cNvSpPr/>
          <p:nvPr/>
        </p:nvSpPr>
        <p:spPr>
          <a:xfrm>
            <a:off x="11658600" y="761695"/>
            <a:ext cx="152705" cy="152705"/>
          </a:xfrm>
          <a:prstGeom prst="roundRect">
            <a:avLst>
              <a:gd name="adj" fmla="val 598802"/>
            </a:avLst>
          </a:prstGeom>
          <a:noFill/>
          <a:ln w="25400">
            <a:solidFill>
              <a:srgbClr val="FF6B35"/>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0" y="347472"/>
            <a:ext cx="12191695" cy="6515100"/>
          </a:xfrm>
          <a:prstGeom prst="rect">
            <a:avLst/>
          </a:prstGeom>
          <a:solidFill>
            <a:srgbClr val="F9FAFB"/>
          </a:solidFill>
          <a:ln/>
        </p:spPr>
      </p:sp>
      <p:sp>
        <p:nvSpPr>
          <p:cNvPr id="5" name="Shape 3"/>
          <p:cNvSpPr/>
          <p:nvPr/>
        </p:nvSpPr>
        <p:spPr>
          <a:xfrm>
            <a:off x="457200" y="652882"/>
            <a:ext cx="3534156" cy="2391156"/>
          </a:xfrm>
          <a:prstGeom prst="roundRect">
            <a:avLst>
              <a:gd name="adj" fmla="val 1828"/>
            </a:avLst>
          </a:prstGeom>
          <a:solidFill>
            <a:srgbClr val="FFFFFF"/>
          </a:solidFill>
          <a:ln/>
          <a:effectLst>
            <a:outerShdw sx="100000" sy="100000" kx="0" ky="0" algn="bl" rotWithShape="0" blurRad="12700" dist="12700" dir="16200000">
              <a:srgbClr val="000000">
                <a:alpha val="75000"/>
              </a:srgbClr>
            </a:outerShdw>
          </a:effectLst>
        </p:spPr>
      </p:sp>
      <p:sp>
        <p:nvSpPr>
          <p:cNvPr id="6" name="Shape 4"/>
          <p:cNvSpPr/>
          <p:nvPr/>
        </p:nvSpPr>
        <p:spPr>
          <a:xfrm>
            <a:off x="457200" y="652882"/>
            <a:ext cx="3534156" cy="38405"/>
          </a:xfrm>
          <a:prstGeom prst="rect">
            <a:avLst/>
          </a:prstGeom>
          <a:solidFill>
            <a:srgbClr val="FF6B35"/>
          </a:solidFill>
          <a:ln/>
        </p:spPr>
      </p:sp>
      <p:sp>
        <p:nvSpPr>
          <p:cNvPr id="7" name="Text 5"/>
          <p:cNvSpPr txBox="1"/>
          <p:nvPr/>
        </p:nvSpPr>
        <p:spPr>
          <a:xfrm>
            <a:off x="685800" y="909828"/>
            <a:ext cx="1371600"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TARGET BENCHMARK</a:t>
            </a:r>
            <a:endParaRPr lang="en-US" sz="900" dirty="0"/>
          </a:p>
        </p:txBody>
      </p:sp>
      <p:sp>
        <p:nvSpPr>
          <p:cNvPr id="8" name="Text 6"/>
          <p:cNvSpPr txBox="1"/>
          <p:nvPr/>
        </p:nvSpPr>
        <p:spPr>
          <a:xfrm>
            <a:off x="685800" y="1071677"/>
            <a:ext cx="1643177"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Siena 渋谷</a:t>
            </a:r>
            <a:endParaRPr lang="en-US" sz="2200" dirty="0"/>
          </a:p>
        </p:txBody>
      </p:sp>
      <p:sp>
        <p:nvSpPr>
          <p:cNvPr id="9" name="Text 7"/>
          <p:cNvSpPr txBox="1"/>
          <p:nvPr/>
        </p:nvSpPr>
        <p:spPr>
          <a:xfrm>
            <a:off x="685800" y="1505102"/>
            <a:ext cx="93908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シエナ シブヤ</a:t>
            </a:r>
            <a:endParaRPr lang="en-US" sz="1000" dirty="0"/>
          </a:p>
        </p:txBody>
      </p:sp>
      <p:sp>
        <p:nvSpPr>
          <p:cNvPr id="10" name="Shape 8"/>
          <p:cNvSpPr/>
          <p:nvPr/>
        </p:nvSpPr>
        <p:spPr>
          <a:xfrm>
            <a:off x="3349447" y="918972"/>
            <a:ext cx="409651" cy="400507"/>
          </a:xfrm>
          <a:prstGeom prst="roundRect">
            <a:avLst>
              <a:gd name="adj" fmla="val 43488"/>
            </a:avLst>
          </a:prstGeom>
          <a:solidFill>
            <a:srgbClr val="F3F4F6"/>
          </a:solidFill>
          <a:ln/>
        </p:spPr>
      </p:sp>
      <p:pic>
        <p:nvPicPr>
          <p:cNvPr id="11" name="Image 0" descr="preencoded.png">    </p:cNvPr>
          <p:cNvPicPr>
            <a:picLocks noChangeAspect="1"/>
          </p:cNvPicPr>
          <p:nvPr/>
        </p:nvPicPr>
        <p:blipFill>
          <a:blip r:embed="rId1"/>
          <a:srcRect l="0" r="0" t="-45" b="-45"/>
          <a:stretch/>
        </p:blipFill>
        <p:spPr>
          <a:xfrm>
            <a:off x="3425342" y="995782"/>
            <a:ext cx="256946" cy="228600"/>
          </a:xfrm>
          <a:prstGeom prst="rect">
            <a:avLst/>
          </a:prstGeom>
        </p:spPr>
      </p:pic>
      <p:sp>
        <p:nvSpPr>
          <p:cNvPr id="12" name="Shape 9"/>
          <p:cNvSpPr/>
          <p:nvPr/>
        </p:nvSpPr>
        <p:spPr>
          <a:xfrm>
            <a:off x="685800" y="1848002"/>
            <a:ext cx="3076956" cy="9144"/>
          </a:xfrm>
          <a:prstGeom prst="rect">
            <a:avLst/>
          </a:prstGeom>
          <a:solidFill>
            <a:srgbClr val="F3F4F6"/>
          </a:solidFill>
          <a:ln/>
        </p:spPr>
      </p:sp>
      <p:pic>
        <p:nvPicPr>
          <p:cNvPr id="13" name="Image 1" descr="preencoded.png">    </p:cNvPr>
          <p:cNvPicPr>
            <a:picLocks noChangeAspect="1"/>
          </p:cNvPicPr>
          <p:nvPr/>
        </p:nvPicPr>
        <p:blipFill>
          <a:blip r:embed="rId2"/>
          <a:srcRect l="-49800" r="-49800" t="0" b="0"/>
          <a:stretch/>
        </p:blipFill>
        <p:spPr>
          <a:xfrm>
            <a:off x="685800" y="2029054"/>
            <a:ext cx="228600" cy="152705"/>
          </a:xfrm>
          <a:prstGeom prst="rect">
            <a:avLst/>
          </a:prstGeom>
        </p:spPr>
      </p:pic>
      <p:sp>
        <p:nvSpPr>
          <p:cNvPr id="14" name="Text 10"/>
          <p:cNvSpPr txBox="1"/>
          <p:nvPr/>
        </p:nvSpPr>
        <p:spPr>
          <a:xfrm>
            <a:off x="990295" y="2009851"/>
            <a:ext cx="113842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渋谷駅 徒歩2-3分</a:t>
            </a:r>
            <a:endParaRPr lang="en-US" sz="1000" dirty="0"/>
          </a:p>
        </p:txBody>
      </p:sp>
      <p:pic>
        <p:nvPicPr>
          <p:cNvPr id="15" name="Image 2" descr="preencoded.png">    </p:cNvPr>
          <p:cNvPicPr>
            <a:picLocks noChangeAspect="1"/>
          </p:cNvPicPr>
          <p:nvPr/>
        </p:nvPicPr>
        <p:blipFill>
          <a:blip r:embed="rId3"/>
          <a:srcRect l="-24850" r="-24850" t="0" b="0"/>
          <a:stretch/>
        </p:blipFill>
        <p:spPr>
          <a:xfrm>
            <a:off x="685800" y="2333549"/>
            <a:ext cx="228600" cy="152705"/>
          </a:xfrm>
          <a:prstGeom prst="rect">
            <a:avLst/>
          </a:prstGeom>
        </p:spPr>
      </p:pic>
      <p:sp>
        <p:nvSpPr>
          <p:cNvPr id="16" name="Text 11"/>
          <p:cNvSpPr txBox="1"/>
          <p:nvPr/>
        </p:nvSpPr>
        <p:spPr>
          <a:xfrm>
            <a:off x="990295" y="2314346"/>
            <a:ext cx="20244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平日 11:00～22:00（夜間営業）</a:t>
            </a:r>
            <a:endParaRPr lang="en-US" sz="1000" dirty="0"/>
          </a:p>
        </p:txBody>
      </p:sp>
      <p:pic>
        <p:nvPicPr>
          <p:cNvPr id="17" name="Image 3" descr="preencoded.png">    </p:cNvPr>
          <p:cNvPicPr>
            <a:picLocks noChangeAspect="1"/>
          </p:cNvPicPr>
          <p:nvPr/>
        </p:nvPicPr>
        <p:blipFill>
          <a:blip r:embed="rId4"/>
          <a:srcRect l="-35543" r="-35543" t="0" b="0"/>
          <a:stretch/>
        </p:blipFill>
        <p:spPr>
          <a:xfrm>
            <a:off x="685800" y="2638044"/>
            <a:ext cx="228600" cy="152705"/>
          </a:xfrm>
          <a:prstGeom prst="rect">
            <a:avLst/>
          </a:prstGeom>
        </p:spPr>
      </p:pic>
      <p:sp>
        <p:nvSpPr>
          <p:cNvPr id="18" name="Text 12"/>
          <p:cNvSpPr txBox="1"/>
          <p:nvPr/>
        </p:nvSpPr>
        <p:spPr>
          <a:xfrm>
            <a:off x="990295" y="2619756"/>
            <a:ext cx="178673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セット面 8席 / トレンド特化</a:t>
            </a:r>
            <a:endParaRPr lang="en-US" sz="1000" dirty="0"/>
          </a:p>
        </p:txBody>
      </p:sp>
      <p:sp>
        <p:nvSpPr>
          <p:cNvPr id="19" name="Shape 13"/>
          <p:cNvSpPr/>
          <p:nvPr/>
        </p:nvSpPr>
        <p:spPr>
          <a:xfrm>
            <a:off x="457200" y="3267151"/>
            <a:ext cx="3534156" cy="3286354"/>
          </a:xfrm>
          <a:prstGeom prst="roundRect">
            <a:avLst>
              <a:gd name="adj" fmla="val 968"/>
            </a:avLst>
          </a:prstGeom>
          <a:solidFill>
            <a:srgbClr val="FFFFFF"/>
          </a:solidFill>
          <a:ln/>
          <a:effectLst>
            <a:outerShdw sx="100000" sy="100000" kx="0" ky="0" algn="bl" rotWithShape="0" blurRad="12700" dist="12700" dir="16200000">
              <a:srgbClr val="000000">
                <a:alpha val="75000"/>
              </a:srgbClr>
            </a:outerShdw>
          </a:effectLst>
        </p:spPr>
      </p:sp>
      <p:sp>
        <p:nvSpPr>
          <p:cNvPr id="20" name="Text 14"/>
          <p:cNvSpPr txBox="1"/>
          <p:nvPr/>
        </p:nvSpPr>
        <p:spPr>
          <a:xfrm>
            <a:off x="685800" y="3495751"/>
            <a:ext cx="1843430"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強み・ポジショニング</a:t>
            </a:r>
            <a:endParaRPr lang="en-US" sz="1300" dirty="0"/>
          </a:p>
        </p:txBody>
      </p:sp>
      <p:sp>
        <p:nvSpPr>
          <p:cNvPr id="21" name="Text 15"/>
          <p:cNvSpPr txBox="1"/>
          <p:nvPr/>
        </p:nvSpPr>
        <p:spPr>
          <a:xfrm>
            <a:off x="685800" y="3914546"/>
            <a:ext cx="767182"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コンセプト</a:t>
            </a:r>
            <a:endParaRPr lang="en-US" sz="1000" dirty="0"/>
          </a:p>
        </p:txBody>
      </p:sp>
      <p:sp>
        <p:nvSpPr>
          <p:cNvPr id="22" name="Text 16"/>
          <p:cNvSpPr txBox="1"/>
          <p:nvPr/>
        </p:nvSpPr>
        <p:spPr>
          <a:xfrm>
            <a:off x="685800" y="4172407"/>
            <a:ext cx="3191256" cy="543154"/>
          </a:xfrm>
          <a:prstGeom prst="rect">
            <a:avLst/>
          </a:prstGeom>
          <a:noFill/>
          <a:ln/>
        </p:spPr>
        <p:txBody>
          <a:bodyPr wrap="square" lIns="0" tIns="0" rIns="0" bIns="0" rtlCol="0" anchor="ctr"/>
          <a:lstStyle/>
          <a:p>
            <a:pPr algn="l" indent="0" marL="0">
              <a:buNone/>
            </a:pPr>
            <a:r>
              <a:rPr lang="en-US" sz="1500" b="1" dirty="0">
                <a:solidFill>
                  <a:srgbClr val="FF6B35"/>
                </a:solidFill>
                <a:latin typeface="Noto Sans JP" pitchFamily="34" charset="0"/>
                <a:ea typeface="Noto Sans JP" pitchFamily="34" charset="-122"/>
                <a:cs typeface="Noto Sans JP" pitchFamily="34" charset="-120"/>
              </a:rPr>
              <a:t>「トレンド×センス×高い技術力」 を低価格で提供</a:t>
            </a:r>
            <a:endParaRPr lang="en-US" sz="1500" dirty="0"/>
          </a:p>
        </p:txBody>
      </p:sp>
      <p:sp>
        <p:nvSpPr>
          <p:cNvPr id="23" name="Shape 17"/>
          <p:cNvSpPr/>
          <p:nvPr/>
        </p:nvSpPr>
        <p:spPr>
          <a:xfrm>
            <a:off x="685800" y="4858207"/>
            <a:ext cx="1314907" cy="276149"/>
          </a:xfrm>
          <a:prstGeom prst="roundRect">
            <a:avLst>
              <a:gd name="adj" fmla="val 331126"/>
            </a:avLst>
          </a:prstGeom>
          <a:solidFill>
            <a:srgbClr val="FFF0E9"/>
          </a:solidFill>
          <a:ln/>
        </p:spPr>
      </p:sp>
      <p:pic>
        <p:nvPicPr>
          <p:cNvPr id="24" name="Image 4" descr="preencoded.png">    </p:cNvPr>
          <p:cNvPicPr>
            <a:picLocks noChangeAspect="1"/>
          </p:cNvPicPr>
          <p:nvPr/>
        </p:nvPicPr>
        <p:blipFill>
          <a:blip r:embed="rId5"/>
          <a:srcRect l="0" r="0" t="-1100" b="-1100"/>
          <a:stretch/>
        </p:blipFill>
        <p:spPr>
          <a:xfrm>
            <a:off x="800100" y="4929530"/>
            <a:ext cx="114300" cy="133502"/>
          </a:xfrm>
          <a:prstGeom prst="rect">
            <a:avLst/>
          </a:prstGeom>
        </p:spPr>
      </p:pic>
      <p:sp>
        <p:nvSpPr>
          <p:cNvPr id="25" name="Text 18"/>
          <p:cNvSpPr txBox="1"/>
          <p:nvPr/>
        </p:nvSpPr>
        <p:spPr>
          <a:xfrm>
            <a:off x="952805" y="4895698"/>
            <a:ext cx="1034186"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高技術×低価格</a:t>
            </a:r>
            <a:endParaRPr lang="en-US" sz="1000" dirty="0"/>
          </a:p>
        </p:txBody>
      </p:sp>
      <p:sp>
        <p:nvSpPr>
          <p:cNvPr id="26" name="Shape 19"/>
          <p:cNvSpPr/>
          <p:nvPr/>
        </p:nvSpPr>
        <p:spPr>
          <a:xfrm>
            <a:off x="2076602" y="4858207"/>
            <a:ext cx="933602" cy="276149"/>
          </a:xfrm>
          <a:prstGeom prst="roundRect">
            <a:avLst>
              <a:gd name="adj" fmla="val 331126"/>
            </a:avLst>
          </a:prstGeom>
          <a:solidFill>
            <a:srgbClr val="FFF0E9"/>
          </a:solidFill>
          <a:ln/>
        </p:spPr>
      </p:sp>
      <p:pic>
        <p:nvPicPr>
          <p:cNvPr id="27" name="Image 5" descr="preencoded.png">    </p:cNvPr>
          <p:cNvPicPr>
            <a:picLocks noChangeAspect="1"/>
          </p:cNvPicPr>
          <p:nvPr/>
        </p:nvPicPr>
        <p:blipFill>
          <a:blip r:embed="rId6"/>
          <a:srcRect l="0" r="0" t="0" b="0"/>
          <a:stretch/>
        </p:blipFill>
        <p:spPr>
          <a:xfrm>
            <a:off x="2190902" y="4929530"/>
            <a:ext cx="133502" cy="133502"/>
          </a:xfrm>
          <a:prstGeom prst="rect">
            <a:avLst/>
          </a:prstGeom>
        </p:spPr>
      </p:pic>
      <p:sp>
        <p:nvSpPr>
          <p:cNvPr id="28" name="Text 20"/>
          <p:cNvSpPr txBox="1"/>
          <p:nvPr/>
        </p:nvSpPr>
        <p:spPr>
          <a:xfrm>
            <a:off x="2361895" y="4895698"/>
            <a:ext cx="633679"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SNS映え</a:t>
            </a:r>
            <a:endParaRPr lang="en-US" sz="1000" dirty="0"/>
          </a:p>
        </p:txBody>
      </p:sp>
      <p:sp>
        <p:nvSpPr>
          <p:cNvPr id="29" name="Shape 21"/>
          <p:cNvSpPr/>
          <p:nvPr/>
        </p:nvSpPr>
        <p:spPr>
          <a:xfrm>
            <a:off x="685800" y="5210251"/>
            <a:ext cx="961949" cy="276149"/>
          </a:xfrm>
          <a:prstGeom prst="roundRect">
            <a:avLst>
              <a:gd name="adj" fmla="val 331126"/>
            </a:avLst>
          </a:prstGeom>
          <a:solidFill>
            <a:srgbClr val="FFF0E9"/>
          </a:solidFill>
          <a:ln/>
        </p:spPr>
      </p:sp>
      <p:pic>
        <p:nvPicPr>
          <p:cNvPr id="30" name="Image 6" descr="preencoded.png">    </p:cNvPr>
          <p:cNvPicPr>
            <a:picLocks noChangeAspect="1"/>
          </p:cNvPicPr>
          <p:nvPr/>
        </p:nvPicPr>
        <p:blipFill>
          <a:blip r:embed="rId7"/>
          <a:srcRect l="-1507" r="-1507" t="0" b="0"/>
          <a:stretch/>
        </p:blipFill>
        <p:spPr>
          <a:xfrm>
            <a:off x="800100" y="5281574"/>
            <a:ext cx="171907" cy="133502"/>
          </a:xfrm>
          <a:prstGeom prst="rect">
            <a:avLst/>
          </a:prstGeom>
        </p:spPr>
      </p:pic>
      <p:sp>
        <p:nvSpPr>
          <p:cNvPr id="31" name="Text 22"/>
          <p:cNvSpPr txBox="1"/>
          <p:nvPr/>
        </p:nvSpPr>
        <p:spPr>
          <a:xfrm>
            <a:off x="1009498" y="5248656"/>
            <a:ext cx="624535"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学割U24</a:t>
            </a:r>
            <a:endParaRPr lang="en-US" sz="1000" dirty="0"/>
          </a:p>
        </p:txBody>
      </p:sp>
      <p:sp>
        <p:nvSpPr>
          <p:cNvPr id="32" name="Shape 23"/>
          <p:cNvSpPr/>
          <p:nvPr/>
        </p:nvSpPr>
        <p:spPr>
          <a:xfrm>
            <a:off x="1723644" y="5210251"/>
            <a:ext cx="1200607" cy="276149"/>
          </a:xfrm>
          <a:prstGeom prst="roundRect">
            <a:avLst>
              <a:gd name="adj" fmla="val 331126"/>
            </a:avLst>
          </a:prstGeom>
          <a:solidFill>
            <a:srgbClr val="FFF0E9"/>
          </a:solidFill>
          <a:ln/>
        </p:spPr>
      </p:sp>
      <p:pic>
        <p:nvPicPr>
          <p:cNvPr id="33" name="Image 7" descr="preencoded.png">    </p:cNvPr>
          <p:cNvPicPr>
            <a:picLocks noChangeAspect="1"/>
          </p:cNvPicPr>
          <p:nvPr/>
        </p:nvPicPr>
        <p:blipFill>
          <a:blip r:embed="rId8"/>
          <a:srcRect l="-2512" r="-2512" t="0" b="0"/>
          <a:stretch/>
        </p:blipFill>
        <p:spPr>
          <a:xfrm>
            <a:off x="1837944" y="5281574"/>
            <a:ext cx="105156" cy="133502"/>
          </a:xfrm>
          <a:prstGeom prst="rect">
            <a:avLst/>
          </a:prstGeom>
        </p:spPr>
      </p:pic>
      <p:sp>
        <p:nvSpPr>
          <p:cNvPr id="34" name="Text 24"/>
          <p:cNvSpPr txBox="1"/>
          <p:nvPr/>
        </p:nvSpPr>
        <p:spPr>
          <a:xfrm>
            <a:off x="1981505" y="5248656"/>
            <a:ext cx="929030"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22時まで営業</a:t>
            </a:r>
            <a:endParaRPr lang="en-US" sz="1000" dirty="0"/>
          </a:p>
        </p:txBody>
      </p:sp>
      <p:sp>
        <p:nvSpPr>
          <p:cNvPr id="35" name="Shape 25"/>
          <p:cNvSpPr/>
          <p:nvPr/>
        </p:nvSpPr>
        <p:spPr>
          <a:xfrm>
            <a:off x="685800" y="5639105"/>
            <a:ext cx="3076956" cy="685800"/>
          </a:xfrm>
          <a:prstGeom prst="roundRect">
            <a:avLst>
              <a:gd name="adj" fmla="val 14815"/>
            </a:avLst>
          </a:prstGeom>
          <a:solidFill>
            <a:srgbClr val="FFF9F6"/>
          </a:solidFill>
          <a:ln/>
        </p:spPr>
      </p:sp>
      <p:sp>
        <p:nvSpPr>
          <p:cNvPr id="36" name="Text 26"/>
          <p:cNvSpPr txBox="1"/>
          <p:nvPr/>
        </p:nvSpPr>
        <p:spPr>
          <a:xfrm>
            <a:off x="838505" y="5781751"/>
            <a:ext cx="857707"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TARGET USER</a:t>
            </a:r>
            <a:endParaRPr lang="en-US" sz="900" dirty="0"/>
          </a:p>
        </p:txBody>
      </p:sp>
      <p:pic>
        <p:nvPicPr>
          <p:cNvPr id="37" name="Image 8" descr="preencoded.png">    </p:cNvPr>
          <p:cNvPicPr>
            <a:picLocks noChangeAspect="1"/>
          </p:cNvPicPr>
          <p:nvPr/>
        </p:nvPicPr>
        <p:blipFill>
          <a:blip r:embed="rId9"/>
          <a:srcRect l="0" r="0" t="-180" b="-180"/>
          <a:stretch/>
        </p:blipFill>
        <p:spPr>
          <a:xfrm>
            <a:off x="838505" y="6001207"/>
            <a:ext cx="190195" cy="152705"/>
          </a:xfrm>
          <a:prstGeom prst="rect">
            <a:avLst/>
          </a:prstGeom>
        </p:spPr>
      </p:pic>
      <p:sp>
        <p:nvSpPr>
          <p:cNvPr id="38" name="Text 27"/>
          <p:cNvSpPr txBox="1"/>
          <p:nvPr/>
        </p:nvSpPr>
        <p:spPr>
          <a:xfrm>
            <a:off x="1104595" y="5982005"/>
            <a:ext cx="2186330"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10代後半〜20代 学生・若手社会人</a:t>
            </a:r>
            <a:endParaRPr lang="en-US" sz="1000" dirty="0"/>
          </a:p>
        </p:txBody>
      </p:sp>
      <p:sp>
        <p:nvSpPr>
          <p:cNvPr id="39" name="Text 28"/>
          <p:cNvSpPr txBox="1"/>
          <p:nvPr/>
        </p:nvSpPr>
        <p:spPr>
          <a:xfrm>
            <a:off x="4292194" y="633679"/>
            <a:ext cx="20007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主力メニュー構成</a:t>
            </a:r>
            <a:endParaRPr lang="en-US" sz="1800" dirty="0"/>
          </a:p>
        </p:txBody>
      </p:sp>
      <p:sp>
        <p:nvSpPr>
          <p:cNvPr id="40" name="Text 29"/>
          <p:cNvSpPr txBox="1"/>
          <p:nvPr/>
        </p:nvSpPr>
        <p:spPr>
          <a:xfrm>
            <a:off x="4292194" y="995782"/>
            <a:ext cx="322508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集客の柱となっている5つのコアメニューカテゴリー</a:t>
            </a:r>
            <a:endParaRPr lang="en-US" sz="1000" dirty="0"/>
          </a:p>
        </p:txBody>
      </p:sp>
      <p:sp>
        <p:nvSpPr>
          <p:cNvPr id="41" name="Shape 30"/>
          <p:cNvSpPr/>
          <p:nvPr/>
        </p:nvSpPr>
        <p:spPr>
          <a:xfrm>
            <a:off x="8305495" y="862279"/>
            <a:ext cx="3429000" cy="323698"/>
          </a:xfrm>
          <a:prstGeom prst="roundRect">
            <a:avLst>
              <a:gd name="adj" fmla="val 282486"/>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42" name="Image 9" descr="preencoded.png">    </p:cNvPr>
          <p:cNvPicPr>
            <a:picLocks noChangeAspect="1"/>
          </p:cNvPicPr>
          <p:nvPr/>
        </p:nvPicPr>
        <p:blipFill>
          <a:blip r:embed="rId10"/>
          <a:srcRect l="-1911" r="-1911" t="0" b="0"/>
          <a:stretch/>
        </p:blipFill>
        <p:spPr>
          <a:xfrm>
            <a:off x="8468258" y="972007"/>
            <a:ext cx="133502" cy="114300"/>
          </a:xfrm>
          <a:prstGeom prst="rect">
            <a:avLst/>
          </a:prstGeom>
        </p:spPr>
      </p:pic>
      <p:sp>
        <p:nvSpPr>
          <p:cNvPr id="43" name="Text 31"/>
          <p:cNvSpPr txBox="1"/>
          <p:nvPr/>
        </p:nvSpPr>
        <p:spPr>
          <a:xfrm>
            <a:off x="8639251" y="938174"/>
            <a:ext cx="3020263"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売上構成比（推定）: カラー40% / 髪質改善30% / 他30%</a:t>
            </a:r>
            <a:endParaRPr lang="en-US" sz="900" dirty="0"/>
          </a:p>
        </p:txBody>
      </p:sp>
      <p:sp>
        <p:nvSpPr>
          <p:cNvPr id="44" name="Shape 32"/>
          <p:cNvSpPr/>
          <p:nvPr/>
        </p:nvSpPr>
        <p:spPr>
          <a:xfrm>
            <a:off x="4292194" y="1338682"/>
            <a:ext cx="3648456" cy="1895551"/>
          </a:xfrm>
          <a:prstGeom prst="roundRect">
            <a:avLst>
              <a:gd name="adj" fmla="val 2909"/>
            </a:avLst>
          </a:prstGeom>
          <a:solidFill>
            <a:srgbClr val="FFFFFF"/>
          </a:solidFill>
          <a:ln/>
          <a:effectLst>
            <a:outerShdw sx="100000" sy="100000" kx="0" ky="0" algn="bl" rotWithShape="0" blurRad="12700" dist="12700" dir="16200000">
              <a:srgbClr val="000000">
                <a:alpha val="75000"/>
              </a:srgbClr>
            </a:outerShdw>
          </a:effectLst>
        </p:spPr>
      </p:sp>
      <p:sp>
        <p:nvSpPr>
          <p:cNvPr id="45" name="Shape 33"/>
          <p:cNvSpPr/>
          <p:nvPr/>
        </p:nvSpPr>
        <p:spPr>
          <a:xfrm>
            <a:off x="4292194" y="1338682"/>
            <a:ext cx="38405" cy="1895551"/>
          </a:xfrm>
          <a:prstGeom prst="rect">
            <a:avLst/>
          </a:prstGeom>
          <a:solidFill>
            <a:srgbClr val="60A5FA"/>
          </a:solidFill>
          <a:ln/>
        </p:spPr>
      </p:sp>
      <p:pic>
        <p:nvPicPr>
          <p:cNvPr id="46" name="Image 10" descr="preencoded.png">    </p:cNvPr>
          <p:cNvPicPr>
            <a:picLocks noChangeAspect="1"/>
          </p:cNvPicPr>
          <p:nvPr/>
        </p:nvPicPr>
        <p:blipFill>
          <a:blip r:embed="rId11">
            <a:alphaModFix amt="10000"/>
          </a:blip>
          <a:srcRect l="0" r="0" t="0" b="0"/>
          <a:stretch/>
        </p:blipFill>
        <p:spPr>
          <a:xfrm>
            <a:off x="7251192" y="1452982"/>
            <a:ext cx="571500" cy="571500"/>
          </a:xfrm>
          <a:prstGeom prst="rect">
            <a:avLst/>
          </a:prstGeom>
        </p:spPr>
      </p:pic>
      <p:sp>
        <p:nvSpPr>
          <p:cNvPr id="47" name="Text 34"/>
          <p:cNvSpPr txBox="1"/>
          <p:nvPr/>
        </p:nvSpPr>
        <p:spPr>
          <a:xfrm>
            <a:off x="4520794" y="1538021"/>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デザインカラー</a:t>
            </a:r>
            <a:endParaRPr lang="en-US" sz="1300" dirty="0"/>
          </a:p>
        </p:txBody>
      </p:sp>
      <p:sp>
        <p:nvSpPr>
          <p:cNvPr id="48" name="Shape 35"/>
          <p:cNvSpPr/>
          <p:nvPr/>
        </p:nvSpPr>
        <p:spPr>
          <a:xfrm>
            <a:off x="4520794" y="1890979"/>
            <a:ext cx="1828800" cy="228600"/>
          </a:xfrm>
          <a:prstGeom prst="roundRect">
            <a:avLst>
              <a:gd name="adj" fmla="val 66667"/>
            </a:avLst>
          </a:prstGeom>
          <a:solidFill>
            <a:srgbClr val="EFF6FF"/>
          </a:solidFill>
          <a:ln/>
        </p:spPr>
      </p:sp>
      <p:sp>
        <p:nvSpPr>
          <p:cNvPr id="49" name="Text 36"/>
          <p:cNvSpPr txBox="1"/>
          <p:nvPr/>
        </p:nvSpPr>
        <p:spPr>
          <a:xfrm>
            <a:off x="4597603" y="1919326"/>
            <a:ext cx="1762963"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イルミナ / 透明感 / ダブルカラー</a:t>
            </a:r>
            <a:endParaRPr lang="en-US" sz="900" dirty="0"/>
          </a:p>
        </p:txBody>
      </p:sp>
      <p:sp>
        <p:nvSpPr>
          <p:cNvPr id="50" name="Text 37"/>
          <p:cNvSpPr txBox="1"/>
          <p:nvPr/>
        </p:nvSpPr>
        <p:spPr>
          <a:xfrm>
            <a:off x="4520794" y="2204618"/>
            <a:ext cx="3300984"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「ブリーチなし透明感」「外国人風」をキーワードに、トレンド色を低価格で提供。学生への訴求力が高い。</a:t>
            </a:r>
            <a:endParaRPr lang="en-US" sz="1000" dirty="0"/>
          </a:p>
        </p:txBody>
      </p:sp>
      <p:sp>
        <p:nvSpPr>
          <p:cNvPr id="51" name="Shape 38"/>
          <p:cNvSpPr/>
          <p:nvPr/>
        </p:nvSpPr>
        <p:spPr>
          <a:xfrm>
            <a:off x="8089697" y="1338682"/>
            <a:ext cx="3648456" cy="1895551"/>
          </a:xfrm>
          <a:prstGeom prst="roundRect">
            <a:avLst>
              <a:gd name="adj" fmla="val 2909"/>
            </a:avLst>
          </a:prstGeom>
          <a:solidFill>
            <a:srgbClr val="FFFFFF"/>
          </a:solidFill>
          <a:ln/>
          <a:effectLst>
            <a:outerShdw sx="100000" sy="100000" kx="0" ky="0" algn="bl" rotWithShape="0" blurRad="12700" dist="12700" dir="16200000">
              <a:srgbClr val="000000">
                <a:alpha val="75000"/>
              </a:srgbClr>
            </a:outerShdw>
          </a:effectLst>
        </p:spPr>
      </p:sp>
      <p:sp>
        <p:nvSpPr>
          <p:cNvPr id="52" name="Shape 39"/>
          <p:cNvSpPr/>
          <p:nvPr/>
        </p:nvSpPr>
        <p:spPr>
          <a:xfrm>
            <a:off x="8089697" y="1338682"/>
            <a:ext cx="38405" cy="1895551"/>
          </a:xfrm>
          <a:prstGeom prst="rect">
            <a:avLst/>
          </a:prstGeom>
          <a:solidFill>
            <a:srgbClr val="F472B6"/>
          </a:solidFill>
          <a:ln/>
        </p:spPr>
      </p:sp>
      <p:sp>
        <p:nvSpPr>
          <p:cNvPr id="53" name="Text 40"/>
          <p:cNvSpPr txBox="1"/>
          <p:nvPr/>
        </p:nvSpPr>
        <p:spPr>
          <a:xfrm>
            <a:off x="8318297" y="1538021"/>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髪質改善・ケア</a:t>
            </a:r>
            <a:endParaRPr lang="en-US" sz="1300" dirty="0"/>
          </a:p>
        </p:txBody>
      </p:sp>
      <p:sp>
        <p:nvSpPr>
          <p:cNvPr id="54" name="Shape 41"/>
          <p:cNvSpPr/>
          <p:nvPr/>
        </p:nvSpPr>
        <p:spPr>
          <a:xfrm>
            <a:off x="8318297" y="1890979"/>
            <a:ext cx="1638605" cy="228600"/>
          </a:xfrm>
          <a:prstGeom prst="roundRect">
            <a:avLst>
              <a:gd name="adj" fmla="val 66667"/>
            </a:avLst>
          </a:prstGeom>
          <a:solidFill>
            <a:srgbClr val="FDF2F8"/>
          </a:solidFill>
          <a:ln/>
        </p:spPr>
      </p:sp>
      <p:sp>
        <p:nvSpPr>
          <p:cNvPr id="55" name="Text 42"/>
          <p:cNvSpPr txBox="1"/>
          <p:nvPr/>
        </p:nvSpPr>
        <p:spPr>
          <a:xfrm>
            <a:off x="8394192" y="1919326"/>
            <a:ext cx="1571854" cy="162763"/>
          </a:xfrm>
          <a:prstGeom prst="rect">
            <a:avLst/>
          </a:prstGeom>
          <a:noFill/>
          <a:ln/>
        </p:spPr>
        <p:txBody>
          <a:bodyPr wrap="square" lIns="0" tIns="0" rIns="0" bIns="0" rtlCol="0" anchor="ctr"/>
          <a:lstStyle/>
          <a:p>
            <a:pPr algn="l" indent="0" marL="0">
              <a:buNone/>
            </a:pPr>
            <a:r>
              <a:rPr lang="en-US" sz="900" b="1" dirty="0">
                <a:solidFill>
                  <a:srgbClr val="EC4899"/>
                </a:solidFill>
                <a:latin typeface="Noto Sans JP" pitchFamily="34" charset="0"/>
                <a:ea typeface="Noto Sans JP" pitchFamily="34" charset="-122"/>
                <a:cs typeface="Noto Sans JP" pitchFamily="34" charset="-120"/>
              </a:rPr>
              <a:t>TOKIO / 酸熱トリートメント</a:t>
            </a:r>
            <a:endParaRPr lang="en-US" sz="900" dirty="0"/>
          </a:p>
        </p:txBody>
      </p:sp>
      <p:sp>
        <p:nvSpPr>
          <p:cNvPr id="56" name="Text 43"/>
          <p:cNvSpPr txBox="1"/>
          <p:nvPr/>
        </p:nvSpPr>
        <p:spPr>
          <a:xfrm>
            <a:off x="8318297" y="2204618"/>
            <a:ext cx="3234233"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「ダメージレス」「艶髪」を強調。カラーとの同時施術や、単価アップのフック商材として機能。</a:t>
            </a:r>
            <a:endParaRPr lang="en-US" sz="1000" dirty="0"/>
          </a:p>
        </p:txBody>
      </p:sp>
      <p:sp>
        <p:nvSpPr>
          <p:cNvPr id="57" name="Shape 44"/>
          <p:cNvSpPr/>
          <p:nvPr/>
        </p:nvSpPr>
        <p:spPr>
          <a:xfrm>
            <a:off x="4292194" y="3377794"/>
            <a:ext cx="3648456" cy="1676095"/>
          </a:xfrm>
          <a:prstGeom prst="roundRect">
            <a:avLst>
              <a:gd name="adj" fmla="val 3720"/>
            </a:avLst>
          </a:prstGeom>
          <a:solidFill>
            <a:srgbClr val="FFFFFF"/>
          </a:solidFill>
          <a:ln/>
          <a:effectLst>
            <a:outerShdw sx="100000" sy="100000" kx="0" ky="0" algn="bl" rotWithShape="0" blurRad="12700" dist="12700" dir="16200000">
              <a:srgbClr val="000000">
                <a:alpha val="75000"/>
              </a:srgbClr>
            </a:outerShdw>
          </a:effectLst>
        </p:spPr>
      </p:sp>
      <p:sp>
        <p:nvSpPr>
          <p:cNvPr id="58" name="Shape 45"/>
          <p:cNvSpPr/>
          <p:nvPr/>
        </p:nvSpPr>
        <p:spPr>
          <a:xfrm>
            <a:off x="4292194" y="3377794"/>
            <a:ext cx="38405" cy="1676095"/>
          </a:xfrm>
          <a:prstGeom prst="rect">
            <a:avLst/>
          </a:prstGeom>
          <a:solidFill>
            <a:srgbClr val="34D399"/>
          </a:solidFill>
          <a:ln/>
        </p:spPr>
      </p:sp>
      <p:pic>
        <p:nvPicPr>
          <p:cNvPr id="59" name="Image 11" descr="preencoded.png">    </p:cNvPr>
          <p:cNvPicPr>
            <a:picLocks noChangeAspect="1"/>
          </p:cNvPicPr>
          <p:nvPr/>
        </p:nvPicPr>
        <p:blipFill>
          <a:blip r:embed="rId12">
            <a:alphaModFix amt="10000"/>
          </a:blip>
          <a:srcRect l="0" r="0" t="0" b="0"/>
          <a:stretch/>
        </p:blipFill>
        <p:spPr>
          <a:xfrm>
            <a:off x="7251192" y="3492094"/>
            <a:ext cx="571500" cy="571500"/>
          </a:xfrm>
          <a:prstGeom prst="rect">
            <a:avLst/>
          </a:prstGeom>
        </p:spPr>
      </p:pic>
      <p:sp>
        <p:nvSpPr>
          <p:cNvPr id="60" name="Text 46"/>
          <p:cNvSpPr txBox="1"/>
          <p:nvPr/>
        </p:nvSpPr>
        <p:spPr>
          <a:xfrm>
            <a:off x="4520794" y="3578047"/>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トレンドカット</a:t>
            </a:r>
            <a:endParaRPr lang="en-US" sz="1300" dirty="0"/>
          </a:p>
        </p:txBody>
      </p:sp>
      <p:sp>
        <p:nvSpPr>
          <p:cNvPr id="61" name="Shape 47"/>
          <p:cNvSpPr/>
          <p:nvPr/>
        </p:nvSpPr>
        <p:spPr>
          <a:xfrm>
            <a:off x="4520794" y="3931006"/>
            <a:ext cx="1485900" cy="228600"/>
          </a:xfrm>
          <a:prstGeom prst="roundRect">
            <a:avLst>
              <a:gd name="adj" fmla="val 66667"/>
            </a:avLst>
          </a:prstGeom>
          <a:solidFill>
            <a:srgbClr val="ECFDF5"/>
          </a:solidFill>
          <a:ln/>
        </p:spPr>
      </p:sp>
      <p:sp>
        <p:nvSpPr>
          <p:cNvPr id="62" name="Text 48"/>
          <p:cNvSpPr txBox="1"/>
          <p:nvPr/>
        </p:nvSpPr>
        <p:spPr>
          <a:xfrm>
            <a:off x="4597603" y="3959352"/>
            <a:ext cx="1420063"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レイヤー / ショート / ボブ</a:t>
            </a:r>
            <a:endParaRPr lang="en-US" sz="900" dirty="0"/>
          </a:p>
        </p:txBody>
      </p:sp>
      <p:sp>
        <p:nvSpPr>
          <p:cNvPr id="63" name="Text 49"/>
          <p:cNvSpPr txBox="1"/>
          <p:nvPr/>
        </p:nvSpPr>
        <p:spPr>
          <a:xfrm>
            <a:off x="4520794" y="4244645"/>
            <a:ext cx="3281782"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顔周りの似合わせや、韓国風レイヤーなど、SNSで話題のスタイルスタイルを前面に打ち出す。</a:t>
            </a:r>
            <a:endParaRPr lang="en-US" sz="1000" dirty="0"/>
          </a:p>
        </p:txBody>
      </p:sp>
      <p:sp>
        <p:nvSpPr>
          <p:cNvPr id="64" name="Shape 50"/>
          <p:cNvSpPr/>
          <p:nvPr/>
        </p:nvSpPr>
        <p:spPr>
          <a:xfrm>
            <a:off x="8089697" y="3377794"/>
            <a:ext cx="3648456" cy="1676095"/>
          </a:xfrm>
          <a:prstGeom prst="roundRect">
            <a:avLst>
              <a:gd name="adj" fmla="val 3720"/>
            </a:avLst>
          </a:prstGeom>
          <a:solidFill>
            <a:srgbClr val="FFFFFF"/>
          </a:solidFill>
          <a:ln/>
          <a:effectLst>
            <a:outerShdw sx="100000" sy="100000" kx="0" ky="0" algn="bl" rotWithShape="0" blurRad="12700" dist="12700" dir="16200000">
              <a:srgbClr val="000000">
                <a:alpha val="75000"/>
              </a:srgbClr>
            </a:outerShdw>
          </a:effectLst>
        </p:spPr>
      </p:sp>
      <p:sp>
        <p:nvSpPr>
          <p:cNvPr id="65" name="Shape 51"/>
          <p:cNvSpPr/>
          <p:nvPr/>
        </p:nvSpPr>
        <p:spPr>
          <a:xfrm>
            <a:off x="8089697" y="3377794"/>
            <a:ext cx="38405" cy="1676095"/>
          </a:xfrm>
          <a:prstGeom prst="rect">
            <a:avLst/>
          </a:prstGeom>
          <a:solidFill>
            <a:srgbClr val="A78BFA"/>
          </a:solidFill>
          <a:ln/>
        </p:spPr>
      </p:sp>
      <p:pic>
        <p:nvPicPr>
          <p:cNvPr id="66" name="Image 12" descr="preencoded.png">    </p:cNvPr>
          <p:cNvPicPr>
            <a:picLocks noChangeAspect="1"/>
          </p:cNvPicPr>
          <p:nvPr/>
        </p:nvPicPr>
        <p:blipFill>
          <a:blip r:embed="rId13">
            <a:alphaModFix amt="10000"/>
          </a:blip>
          <a:srcRect l="-469" r="-469" t="0" b="0"/>
          <a:stretch/>
        </p:blipFill>
        <p:spPr>
          <a:xfrm>
            <a:off x="11115446" y="3492094"/>
            <a:ext cx="504749" cy="571500"/>
          </a:xfrm>
          <a:prstGeom prst="rect">
            <a:avLst/>
          </a:prstGeom>
        </p:spPr>
      </p:pic>
      <p:sp>
        <p:nvSpPr>
          <p:cNvPr id="67" name="Text 52"/>
          <p:cNvSpPr txBox="1"/>
          <p:nvPr/>
        </p:nvSpPr>
        <p:spPr>
          <a:xfrm>
            <a:off x="8318297" y="3578047"/>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メンズスタイル</a:t>
            </a:r>
            <a:endParaRPr lang="en-US" sz="1300" dirty="0"/>
          </a:p>
        </p:txBody>
      </p:sp>
      <p:sp>
        <p:nvSpPr>
          <p:cNvPr id="68" name="Shape 53"/>
          <p:cNvSpPr/>
          <p:nvPr/>
        </p:nvSpPr>
        <p:spPr>
          <a:xfrm>
            <a:off x="8318297" y="3931006"/>
            <a:ext cx="1619402" cy="228600"/>
          </a:xfrm>
          <a:prstGeom prst="roundRect">
            <a:avLst>
              <a:gd name="adj" fmla="val 66667"/>
            </a:avLst>
          </a:prstGeom>
          <a:solidFill>
            <a:srgbClr val="F5F3FF"/>
          </a:solidFill>
          <a:ln/>
        </p:spPr>
      </p:sp>
      <p:sp>
        <p:nvSpPr>
          <p:cNvPr id="69" name="Text 54"/>
          <p:cNvSpPr txBox="1"/>
          <p:nvPr/>
        </p:nvSpPr>
        <p:spPr>
          <a:xfrm>
            <a:off x="8394192" y="3959352"/>
            <a:ext cx="1552651" cy="162763"/>
          </a:xfrm>
          <a:prstGeom prst="rect">
            <a:avLst/>
          </a:prstGeom>
          <a:noFill/>
          <a:ln/>
        </p:spPr>
        <p:txBody>
          <a:bodyPr wrap="square" lIns="0" tIns="0" rIns="0" bIns="0" rtlCol="0" anchor="ctr"/>
          <a:lstStyle/>
          <a:p>
            <a:pPr algn="l" indent="0" marL="0">
              <a:buNone/>
            </a:pPr>
            <a:r>
              <a:rPr lang="en-US" sz="900" b="1" dirty="0">
                <a:solidFill>
                  <a:srgbClr val="8B5CF6"/>
                </a:solidFill>
                <a:latin typeface="Noto Sans JP" pitchFamily="34" charset="0"/>
                <a:ea typeface="Noto Sans JP" pitchFamily="34" charset="-122"/>
                <a:cs typeface="Noto Sans JP" pitchFamily="34" charset="-120"/>
              </a:rPr>
              <a:t>ツイストスパイラル / 波巻き</a:t>
            </a:r>
            <a:endParaRPr lang="en-US" sz="900" dirty="0"/>
          </a:p>
        </p:txBody>
      </p:sp>
      <p:sp>
        <p:nvSpPr>
          <p:cNvPr id="70" name="Text 55"/>
          <p:cNvSpPr txBox="1"/>
          <p:nvPr/>
        </p:nvSpPr>
        <p:spPr>
          <a:xfrm>
            <a:off x="8318297" y="4244645"/>
            <a:ext cx="3300984"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「メンズのプロ在籍」を謳い、パーマ比率の高いメンズ客層を取り込む。平日夜の稼働にも貢献。</a:t>
            </a:r>
            <a:endParaRPr lang="en-US" sz="1000" dirty="0"/>
          </a:p>
        </p:txBody>
      </p:sp>
      <p:sp>
        <p:nvSpPr>
          <p:cNvPr id="71" name="Shape 56"/>
          <p:cNvSpPr/>
          <p:nvPr/>
        </p:nvSpPr>
        <p:spPr>
          <a:xfrm>
            <a:off x="4292194" y="5201107"/>
            <a:ext cx="7448702" cy="1352398"/>
          </a:xfrm>
          <a:prstGeom prst="roundRect">
            <a:avLst>
              <a:gd name="adj" fmla="val 5714"/>
            </a:avLst>
          </a:prstGeom>
          <a:solidFill>
            <a:srgbClr val="FFFFFF"/>
          </a:solidFill>
          <a:ln/>
          <a:effectLst>
            <a:outerShdw sx="100000" sy="100000" kx="0" ky="0" algn="bl" rotWithShape="0" blurRad="12700" dist="12700" dir="16200000">
              <a:srgbClr val="000000">
                <a:alpha val="75000"/>
              </a:srgbClr>
            </a:outerShdw>
          </a:effectLst>
        </p:spPr>
      </p:sp>
      <p:sp>
        <p:nvSpPr>
          <p:cNvPr id="72" name="Shape 57"/>
          <p:cNvSpPr/>
          <p:nvPr/>
        </p:nvSpPr>
        <p:spPr>
          <a:xfrm>
            <a:off x="4292194" y="5201107"/>
            <a:ext cx="38405" cy="1352398"/>
          </a:xfrm>
          <a:prstGeom prst="rect">
            <a:avLst/>
          </a:prstGeom>
          <a:solidFill>
            <a:srgbClr val="FBBF24"/>
          </a:solidFill>
          <a:ln/>
        </p:spPr>
      </p:sp>
      <p:sp>
        <p:nvSpPr>
          <p:cNvPr id="73" name="Shape 58"/>
          <p:cNvSpPr/>
          <p:nvPr/>
        </p:nvSpPr>
        <p:spPr>
          <a:xfrm>
            <a:off x="4520794" y="5648249"/>
            <a:ext cx="457200" cy="457200"/>
          </a:xfrm>
          <a:prstGeom prst="roundRect">
            <a:avLst>
              <a:gd name="adj" fmla="val 200000"/>
            </a:avLst>
          </a:prstGeom>
          <a:solidFill>
            <a:srgbClr val="FEF3C7"/>
          </a:solidFill>
          <a:ln/>
        </p:spPr>
      </p:sp>
      <p:pic>
        <p:nvPicPr>
          <p:cNvPr id="74" name="Image 13" descr="preencoded.png">    </p:cNvPr>
          <p:cNvPicPr>
            <a:picLocks noChangeAspect="1"/>
          </p:cNvPicPr>
          <p:nvPr/>
        </p:nvPicPr>
        <p:blipFill>
          <a:blip r:embed="rId14"/>
          <a:srcRect l="0" r="0" t="0" b="0"/>
          <a:stretch/>
        </p:blipFill>
        <p:spPr>
          <a:xfrm>
            <a:off x="4654296" y="5781751"/>
            <a:ext cx="190195" cy="190195"/>
          </a:xfrm>
          <a:prstGeom prst="rect">
            <a:avLst/>
          </a:prstGeom>
        </p:spPr>
      </p:pic>
      <p:sp>
        <p:nvSpPr>
          <p:cNvPr id="75" name="Text 59"/>
          <p:cNvSpPr txBox="1"/>
          <p:nvPr/>
        </p:nvSpPr>
        <p:spPr>
          <a:xfrm>
            <a:off x="5206594" y="5496458"/>
            <a:ext cx="18434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縮毛矯正・ストレート</a:t>
            </a:r>
            <a:endParaRPr lang="en-US" sz="1300" dirty="0"/>
          </a:p>
        </p:txBody>
      </p:sp>
      <p:sp>
        <p:nvSpPr>
          <p:cNvPr id="76" name="Shape 60"/>
          <p:cNvSpPr/>
          <p:nvPr/>
        </p:nvSpPr>
        <p:spPr>
          <a:xfrm>
            <a:off x="5206594" y="5810098"/>
            <a:ext cx="1505102" cy="228600"/>
          </a:xfrm>
          <a:prstGeom prst="roundRect">
            <a:avLst>
              <a:gd name="adj" fmla="val 66667"/>
            </a:avLst>
          </a:prstGeom>
          <a:solidFill>
            <a:srgbClr val="FFFBEB"/>
          </a:solidFill>
          <a:ln/>
        </p:spPr>
      </p:sp>
      <p:sp>
        <p:nvSpPr>
          <p:cNvPr id="77" name="Text 61"/>
          <p:cNvSpPr txBox="1"/>
          <p:nvPr/>
        </p:nvSpPr>
        <p:spPr>
          <a:xfrm>
            <a:off x="5283403" y="5839358"/>
            <a:ext cx="1438351" cy="162763"/>
          </a:xfrm>
          <a:prstGeom prst="rect">
            <a:avLst/>
          </a:prstGeom>
          <a:noFill/>
          <a:ln/>
        </p:spPr>
        <p:txBody>
          <a:bodyPr wrap="square" lIns="0" tIns="0" rIns="0" bIns="0" rtlCol="0" anchor="ctr"/>
          <a:lstStyle/>
          <a:p>
            <a:pPr algn="l" indent="0" marL="0">
              <a:buNone/>
            </a:pPr>
            <a:r>
              <a:rPr lang="en-US" sz="900" b="1" dirty="0">
                <a:solidFill>
                  <a:srgbClr val="D97706"/>
                </a:solidFill>
                <a:latin typeface="Noto Sans JP" pitchFamily="34" charset="0"/>
                <a:ea typeface="Noto Sans JP" pitchFamily="34" charset="-122"/>
                <a:cs typeface="Noto Sans JP" pitchFamily="34" charset="-120"/>
              </a:rPr>
              <a:t>コスメ薬剤 / ダメージレス</a:t>
            </a:r>
            <a:endParaRPr lang="en-US" sz="900" dirty="0"/>
          </a:p>
        </p:txBody>
      </p:sp>
      <p:sp>
        <p:nvSpPr>
          <p:cNvPr id="78" name="Text 62"/>
          <p:cNvSpPr txBox="1"/>
          <p:nvPr/>
        </p:nvSpPr>
        <p:spPr>
          <a:xfrm>
            <a:off x="5206594" y="6077102"/>
            <a:ext cx="5958230"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「自然な仕上がり」を重視し、高単価メニューとして機能。クセ毛の悩みを解決するアプローチ。</a:t>
            </a:r>
            <a:endParaRPr lang="en-US" sz="1000" dirty="0"/>
          </a:p>
        </p:txBody>
      </p:sp>
      <p:sp>
        <p:nvSpPr>
          <p:cNvPr id="79" name="Text 63"/>
          <p:cNvSpPr txBox="1"/>
          <p:nvPr/>
        </p:nvSpPr>
        <p:spPr>
          <a:xfrm>
            <a:off x="7987284" y="6543446"/>
            <a:ext cx="3838651" cy="162763"/>
          </a:xfrm>
          <a:prstGeom prst="rect">
            <a:avLst/>
          </a:prstGeom>
          <a:noFill/>
          <a:ln/>
        </p:spPr>
        <p:txBody>
          <a:bodyPr wrap="square" lIns="0" tIns="0" rIns="0" bIns="0" rtlCol="0" anchor="ctr"/>
          <a:lstStyle/>
          <a:p>
            <a:pPr algn="r" indent="0" marL="0">
              <a:buNone/>
            </a:pPr>
            <a:r>
              <a:rPr lang="en-US" sz="900" dirty="0">
                <a:solidFill>
                  <a:srgbClr val="9CA3AF"/>
                </a:solidFill>
                <a:latin typeface="Noto Sans JP" pitchFamily="34" charset="0"/>
                <a:ea typeface="Noto Sans JP" pitchFamily="34" charset="-122"/>
                <a:cs typeface="Noto Sans JP" pitchFamily="34" charset="-120"/>
              </a:rPr>
              <a:t>※ホットペッパービューティー掲載情報（2026年1月時点）に基づく分析</a:t>
            </a:r>
            <a:endParaRPr lang="en-US" sz="900" dirty="0"/>
          </a:p>
        </p:txBody>
      </p:sp>
      <p:sp>
        <p:nvSpPr>
          <p:cNvPr id="80" name="Shape 64"/>
          <p:cNvSpPr/>
          <p:nvPr/>
        </p:nvSpPr>
        <p:spPr>
          <a:xfrm>
            <a:off x="0" y="0"/>
            <a:ext cx="12191695" cy="352044"/>
          </a:xfrm>
          <a:prstGeom prst="rect">
            <a:avLst/>
          </a:prstGeom>
          <a:solidFill>
            <a:srgbClr val="FFFFFF"/>
          </a:solidFill>
          <a:ln/>
        </p:spPr>
      </p:sp>
      <p:sp>
        <p:nvSpPr>
          <p:cNvPr id="81" name="Shape 65"/>
          <p:cNvSpPr/>
          <p:nvPr/>
        </p:nvSpPr>
        <p:spPr>
          <a:xfrm>
            <a:off x="0" y="342900"/>
            <a:ext cx="12191695" cy="9144"/>
          </a:xfrm>
          <a:prstGeom prst="rect">
            <a:avLst/>
          </a:prstGeom>
          <a:solidFill>
            <a:srgbClr val="F3F4F6"/>
          </a:solidFill>
          <a:ln/>
        </p:spPr>
      </p:sp>
      <p:sp>
        <p:nvSpPr>
          <p:cNvPr id="82" name="Shape 66"/>
          <p:cNvSpPr/>
          <p:nvPr/>
        </p:nvSpPr>
        <p:spPr>
          <a:xfrm>
            <a:off x="457200" y="54864"/>
            <a:ext cx="228600" cy="228600"/>
          </a:xfrm>
          <a:prstGeom prst="roundRect">
            <a:avLst>
              <a:gd name="adj" fmla="val 66667"/>
            </a:avLst>
          </a:prstGeom>
          <a:solidFill>
            <a:srgbClr val="FF6B35"/>
          </a:solidFill>
          <a:ln/>
        </p:spPr>
      </p:sp>
      <p:pic>
        <p:nvPicPr>
          <p:cNvPr id="83" name="Image 14" descr="preencoded.png">    </p:cNvPr>
          <p:cNvPicPr>
            <a:picLocks noChangeAspect="1"/>
          </p:cNvPicPr>
          <p:nvPr/>
        </p:nvPicPr>
        <p:blipFill>
          <a:blip r:embed="rId15"/>
          <a:srcRect l="0" r="0" t="0" b="0"/>
          <a:stretch/>
        </p:blipFill>
        <p:spPr>
          <a:xfrm>
            <a:off x="514807" y="111557"/>
            <a:ext cx="114300" cy="114300"/>
          </a:xfrm>
          <a:prstGeom prst="rect">
            <a:avLst/>
          </a:prstGeom>
        </p:spPr>
      </p:pic>
      <p:sp>
        <p:nvSpPr>
          <p:cNvPr id="84" name="Shape 67"/>
          <p:cNvSpPr/>
          <p:nvPr/>
        </p:nvSpPr>
        <p:spPr>
          <a:xfrm>
            <a:off x="10135210" y="54864"/>
            <a:ext cx="914400" cy="228600"/>
          </a:xfrm>
          <a:prstGeom prst="roundRect">
            <a:avLst>
              <a:gd name="adj" fmla="val 66667"/>
            </a:avLst>
          </a:prstGeom>
          <a:solidFill>
            <a:srgbClr val="F3F4F6"/>
          </a:solidFill>
          <a:ln/>
        </p:spPr>
      </p:sp>
      <p:sp>
        <p:nvSpPr>
          <p:cNvPr id="85" name="Text 68"/>
          <p:cNvSpPr txBox="1"/>
          <p:nvPr/>
        </p:nvSpPr>
        <p:spPr>
          <a:xfrm>
            <a:off x="761695" y="74066"/>
            <a:ext cx="1719986"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BENCHMARK ANALYSIS</a:t>
            </a:r>
            <a:endParaRPr lang="en-US" sz="1000" dirty="0"/>
          </a:p>
        </p:txBody>
      </p:sp>
      <p:sp>
        <p:nvSpPr>
          <p:cNvPr id="86" name="Text 69"/>
          <p:cNvSpPr txBox="1"/>
          <p:nvPr/>
        </p:nvSpPr>
        <p:spPr>
          <a:xfrm>
            <a:off x="10249510" y="83210"/>
            <a:ext cx="771754"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CASE STUDY</a:t>
            </a:r>
            <a:endParaRPr lang="en-US" sz="900" dirty="0"/>
          </a:p>
        </p:txBody>
      </p:sp>
      <p:sp>
        <p:nvSpPr>
          <p:cNvPr id="87" name="Text 70"/>
          <p:cNvSpPr txBox="1"/>
          <p:nvPr/>
        </p:nvSpPr>
        <p:spPr>
          <a:xfrm>
            <a:off x="11163910" y="83210"/>
            <a:ext cx="657454"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2026.01.03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314554"/>
            <a:ext cx="12191695" cy="6848856"/>
          </a:xfrm>
          <a:prstGeom prst="rect">
            <a:avLst/>
          </a:prstGeom>
          <a:solidFill>
            <a:srgbClr val="F9FAFB"/>
          </a:solidFill>
          <a:ln/>
        </p:spPr>
      </p:sp>
      <p:sp>
        <p:nvSpPr>
          <p:cNvPr id="5" name="Text 3"/>
          <p:cNvSpPr txBox="1"/>
          <p:nvPr/>
        </p:nvSpPr>
        <p:spPr>
          <a:xfrm>
            <a:off x="609905" y="657454"/>
            <a:ext cx="4433926"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メニュー構成の分析｜Siena渋谷</a:t>
            </a:r>
            <a:endParaRPr lang="en-US" sz="2200" dirty="0"/>
          </a:p>
        </p:txBody>
      </p:sp>
      <p:sp>
        <p:nvSpPr>
          <p:cNvPr id="6" name="Text 4"/>
          <p:cNvSpPr txBox="1"/>
          <p:nvPr/>
        </p:nvSpPr>
        <p:spPr>
          <a:xfrm>
            <a:off x="609905" y="1114654"/>
            <a:ext cx="7820863"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ターゲット層（10〜20代）のニーズを網羅する5つの主力カテゴリーにより、集客の入り口を多角化しています。</a:t>
            </a:r>
            <a:endParaRPr lang="en-US" sz="1200" dirty="0"/>
          </a:p>
        </p:txBody>
      </p:sp>
      <p:sp>
        <p:nvSpPr>
          <p:cNvPr id="7" name="Shape 5"/>
          <p:cNvSpPr/>
          <p:nvPr/>
        </p:nvSpPr>
        <p:spPr>
          <a:xfrm>
            <a:off x="9684410" y="752551"/>
            <a:ext cx="1904695" cy="590702"/>
          </a:xfrm>
          <a:prstGeom prst="roundRect">
            <a:avLst>
              <a:gd name="adj" fmla="val 19974"/>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8" name="Text 6"/>
          <p:cNvSpPr txBox="1"/>
          <p:nvPr/>
        </p:nvSpPr>
        <p:spPr>
          <a:xfrm>
            <a:off x="9846259" y="828446"/>
            <a:ext cx="866851"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DATA SOURCE</a:t>
            </a:r>
            <a:endParaRPr lang="en-US" sz="900" dirty="0"/>
          </a:p>
        </p:txBody>
      </p:sp>
      <p:pic>
        <p:nvPicPr>
          <p:cNvPr id="9" name="Image 0" descr="preencoded.png">    </p:cNvPr>
          <p:cNvPicPr>
            <a:picLocks noChangeAspect="1"/>
          </p:cNvPicPr>
          <p:nvPr/>
        </p:nvPicPr>
        <p:blipFill>
          <a:blip r:embed="rId1"/>
          <a:srcRect l="-1507" r="-1507" t="0" b="0"/>
          <a:stretch/>
        </p:blipFill>
        <p:spPr>
          <a:xfrm>
            <a:off x="9846259" y="1092708"/>
            <a:ext cx="171907" cy="133502"/>
          </a:xfrm>
          <a:prstGeom prst="rect">
            <a:avLst/>
          </a:prstGeom>
        </p:spPr>
      </p:pic>
      <p:sp>
        <p:nvSpPr>
          <p:cNvPr id="10" name="Text 7"/>
          <p:cNvSpPr txBox="1"/>
          <p:nvPr/>
        </p:nvSpPr>
        <p:spPr>
          <a:xfrm>
            <a:off x="10094062" y="1057046"/>
            <a:ext cx="1433779"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HOT PEPPER Beauty</a:t>
            </a:r>
            <a:endParaRPr lang="en-US" sz="1000" dirty="0"/>
          </a:p>
        </p:txBody>
      </p:sp>
      <p:sp>
        <p:nvSpPr>
          <p:cNvPr id="11" name="Shape 8"/>
          <p:cNvSpPr/>
          <p:nvPr/>
        </p:nvSpPr>
        <p:spPr>
          <a:xfrm>
            <a:off x="609905" y="1647749"/>
            <a:ext cx="10972800" cy="4828946"/>
          </a:xfrm>
          <a:prstGeom prst="roundRect">
            <a:avLst>
              <a:gd name="adj" fmla="val 448"/>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2" name="Shape 9"/>
          <p:cNvSpPr/>
          <p:nvPr/>
        </p:nvSpPr>
        <p:spPr>
          <a:xfrm>
            <a:off x="619049" y="1657807"/>
            <a:ext cx="10953598" cy="466344"/>
          </a:xfrm>
          <a:prstGeom prst="rect">
            <a:avLst/>
          </a:prstGeom>
          <a:solidFill>
            <a:srgbClr val="F3F4F6"/>
          </a:solidFill>
          <a:ln/>
        </p:spPr>
      </p:sp>
      <p:sp>
        <p:nvSpPr>
          <p:cNvPr id="13" name="Shape 10"/>
          <p:cNvSpPr/>
          <p:nvPr/>
        </p:nvSpPr>
        <p:spPr>
          <a:xfrm>
            <a:off x="619049" y="2115007"/>
            <a:ext cx="10953598" cy="9144"/>
          </a:xfrm>
          <a:prstGeom prst="rect">
            <a:avLst/>
          </a:prstGeom>
          <a:solidFill>
            <a:srgbClr val="E5E7EB"/>
          </a:solidFill>
          <a:ln/>
        </p:spPr>
      </p:sp>
      <p:sp>
        <p:nvSpPr>
          <p:cNvPr id="14" name="Text 11"/>
          <p:cNvSpPr txBox="1"/>
          <p:nvPr/>
        </p:nvSpPr>
        <p:spPr>
          <a:xfrm>
            <a:off x="923544" y="1800454"/>
            <a:ext cx="695858"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カテゴリー</a:t>
            </a:r>
            <a:endParaRPr lang="en-US" sz="900" dirty="0"/>
          </a:p>
        </p:txBody>
      </p:sp>
      <p:sp>
        <p:nvSpPr>
          <p:cNvPr id="15" name="Text 12"/>
          <p:cNvSpPr txBox="1"/>
          <p:nvPr/>
        </p:nvSpPr>
        <p:spPr>
          <a:xfrm>
            <a:off x="3547872" y="1800454"/>
            <a:ext cx="1295705"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具体的なメニュー内容</a:t>
            </a:r>
            <a:endParaRPr lang="en-US" sz="900" dirty="0"/>
          </a:p>
        </p:txBody>
      </p:sp>
      <p:sp>
        <p:nvSpPr>
          <p:cNvPr id="16" name="Text 13"/>
          <p:cNvSpPr txBox="1"/>
          <p:nvPr/>
        </p:nvSpPr>
        <p:spPr>
          <a:xfrm>
            <a:off x="7921447" y="1800454"/>
            <a:ext cx="104790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戦略的狙い・特徴</a:t>
            </a:r>
            <a:endParaRPr lang="en-US" sz="900" dirty="0"/>
          </a:p>
        </p:txBody>
      </p:sp>
      <p:sp>
        <p:nvSpPr>
          <p:cNvPr id="17" name="Shape 14"/>
          <p:cNvSpPr/>
          <p:nvPr/>
        </p:nvSpPr>
        <p:spPr>
          <a:xfrm>
            <a:off x="619049" y="3001061"/>
            <a:ext cx="10953598" cy="9144"/>
          </a:xfrm>
          <a:prstGeom prst="rect">
            <a:avLst/>
          </a:prstGeom>
          <a:solidFill>
            <a:srgbClr val="F3F4F6"/>
          </a:solidFill>
          <a:ln/>
        </p:spPr>
      </p:sp>
      <p:sp>
        <p:nvSpPr>
          <p:cNvPr id="18" name="Shape 15"/>
          <p:cNvSpPr/>
          <p:nvPr/>
        </p:nvSpPr>
        <p:spPr>
          <a:xfrm>
            <a:off x="923544" y="2333549"/>
            <a:ext cx="457200" cy="457200"/>
          </a:xfrm>
          <a:prstGeom prst="roundRect">
            <a:avLst>
              <a:gd name="adj" fmla="val 50000"/>
            </a:avLst>
          </a:prstGeom>
          <a:solidFill>
            <a:srgbClr val="FCE7F3"/>
          </a:solidFill>
          <a:ln/>
        </p:spPr>
      </p:sp>
      <p:pic>
        <p:nvPicPr>
          <p:cNvPr id="19" name="Image 1" descr="preencoded.png">    </p:cNvPr>
          <p:cNvPicPr>
            <a:picLocks noChangeAspect="1"/>
          </p:cNvPicPr>
          <p:nvPr/>
        </p:nvPicPr>
        <p:blipFill>
          <a:blip r:embed="rId2"/>
          <a:srcRect l="0" r="0" t="0" b="0"/>
          <a:stretch/>
        </p:blipFill>
        <p:spPr>
          <a:xfrm>
            <a:off x="1057046" y="2467051"/>
            <a:ext cx="190195" cy="190195"/>
          </a:xfrm>
          <a:prstGeom prst="rect">
            <a:avLst/>
          </a:prstGeom>
        </p:spPr>
      </p:pic>
      <p:sp>
        <p:nvSpPr>
          <p:cNvPr id="20" name="Text 16"/>
          <p:cNvSpPr txBox="1"/>
          <p:nvPr/>
        </p:nvSpPr>
        <p:spPr>
          <a:xfrm>
            <a:off x="1533449" y="2324405"/>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デザインカラー</a:t>
            </a:r>
            <a:endParaRPr lang="en-US" sz="1300" dirty="0"/>
          </a:p>
        </p:txBody>
      </p:sp>
      <p:sp>
        <p:nvSpPr>
          <p:cNvPr id="21" name="Shape 17"/>
          <p:cNvSpPr/>
          <p:nvPr/>
        </p:nvSpPr>
        <p:spPr>
          <a:xfrm>
            <a:off x="1533449" y="2609698"/>
            <a:ext cx="390449" cy="200254"/>
          </a:xfrm>
          <a:prstGeom prst="roundRect">
            <a:avLst>
              <a:gd name="adj" fmla="val 456620"/>
            </a:avLst>
          </a:prstGeom>
          <a:solidFill>
            <a:srgbClr val="FDF2F8"/>
          </a:solidFill>
          <a:ln/>
        </p:spPr>
      </p:sp>
      <p:sp>
        <p:nvSpPr>
          <p:cNvPr id="22" name="Text 18"/>
          <p:cNvSpPr txBox="1"/>
          <p:nvPr/>
        </p:nvSpPr>
        <p:spPr>
          <a:xfrm>
            <a:off x="1609344" y="2628900"/>
            <a:ext cx="324612" cy="162763"/>
          </a:xfrm>
          <a:prstGeom prst="rect">
            <a:avLst/>
          </a:prstGeom>
          <a:noFill/>
          <a:ln/>
        </p:spPr>
        <p:txBody>
          <a:bodyPr wrap="square" lIns="0" tIns="0" rIns="0" bIns="0" rtlCol="0" anchor="ctr"/>
          <a:lstStyle/>
          <a:p>
            <a:pPr algn="l" indent="0" marL="0">
              <a:buNone/>
            </a:pPr>
            <a:r>
              <a:rPr lang="en-US" sz="900" b="1" dirty="0">
                <a:solidFill>
                  <a:srgbClr val="EC4899"/>
                </a:solidFill>
                <a:latin typeface="Noto Sans JP" pitchFamily="34" charset="0"/>
                <a:ea typeface="Noto Sans JP" pitchFamily="34" charset="-122"/>
                <a:cs typeface="Noto Sans JP" pitchFamily="34" charset="-120"/>
              </a:rPr>
              <a:t>主力</a:t>
            </a:r>
            <a:endParaRPr lang="en-US" sz="900" dirty="0"/>
          </a:p>
        </p:txBody>
      </p:sp>
      <p:sp>
        <p:nvSpPr>
          <p:cNvPr id="23" name="Text 19"/>
          <p:cNvSpPr txBox="1"/>
          <p:nvPr/>
        </p:nvSpPr>
        <p:spPr>
          <a:xfrm>
            <a:off x="3547872" y="2324405"/>
            <a:ext cx="4219956" cy="4764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イルミナカラー、ケアブリーチ、ダブルカラー、インナーカラー、バレイヤージュ</a:t>
            </a:r>
            <a:endParaRPr lang="en-US" sz="1200" dirty="0"/>
          </a:p>
        </p:txBody>
      </p:sp>
      <p:sp>
        <p:nvSpPr>
          <p:cNvPr id="24" name="Shape 20"/>
          <p:cNvSpPr/>
          <p:nvPr/>
        </p:nvSpPr>
        <p:spPr>
          <a:xfrm>
            <a:off x="7921447" y="2345436"/>
            <a:ext cx="19202" cy="437998"/>
          </a:xfrm>
          <a:prstGeom prst="rect">
            <a:avLst/>
          </a:prstGeom>
          <a:solidFill>
            <a:srgbClr val="FBCFE8"/>
          </a:solidFill>
          <a:ln/>
        </p:spPr>
      </p:sp>
      <p:sp>
        <p:nvSpPr>
          <p:cNvPr id="25" name="Text 21"/>
          <p:cNvSpPr txBox="1"/>
          <p:nvPr/>
        </p:nvSpPr>
        <p:spPr>
          <a:xfrm>
            <a:off x="8054950" y="2355494"/>
            <a:ext cx="3234233"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「透明感」「外国人風」をキーワードに、トレンド志向の学生層を獲得。ケア剤とのセット提案が基本。</a:t>
            </a:r>
            <a:endParaRPr lang="en-US" sz="1000" dirty="0"/>
          </a:p>
        </p:txBody>
      </p:sp>
      <p:sp>
        <p:nvSpPr>
          <p:cNvPr id="26" name="Shape 22"/>
          <p:cNvSpPr/>
          <p:nvPr/>
        </p:nvSpPr>
        <p:spPr>
          <a:xfrm>
            <a:off x="619049" y="3887114"/>
            <a:ext cx="10953598" cy="9144"/>
          </a:xfrm>
          <a:prstGeom prst="rect">
            <a:avLst/>
          </a:prstGeom>
          <a:solidFill>
            <a:srgbClr val="F3F4F6"/>
          </a:solidFill>
          <a:ln/>
        </p:spPr>
      </p:sp>
      <p:sp>
        <p:nvSpPr>
          <p:cNvPr id="27" name="Shape 23"/>
          <p:cNvSpPr/>
          <p:nvPr/>
        </p:nvSpPr>
        <p:spPr>
          <a:xfrm>
            <a:off x="923544" y="3219602"/>
            <a:ext cx="457200" cy="457200"/>
          </a:xfrm>
          <a:prstGeom prst="roundRect">
            <a:avLst>
              <a:gd name="adj" fmla="val 50000"/>
            </a:avLst>
          </a:prstGeom>
          <a:solidFill>
            <a:srgbClr val="EDE9FE"/>
          </a:solidFill>
          <a:ln/>
        </p:spPr>
      </p:sp>
      <p:sp>
        <p:nvSpPr>
          <p:cNvPr id="28" name="Text 24"/>
          <p:cNvSpPr txBox="1"/>
          <p:nvPr/>
        </p:nvSpPr>
        <p:spPr>
          <a:xfrm>
            <a:off x="1533449" y="3209544"/>
            <a:ext cx="8147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髪質改善</a:t>
            </a:r>
            <a:endParaRPr lang="en-US" sz="1300" dirty="0"/>
          </a:p>
        </p:txBody>
      </p:sp>
      <p:sp>
        <p:nvSpPr>
          <p:cNvPr id="29" name="Shape 25"/>
          <p:cNvSpPr/>
          <p:nvPr/>
        </p:nvSpPr>
        <p:spPr>
          <a:xfrm>
            <a:off x="1533449" y="3495751"/>
            <a:ext cx="504749" cy="200254"/>
          </a:xfrm>
          <a:prstGeom prst="roundRect">
            <a:avLst>
              <a:gd name="adj" fmla="val 456620"/>
            </a:avLst>
          </a:prstGeom>
          <a:solidFill>
            <a:srgbClr val="F5F3FF"/>
          </a:solidFill>
          <a:ln/>
        </p:spPr>
      </p:sp>
      <p:sp>
        <p:nvSpPr>
          <p:cNvPr id="30" name="Text 26"/>
          <p:cNvSpPr txBox="1"/>
          <p:nvPr/>
        </p:nvSpPr>
        <p:spPr>
          <a:xfrm>
            <a:off x="1609344" y="3514954"/>
            <a:ext cx="438912" cy="162763"/>
          </a:xfrm>
          <a:prstGeom prst="rect">
            <a:avLst/>
          </a:prstGeom>
          <a:noFill/>
          <a:ln/>
        </p:spPr>
        <p:txBody>
          <a:bodyPr wrap="square" lIns="0" tIns="0" rIns="0" bIns="0" rtlCol="0" anchor="ctr"/>
          <a:lstStyle/>
          <a:p>
            <a:pPr algn="l" indent="0" marL="0">
              <a:buNone/>
            </a:pPr>
            <a:r>
              <a:rPr lang="en-US" sz="900" b="1" dirty="0">
                <a:solidFill>
                  <a:srgbClr val="8B5CF6"/>
                </a:solidFill>
                <a:latin typeface="Noto Sans JP" pitchFamily="34" charset="0"/>
                <a:ea typeface="Noto Sans JP" pitchFamily="34" charset="-122"/>
                <a:cs typeface="Noto Sans JP" pitchFamily="34" charset="-120"/>
              </a:rPr>
              <a:t>高単価</a:t>
            </a:r>
            <a:endParaRPr lang="en-US" sz="900" dirty="0"/>
          </a:p>
        </p:txBody>
      </p:sp>
      <p:sp>
        <p:nvSpPr>
          <p:cNvPr id="31" name="Text 27"/>
          <p:cNvSpPr txBox="1"/>
          <p:nvPr/>
        </p:nvSpPr>
        <p:spPr>
          <a:xfrm>
            <a:off x="3547872" y="3209544"/>
            <a:ext cx="4239158" cy="4764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TOKIOインカラミ、酸熱トリートメント、超音波トリートメント</a:t>
            </a:r>
            <a:endParaRPr lang="en-US" sz="1200" dirty="0"/>
          </a:p>
        </p:txBody>
      </p:sp>
      <p:sp>
        <p:nvSpPr>
          <p:cNvPr id="32" name="Shape 28"/>
          <p:cNvSpPr/>
          <p:nvPr/>
        </p:nvSpPr>
        <p:spPr>
          <a:xfrm>
            <a:off x="7921447" y="3231490"/>
            <a:ext cx="19202" cy="437998"/>
          </a:xfrm>
          <a:prstGeom prst="rect">
            <a:avLst/>
          </a:prstGeom>
          <a:solidFill>
            <a:srgbClr val="DDD6FE"/>
          </a:solidFill>
          <a:ln/>
        </p:spPr>
      </p:sp>
      <p:sp>
        <p:nvSpPr>
          <p:cNvPr id="33" name="Text 29"/>
          <p:cNvSpPr txBox="1"/>
          <p:nvPr/>
        </p:nvSpPr>
        <p:spPr>
          <a:xfrm>
            <a:off x="8054950" y="3240634"/>
            <a:ext cx="3290926"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ブリーチ等によるハイダメージ層へのケア提案。カラーとの同時施術で単価アップを図る。</a:t>
            </a:r>
            <a:endParaRPr lang="en-US" sz="1000" dirty="0"/>
          </a:p>
        </p:txBody>
      </p:sp>
      <p:sp>
        <p:nvSpPr>
          <p:cNvPr id="34" name="Shape 30"/>
          <p:cNvSpPr/>
          <p:nvPr/>
        </p:nvSpPr>
        <p:spPr>
          <a:xfrm>
            <a:off x="619049" y="4733849"/>
            <a:ext cx="10953598" cy="9144"/>
          </a:xfrm>
          <a:prstGeom prst="rect">
            <a:avLst/>
          </a:prstGeom>
          <a:solidFill>
            <a:srgbClr val="F3F4F6"/>
          </a:solidFill>
          <a:ln/>
        </p:spPr>
      </p:sp>
      <p:sp>
        <p:nvSpPr>
          <p:cNvPr id="35" name="Shape 31"/>
          <p:cNvSpPr/>
          <p:nvPr/>
        </p:nvSpPr>
        <p:spPr>
          <a:xfrm>
            <a:off x="923544" y="4086454"/>
            <a:ext cx="457200" cy="457200"/>
          </a:xfrm>
          <a:prstGeom prst="roundRect">
            <a:avLst>
              <a:gd name="adj" fmla="val 50000"/>
            </a:avLst>
          </a:prstGeom>
          <a:solidFill>
            <a:srgbClr val="FEF3C7"/>
          </a:solidFill>
          <a:ln/>
        </p:spPr>
      </p:sp>
      <p:pic>
        <p:nvPicPr>
          <p:cNvPr id="36" name="Image 2" descr="preencoded.png">    </p:cNvPr>
          <p:cNvPicPr>
            <a:picLocks noChangeAspect="1"/>
          </p:cNvPicPr>
          <p:nvPr/>
        </p:nvPicPr>
        <p:blipFill>
          <a:blip r:embed="rId3"/>
          <a:srcRect l="0" r="0" t="0" b="0"/>
          <a:stretch/>
        </p:blipFill>
        <p:spPr>
          <a:xfrm>
            <a:off x="1057046" y="4219956"/>
            <a:ext cx="190195" cy="190195"/>
          </a:xfrm>
          <a:prstGeom prst="rect">
            <a:avLst/>
          </a:prstGeom>
        </p:spPr>
      </p:pic>
      <p:sp>
        <p:nvSpPr>
          <p:cNvPr id="37" name="Text 32"/>
          <p:cNvSpPr txBox="1"/>
          <p:nvPr/>
        </p:nvSpPr>
        <p:spPr>
          <a:xfrm>
            <a:off x="1533449" y="4190695"/>
            <a:ext cx="986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カット技術</a:t>
            </a:r>
            <a:endParaRPr lang="en-US" sz="1300" dirty="0"/>
          </a:p>
        </p:txBody>
      </p:sp>
      <p:sp>
        <p:nvSpPr>
          <p:cNvPr id="38" name="Text 33"/>
          <p:cNvSpPr txBox="1"/>
          <p:nvPr/>
        </p:nvSpPr>
        <p:spPr>
          <a:xfrm>
            <a:off x="3547872" y="4200754"/>
            <a:ext cx="3676802" cy="228600"/>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ショート/ボブ特化、顔周りレイヤー、韓国風カット</a:t>
            </a:r>
            <a:endParaRPr lang="en-US" sz="1200" dirty="0"/>
          </a:p>
        </p:txBody>
      </p:sp>
      <p:sp>
        <p:nvSpPr>
          <p:cNvPr id="39" name="Shape 34"/>
          <p:cNvSpPr/>
          <p:nvPr/>
        </p:nvSpPr>
        <p:spPr>
          <a:xfrm>
            <a:off x="7921447" y="4098341"/>
            <a:ext cx="19202" cy="437998"/>
          </a:xfrm>
          <a:prstGeom prst="rect">
            <a:avLst/>
          </a:prstGeom>
          <a:solidFill>
            <a:srgbClr val="FDE68A"/>
          </a:solidFill>
          <a:ln/>
        </p:spPr>
      </p:sp>
      <p:sp>
        <p:nvSpPr>
          <p:cNvPr id="40" name="Text 35"/>
          <p:cNvSpPr txBox="1"/>
          <p:nvPr/>
        </p:nvSpPr>
        <p:spPr>
          <a:xfrm>
            <a:off x="8054950" y="4107485"/>
            <a:ext cx="3290926"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SNS映えするフォルムと再現性。「小顔」「似合わせ」を強調し信頼感を醸成。</a:t>
            </a:r>
            <a:endParaRPr lang="en-US" sz="1000" dirty="0"/>
          </a:p>
        </p:txBody>
      </p:sp>
      <p:sp>
        <p:nvSpPr>
          <p:cNvPr id="41" name="Shape 36"/>
          <p:cNvSpPr/>
          <p:nvPr/>
        </p:nvSpPr>
        <p:spPr>
          <a:xfrm>
            <a:off x="619049" y="5620817"/>
            <a:ext cx="10953598" cy="9144"/>
          </a:xfrm>
          <a:prstGeom prst="rect">
            <a:avLst/>
          </a:prstGeom>
          <a:solidFill>
            <a:srgbClr val="F3F4F6"/>
          </a:solidFill>
          <a:ln/>
        </p:spPr>
      </p:sp>
      <p:sp>
        <p:nvSpPr>
          <p:cNvPr id="42" name="Shape 37"/>
          <p:cNvSpPr/>
          <p:nvPr/>
        </p:nvSpPr>
        <p:spPr>
          <a:xfrm>
            <a:off x="923544" y="4953305"/>
            <a:ext cx="457200" cy="457200"/>
          </a:xfrm>
          <a:prstGeom prst="roundRect">
            <a:avLst>
              <a:gd name="adj" fmla="val 50000"/>
            </a:avLst>
          </a:prstGeom>
          <a:solidFill>
            <a:srgbClr val="DBEAFE"/>
          </a:solidFill>
          <a:ln/>
        </p:spPr>
      </p:sp>
      <p:pic>
        <p:nvPicPr>
          <p:cNvPr id="43" name="Image 3" descr="preencoded.png">    </p:cNvPr>
          <p:cNvPicPr>
            <a:picLocks noChangeAspect="1"/>
          </p:cNvPicPr>
          <p:nvPr/>
        </p:nvPicPr>
        <p:blipFill>
          <a:blip r:embed="rId4"/>
          <a:srcRect l="-1923" r="-1923" t="0" b="0"/>
          <a:stretch/>
        </p:blipFill>
        <p:spPr>
          <a:xfrm>
            <a:off x="1090879" y="5086807"/>
            <a:ext cx="123444" cy="190195"/>
          </a:xfrm>
          <a:prstGeom prst="rect">
            <a:avLst/>
          </a:prstGeom>
        </p:spPr>
      </p:pic>
      <p:sp>
        <p:nvSpPr>
          <p:cNvPr id="44" name="Text 38"/>
          <p:cNvSpPr txBox="1"/>
          <p:nvPr/>
        </p:nvSpPr>
        <p:spPr>
          <a:xfrm>
            <a:off x="1533449" y="4943246"/>
            <a:ext cx="6437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メンズ</a:t>
            </a:r>
            <a:endParaRPr lang="en-US" sz="1300" dirty="0"/>
          </a:p>
        </p:txBody>
      </p:sp>
      <p:sp>
        <p:nvSpPr>
          <p:cNvPr id="45" name="Shape 39"/>
          <p:cNvSpPr/>
          <p:nvPr/>
        </p:nvSpPr>
        <p:spPr>
          <a:xfrm>
            <a:off x="1533449" y="5229454"/>
            <a:ext cx="390449" cy="200254"/>
          </a:xfrm>
          <a:prstGeom prst="roundRect">
            <a:avLst>
              <a:gd name="adj" fmla="val 456620"/>
            </a:avLst>
          </a:prstGeom>
          <a:solidFill>
            <a:srgbClr val="EFF6FF"/>
          </a:solidFill>
          <a:ln/>
        </p:spPr>
      </p:sp>
      <p:sp>
        <p:nvSpPr>
          <p:cNvPr id="46" name="Text 40"/>
          <p:cNvSpPr txBox="1"/>
          <p:nvPr/>
        </p:nvSpPr>
        <p:spPr>
          <a:xfrm>
            <a:off x="1609344" y="5248656"/>
            <a:ext cx="324612"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集客</a:t>
            </a:r>
            <a:endParaRPr lang="en-US" sz="900" dirty="0"/>
          </a:p>
        </p:txBody>
      </p:sp>
      <p:sp>
        <p:nvSpPr>
          <p:cNvPr id="47" name="Text 41"/>
          <p:cNvSpPr txBox="1"/>
          <p:nvPr/>
        </p:nvSpPr>
        <p:spPr>
          <a:xfrm>
            <a:off x="3547872" y="4943246"/>
            <a:ext cx="4200754" cy="476402"/>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ツイストスパイラル、波巻きパーマ、ニュアンスパーマ、眉カット</a:t>
            </a:r>
            <a:endParaRPr lang="en-US" sz="1200" dirty="0"/>
          </a:p>
        </p:txBody>
      </p:sp>
      <p:sp>
        <p:nvSpPr>
          <p:cNvPr id="48" name="Shape 42"/>
          <p:cNvSpPr/>
          <p:nvPr/>
        </p:nvSpPr>
        <p:spPr>
          <a:xfrm>
            <a:off x="7921447" y="4965192"/>
            <a:ext cx="19202" cy="437998"/>
          </a:xfrm>
          <a:prstGeom prst="rect">
            <a:avLst/>
          </a:prstGeom>
          <a:solidFill>
            <a:srgbClr val="BFDBFE"/>
          </a:solidFill>
          <a:ln/>
        </p:spPr>
      </p:sp>
      <p:sp>
        <p:nvSpPr>
          <p:cNvPr id="49" name="Text 43"/>
          <p:cNvSpPr txBox="1"/>
          <p:nvPr/>
        </p:nvSpPr>
        <p:spPr>
          <a:xfrm>
            <a:off x="8054950" y="4974336"/>
            <a:ext cx="3300984"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流行のパーマスタイルで男性客を集客。平日夜の稼働率向上に貢献。</a:t>
            </a:r>
            <a:endParaRPr lang="en-US" sz="1000" dirty="0"/>
          </a:p>
        </p:txBody>
      </p:sp>
      <p:sp>
        <p:nvSpPr>
          <p:cNvPr id="50" name="Shape 44"/>
          <p:cNvSpPr/>
          <p:nvPr/>
        </p:nvSpPr>
        <p:spPr>
          <a:xfrm>
            <a:off x="923544" y="5820156"/>
            <a:ext cx="457200" cy="457200"/>
          </a:xfrm>
          <a:prstGeom prst="roundRect">
            <a:avLst>
              <a:gd name="adj" fmla="val 50000"/>
            </a:avLst>
          </a:prstGeom>
          <a:solidFill>
            <a:srgbClr val="D1FAE5"/>
          </a:solidFill>
          <a:ln/>
        </p:spPr>
      </p:sp>
      <p:pic>
        <p:nvPicPr>
          <p:cNvPr id="51" name="Image 4" descr="preencoded.png">    </p:cNvPr>
          <p:cNvPicPr>
            <a:picLocks noChangeAspect="1"/>
          </p:cNvPicPr>
          <p:nvPr/>
        </p:nvPicPr>
        <p:blipFill>
          <a:blip r:embed="rId5"/>
          <a:srcRect l="0" r="0" t="0" b="0"/>
          <a:stretch/>
        </p:blipFill>
        <p:spPr>
          <a:xfrm>
            <a:off x="1057046" y="5952744"/>
            <a:ext cx="190195" cy="190195"/>
          </a:xfrm>
          <a:prstGeom prst="rect">
            <a:avLst/>
          </a:prstGeom>
        </p:spPr>
      </p:pic>
      <p:sp>
        <p:nvSpPr>
          <p:cNvPr id="52" name="Text 45"/>
          <p:cNvSpPr txBox="1"/>
          <p:nvPr/>
        </p:nvSpPr>
        <p:spPr>
          <a:xfrm>
            <a:off x="1533449" y="5924398"/>
            <a:ext cx="8147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縮毛矯正</a:t>
            </a:r>
            <a:endParaRPr lang="en-US" sz="1300" dirty="0"/>
          </a:p>
        </p:txBody>
      </p:sp>
      <p:sp>
        <p:nvSpPr>
          <p:cNvPr id="53" name="Text 46"/>
          <p:cNvSpPr txBox="1"/>
          <p:nvPr/>
        </p:nvSpPr>
        <p:spPr>
          <a:xfrm>
            <a:off x="3547872" y="5934456"/>
            <a:ext cx="2705710" cy="228600"/>
          </a:xfrm>
          <a:prstGeom prst="rect">
            <a:avLst/>
          </a:prstGeom>
          <a:noFill/>
          <a:ln/>
        </p:spPr>
        <p:txBody>
          <a:bodyPr wrap="square" lIns="0" tIns="0" rIns="0" bIns="0" rtlCol="0" anchor="ctr"/>
          <a:lstStyle/>
          <a:p>
            <a:pPr algn="l" indent="0" marL="0">
              <a:buNone/>
            </a:pPr>
            <a:r>
              <a:rPr lang="en-US" sz="1200" dirty="0">
                <a:solidFill>
                  <a:srgbClr val="374151"/>
                </a:solidFill>
                <a:latin typeface="Noto Sans JP" pitchFamily="34" charset="0"/>
                <a:ea typeface="Noto Sans JP" pitchFamily="34" charset="-122"/>
                <a:cs typeface="Noto Sans JP" pitchFamily="34" charset="-120"/>
              </a:rPr>
              <a:t>髪質改善ストレート、コスメ縮毛矯正</a:t>
            </a:r>
            <a:endParaRPr lang="en-US" sz="1200" dirty="0"/>
          </a:p>
        </p:txBody>
      </p:sp>
      <p:sp>
        <p:nvSpPr>
          <p:cNvPr id="54" name="Shape 47"/>
          <p:cNvSpPr/>
          <p:nvPr/>
        </p:nvSpPr>
        <p:spPr>
          <a:xfrm>
            <a:off x="7921447" y="5832043"/>
            <a:ext cx="19202" cy="437998"/>
          </a:xfrm>
          <a:prstGeom prst="rect">
            <a:avLst/>
          </a:prstGeom>
          <a:solidFill>
            <a:srgbClr val="A7F3D0"/>
          </a:solidFill>
          <a:ln/>
        </p:spPr>
      </p:sp>
      <p:sp>
        <p:nvSpPr>
          <p:cNvPr id="55" name="Text 48"/>
          <p:cNvSpPr txBox="1"/>
          <p:nvPr/>
        </p:nvSpPr>
        <p:spPr>
          <a:xfrm>
            <a:off x="8054950" y="5841187"/>
            <a:ext cx="3234233"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「地毛風」「ダメージレス」を訴求。くせ毛の悩み解決ニーズに対応。</a:t>
            </a:r>
            <a:endParaRPr lang="en-US" sz="1000" dirty="0"/>
          </a:p>
        </p:txBody>
      </p:sp>
      <p:sp>
        <p:nvSpPr>
          <p:cNvPr id="56" name="Text 49"/>
          <p:cNvSpPr txBox="1"/>
          <p:nvPr/>
        </p:nvSpPr>
        <p:spPr>
          <a:xfrm>
            <a:off x="7783373" y="6620256"/>
            <a:ext cx="3886200"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※HOT PEPPER Beauty掲載メニュー情報（2026年1月時点）に基づく分析</a:t>
            </a:r>
            <a:endParaRPr lang="en-US" sz="900" dirty="0"/>
          </a:p>
        </p:txBody>
      </p:sp>
      <p:sp>
        <p:nvSpPr>
          <p:cNvPr id="57" name="Shape 50"/>
          <p:cNvSpPr/>
          <p:nvPr/>
        </p:nvSpPr>
        <p:spPr>
          <a:xfrm>
            <a:off x="0" y="0"/>
            <a:ext cx="12191695" cy="314554"/>
          </a:xfrm>
          <a:prstGeom prst="rect">
            <a:avLst/>
          </a:prstGeom>
          <a:solidFill>
            <a:srgbClr val="FFFFFF"/>
          </a:solidFill>
          <a:ln/>
        </p:spPr>
      </p:sp>
      <p:sp>
        <p:nvSpPr>
          <p:cNvPr id="58" name="Shape 51"/>
          <p:cNvSpPr/>
          <p:nvPr/>
        </p:nvSpPr>
        <p:spPr>
          <a:xfrm>
            <a:off x="0" y="305410"/>
            <a:ext cx="12191695" cy="9144"/>
          </a:xfrm>
          <a:prstGeom prst="rect">
            <a:avLst/>
          </a:prstGeom>
          <a:solidFill>
            <a:srgbClr val="F3F4F6"/>
          </a:solidFill>
          <a:ln/>
        </p:spPr>
      </p:sp>
      <p:sp>
        <p:nvSpPr>
          <p:cNvPr id="59" name="Shape 52"/>
          <p:cNvSpPr/>
          <p:nvPr/>
        </p:nvSpPr>
        <p:spPr>
          <a:xfrm>
            <a:off x="609905" y="0"/>
            <a:ext cx="304495" cy="304495"/>
          </a:xfrm>
          <a:prstGeom prst="roundRect">
            <a:avLst>
              <a:gd name="adj" fmla="val 56306"/>
            </a:avLst>
          </a:prstGeom>
          <a:solidFill>
            <a:srgbClr val="FF6B35"/>
          </a:solidFill>
          <a:ln/>
        </p:spPr>
      </p:sp>
      <p:pic>
        <p:nvPicPr>
          <p:cNvPr id="60" name="Image 5" descr="preencoded.png">    </p:cNvPr>
          <p:cNvPicPr>
            <a:picLocks noChangeAspect="1"/>
          </p:cNvPicPr>
          <p:nvPr/>
        </p:nvPicPr>
        <p:blipFill>
          <a:blip r:embed="rId6"/>
          <a:srcRect l="0" r="0" t="0" b="0"/>
          <a:stretch/>
        </p:blipFill>
        <p:spPr>
          <a:xfrm>
            <a:off x="694944" y="85954"/>
            <a:ext cx="133502" cy="133502"/>
          </a:xfrm>
          <a:prstGeom prst="rect">
            <a:avLst/>
          </a:prstGeom>
        </p:spPr>
      </p:pic>
      <p:sp>
        <p:nvSpPr>
          <p:cNvPr id="61" name="Text 53"/>
          <p:cNvSpPr txBox="1"/>
          <p:nvPr/>
        </p:nvSpPr>
        <p:spPr>
          <a:xfrm>
            <a:off x="990295" y="57607"/>
            <a:ext cx="171998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BENCHMARK ANALYSIS</a:t>
            </a:r>
            <a:endParaRPr lang="en-US" sz="1000" dirty="0"/>
          </a:p>
        </p:txBody>
      </p:sp>
      <p:sp>
        <p:nvSpPr>
          <p:cNvPr id="62" name="Text 54"/>
          <p:cNvSpPr txBox="1"/>
          <p:nvPr/>
        </p:nvSpPr>
        <p:spPr>
          <a:xfrm>
            <a:off x="10033711" y="57607"/>
            <a:ext cx="1653235"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01. ベンチマーク詳細分析</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609905" y="1123798"/>
            <a:ext cx="2971800"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メニュー別 価格レンジ分析</a:t>
            </a:r>
            <a:endParaRPr lang="en-US" sz="1800" dirty="0"/>
          </a:p>
        </p:txBody>
      </p:sp>
      <p:sp>
        <p:nvSpPr>
          <p:cNvPr id="5" name="Text 3"/>
          <p:cNvSpPr txBox="1"/>
          <p:nvPr/>
        </p:nvSpPr>
        <p:spPr>
          <a:xfrm>
            <a:off x="609905" y="1524305"/>
            <a:ext cx="5168189"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最低価格〜最高価格の幅を表示。エントリーからハイエンドまでの階段設計を確認。</a:t>
            </a:r>
            <a:endParaRPr lang="en-US" sz="1000" dirty="0"/>
          </a:p>
        </p:txBody>
      </p:sp>
      <p:sp>
        <p:nvSpPr>
          <p:cNvPr id="6" name="Shape 4"/>
          <p:cNvSpPr/>
          <p:nvPr/>
        </p:nvSpPr>
        <p:spPr>
          <a:xfrm>
            <a:off x="609905" y="1867205"/>
            <a:ext cx="6181344" cy="4610405"/>
          </a:xfrm>
          <a:prstGeom prst="roundRect">
            <a:avLst>
              <a:gd name="adj" fmla="val 492"/>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pic>
        <p:nvPicPr>
          <p:cNvPr id="7" name="Image 0" descr="preencoded.png">    </p:cNvPr>
          <p:cNvPicPr>
            <a:picLocks noChangeAspect="1"/>
          </p:cNvPicPr>
          <p:nvPr/>
        </p:nvPicPr>
        <p:blipFill>
          <a:blip r:embed="rId1"/>
          <a:srcRect l="-74" r="-74" t="0" b="0"/>
          <a:stretch/>
        </p:blipFill>
        <p:spPr>
          <a:xfrm>
            <a:off x="771754" y="2029054"/>
            <a:ext cx="5857646" cy="4286707"/>
          </a:xfrm>
          <a:prstGeom prst="rect">
            <a:avLst/>
          </a:prstGeom>
        </p:spPr>
      </p:pic>
      <p:sp>
        <p:nvSpPr>
          <p:cNvPr id="8" name="Shape 5"/>
          <p:cNvSpPr/>
          <p:nvPr/>
        </p:nvSpPr>
        <p:spPr>
          <a:xfrm>
            <a:off x="7168896" y="1143000"/>
            <a:ext cx="4419295" cy="1723644"/>
          </a:xfrm>
          <a:prstGeom prst="roundRect">
            <a:avLst>
              <a:gd name="adj" fmla="val 3517"/>
            </a:avLst>
          </a:prstGeom>
          <a:solidFill>
            <a:srgbClr val="EFF6FF"/>
          </a:solidFill>
          <a:ln/>
          <a:effectLst>
            <a:outerShdw sx="100000" sy="100000" kx="0" ky="0" algn="bl" rotWithShape="0" blurRad="12700" dist="12700" dir="16200000">
              <a:srgbClr val="000000">
                <a:alpha val="75000"/>
              </a:srgbClr>
            </a:outerShdw>
          </a:effectLst>
        </p:spPr>
      </p:sp>
      <p:sp>
        <p:nvSpPr>
          <p:cNvPr id="9" name="Shape 6"/>
          <p:cNvSpPr/>
          <p:nvPr/>
        </p:nvSpPr>
        <p:spPr>
          <a:xfrm>
            <a:off x="7168896" y="1143000"/>
            <a:ext cx="38405" cy="1723644"/>
          </a:xfrm>
          <a:prstGeom prst="rect">
            <a:avLst/>
          </a:prstGeom>
          <a:solidFill>
            <a:srgbClr val="3B82F6"/>
          </a:solidFill>
          <a:ln/>
        </p:spPr>
      </p:sp>
      <p:sp>
        <p:nvSpPr>
          <p:cNvPr id="10" name="Shape 7"/>
          <p:cNvSpPr/>
          <p:nvPr/>
        </p:nvSpPr>
        <p:spPr>
          <a:xfrm>
            <a:off x="7435901" y="1371600"/>
            <a:ext cx="304495" cy="304495"/>
          </a:xfrm>
          <a:prstGeom prst="roundRect">
            <a:avLst>
              <a:gd name="adj" fmla="val 300300"/>
            </a:avLst>
          </a:prstGeom>
          <a:solidFill>
            <a:srgbClr val="3B82F6"/>
          </a:solidFill>
          <a:ln/>
        </p:spPr>
      </p:sp>
      <p:pic>
        <p:nvPicPr>
          <p:cNvPr id="11" name="Image 1" descr="preencoded.png">    </p:cNvPr>
          <p:cNvPicPr>
            <a:picLocks noChangeAspect="1"/>
          </p:cNvPicPr>
          <p:nvPr/>
        </p:nvPicPr>
        <p:blipFill>
          <a:blip r:embed="rId2"/>
          <a:srcRect l="-837" r="-837" t="0" b="0"/>
          <a:stretch/>
        </p:blipFill>
        <p:spPr>
          <a:xfrm>
            <a:off x="7511796" y="1457554"/>
            <a:ext cx="152705" cy="133502"/>
          </a:xfrm>
          <a:prstGeom prst="rect">
            <a:avLst/>
          </a:prstGeom>
        </p:spPr>
      </p:pic>
      <p:sp>
        <p:nvSpPr>
          <p:cNvPr id="12" name="Text 8"/>
          <p:cNvSpPr txBox="1"/>
          <p:nvPr/>
        </p:nvSpPr>
        <p:spPr>
          <a:xfrm>
            <a:off x="7854696" y="1380744"/>
            <a:ext cx="18434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強力なエントリー設計</a:t>
            </a:r>
            <a:endParaRPr lang="en-US" sz="1300" dirty="0"/>
          </a:p>
        </p:txBody>
      </p:sp>
      <p:sp>
        <p:nvSpPr>
          <p:cNvPr id="13" name="Text 9"/>
          <p:cNvSpPr txBox="1"/>
          <p:nvPr/>
        </p:nvSpPr>
        <p:spPr>
          <a:xfrm>
            <a:off x="7854696" y="1676095"/>
            <a:ext cx="1795882" cy="191110"/>
          </a:xfrm>
          <a:prstGeom prst="rect">
            <a:avLst/>
          </a:prstGeom>
          <a:noFill/>
          <a:ln/>
        </p:spPr>
        <p:txBody>
          <a:bodyPr wrap="square" lIns="0" tIns="0" rIns="0" bIns="0" rtlCol="0" anchor="ctr"/>
          <a:lstStyle/>
          <a:p>
            <a:pPr algn="l" indent="0" marL="0">
              <a:buNone/>
            </a:pPr>
            <a:r>
              <a:rPr lang="en-US" sz="1000" b="1" dirty="0">
                <a:solidFill>
                  <a:srgbClr val="2563EB"/>
                </a:solidFill>
                <a:latin typeface="Noto Sans JP" pitchFamily="34" charset="0"/>
                <a:ea typeface="Noto Sans JP" pitchFamily="34" charset="-122"/>
                <a:cs typeface="Noto Sans JP" pitchFamily="34" charset="-120"/>
              </a:rPr>
              <a:t>カット+カラー+Tr ¥5,900〜</a:t>
            </a:r>
            <a:endParaRPr lang="en-US" sz="1000" dirty="0"/>
          </a:p>
        </p:txBody>
      </p:sp>
      <p:sp>
        <p:nvSpPr>
          <p:cNvPr id="14" name="Text 10"/>
          <p:cNvSpPr txBox="1"/>
          <p:nvPr/>
        </p:nvSpPr>
        <p:spPr>
          <a:xfrm>
            <a:off x="7435901" y="1990649"/>
            <a:ext cx="3900830"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学生・若年層をターゲットに、平日限定や学割を駆使して「5,000円台」の見せ金を用意。心理的な来店ハードルを極限まで下げている。</a:t>
            </a:r>
            <a:endParaRPr lang="en-US" sz="1000" dirty="0"/>
          </a:p>
        </p:txBody>
      </p:sp>
      <p:sp>
        <p:nvSpPr>
          <p:cNvPr id="15" name="Shape 11"/>
          <p:cNvSpPr/>
          <p:nvPr/>
        </p:nvSpPr>
        <p:spPr>
          <a:xfrm>
            <a:off x="7168896" y="3059582"/>
            <a:ext cx="4419295" cy="1723644"/>
          </a:xfrm>
          <a:prstGeom prst="roundRect">
            <a:avLst>
              <a:gd name="adj" fmla="val 3517"/>
            </a:avLst>
          </a:prstGeom>
          <a:solidFill>
            <a:srgbClr val="FFF0E9"/>
          </a:solidFill>
          <a:ln/>
          <a:effectLst>
            <a:outerShdw sx="100000" sy="100000" kx="0" ky="0" algn="bl" rotWithShape="0" blurRad="12700" dist="12700" dir="16200000">
              <a:srgbClr val="000000">
                <a:alpha val="75000"/>
              </a:srgbClr>
            </a:outerShdw>
          </a:effectLst>
        </p:spPr>
      </p:sp>
      <p:sp>
        <p:nvSpPr>
          <p:cNvPr id="16" name="Shape 12"/>
          <p:cNvSpPr/>
          <p:nvPr/>
        </p:nvSpPr>
        <p:spPr>
          <a:xfrm>
            <a:off x="7168896" y="3059582"/>
            <a:ext cx="38405" cy="1723644"/>
          </a:xfrm>
          <a:prstGeom prst="rect">
            <a:avLst/>
          </a:prstGeom>
          <a:solidFill>
            <a:srgbClr val="FF6B35"/>
          </a:solidFill>
          <a:ln/>
        </p:spPr>
      </p:sp>
      <p:sp>
        <p:nvSpPr>
          <p:cNvPr id="17" name="Shape 13"/>
          <p:cNvSpPr/>
          <p:nvPr/>
        </p:nvSpPr>
        <p:spPr>
          <a:xfrm>
            <a:off x="7435901" y="3288182"/>
            <a:ext cx="304495" cy="304495"/>
          </a:xfrm>
          <a:prstGeom prst="roundRect">
            <a:avLst>
              <a:gd name="adj" fmla="val 300300"/>
            </a:avLst>
          </a:prstGeom>
          <a:solidFill>
            <a:srgbClr val="FF6B35"/>
          </a:solidFill>
          <a:ln/>
        </p:spPr>
      </p:sp>
      <p:pic>
        <p:nvPicPr>
          <p:cNvPr id="18" name="Image 2" descr="preencoded.png">    </p:cNvPr>
          <p:cNvPicPr>
            <a:picLocks noChangeAspect="1"/>
          </p:cNvPicPr>
          <p:nvPr/>
        </p:nvPicPr>
        <p:blipFill>
          <a:blip r:embed="rId3"/>
          <a:srcRect l="-837" r="-837" t="0" b="0"/>
          <a:stretch/>
        </p:blipFill>
        <p:spPr>
          <a:xfrm>
            <a:off x="7511796" y="3374136"/>
            <a:ext cx="152705" cy="133502"/>
          </a:xfrm>
          <a:prstGeom prst="rect">
            <a:avLst/>
          </a:prstGeom>
        </p:spPr>
      </p:pic>
      <p:sp>
        <p:nvSpPr>
          <p:cNvPr id="19" name="Text 14"/>
          <p:cNvSpPr txBox="1"/>
          <p:nvPr/>
        </p:nvSpPr>
        <p:spPr>
          <a:xfrm>
            <a:off x="7854696" y="3298241"/>
            <a:ext cx="18434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主力トレンドメニュー</a:t>
            </a:r>
            <a:endParaRPr lang="en-US" sz="1300" dirty="0"/>
          </a:p>
        </p:txBody>
      </p:sp>
      <p:sp>
        <p:nvSpPr>
          <p:cNvPr id="20" name="Text 15"/>
          <p:cNvSpPr txBox="1"/>
          <p:nvPr/>
        </p:nvSpPr>
        <p:spPr>
          <a:xfrm>
            <a:off x="7854696" y="3593592"/>
            <a:ext cx="1319479" cy="191110"/>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イルミナ+Tr ¥6,400</a:t>
            </a:r>
            <a:endParaRPr lang="en-US" sz="1000" dirty="0"/>
          </a:p>
        </p:txBody>
      </p:sp>
      <p:sp>
        <p:nvSpPr>
          <p:cNvPr id="21" name="Text 16"/>
          <p:cNvSpPr txBox="1"/>
          <p:nvPr/>
        </p:nvSpPr>
        <p:spPr>
          <a:xfrm>
            <a:off x="7435901" y="3907231"/>
            <a:ext cx="3995928" cy="629107"/>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人気のイルミナカラーも「+500円」程度のアップチャージ感で提供。安すぎず高すぎない絶妙な価格設定で、満足度と単価のバランスを維持。</a:t>
            </a:r>
            <a:endParaRPr lang="en-US" sz="1000" dirty="0"/>
          </a:p>
        </p:txBody>
      </p:sp>
      <p:sp>
        <p:nvSpPr>
          <p:cNvPr id="22" name="Shape 17"/>
          <p:cNvSpPr/>
          <p:nvPr/>
        </p:nvSpPr>
        <p:spPr>
          <a:xfrm>
            <a:off x="7168896" y="4977079"/>
            <a:ext cx="4419295" cy="1505102"/>
          </a:xfrm>
          <a:prstGeom prst="roundRect">
            <a:avLst>
              <a:gd name="adj" fmla="val 4614"/>
            </a:avLst>
          </a:prstGeom>
          <a:solidFill>
            <a:srgbClr val="F9FAFB"/>
          </a:solidFill>
          <a:ln/>
          <a:effectLst>
            <a:outerShdw sx="100000" sy="100000" kx="0" ky="0" algn="bl" rotWithShape="0" blurRad="12700" dist="12700" dir="16200000">
              <a:srgbClr val="000000">
                <a:alpha val="75000"/>
              </a:srgbClr>
            </a:outerShdw>
          </a:effectLst>
        </p:spPr>
      </p:sp>
      <p:sp>
        <p:nvSpPr>
          <p:cNvPr id="23" name="Shape 18"/>
          <p:cNvSpPr/>
          <p:nvPr/>
        </p:nvSpPr>
        <p:spPr>
          <a:xfrm>
            <a:off x="7168896" y="4977079"/>
            <a:ext cx="38405" cy="1505102"/>
          </a:xfrm>
          <a:prstGeom prst="rect">
            <a:avLst/>
          </a:prstGeom>
          <a:solidFill>
            <a:srgbClr val="9CA3AF"/>
          </a:solidFill>
          <a:ln/>
        </p:spPr>
      </p:sp>
      <p:sp>
        <p:nvSpPr>
          <p:cNvPr id="24" name="Shape 19"/>
          <p:cNvSpPr/>
          <p:nvPr/>
        </p:nvSpPr>
        <p:spPr>
          <a:xfrm>
            <a:off x="7435901" y="5205679"/>
            <a:ext cx="304495" cy="304495"/>
          </a:xfrm>
          <a:prstGeom prst="roundRect">
            <a:avLst>
              <a:gd name="adj" fmla="val 300300"/>
            </a:avLst>
          </a:prstGeom>
          <a:solidFill>
            <a:srgbClr val="9CA3AF"/>
          </a:solidFill>
          <a:ln/>
        </p:spPr>
      </p:sp>
      <p:pic>
        <p:nvPicPr>
          <p:cNvPr id="25" name="Image 3" descr="preencoded.png">    </p:cNvPr>
          <p:cNvPicPr>
            <a:picLocks noChangeAspect="1"/>
          </p:cNvPicPr>
          <p:nvPr/>
        </p:nvPicPr>
        <p:blipFill>
          <a:blip r:embed="rId4"/>
          <a:srcRect l="0" r="0" t="0" b="0"/>
          <a:stretch/>
        </p:blipFill>
        <p:spPr>
          <a:xfrm>
            <a:off x="7521854" y="5290718"/>
            <a:ext cx="133502" cy="133502"/>
          </a:xfrm>
          <a:prstGeom prst="rect">
            <a:avLst/>
          </a:prstGeom>
        </p:spPr>
      </p:pic>
      <p:sp>
        <p:nvSpPr>
          <p:cNvPr id="26" name="Text 20"/>
          <p:cNvSpPr txBox="1"/>
          <p:nvPr/>
        </p:nvSpPr>
        <p:spPr>
          <a:xfrm>
            <a:off x="7854696" y="5214823"/>
            <a:ext cx="16724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高単価への引き上げ</a:t>
            </a:r>
            <a:endParaRPr lang="en-US" sz="1300" dirty="0"/>
          </a:p>
        </p:txBody>
      </p:sp>
      <p:sp>
        <p:nvSpPr>
          <p:cNvPr id="27" name="Text 21"/>
          <p:cNvSpPr txBox="1"/>
          <p:nvPr/>
        </p:nvSpPr>
        <p:spPr>
          <a:xfrm>
            <a:off x="7854696" y="5510174"/>
            <a:ext cx="1757477" cy="191110"/>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髪質改善 ¥8,500〜¥16,800</a:t>
            </a:r>
            <a:endParaRPr lang="en-US" sz="1000" dirty="0"/>
          </a:p>
        </p:txBody>
      </p:sp>
      <p:sp>
        <p:nvSpPr>
          <p:cNvPr id="28" name="Text 22"/>
          <p:cNvSpPr txBox="1"/>
          <p:nvPr/>
        </p:nvSpPr>
        <p:spPr>
          <a:xfrm>
            <a:off x="7435901" y="5824728"/>
            <a:ext cx="3900830" cy="40965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悩み解決型のメニューは高単価でも需要がある。「安さ」で集めて「質」で定着させる、典型的なLTV最大化モデル。</a:t>
            </a:r>
            <a:endParaRPr lang="en-US" sz="1000" dirty="0"/>
          </a:p>
        </p:txBody>
      </p:sp>
      <p:sp>
        <p:nvSpPr>
          <p:cNvPr id="29" name="Text 23"/>
          <p:cNvSpPr txBox="1"/>
          <p:nvPr/>
        </p:nvSpPr>
        <p:spPr>
          <a:xfrm>
            <a:off x="7385609" y="6543446"/>
            <a:ext cx="4286707" cy="162763"/>
          </a:xfrm>
          <a:prstGeom prst="rect">
            <a:avLst/>
          </a:prstGeom>
          <a:noFill/>
          <a:ln/>
        </p:spPr>
        <p:txBody>
          <a:bodyPr wrap="square" lIns="0" tIns="0" rIns="0" bIns="0" rtlCol="0" anchor="ctr"/>
          <a:lstStyle/>
          <a:p>
            <a:pPr algn="r" indent="0" marL="0">
              <a:buNone/>
            </a:pPr>
            <a:r>
              <a:rPr lang="en-US" sz="900" dirty="0">
                <a:solidFill>
                  <a:srgbClr val="9CA3AF"/>
                </a:solidFill>
                <a:latin typeface="Noto Sans JP" pitchFamily="34" charset="0"/>
                <a:ea typeface="Noto Sans JP" pitchFamily="34" charset="-122"/>
                <a:cs typeface="Noto Sans JP" pitchFamily="34" charset="-120"/>
              </a:rPr>
              <a:t>※価格は2026年1月時点のホットペッパービューティー掲載情報に基づく（税込）</a:t>
            </a:r>
            <a:endParaRPr lang="en-US" sz="900" dirty="0"/>
          </a:p>
        </p:txBody>
      </p:sp>
      <p:sp>
        <p:nvSpPr>
          <p:cNvPr id="30" name="Shape 24"/>
          <p:cNvSpPr/>
          <p:nvPr/>
        </p:nvSpPr>
        <p:spPr>
          <a:xfrm>
            <a:off x="0" y="0"/>
            <a:ext cx="12191695" cy="761695"/>
          </a:xfrm>
          <a:prstGeom prst="rect">
            <a:avLst/>
          </a:prstGeom>
          <a:solidFill>
            <a:srgbClr val="FFFFFF"/>
          </a:solidFill>
          <a:ln/>
        </p:spPr>
      </p:sp>
      <p:sp>
        <p:nvSpPr>
          <p:cNvPr id="31" name="Shape 25"/>
          <p:cNvSpPr/>
          <p:nvPr/>
        </p:nvSpPr>
        <p:spPr>
          <a:xfrm>
            <a:off x="0" y="752551"/>
            <a:ext cx="12191695" cy="9144"/>
          </a:xfrm>
          <a:prstGeom prst="rect">
            <a:avLst/>
          </a:prstGeom>
          <a:solidFill>
            <a:srgbClr val="F3F4F6"/>
          </a:solidFill>
          <a:ln/>
        </p:spPr>
      </p:sp>
      <p:sp>
        <p:nvSpPr>
          <p:cNvPr id="32" name="Shape 26"/>
          <p:cNvSpPr/>
          <p:nvPr/>
        </p:nvSpPr>
        <p:spPr>
          <a:xfrm>
            <a:off x="609905" y="224028"/>
            <a:ext cx="304495" cy="304495"/>
          </a:xfrm>
          <a:prstGeom prst="roundRect">
            <a:avLst>
              <a:gd name="adj" fmla="val 56306"/>
            </a:avLst>
          </a:prstGeom>
          <a:solidFill>
            <a:srgbClr val="FF6B35"/>
          </a:solidFill>
          <a:ln/>
        </p:spPr>
      </p:sp>
      <p:pic>
        <p:nvPicPr>
          <p:cNvPr id="33" name="Image 4" descr="preencoded.png">    </p:cNvPr>
          <p:cNvPicPr>
            <a:picLocks noChangeAspect="1"/>
          </p:cNvPicPr>
          <p:nvPr/>
        </p:nvPicPr>
        <p:blipFill>
          <a:blip r:embed="rId5"/>
          <a:srcRect l="0" r="0" t="0" b="0"/>
          <a:stretch/>
        </p:blipFill>
        <p:spPr>
          <a:xfrm>
            <a:off x="9902038" y="299923"/>
            <a:ext cx="152705" cy="152705"/>
          </a:xfrm>
          <a:prstGeom prst="rect">
            <a:avLst/>
          </a:prstGeom>
        </p:spPr>
      </p:pic>
      <p:sp>
        <p:nvSpPr>
          <p:cNvPr id="34" name="Text 27"/>
          <p:cNvSpPr txBox="1"/>
          <p:nvPr/>
        </p:nvSpPr>
        <p:spPr>
          <a:xfrm>
            <a:off x="683057" y="280721"/>
            <a:ext cx="262433"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05</a:t>
            </a:r>
            <a:endParaRPr lang="en-US" sz="1000" dirty="0"/>
          </a:p>
        </p:txBody>
      </p:sp>
      <p:sp>
        <p:nvSpPr>
          <p:cNvPr id="35" name="Text 28"/>
          <p:cNvSpPr txBox="1"/>
          <p:nvPr/>
        </p:nvSpPr>
        <p:spPr>
          <a:xfrm>
            <a:off x="1067105" y="233172"/>
            <a:ext cx="264810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価格帯の可視化｜Siena渋谷</a:t>
            </a:r>
            <a:endParaRPr lang="en-US" sz="1500" dirty="0"/>
          </a:p>
        </p:txBody>
      </p:sp>
      <p:sp>
        <p:nvSpPr>
          <p:cNvPr id="36" name="Text 29"/>
          <p:cNvSpPr txBox="1"/>
          <p:nvPr/>
        </p:nvSpPr>
        <p:spPr>
          <a:xfrm>
            <a:off x="10130638" y="280721"/>
            <a:ext cx="1558138"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BENCHMARK ANALYSIS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0" y="761695"/>
            <a:ext cx="12191695" cy="6096305"/>
          </a:xfrm>
          <a:prstGeom prst="rect">
            <a:avLst/>
          </a:prstGeom>
          <a:solidFill>
            <a:srgbClr val="F9FAFB"/>
          </a:solidFill>
          <a:ln/>
        </p:spPr>
      </p:sp>
      <p:sp>
        <p:nvSpPr>
          <p:cNvPr id="5" name="Shape 3"/>
          <p:cNvSpPr/>
          <p:nvPr/>
        </p:nvSpPr>
        <p:spPr>
          <a:xfrm>
            <a:off x="8534095" y="761695"/>
            <a:ext cx="3657600" cy="3657600"/>
          </a:xfrm>
          <a:prstGeom prst="rect">
            <a:avLst/>
          </a:prstGeom>
          <a:solidFill>
            <a:srgbClr val="FF6B35">
              <a:alpha val="5000"/>
            </a:srgbClr>
          </a:solidFill>
          <a:ln/>
        </p:spPr>
      </p:sp>
      <p:sp>
        <p:nvSpPr>
          <p:cNvPr id="6" name="Shape 4"/>
          <p:cNvSpPr/>
          <p:nvPr/>
        </p:nvSpPr>
        <p:spPr>
          <a:xfrm>
            <a:off x="609905" y="6362395"/>
            <a:ext cx="10972800" cy="933602"/>
          </a:xfrm>
          <a:prstGeom prst="roundRect">
            <a:avLst>
              <a:gd name="adj" fmla="val 11993"/>
            </a:avLst>
          </a:prstGeom>
          <a:solidFill>
            <a:srgbClr val="FFFFFF"/>
          </a:solidFill>
          <a:ln w="12700">
            <a:solidFill>
              <a:srgbClr val="FF6B35"/>
            </a:solidFill>
            <a:prstDash val="solid"/>
          </a:ln>
          <a:effectLst>
            <a:outerShdw sx="100000" sy="100000" kx="0" ky="0" algn="bl" rotWithShape="0" blurRad="12700" dist="12700" dir="16200000">
              <a:srgbClr val="000000">
                <a:alpha val="75000"/>
              </a:srgbClr>
            </a:outerShdw>
          </a:effectLst>
        </p:spPr>
      </p:sp>
      <p:sp>
        <p:nvSpPr>
          <p:cNvPr id="7" name="Shape 5"/>
          <p:cNvSpPr/>
          <p:nvPr/>
        </p:nvSpPr>
        <p:spPr>
          <a:xfrm>
            <a:off x="771754" y="6601054"/>
            <a:ext cx="457200" cy="457200"/>
          </a:xfrm>
          <a:prstGeom prst="roundRect">
            <a:avLst>
              <a:gd name="adj" fmla="val 200000"/>
            </a:avLst>
          </a:prstGeom>
          <a:solidFill>
            <a:srgbClr val="FFF0E9"/>
          </a:solidFill>
          <a:ln/>
        </p:spPr>
      </p:sp>
      <p:pic>
        <p:nvPicPr>
          <p:cNvPr id="8" name="Image 0" descr="preencoded.png">    </p:cNvPr>
          <p:cNvPicPr>
            <a:picLocks noChangeAspect="1"/>
          </p:cNvPicPr>
          <p:nvPr/>
        </p:nvPicPr>
        <p:blipFill>
          <a:blip r:embed="rId1"/>
          <a:srcRect l="0" r="0" t="0" b="0"/>
          <a:stretch/>
        </p:blipFill>
        <p:spPr>
          <a:xfrm>
            <a:off x="929030" y="6734556"/>
            <a:ext cx="142646" cy="190195"/>
          </a:xfrm>
          <a:prstGeom prst="rect">
            <a:avLst/>
          </a:prstGeom>
        </p:spPr>
      </p:pic>
      <p:sp>
        <p:nvSpPr>
          <p:cNvPr id="9" name="Text 6"/>
          <p:cNvSpPr txBox="1"/>
          <p:nvPr/>
        </p:nvSpPr>
        <p:spPr>
          <a:xfrm>
            <a:off x="1380744" y="6524244"/>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戦略サマリー</a:t>
            </a:r>
            <a:endParaRPr lang="en-US" sz="1000" dirty="0"/>
          </a:p>
        </p:txBody>
      </p:sp>
      <p:sp>
        <p:nvSpPr>
          <p:cNvPr id="10" name="Text 7"/>
          <p:cNvSpPr txBox="1"/>
          <p:nvPr/>
        </p:nvSpPr>
        <p:spPr>
          <a:xfrm>
            <a:off x="1380744" y="6752844"/>
            <a:ext cx="10016338"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渋谷は「通常価格を高めに設定し、クーポンで大幅に割り引く」見せ方で、お得感を最大化しています。特に平日の割引率を高く設定することで、アイドルタイムの収益化に成功している点が特徴的です。</a:t>
            </a:r>
            <a:endParaRPr lang="en-US" sz="1000" dirty="0"/>
          </a:p>
        </p:txBody>
      </p:sp>
      <p:sp>
        <p:nvSpPr>
          <p:cNvPr id="11" name="Shape 8"/>
          <p:cNvSpPr/>
          <p:nvPr/>
        </p:nvSpPr>
        <p:spPr>
          <a:xfrm>
            <a:off x="0" y="0"/>
            <a:ext cx="12191695" cy="761695"/>
          </a:xfrm>
          <a:prstGeom prst="rect">
            <a:avLst/>
          </a:prstGeom>
          <a:solidFill>
            <a:srgbClr val="FFFFFF"/>
          </a:solidFill>
          <a:ln/>
        </p:spPr>
      </p:sp>
      <p:sp>
        <p:nvSpPr>
          <p:cNvPr id="12" name="Shape 9"/>
          <p:cNvSpPr/>
          <p:nvPr/>
        </p:nvSpPr>
        <p:spPr>
          <a:xfrm>
            <a:off x="0" y="752551"/>
            <a:ext cx="12191695" cy="9144"/>
          </a:xfrm>
          <a:prstGeom prst="rect">
            <a:avLst/>
          </a:prstGeom>
          <a:solidFill>
            <a:srgbClr val="F3F4F6"/>
          </a:solidFill>
          <a:ln/>
        </p:spPr>
      </p:sp>
      <p:sp>
        <p:nvSpPr>
          <p:cNvPr id="13" name="Shape 10"/>
          <p:cNvSpPr/>
          <p:nvPr/>
        </p:nvSpPr>
        <p:spPr>
          <a:xfrm>
            <a:off x="609905" y="224028"/>
            <a:ext cx="304495" cy="304495"/>
          </a:xfrm>
          <a:prstGeom prst="roundRect">
            <a:avLst>
              <a:gd name="adj" fmla="val 56306"/>
            </a:avLst>
          </a:prstGeom>
          <a:solidFill>
            <a:srgbClr val="FF6B35"/>
          </a:solidFill>
          <a:ln/>
        </p:spPr>
      </p:sp>
      <p:pic>
        <p:nvPicPr>
          <p:cNvPr id="14" name="Image 1" descr="preencoded.png">    </p:cNvPr>
          <p:cNvPicPr>
            <a:picLocks noChangeAspect="1"/>
          </p:cNvPicPr>
          <p:nvPr/>
        </p:nvPicPr>
        <p:blipFill>
          <a:blip r:embed="rId2"/>
          <a:srcRect l="-837" r="-837" t="0" b="0"/>
          <a:stretch/>
        </p:blipFill>
        <p:spPr>
          <a:xfrm>
            <a:off x="685800" y="309982"/>
            <a:ext cx="152705" cy="133502"/>
          </a:xfrm>
          <a:prstGeom prst="rect">
            <a:avLst/>
          </a:prstGeom>
        </p:spPr>
      </p:pic>
      <p:sp>
        <p:nvSpPr>
          <p:cNvPr id="15" name="Text 11"/>
          <p:cNvSpPr txBox="1"/>
          <p:nvPr/>
        </p:nvSpPr>
        <p:spPr>
          <a:xfrm>
            <a:off x="990295" y="280721"/>
            <a:ext cx="317662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BENCHMARK ANALYSIS: COUPON STRATEGY</a:t>
            </a:r>
            <a:endParaRPr lang="en-US" sz="1000" dirty="0"/>
          </a:p>
        </p:txBody>
      </p:sp>
      <p:sp>
        <p:nvSpPr>
          <p:cNvPr id="16" name="Text 12"/>
          <p:cNvSpPr txBox="1"/>
          <p:nvPr/>
        </p:nvSpPr>
        <p:spPr>
          <a:xfrm>
            <a:off x="10916107" y="280721"/>
            <a:ext cx="7671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2026.01.03</a:t>
            </a:r>
            <a:endParaRPr lang="en-US" sz="1000" dirty="0"/>
          </a:p>
        </p:txBody>
      </p:sp>
      <p:sp>
        <p:nvSpPr>
          <p:cNvPr id="17" name="Text 13"/>
          <p:cNvSpPr txBox="1"/>
          <p:nvPr/>
        </p:nvSpPr>
        <p:spPr>
          <a:xfrm>
            <a:off x="609905" y="1086307"/>
            <a:ext cx="5315407" cy="495605"/>
          </a:xfrm>
          <a:prstGeom prst="rect">
            <a:avLst/>
          </a:prstGeom>
          <a:noFill/>
          <a:ln/>
        </p:spPr>
        <p:txBody>
          <a:bodyPr wrap="square" lIns="0" tIns="0" rIns="0" bIns="0" rtlCol="0" anchor="ctr"/>
          <a:lstStyle/>
          <a:p>
            <a:pPr algn="l" indent="0" marL="0">
              <a:buNone/>
            </a:pPr>
            <a:r>
              <a:rPr lang="en-US" sz="2700" b="1" dirty="0">
                <a:solidFill>
                  <a:srgbClr val="1F2937"/>
                </a:solidFill>
                <a:latin typeface="Noto Sans JP" pitchFamily="34" charset="0"/>
                <a:ea typeface="Noto Sans JP" pitchFamily="34" charset="-122"/>
                <a:cs typeface="Noto Sans JP" pitchFamily="34" charset="-120"/>
              </a:rPr>
              <a:t>クーポン戦略の全貌｜Siena渋谷</a:t>
            </a:r>
            <a:endParaRPr lang="en-US" sz="2700" dirty="0"/>
          </a:p>
        </p:txBody>
      </p:sp>
      <p:sp>
        <p:nvSpPr>
          <p:cNvPr id="18" name="Text 14"/>
          <p:cNvSpPr txBox="1"/>
          <p:nvPr/>
        </p:nvSpPr>
        <p:spPr>
          <a:xfrm>
            <a:off x="609905" y="1600200"/>
            <a:ext cx="4782312"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「新規集客のフック」と「平日稼働率の向上」を両立させる4つの柱</a:t>
            </a:r>
            <a:endParaRPr lang="en-US" sz="1200" dirty="0"/>
          </a:p>
        </p:txBody>
      </p:sp>
      <p:sp>
        <p:nvSpPr>
          <p:cNvPr id="19" name="Shape 15"/>
          <p:cNvSpPr/>
          <p:nvPr/>
        </p:nvSpPr>
        <p:spPr>
          <a:xfrm>
            <a:off x="609905" y="2133295"/>
            <a:ext cx="2572207" cy="4000500"/>
          </a:xfrm>
          <a:prstGeom prst="roundRect">
            <a:avLst>
              <a:gd name="adj" fmla="val 158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20" name="Shape 16"/>
          <p:cNvSpPr/>
          <p:nvPr/>
        </p:nvSpPr>
        <p:spPr>
          <a:xfrm>
            <a:off x="1380744" y="2866644"/>
            <a:ext cx="1037844" cy="228600"/>
          </a:xfrm>
          <a:prstGeom prst="roundRect">
            <a:avLst>
              <a:gd name="adj" fmla="val 400000"/>
            </a:avLst>
          </a:prstGeom>
          <a:solidFill>
            <a:srgbClr val="FCE7F3"/>
          </a:solidFill>
          <a:ln/>
        </p:spPr>
      </p:sp>
      <p:sp>
        <p:nvSpPr>
          <p:cNvPr id="21" name="Shape 17"/>
          <p:cNvSpPr/>
          <p:nvPr/>
        </p:nvSpPr>
        <p:spPr>
          <a:xfrm>
            <a:off x="809244" y="5043830"/>
            <a:ext cx="2171700" cy="895198"/>
          </a:xfrm>
          <a:prstGeom prst="roundRect">
            <a:avLst>
              <a:gd name="adj" fmla="val 8693"/>
            </a:avLst>
          </a:prstGeom>
          <a:solidFill>
            <a:srgbClr val="F9FAFB"/>
          </a:solidFill>
          <a:ln/>
        </p:spPr>
      </p:sp>
      <p:sp>
        <p:nvSpPr>
          <p:cNvPr id="22" name="Shape 18"/>
          <p:cNvSpPr/>
          <p:nvPr/>
        </p:nvSpPr>
        <p:spPr>
          <a:xfrm>
            <a:off x="3409798" y="2133295"/>
            <a:ext cx="2572207" cy="4000500"/>
          </a:xfrm>
          <a:prstGeom prst="roundRect">
            <a:avLst>
              <a:gd name="adj" fmla="val 158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23" name="Shape 19"/>
          <p:cNvSpPr/>
          <p:nvPr/>
        </p:nvSpPr>
        <p:spPr>
          <a:xfrm>
            <a:off x="4139489" y="2866644"/>
            <a:ext cx="1114654" cy="228600"/>
          </a:xfrm>
          <a:prstGeom prst="roundRect">
            <a:avLst>
              <a:gd name="adj" fmla="val 400000"/>
            </a:avLst>
          </a:prstGeom>
          <a:solidFill>
            <a:srgbClr val="DBEAFE"/>
          </a:solidFill>
          <a:ln/>
        </p:spPr>
      </p:sp>
      <p:sp>
        <p:nvSpPr>
          <p:cNvPr id="24" name="Shape 20"/>
          <p:cNvSpPr/>
          <p:nvPr/>
        </p:nvSpPr>
        <p:spPr>
          <a:xfrm>
            <a:off x="3610051" y="5043830"/>
            <a:ext cx="2171700" cy="895198"/>
          </a:xfrm>
          <a:prstGeom prst="roundRect">
            <a:avLst>
              <a:gd name="adj" fmla="val 8693"/>
            </a:avLst>
          </a:prstGeom>
          <a:solidFill>
            <a:srgbClr val="F9FAFB"/>
          </a:solidFill>
          <a:ln/>
        </p:spPr>
      </p:sp>
      <p:sp>
        <p:nvSpPr>
          <p:cNvPr id="25" name="Shape 21"/>
          <p:cNvSpPr/>
          <p:nvPr/>
        </p:nvSpPr>
        <p:spPr>
          <a:xfrm>
            <a:off x="6210605" y="2133295"/>
            <a:ext cx="2572207" cy="4000500"/>
          </a:xfrm>
          <a:prstGeom prst="roundRect">
            <a:avLst>
              <a:gd name="adj" fmla="val 158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26" name="Shape 22"/>
          <p:cNvSpPr/>
          <p:nvPr/>
        </p:nvSpPr>
        <p:spPr>
          <a:xfrm>
            <a:off x="7157009" y="2866644"/>
            <a:ext cx="685800" cy="228600"/>
          </a:xfrm>
          <a:prstGeom prst="roundRect">
            <a:avLst>
              <a:gd name="adj" fmla="val 400000"/>
            </a:avLst>
          </a:prstGeom>
          <a:solidFill>
            <a:srgbClr val="D1FAE5"/>
          </a:solidFill>
          <a:ln/>
        </p:spPr>
      </p:sp>
      <p:sp>
        <p:nvSpPr>
          <p:cNvPr id="27" name="Shape 23"/>
          <p:cNvSpPr/>
          <p:nvPr/>
        </p:nvSpPr>
        <p:spPr>
          <a:xfrm>
            <a:off x="6409944" y="5043830"/>
            <a:ext cx="2171700" cy="895198"/>
          </a:xfrm>
          <a:prstGeom prst="roundRect">
            <a:avLst>
              <a:gd name="adj" fmla="val 8693"/>
            </a:avLst>
          </a:prstGeom>
          <a:solidFill>
            <a:srgbClr val="F9FAFB"/>
          </a:solidFill>
          <a:ln/>
        </p:spPr>
      </p:sp>
      <p:sp>
        <p:nvSpPr>
          <p:cNvPr id="28" name="Shape 24"/>
          <p:cNvSpPr/>
          <p:nvPr/>
        </p:nvSpPr>
        <p:spPr>
          <a:xfrm>
            <a:off x="9010498" y="2133295"/>
            <a:ext cx="2572207" cy="4000500"/>
          </a:xfrm>
          <a:prstGeom prst="roundRect">
            <a:avLst>
              <a:gd name="adj" fmla="val 158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29" name="Shape 25"/>
          <p:cNvSpPr/>
          <p:nvPr/>
        </p:nvSpPr>
        <p:spPr>
          <a:xfrm>
            <a:off x="9782251" y="2866644"/>
            <a:ext cx="1037844" cy="228600"/>
          </a:xfrm>
          <a:prstGeom prst="roundRect">
            <a:avLst>
              <a:gd name="adj" fmla="val 400000"/>
            </a:avLst>
          </a:prstGeom>
          <a:solidFill>
            <a:srgbClr val="EDE9FE"/>
          </a:solidFill>
          <a:ln/>
        </p:spPr>
      </p:sp>
      <p:sp>
        <p:nvSpPr>
          <p:cNvPr id="30" name="Shape 26"/>
          <p:cNvSpPr/>
          <p:nvPr/>
        </p:nvSpPr>
        <p:spPr>
          <a:xfrm>
            <a:off x="9210751" y="4886554"/>
            <a:ext cx="2171700" cy="1047902"/>
          </a:xfrm>
          <a:prstGeom prst="roundRect">
            <a:avLst>
              <a:gd name="adj" fmla="val 6346"/>
            </a:avLst>
          </a:prstGeom>
          <a:solidFill>
            <a:srgbClr val="F9FAFB"/>
          </a:solidFill>
          <a:ln/>
        </p:spPr>
      </p:sp>
      <p:sp>
        <p:nvSpPr>
          <p:cNvPr id="31" name="Text 27"/>
          <p:cNvSpPr txBox="1"/>
          <p:nvPr/>
        </p:nvSpPr>
        <p:spPr>
          <a:xfrm>
            <a:off x="1495044" y="2895905"/>
            <a:ext cx="896112" cy="162763"/>
          </a:xfrm>
          <a:prstGeom prst="rect">
            <a:avLst/>
          </a:prstGeom>
          <a:noFill/>
          <a:ln/>
        </p:spPr>
        <p:txBody>
          <a:bodyPr wrap="square" lIns="0" tIns="0" rIns="0" bIns="0" rtlCol="0" anchor="ctr"/>
          <a:lstStyle/>
          <a:p>
            <a:pPr algn="ctr" indent="0" marL="0">
              <a:buNone/>
            </a:pPr>
            <a:r>
              <a:rPr lang="en-US" sz="900" b="1" dirty="0">
                <a:solidFill>
                  <a:srgbClr val="DB2777"/>
                </a:solidFill>
                <a:latin typeface="Noto Sans JP" pitchFamily="34" charset="0"/>
                <a:ea typeface="Noto Sans JP" pitchFamily="34" charset="-122"/>
                <a:cs typeface="Noto Sans JP" pitchFamily="34" charset="-120"/>
              </a:rPr>
              <a:t>デザインカラー</a:t>
            </a:r>
            <a:endParaRPr lang="en-US" sz="900" dirty="0"/>
          </a:p>
        </p:txBody>
      </p:sp>
      <p:sp>
        <p:nvSpPr>
          <p:cNvPr id="32" name="Text 28"/>
          <p:cNvSpPr txBox="1"/>
          <p:nvPr/>
        </p:nvSpPr>
        <p:spPr>
          <a:xfrm>
            <a:off x="1361542" y="3191256"/>
            <a:ext cx="1191463"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イルミナカラー</a:t>
            </a:r>
            <a:endParaRPr lang="en-US" sz="1200" dirty="0"/>
          </a:p>
        </p:txBody>
      </p:sp>
      <p:sp>
        <p:nvSpPr>
          <p:cNvPr id="33" name="Text 29"/>
          <p:cNvSpPr txBox="1"/>
          <p:nvPr/>
        </p:nvSpPr>
        <p:spPr>
          <a:xfrm>
            <a:off x="1405433" y="3381451"/>
            <a:ext cx="1095451"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 最新3stepTr</a:t>
            </a:r>
            <a:endParaRPr lang="en-US" sz="1200" dirty="0"/>
          </a:p>
        </p:txBody>
      </p:sp>
      <p:sp>
        <p:nvSpPr>
          <p:cNvPr id="34" name="Text 30"/>
          <p:cNvSpPr txBox="1"/>
          <p:nvPr/>
        </p:nvSpPr>
        <p:spPr>
          <a:xfrm>
            <a:off x="1561795" y="3657600"/>
            <a:ext cx="752551"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通常 ¥10,500</a:t>
            </a:r>
            <a:endParaRPr lang="en-US" sz="900" dirty="0"/>
          </a:p>
        </p:txBody>
      </p:sp>
      <p:sp>
        <p:nvSpPr>
          <p:cNvPr id="35" name="Text 31"/>
          <p:cNvSpPr txBox="1"/>
          <p:nvPr/>
        </p:nvSpPr>
        <p:spPr>
          <a:xfrm>
            <a:off x="1410005" y="3933749"/>
            <a:ext cx="1185977"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¥6,400</a:t>
            </a:r>
            <a:endParaRPr lang="en-US" sz="2200" dirty="0"/>
          </a:p>
        </p:txBody>
      </p:sp>
      <p:pic>
        <p:nvPicPr>
          <p:cNvPr id="36" name="Image 2" descr="preencoded.png">    </p:cNvPr>
          <p:cNvPicPr>
            <a:picLocks noChangeAspect="1"/>
          </p:cNvPicPr>
          <p:nvPr/>
        </p:nvPicPr>
        <p:blipFill>
          <a:blip r:embed="rId3"/>
          <a:srcRect l="0" r="0" t="0" b="0"/>
          <a:stretch/>
        </p:blipFill>
        <p:spPr>
          <a:xfrm>
            <a:off x="923544" y="5181905"/>
            <a:ext cx="114300" cy="114300"/>
          </a:xfrm>
          <a:prstGeom prst="rect">
            <a:avLst/>
          </a:prstGeom>
        </p:spPr>
      </p:pic>
      <p:sp>
        <p:nvSpPr>
          <p:cNvPr id="37" name="Text 32"/>
          <p:cNvSpPr txBox="1"/>
          <p:nvPr/>
        </p:nvSpPr>
        <p:spPr>
          <a:xfrm>
            <a:off x="1076249" y="5148072"/>
            <a:ext cx="3246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狙い</a:t>
            </a:r>
            <a:endParaRPr lang="en-US" sz="900" dirty="0"/>
          </a:p>
        </p:txBody>
      </p:sp>
      <p:sp>
        <p:nvSpPr>
          <p:cNvPr id="38" name="Text 33"/>
          <p:cNvSpPr txBox="1"/>
          <p:nvPr/>
        </p:nvSpPr>
        <p:spPr>
          <a:xfrm>
            <a:off x="923544" y="5339182"/>
            <a:ext cx="2039112" cy="47640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「イルミナ」のブランド力で質を担保しつつ、エリア相場より一段低い価格設定でクリック率を最大化。</a:t>
            </a:r>
            <a:endParaRPr lang="en-US" sz="900" dirty="0"/>
          </a:p>
        </p:txBody>
      </p:sp>
      <p:sp>
        <p:nvSpPr>
          <p:cNvPr id="39" name="Text 34"/>
          <p:cNvSpPr txBox="1"/>
          <p:nvPr/>
        </p:nvSpPr>
        <p:spPr>
          <a:xfrm>
            <a:off x="4253789" y="2895905"/>
            <a:ext cx="972007" cy="162763"/>
          </a:xfrm>
          <a:prstGeom prst="rect">
            <a:avLst/>
          </a:prstGeom>
          <a:noFill/>
          <a:ln/>
        </p:spPr>
        <p:txBody>
          <a:bodyPr wrap="square" lIns="0" tIns="0" rIns="0" bIns="0" rtlCol="0" anchor="ctr"/>
          <a:lstStyle/>
          <a:p>
            <a:pPr algn="ctr" indent="0" marL="0">
              <a:buNone/>
            </a:pPr>
            <a:r>
              <a:rPr lang="en-US" sz="900" b="1" dirty="0">
                <a:solidFill>
                  <a:srgbClr val="2563EB"/>
                </a:solidFill>
                <a:latin typeface="Noto Sans JP" pitchFamily="34" charset="0"/>
                <a:ea typeface="Noto Sans JP" pitchFamily="34" charset="-122"/>
                <a:cs typeface="Noto Sans JP" pitchFamily="34" charset="-120"/>
              </a:rPr>
              <a:t>平日12-21時限定</a:t>
            </a:r>
            <a:endParaRPr lang="en-US" sz="900" dirty="0"/>
          </a:p>
        </p:txBody>
      </p:sp>
      <p:sp>
        <p:nvSpPr>
          <p:cNvPr id="40" name="Text 35"/>
          <p:cNvSpPr txBox="1"/>
          <p:nvPr/>
        </p:nvSpPr>
        <p:spPr>
          <a:xfrm>
            <a:off x="4158691" y="3191256"/>
            <a:ext cx="1191463"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カット + カラー</a:t>
            </a:r>
            <a:endParaRPr lang="en-US" sz="1200" dirty="0"/>
          </a:p>
        </p:txBody>
      </p:sp>
      <p:sp>
        <p:nvSpPr>
          <p:cNvPr id="41" name="Text 36"/>
          <p:cNvSpPr txBox="1"/>
          <p:nvPr/>
        </p:nvSpPr>
        <p:spPr>
          <a:xfrm>
            <a:off x="4100170" y="3381451"/>
            <a:ext cx="1314907"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 トリートメント</a:t>
            </a:r>
            <a:endParaRPr lang="en-US" sz="1200" dirty="0"/>
          </a:p>
        </p:txBody>
      </p:sp>
      <p:sp>
        <p:nvSpPr>
          <p:cNvPr id="42" name="Text 37"/>
          <p:cNvSpPr txBox="1"/>
          <p:nvPr/>
        </p:nvSpPr>
        <p:spPr>
          <a:xfrm>
            <a:off x="4362602" y="3657600"/>
            <a:ext cx="752551"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通常 ¥12,500</a:t>
            </a:r>
            <a:endParaRPr lang="en-US" sz="900" dirty="0"/>
          </a:p>
        </p:txBody>
      </p:sp>
      <p:sp>
        <p:nvSpPr>
          <p:cNvPr id="43" name="Text 38"/>
          <p:cNvSpPr txBox="1"/>
          <p:nvPr/>
        </p:nvSpPr>
        <p:spPr>
          <a:xfrm>
            <a:off x="4210812" y="3933749"/>
            <a:ext cx="1185977" cy="419710"/>
          </a:xfrm>
          <a:prstGeom prst="rect">
            <a:avLst/>
          </a:prstGeom>
          <a:noFill/>
          <a:ln/>
        </p:spPr>
        <p:txBody>
          <a:bodyPr wrap="square" lIns="0" tIns="0" rIns="0" bIns="0" rtlCol="0" anchor="ctr"/>
          <a:lstStyle/>
          <a:p>
            <a:pPr algn="ctr" indent="0" marL="0">
              <a:buNone/>
            </a:pPr>
            <a:r>
              <a:rPr lang="en-US" sz="2200" b="1" dirty="0">
                <a:solidFill>
                  <a:srgbClr val="FF6B35"/>
                </a:solidFill>
                <a:latin typeface="Noto Sans JP" pitchFamily="34" charset="0"/>
                <a:ea typeface="Noto Sans JP" pitchFamily="34" charset="-122"/>
                <a:cs typeface="Noto Sans JP" pitchFamily="34" charset="-120"/>
              </a:rPr>
              <a:t>¥5,900</a:t>
            </a:r>
            <a:endParaRPr lang="en-US" sz="2200" dirty="0"/>
          </a:p>
        </p:txBody>
      </p:sp>
      <p:sp>
        <p:nvSpPr>
          <p:cNvPr id="44" name="Text 39"/>
          <p:cNvSpPr txBox="1"/>
          <p:nvPr/>
        </p:nvSpPr>
        <p:spPr>
          <a:xfrm>
            <a:off x="4449470" y="4343400"/>
            <a:ext cx="581558" cy="162763"/>
          </a:xfrm>
          <a:prstGeom prst="rect">
            <a:avLst/>
          </a:prstGeom>
          <a:noFill/>
          <a:ln/>
        </p:spPr>
        <p:txBody>
          <a:bodyPr wrap="square" lIns="0" tIns="0" rIns="0" bIns="0" rtlCol="0" anchor="ctr"/>
          <a:lstStyle/>
          <a:p>
            <a:pPr algn="ctr" indent="0" marL="0">
              <a:buNone/>
            </a:pPr>
            <a:r>
              <a:rPr lang="en-US" sz="900" b="1" dirty="0">
                <a:solidFill>
                  <a:srgbClr val="EF4444"/>
                </a:solidFill>
                <a:latin typeface="Noto Sans JP" pitchFamily="34" charset="0"/>
                <a:ea typeface="Noto Sans JP" pitchFamily="34" charset="-122"/>
                <a:cs typeface="Noto Sans JP" pitchFamily="34" charset="-120"/>
              </a:rPr>
              <a:t>52% OFF</a:t>
            </a:r>
            <a:endParaRPr lang="en-US" sz="900" dirty="0"/>
          </a:p>
        </p:txBody>
      </p:sp>
      <p:pic>
        <p:nvPicPr>
          <p:cNvPr id="45" name="Image 3" descr="preencoded.png">    </p:cNvPr>
          <p:cNvPicPr>
            <a:picLocks noChangeAspect="1"/>
          </p:cNvPicPr>
          <p:nvPr/>
        </p:nvPicPr>
        <p:blipFill>
          <a:blip r:embed="rId4"/>
          <a:srcRect l="0" r="0" t="0" b="0"/>
          <a:stretch/>
        </p:blipFill>
        <p:spPr>
          <a:xfrm>
            <a:off x="3724351" y="5181905"/>
            <a:ext cx="114300" cy="114300"/>
          </a:xfrm>
          <a:prstGeom prst="rect">
            <a:avLst/>
          </a:prstGeom>
        </p:spPr>
      </p:pic>
      <p:sp>
        <p:nvSpPr>
          <p:cNvPr id="46" name="Text 40"/>
          <p:cNvSpPr txBox="1"/>
          <p:nvPr/>
        </p:nvSpPr>
        <p:spPr>
          <a:xfrm>
            <a:off x="3877056" y="5148072"/>
            <a:ext cx="3246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狙い</a:t>
            </a:r>
            <a:endParaRPr lang="en-US" sz="900" dirty="0"/>
          </a:p>
        </p:txBody>
      </p:sp>
      <p:sp>
        <p:nvSpPr>
          <p:cNvPr id="47" name="Text 41"/>
          <p:cNvSpPr txBox="1"/>
          <p:nvPr/>
        </p:nvSpPr>
        <p:spPr>
          <a:xfrm>
            <a:off x="3724351" y="5339182"/>
            <a:ext cx="2039112" cy="47640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空きやすい平日に破格のオファーを提示。学生やシフト制の社会人を誘導し、席稼働率を底上げ。</a:t>
            </a:r>
            <a:endParaRPr lang="en-US" sz="900" dirty="0"/>
          </a:p>
        </p:txBody>
      </p:sp>
      <p:sp>
        <p:nvSpPr>
          <p:cNvPr id="48" name="Text 42"/>
          <p:cNvSpPr txBox="1"/>
          <p:nvPr/>
        </p:nvSpPr>
        <p:spPr>
          <a:xfrm>
            <a:off x="7271309" y="2895905"/>
            <a:ext cx="543154" cy="162763"/>
          </a:xfrm>
          <a:prstGeom prst="rect">
            <a:avLst/>
          </a:prstGeom>
          <a:noFill/>
          <a:ln/>
        </p:spPr>
        <p:txBody>
          <a:bodyPr wrap="square" lIns="0" tIns="0" rIns="0" bIns="0" rtlCol="0" anchor="ctr"/>
          <a:lstStyle/>
          <a:p>
            <a:pPr algn="ctr" indent="0" marL="0">
              <a:buNone/>
            </a:pPr>
            <a:r>
              <a:rPr lang="en-US" sz="900" b="1" dirty="0">
                <a:solidFill>
                  <a:srgbClr val="059669"/>
                </a:solidFill>
                <a:latin typeface="Noto Sans JP" pitchFamily="34" charset="0"/>
                <a:ea typeface="Noto Sans JP" pitchFamily="34" charset="-122"/>
                <a:cs typeface="Noto Sans JP" pitchFamily="34" charset="-120"/>
              </a:rPr>
              <a:t>学割U24</a:t>
            </a:r>
            <a:endParaRPr lang="en-US" sz="900" dirty="0"/>
          </a:p>
        </p:txBody>
      </p:sp>
      <p:sp>
        <p:nvSpPr>
          <p:cNvPr id="49" name="Text 43"/>
          <p:cNvSpPr txBox="1"/>
          <p:nvPr/>
        </p:nvSpPr>
        <p:spPr>
          <a:xfrm>
            <a:off x="6959498" y="3191256"/>
            <a:ext cx="1191463"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カット + カラー</a:t>
            </a:r>
            <a:endParaRPr lang="en-US" sz="1200" dirty="0"/>
          </a:p>
        </p:txBody>
      </p:sp>
      <p:sp>
        <p:nvSpPr>
          <p:cNvPr id="50" name="Text 44"/>
          <p:cNvSpPr txBox="1"/>
          <p:nvPr/>
        </p:nvSpPr>
        <p:spPr>
          <a:xfrm>
            <a:off x="6962242" y="3381451"/>
            <a:ext cx="1191463"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トレンド仕上げ</a:t>
            </a:r>
            <a:endParaRPr lang="en-US" sz="1200" dirty="0"/>
          </a:p>
        </p:txBody>
      </p:sp>
      <p:sp>
        <p:nvSpPr>
          <p:cNvPr id="51" name="Text 45"/>
          <p:cNvSpPr txBox="1"/>
          <p:nvPr/>
        </p:nvSpPr>
        <p:spPr>
          <a:xfrm>
            <a:off x="7456018" y="3657600"/>
            <a:ext cx="171907"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a:t>
            </a:r>
            <a:endParaRPr lang="en-US" sz="900" dirty="0"/>
          </a:p>
        </p:txBody>
      </p:sp>
      <p:sp>
        <p:nvSpPr>
          <p:cNvPr id="52" name="Text 46"/>
          <p:cNvSpPr txBox="1"/>
          <p:nvPr/>
        </p:nvSpPr>
        <p:spPr>
          <a:xfrm>
            <a:off x="7010705" y="3933749"/>
            <a:ext cx="1185977"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¥8,900</a:t>
            </a:r>
            <a:endParaRPr lang="en-US" sz="2200" dirty="0"/>
          </a:p>
        </p:txBody>
      </p:sp>
      <p:pic>
        <p:nvPicPr>
          <p:cNvPr id="53" name="Image 4" descr="preencoded.png">    </p:cNvPr>
          <p:cNvPicPr>
            <a:picLocks noChangeAspect="1"/>
          </p:cNvPicPr>
          <p:nvPr/>
        </p:nvPicPr>
        <p:blipFill>
          <a:blip r:embed="rId5"/>
          <a:srcRect l="0" r="0" t="0" b="0"/>
          <a:stretch/>
        </p:blipFill>
        <p:spPr>
          <a:xfrm>
            <a:off x="6524244" y="5181905"/>
            <a:ext cx="114300" cy="114300"/>
          </a:xfrm>
          <a:prstGeom prst="rect">
            <a:avLst/>
          </a:prstGeom>
        </p:spPr>
      </p:pic>
      <p:sp>
        <p:nvSpPr>
          <p:cNvPr id="54" name="Text 47"/>
          <p:cNvSpPr txBox="1"/>
          <p:nvPr/>
        </p:nvSpPr>
        <p:spPr>
          <a:xfrm>
            <a:off x="6676949" y="5148072"/>
            <a:ext cx="3246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狙い</a:t>
            </a:r>
            <a:endParaRPr lang="en-US" sz="900" dirty="0"/>
          </a:p>
        </p:txBody>
      </p:sp>
      <p:sp>
        <p:nvSpPr>
          <p:cNvPr id="55" name="Text 48"/>
          <p:cNvSpPr txBox="1"/>
          <p:nvPr/>
        </p:nvSpPr>
        <p:spPr>
          <a:xfrm>
            <a:off x="6524244" y="5339182"/>
            <a:ext cx="2019910" cy="47640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安すぎない設定で「トレンド感」「クオリティ」を担保。SNS世代の「失敗したくない」心理に訴求。</a:t>
            </a:r>
            <a:endParaRPr lang="en-US" sz="900" dirty="0"/>
          </a:p>
        </p:txBody>
      </p:sp>
      <p:sp>
        <p:nvSpPr>
          <p:cNvPr id="56" name="Text 49"/>
          <p:cNvSpPr txBox="1"/>
          <p:nvPr/>
        </p:nvSpPr>
        <p:spPr>
          <a:xfrm>
            <a:off x="9896551" y="2895905"/>
            <a:ext cx="896112" cy="162763"/>
          </a:xfrm>
          <a:prstGeom prst="rect">
            <a:avLst/>
          </a:prstGeom>
          <a:noFill/>
          <a:ln/>
        </p:spPr>
        <p:txBody>
          <a:bodyPr wrap="square" lIns="0" tIns="0" rIns="0" bIns="0" rtlCol="0" anchor="ctr"/>
          <a:lstStyle/>
          <a:p>
            <a:pPr algn="ctr" indent="0" marL="0">
              <a:buNone/>
            </a:pPr>
            <a:r>
              <a:rPr lang="en-US" sz="900" b="1" dirty="0">
                <a:solidFill>
                  <a:srgbClr val="7C3AED"/>
                </a:solidFill>
                <a:latin typeface="Noto Sans JP" pitchFamily="34" charset="0"/>
                <a:ea typeface="Noto Sans JP" pitchFamily="34" charset="-122"/>
                <a:cs typeface="Noto Sans JP" pitchFamily="34" charset="-120"/>
              </a:rPr>
              <a:t>髪質改善・ケア</a:t>
            </a:r>
            <a:endParaRPr lang="en-US" sz="900" dirty="0"/>
          </a:p>
        </p:txBody>
      </p:sp>
      <p:sp>
        <p:nvSpPr>
          <p:cNvPr id="57" name="Text 50"/>
          <p:cNvSpPr txBox="1"/>
          <p:nvPr/>
        </p:nvSpPr>
        <p:spPr>
          <a:xfrm>
            <a:off x="9762134" y="3191256"/>
            <a:ext cx="1191463"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酸熱髪質改善Tr</a:t>
            </a:r>
            <a:endParaRPr lang="en-US" sz="1200" dirty="0"/>
          </a:p>
        </p:txBody>
      </p:sp>
      <p:sp>
        <p:nvSpPr>
          <p:cNvPr id="58" name="Text 51"/>
          <p:cNvSpPr txBox="1"/>
          <p:nvPr/>
        </p:nvSpPr>
        <p:spPr>
          <a:xfrm>
            <a:off x="10005365" y="3381451"/>
            <a:ext cx="705002"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 カット</a:t>
            </a:r>
            <a:endParaRPr lang="en-US" sz="1200" dirty="0"/>
          </a:p>
        </p:txBody>
      </p:sp>
      <p:sp>
        <p:nvSpPr>
          <p:cNvPr id="59" name="Text 52"/>
          <p:cNvSpPr txBox="1"/>
          <p:nvPr/>
        </p:nvSpPr>
        <p:spPr>
          <a:xfrm>
            <a:off x="9963302" y="3657600"/>
            <a:ext cx="752551"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通常 ¥12,500</a:t>
            </a:r>
            <a:endParaRPr lang="en-US" sz="900" dirty="0"/>
          </a:p>
        </p:txBody>
      </p:sp>
      <p:sp>
        <p:nvSpPr>
          <p:cNvPr id="60" name="Text 53"/>
          <p:cNvSpPr txBox="1"/>
          <p:nvPr/>
        </p:nvSpPr>
        <p:spPr>
          <a:xfrm>
            <a:off x="9811512" y="3933749"/>
            <a:ext cx="1185977"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¥8,500</a:t>
            </a:r>
            <a:endParaRPr lang="en-US" sz="2200" dirty="0"/>
          </a:p>
        </p:txBody>
      </p:sp>
      <p:pic>
        <p:nvPicPr>
          <p:cNvPr id="61" name="Image 5" descr="preencoded.png">    </p:cNvPr>
          <p:cNvPicPr>
            <a:picLocks noChangeAspect="1"/>
          </p:cNvPicPr>
          <p:nvPr/>
        </p:nvPicPr>
        <p:blipFill>
          <a:blip r:embed="rId6"/>
          <a:srcRect l="0" r="0" t="0" b="0"/>
          <a:stretch/>
        </p:blipFill>
        <p:spPr>
          <a:xfrm>
            <a:off x="9325051" y="5024628"/>
            <a:ext cx="114300" cy="114300"/>
          </a:xfrm>
          <a:prstGeom prst="rect">
            <a:avLst/>
          </a:prstGeom>
        </p:spPr>
      </p:pic>
      <p:sp>
        <p:nvSpPr>
          <p:cNvPr id="62" name="Text 54"/>
          <p:cNvSpPr txBox="1"/>
          <p:nvPr/>
        </p:nvSpPr>
        <p:spPr>
          <a:xfrm>
            <a:off x="9477756" y="4990795"/>
            <a:ext cx="3246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狙い</a:t>
            </a:r>
            <a:endParaRPr lang="en-US" sz="900" dirty="0"/>
          </a:p>
        </p:txBody>
      </p:sp>
      <p:sp>
        <p:nvSpPr>
          <p:cNvPr id="63" name="Text 55"/>
          <p:cNvSpPr txBox="1"/>
          <p:nvPr/>
        </p:nvSpPr>
        <p:spPr>
          <a:xfrm>
            <a:off x="9325051" y="5181905"/>
            <a:ext cx="2039112" cy="638251"/>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悩み解決ニーズにはしっかりと価値を提示。低価格メニューからのアップセルや、高単価リピーターの入口として機能。</a:t>
            </a:r>
            <a:endParaRPr lang="en-US" sz="900" dirty="0"/>
          </a:p>
        </p:txBody>
      </p:sp>
      <p:pic>
        <p:nvPicPr>
          <p:cNvPr id="64" name="Image 6" descr="preencoded.png">    </p:cNvPr>
          <p:cNvPicPr>
            <a:picLocks noChangeAspect="1"/>
          </p:cNvPicPr>
          <p:nvPr/>
        </p:nvPicPr>
        <p:blipFill>
          <a:blip r:embed="rId7"/>
          <a:srcRect l="-837" r="-837" t="0" b="0"/>
          <a:stretch/>
        </p:blipFill>
        <p:spPr>
          <a:xfrm>
            <a:off x="1333195" y="2293315"/>
            <a:ext cx="152705" cy="133502"/>
          </a:xfrm>
          <a:prstGeom prst="rect">
            <a:avLst/>
          </a:prstGeom>
        </p:spPr>
      </p:pic>
      <p:sp>
        <p:nvSpPr>
          <p:cNvPr id="65" name="Text 56"/>
          <p:cNvSpPr txBox="1"/>
          <p:nvPr/>
        </p:nvSpPr>
        <p:spPr>
          <a:xfrm>
            <a:off x="1524305" y="2257654"/>
            <a:ext cx="1034186" cy="191110"/>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新規集客の主力</a:t>
            </a:r>
            <a:endParaRPr lang="en-US" sz="1000" dirty="0"/>
          </a:p>
        </p:txBody>
      </p:sp>
      <p:sp>
        <p:nvSpPr>
          <p:cNvPr id="66" name="Shape 57"/>
          <p:cNvSpPr/>
          <p:nvPr/>
        </p:nvSpPr>
        <p:spPr>
          <a:xfrm>
            <a:off x="1819656" y="2486254"/>
            <a:ext cx="152705" cy="152705"/>
          </a:xfrm>
          <a:prstGeom prst="rect">
            <a:avLst/>
          </a:prstGeom>
          <a:solidFill>
            <a:srgbClr val="FFFFFF"/>
          </a:solidFill>
          <a:ln/>
        </p:spPr>
      </p:sp>
      <p:pic>
        <p:nvPicPr>
          <p:cNvPr id="67" name="Image 7" descr="preencoded.png">    </p:cNvPr>
          <p:cNvPicPr>
            <a:picLocks noChangeAspect="1"/>
          </p:cNvPicPr>
          <p:nvPr/>
        </p:nvPicPr>
        <p:blipFill>
          <a:blip r:embed="rId8"/>
          <a:srcRect l="0" r="0" t="0" b="0"/>
          <a:stretch/>
        </p:blipFill>
        <p:spPr>
          <a:xfrm>
            <a:off x="4209898" y="2293315"/>
            <a:ext cx="133502" cy="133502"/>
          </a:xfrm>
          <a:prstGeom prst="rect">
            <a:avLst/>
          </a:prstGeom>
        </p:spPr>
      </p:pic>
      <p:sp>
        <p:nvSpPr>
          <p:cNvPr id="68" name="Text 58"/>
          <p:cNvSpPr txBox="1"/>
          <p:nvPr/>
        </p:nvSpPr>
        <p:spPr>
          <a:xfrm>
            <a:off x="4381805" y="2257654"/>
            <a:ext cx="900684" cy="191110"/>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平日稼働対策</a:t>
            </a:r>
            <a:endParaRPr lang="en-US" sz="1000" dirty="0"/>
          </a:p>
        </p:txBody>
      </p:sp>
      <p:sp>
        <p:nvSpPr>
          <p:cNvPr id="69" name="Shape 59"/>
          <p:cNvSpPr/>
          <p:nvPr/>
        </p:nvSpPr>
        <p:spPr>
          <a:xfrm>
            <a:off x="4619549" y="2486254"/>
            <a:ext cx="152705" cy="152705"/>
          </a:xfrm>
          <a:prstGeom prst="rect">
            <a:avLst/>
          </a:prstGeom>
          <a:solidFill>
            <a:srgbClr val="FFFFFF"/>
          </a:solidFill>
          <a:ln/>
        </p:spPr>
      </p:sp>
      <p:pic>
        <p:nvPicPr>
          <p:cNvPr id="70" name="Image 8" descr="preencoded.png">    </p:cNvPr>
          <p:cNvPicPr>
            <a:picLocks noChangeAspect="1"/>
          </p:cNvPicPr>
          <p:nvPr/>
        </p:nvPicPr>
        <p:blipFill>
          <a:blip r:embed="rId9"/>
          <a:srcRect l="-1507" r="-1507" t="0" b="0"/>
          <a:stretch/>
        </p:blipFill>
        <p:spPr>
          <a:xfrm>
            <a:off x="6930238" y="2293315"/>
            <a:ext cx="171907" cy="133502"/>
          </a:xfrm>
          <a:prstGeom prst="rect">
            <a:avLst/>
          </a:prstGeom>
        </p:spPr>
      </p:pic>
      <p:sp>
        <p:nvSpPr>
          <p:cNvPr id="71" name="Text 60"/>
          <p:cNvSpPr txBox="1"/>
          <p:nvPr/>
        </p:nvSpPr>
        <p:spPr>
          <a:xfrm>
            <a:off x="7139635" y="2257654"/>
            <a:ext cx="1024128" cy="191110"/>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学生特化 (U24)</a:t>
            </a:r>
            <a:endParaRPr lang="en-US" sz="1000" dirty="0"/>
          </a:p>
        </p:txBody>
      </p:sp>
      <p:sp>
        <p:nvSpPr>
          <p:cNvPr id="72" name="Shape 61"/>
          <p:cNvSpPr/>
          <p:nvPr/>
        </p:nvSpPr>
        <p:spPr>
          <a:xfrm>
            <a:off x="7420356" y="2486254"/>
            <a:ext cx="152705" cy="152705"/>
          </a:xfrm>
          <a:prstGeom prst="rect">
            <a:avLst/>
          </a:prstGeom>
          <a:solidFill>
            <a:srgbClr val="FFFFFF"/>
          </a:solidFill>
          <a:ln/>
        </p:spPr>
      </p:sp>
      <p:pic>
        <p:nvPicPr>
          <p:cNvPr id="73" name="Image 9" descr="preencoded.png">    </p:cNvPr>
          <p:cNvPicPr>
            <a:picLocks noChangeAspect="1"/>
          </p:cNvPicPr>
          <p:nvPr/>
        </p:nvPicPr>
        <p:blipFill>
          <a:blip r:embed="rId10"/>
          <a:srcRect l="0" r="0" t="0" b="0"/>
          <a:stretch/>
        </p:blipFill>
        <p:spPr>
          <a:xfrm>
            <a:off x="9743846" y="2293315"/>
            <a:ext cx="133502" cy="133502"/>
          </a:xfrm>
          <a:prstGeom prst="rect">
            <a:avLst/>
          </a:prstGeom>
        </p:spPr>
      </p:pic>
      <p:sp>
        <p:nvSpPr>
          <p:cNvPr id="74" name="Text 62"/>
          <p:cNvSpPr txBox="1"/>
          <p:nvPr/>
        </p:nvSpPr>
        <p:spPr>
          <a:xfrm>
            <a:off x="9915754" y="2257654"/>
            <a:ext cx="1034186" cy="191110"/>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単価アップ・質</a:t>
            </a:r>
            <a:endParaRPr lang="en-US" sz="1000" dirty="0"/>
          </a:p>
        </p:txBody>
      </p:sp>
      <p:sp>
        <p:nvSpPr>
          <p:cNvPr id="75" name="Shape 63"/>
          <p:cNvSpPr/>
          <p:nvPr/>
        </p:nvSpPr>
        <p:spPr>
          <a:xfrm>
            <a:off x="10220249" y="2486254"/>
            <a:ext cx="152705" cy="152705"/>
          </a:xfrm>
          <a:prstGeom prst="rect">
            <a:avLst/>
          </a:prstGeom>
          <a:solidFill>
            <a:srgbClr val="FFFFFF"/>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a:effectLst>
            <a:outerShdw sx="100000" sy="100000" kx="0" ky="0" algn="bl" rotWithShape="0" blurRad="63500" dist="38100" dir="5400000">
              <a:srgbClr val="000000">
                <a:alpha val="10000"/>
              </a:srgbClr>
            </a:outerShdw>
          </a:effectLst>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143000"/>
            <a:ext cx="3643884" cy="34290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コピー・訴求軸の構造分析</a:t>
            </a:r>
            <a:endParaRPr lang="en-US" sz="2200" dirty="0"/>
          </a:p>
        </p:txBody>
      </p:sp>
      <p:sp>
        <p:nvSpPr>
          <p:cNvPr id="6" name="Text 4"/>
          <p:cNvSpPr txBox="1"/>
          <p:nvPr/>
        </p:nvSpPr>
        <p:spPr>
          <a:xfrm>
            <a:off x="838505" y="1561795"/>
            <a:ext cx="8039405" cy="2286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ベンチマークサロン「Siena渋谷」は、「憧れの実現（感情）」と「通いやすさ（機能）」を巧みに両立させています。</a:t>
            </a:r>
            <a:endParaRPr lang="en-US" sz="1200" dirty="0"/>
          </a:p>
        </p:txBody>
      </p:sp>
      <p:sp>
        <p:nvSpPr>
          <p:cNvPr id="7" name="Shape 5"/>
          <p:cNvSpPr/>
          <p:nvPr/>
        </p:nvSpPr>
        <p:spPr>
          <a:xfrm>
            <a:off x="609905" y="2095805"/>
            <a:ext cx="5333695" cy="4858207"/>
          </a:xfrm>
          <a:prstGeom prst="roundRect">
            <a:avLst>
              <a:gd name="adj" fmla="val 590"/>
            </a:avLst>
          </a:prstGeom>
          <a:solidFill>
            <a:srgbClr val="FFFFFF"/>
          </a:solidFill>
          <a:ln/>
          <a:effectLst>
            <a:outerShdw sx="100000" sy="100000" kx="0" ky="0" algn="bl" rotWithShape="0" blurRad="12700" dist="12700" dir="16200000">
              <a:srgbClr val="000000">
                <a:alpha val="75000"/>
              </a:srgbClr>
            </a:outerShdw>
          </a:effectLst>
        </p:spPr>
      </p:sp>
      <p:sp>
        <p:nvSpPr>
          <p:cNvPr id="8" name="Shape 6"/>
          <p:cNvSpPr/>
          <p:nvPr/>
        </p:nvSpPr>
        <p:spPr>
          <a:xfrm>
            <a:off x="609905" y="2095805"/>
            <a:ext cx="5333695" cy="38405"/>
          </a:xfrm>
          <a:prstGeom prst="rect">
            <a:avLst/>
          </a:prstGeom>
          <a:solidFill>
            <a:srgbClr val="F472B6"/>
          </a:solidFill>
          <a:ln/>
        </p:spPr>
      </p:sp>
      <p:pic>
        <p:nvPicPr>
          <p:cNvPr id="9" name="Image 0" descr="preencoded.png">    </p:cNvPr>
          <p:cNvPicPr>
            <a:picLocks noChangeAspect="1"/>
          </p:cNvPicPr>
          <p:nvPr/>
        </p:nvPicPr>
        <p:blipFill>
          <a:blip r:embed="rId1">
            <a:alphaModFix amt="5000"/>
          </a:blip>
          <a:srcRect l="0" r="0" t="0" b="0"/>
          <a:stretch/>
        </p:blipFill>
        <p:spPr>
          <a:xfrm>
            <a:off x="4572000" y="2286000"/>
            <a:ext cx="1218895" cy="1218895"/>
          </a:xfrm>
          <a:prstGeom prst="rect">
            <a:avLst/>
          </a:prstGeom>
        </p:spPr>
      </p:pic>
      <p:sp>
        <p:nvSpPr>
          <p:cNvPr id="10" name="Shape 7"/>
          <p:cNvSpPr/>
          <p:nvPr/>
        </p:nvSpPr>
        <p:spPr>
          <a:xfrm>
            <a:off x="914400" y="2438705"/>
            <a:ext cx="457200" cy="457200"/>
          </a:xfrm>
          <a:prstGeom prst="roundRect">
            <a:avLst>
              <a:gd name="adj" fmla="val 200000"/>
            </a:avLst>
          </a:prstGeom>
          <a:solidFill>
            <a:srgbClr val="FCE7F3"/>
          </a:solidFill>
          <a:ln/>
        </p:spPr>
      </p:sp>
      <p:pic>
        <p:nvPicPr>
          <p:cNvPr id="11" name="Image 1" descr="preencoded.png">    </p:cNvPr>
          <p:cNvPicPr>
            <a:picLocks noChangeAspect="1"/>
          </p:cNvPicPr>
          <p:nvPr/>
        </p:nvPicPr>
        <p:blipFill>
          <a:blip r:embed="rId2"/>
          <a:srcRect l="0" r="0" t="0" b="0"/>
          <a:stretch/>
        </p:blipFill>
        <p:spPr>
          <a:xfrm>
            <a:off x="1047902" y="2572207"/>
            <a:ext cx="190195" cy="190195"/>
          </a:xfrm>
          <a:prstGeom prst="rect">
            <a:avLst/>
          </a:prstGeom>
        </p:spPr>
      </p:pic>
      <p:sp>
        <p:nvSpPr>
          <p:cNvPr id="12" name="Text 8"/>
          <p:cNvSpPr txBox="1"/>
          <p:nvPr/>
        </p:nvSpPr>
        <p:spPr>
          <a:xfrm>
            <a:off x="1524305" y="2447849"/>
            <a:ext cx="166695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Emotional Value</a:t>
            </a:r>
            <a:endParaRPr lang="en-US" sz="1500" dirty="0"/>
          </a:p>
        </p:txBody>
      </p:sp>
      <p:sp>
        <p:nvSpPr>
          <p:cNvPr id="13" name="Text 9"/>
          <p:cNvSpPr txBox="1"/>
          <p:nvPr/>
        </p:nvSpPr>
        <p:spPr>
          <a:xfrm>
            <a:off x="1524305" y="2714854"/>
            <a:ext cx="1534363" cy="162763"/>
          </a:xfrm>
          <a:prstGeom prst="rect">
            <a:avLst/>
          </a:prstGeom>
          <a:noFill/>
          <a:ln/>
        </p:spPr>
        <p:txBody>
          <a:bodyPr wrap="square" lIns="0" tIns="0" rIns="0" bIns="0" rtlCol="0" anchor="ctr"/>
          <a:lstStyle/>
          <a:p>
            <a:pPr algn="l" indent="0" marL="0">
              <a:buNone/>
            </a:pPr>
            <a:r>
              <a:rPr lang="en-US" sz="900" b="1" dirty="0">
                <a:solidFill>
                  <a:srgbClr val="EC4899"/>
                </a:solidFill>
                <a:latin typeface="Noto Sans JP" pitchFamily="34" charset="0"/>
                <a:ea typeface="Noto Sans JP" pitchFamily="34" charset="-122"/>
                <a:cs typeface="Noto Sans JP" pitchFamily="34" charset="-120"/>
              </a:rPr>
              <a:t>感情的価値・トレンド訴求</a:t>
            </a:r>
            <a:endParaRPr lang="en-US" sz="900" dirty="0"/>
          </a:p>
        </p:txBody>
      </p:sp>
      <p:sp>
        <p:nvSpPr>
          <p:cNvPr id="14" name="Text 10"/>
          <p:cNvSpPr txBox="1"/>
          <p:nvPr/>
        </p:nvSpPr>
        <p:spPr>
          <a:xfrm>
            <a:off x="1143000" y="3114446"/>
            <a:ext cx="33723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トレンド×センス×高い技術力</a:t>
            </a:r>
            <a:endParaRPr lang="en-US" sz="1800" dirty="0"/>
          </a:p>
        </p:txBody>
      </p:sp>
      <p:sp>
        <p:nvSpPr>
          <p:cNvPr id="15" name="Text 11"/>
          <p:cNvSpPr txBox="1"/>
          <p:nvPr/>
        </p:nvSpPr>
        <p:spPr>
          <a:xfrm>
            <a:off x="1143000" y="3514954"/>
            <a:ext cx="3462833"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技術への信頼感と、今っぽさ（センス）の両立を宣言</a:t>
            </a:r>
            <a:endParaRPr lang="en-US" sz="1000" dirty="0"/>
          </a:p>
        </p:txBody>
      </p:sp>
      <p:sp>
        <p:nvSpPr>
          <p:cNvPr id="16" name="Text 12"/>
          <p:cNvSpPr txBox="1"/>
          <p:nvPr/>
        </p:nvSpPr>
        <p:spPr>
          <a:xfrm>
            <a:off x="1143000" y="3924605"/>
            <a:ext cx="400050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SNSで見た 【こうなりたい！！】を叶えます</a:t>
            </a:r>
            <a:endParaRPr lang="en-US" sz="1500" dirty="0"/>
          </a:p>
        </p:txBody>
      </p:sp>
      <p:sp>
        <p:nvSpPr>
          <p:cNvPr id="17" name="Text 13"/>
          <p:cNvSpPr txBox="1"/>
          <p:nvPr/>
        </p:nvSpPr>
        <p:spPr>
          <a:xfrm>
            <a:off x="1143000" y="4272077"/>
            <a:ext cx="40910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顧客のインサイト（Instagram等での憧れ）に直球でアプローチ</a:t>
            </a:r>
            <a:endParaRPr lang="en-US" sz="1000" dirty="0"/>
          </a:p>
        </p:txBody>
      </p:sp>
      <p:sp>
        <p:nvSpPr>
          <p:cNvPr id="18" name="Text 14"/>
          <p:cNvSpPr txBox="1"/>
          <p:nvPr/>
        </p:nvSpPr>
        <p:spPr>
          <a:xfrm>
            <a:off x="1143000" y="4681728"/>
            <a:ext cx="25438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自分史上1番のオシャレヘア</a:t>
            </a:r>
            <a:endParaRPr lang="en-US" sz="1500" dirty="0"/>
          </a:p>
        </p:txBody>
      </p:sp>
      <p:sp>
        <p:nvSpPr>
          <p:cNvPr id="19" name="Text 15"/>
          <p:cNvSpPr txBox="1"/>
          <p:nvPr/>
        </p:nvSpPr>
        <p:spPr>
          <a:xfrm>
            <a:off x="1143000" y="5029200"/>
            <a:ext cx="3329330"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「変身願望」と「自己肯定感」を刺激するフレーズ</a:t>
            </a:r>
            <a:endParaRPr lang="en-US" sz="1000" dirty="0"/>
          </a:p>
        </p:txBody>
      </p:sp>
      <p:sp>
        <p:nvSpPr>
          <p:cNvPr id="20" name="Shape 16"/>
          <p:cNvSpPr/>
          <p:nvPr/>
        </p:nvSpPr>
        <p:spPr>
          <a:xfrm>
            <a:off x="914400" y="6057900"/>
            <a:ext cx="4724705" cy="9144"/>
          </a:xfrm>
          <a:prstGeom prst="rect">
            <a:avLst/>
          </a:prstGeom>
          <a:solidFill>
            <a:srgbClr val="F3F4F6"/>
          </a:solidFill>
          <a:ln/>
        </p:spPr>
      </p:sp>
      <p:sp>
        <p:nvSpPr>
          <p:cNvPr id="21" name="Shape 17"/>
          <p:cNvSpPr/>
          <p:nvPr/>
        </p:nvSpPr>
        <p:spPr>
          <a:xfrm>
            <a:off x="914400" y="6295644"/>
            <a:ext cx="847649" cy="276149"/>
          </a:xfrm>
          <a:prstGeom prst="roundRect">
            <a:avLst>
              <a:gd name="adj" fmla="val 331126"/>
            </a:avLst>
          </a:prstGeom>
          <a:solidFill>
            <a:srgbClr val="FDF2F8"/>
          </a:solidFill>
          <a:ln/>
        </p:spPr>
      </p:sp>
      <p:sp>
        <p:nvSpPr>
          <p:cNvPr id="22" name="Text 18"/>
          <p:cNvSpPr txBox="1"/>
          <p:nvPr/>
        </p:nvSpPr>
        <p:spPr>
          <a:xfrm>
            <a:off x="1028700" y="6334049"/>
            <a:ext cx="719633" cy="200254"/>
          </a:xfrm>
          <a:prstGeom prst="rect">
            <a:avLst/>
          </a:prstGeom>
          <a:noFill/>
          <a:ln/>
        </p:spPr>
        <p:txBody>
          <a:bodyPr wrap="square" lIns="0" tIns="0" rIns="0" bIns="0" rtlCol="0" anchor="ctr"/>
          <a:lstStyle/>
          <a:p>
            <a:pPr algn="l" indent="0" marL="0">
              <a:buNone/>
            </a:pPr>
            <a:r>
              <a:rPr lang="en-US" sz="1000" b="1" dirty="0">
                <a:solidFill>
                  <a:srgbClr val="DB2777"/>
                </a:solidFill>
                <a:latin typeface="Noto Sans JP" pitchFamily="34" charset="0"/>
                <a:ea typeface="Noto Sans JP" pitchFamily="34" charset="-122"/>
                <a:cs typeface="Noto Sans JP" pitchFamily="34" charset="-120"/>
              </a:rPr>
              <a:t>#SNS映え</a:t>
            </a:r>
            <a:endParaRPr lang="en-US" sz="1000" dirty="0"/>
          </a:p>
        </p:txBody>
      </p:sp>
      <p:sp>
        <p:nvSpPr>
          <p:cNvPr id="23" name="Shape 19"/>
          <p:cNvSpPr/>
          <p:nvPr/>
        </p:nvSpPr>
        <p:spPr>
          <a:xfrm>
            <a:off x="1830629" y="6295644"/>
            <a:ext cx="847649" cy="276149"/>
          </a:xfrm>
          <a:prstGeom prst="roundRect">
            <a:avLst>
              <a:gd name="adj" fmla="val 331126"/>
            </a:avLst>
          </a:prstGeom>
          <a:solidFill>
            <a:srgbClr val="FDF2F8"/>
          </a:solidFill>
          <a:ln/>
        </p:spPr>
      </p:sp>
      <p:sp>
        <p:nvSpPr>
          <p:cNvPr id="24" name="Text 20"/>
          <p:cNvSpPr txBox="1"/>
          <p:nvPr/>
        </p:nvSpPr>
        <p:spPr>
          <a:xfrm>
            <a:off x="1944929" y="6334049"/>
            <a:ext cx="719633" cy="200254"/>
          </a:xfrm>
          <a:prstGeom prst="rect">
            <a:avLst/>
          </a:prstGeom>
          <a:noFill/>
          <a:ln/>
        </p:spPr>
        <p:txBody>
          <a:bodyPr wrap="square" lIns="0" tIns="0" rIns="0" bIns="0" rtlCol="0" anchor="ctr"/>
          <a:lstStyle/>
          <a:p>
            <a:pPr algn="l" indent="0" marL="0">
              <a:buNone/>
            </a:pPr>
            <a:r>
              <a:rPr lang="en-US" sz="1000" b="1" dirty="0">
                <a:solidFill>
                  <a:srgbClr val="DB2777"/>
                </a:solidFill>
                <a:latin typeface="Noto Sans JP" pitchFamily="34" charset="0"/>
                <a:ea typeface="Noto Sans JP" pitchFamily="34" charset="-122"/>
                <a:cs typeface="Noto Sans JP" pitchFamily="34" charset="-120"/>
              </a:rPr>
              <a:t>#外国人風</a:t>
            </a:r>
            <a:endParaRPr lang="en-US" sz="1000" dirty="0"/>
          </a:p>
        </p:txBody>
      </p:sp>
      <p:sp>
        <p:nvSpPr>
          <p:cNvPr id="25" name="Shape 21"/>
          <p:cNvSpPr/>
          <p:nvPr/>
        </p:nvSpPr>
        <p:spPr>
          <a:xfrm>
            <a:off x="2747772" y="6295644"/>
            <a:ext cx="714146" cy="276149"/>
          </a:xfrm>
          <a:prstGeom prst="roundRect">
            <a:avLst>
              <a:gd name="adj" fmla="val 331126"/>
            </a:avLst>
          </a:prstGeom>
          <a:solidFill>
            <a:srgbClr val="FDF2F8"/>
          </a:solidFill>
          <a:ln/>
        </p:spPr>
      </p:sp>
      <p:sp>
        <p:nvSpPr>
          <p:cNvPr id="26" name="Text 22"/>
          <p:cNvSpPr txBox="1"/>
          <p:nvPr/>
        </p:nvSpPr>
        <p:spPr>
          <a:xfrm>
            <a:off x="2862072" y="6334049"/>
            <a:ext cx="586130" cy="200254"/>
          </a:xfrm>
          <a:prstGeom prst="rect">
            <a:avLst/>
          </a:prstGeom>
          <a:noFill/>
          <a:ln/>
        </p:spPr>
        <p:txBody>
          <a:bodyPr wrap="square" lIns="0" tIns="0" rIns="0" bIns="0" rtlCol="0" anchor="ctr"/>
          <a:lstStyle/>
          <a:p>
            <a:pPr algn="l" indent="0" marL="0">
              <a:buNone/>
            </a:pPr>
            <a:r>
              <a:rPr lang="en-US" sz="1000" b="1" dirty="0">
                <a:solidFill>
                  <a:srgbClr val="DB2777"/>
                </a:solidFill>
                <a:latin typeface="Noto Sans JP" pitchFamily="34" charset="0"/>
                <a:ea typeface="Noto Sans JP" pitchFamily="34" charset="-122"/>
                <a:cs typeface="Noto Sans JP" pitchFamily="34" charset="-120"/>
              </a:rPr>
              <a:t>#透明感</a:t>
            </a:r>
            <a:endParaRPr lang="en-US" sz="1000" dirty="0"/>
          </a:p>
        </p:txBody>
      </p:sp>
      <p:sp>
        <p:nvSpPr>
          <p:cNvPr id="27" name="Shape 23"/>
          <p:cNvSpPr/>
          <p:nvPr/>
        </p:nvSpPr>
        <p:spPr>
          <a:xfrm>
            <a:off x="3531413" y="6295644"/>
            <a:ext cx="847649" cy="276149"/>
          </a:xfrm>
          <a:prstGeom prst="roundRect">
            <a:avLst>
              <a:gd name="adj" fmla="val 331126"/>
            </a:avLst>
          </a:prstGeom>
          <a:solidFill>
            <a:srgbClr val="FDF2F8"/>
          </a:solidFill>
          <a:ln/>
        </p:spPr>
      </p:sp>
      <p:sp>
        <p:nvSpPr>
          <p:cNvPr id="28" name="Text 24"/>
          <p:cNvSpPr txBox="1"/>
          <p:nvPr/>
        </p:nvSpPr>
        <p:spPr>
          <a:xfrm>
            <a:off x="3645713" y="6334049"/>
            <a:ext cx="719633" cy="200254"/>
          </a:xfrm>
          <a:prstGeom prst="rect">
            <a:avLst/>
          </a:prstGeom>
          <a:noFill/>
          <a:ln/>
        </p:spPr>
        <p:txBody>
          <a:bodyPr wrap="square" lIns="0" tIns="0" rIns="0" bIns="0" rtlCol="0" anchor="ctr"/>
          <a:lstStyle/>
          <a:p>
            <a:pPr algn="l" indent="0" marL="0">
              <a:buNone/>
            </a:pPr>
            <a:r>
              <a:rPr lang="en-US" sz="1000" b="1" dirty="0">
                <a:solidFill>
                  <a:srgbClr val="DB2777"/>
                </a:solidFill>
                <a:latin typeface="Noto Sans JP" pitchFamily="34" charset="0"/>
                <a:ea typeface="Noto Sans JP" pitchFamily="34" charset="-122"/>
                <a:cs typeface="Noto Sans JP" pitchFamily="34" charset="-120"/>
              </a:rPr>
              <a:t>#似合わせ</a:t>
            </a:r>
            <a:endParaRPr lang="en-US" sz="1000" dirty="0"/>
          </a:p>
        </p:txBody>
      </p:sp>
      <p:sp>
        <p:nvSpPr>
          <p:cNvPr id="29" name="Shape 25"/>
          <p:cNvSpPr/>
          <p:nvPr/>
        </p:nvSpPr>
        <p:spPr>
          <a:xfrm>
            <a:off x="6248095" y="2095805"/>
            <a:ext cx="5333695" cy="4858207"/>
          </a:xfrm>
          <a:prstGeom prst="roundRect">
            <a:avLst>
              <a:gd name="adj" fmla="val 590"/>
            </a:avLst>
          </a:prstGeom>
          <a:solidFill>
            <a:srgbClr val="FFFFFF"/>
          </a:solidFill>
          <a:ln/>
          <a:effectLst>
            <a:outerShdw sx="100000" sy="100000" kx="0" ky="0" algn="bl" rotWithShape="0" blurRad="12700" dist="12700" dir="16200000">
              <a:srgbClr val="000000">
                <a:alpha val="75000"/>
              </a:srgbClr>
            </a:outerShdw>
          </a:effectLst>
        </p:spPr>
      </p:sp>
      <p:sp>
        <p:nvSpPr>
          <p:cNvPr id="30" name="Shape 26"/>
          <p:cNvSpPr/>
          <p:nvPr/>
        </p:nvSpPr>
        <p:spPr>
          <a:xfrm>
            <a:off x="6248095" y="2095805"/>
            <a:ext cx="5333695" cy="38405"/>
          </a:xfrm>
          <a:prstGeom prst="rect">
            <a:avLst/>
          </a:prstGeom>
          <a:solidFill>
            <a:srgbClr val="FF6B35"/>
          </a:solidFill>
          <a:ln/>
        </p:spPr>
      </p:sp>
      <p:pic>
        <p:nvPicPr>
          <p:cNvPr id="31" name="Image 2" descr="preencoded.png">    </p:cNvPr>
          <p:cNvPicPr>
            <a:picLocks noChangeAspect="1"/>
          </p:cNvPicPr>
          <p:nvPr/>
        </p:nvPicPr>
        <p:blipFill>
          <a:blip r:embed="rId3">
            <a:alphaModFix amt="5000"/>
          </a:blip>
          <a:srcRect l="0" r="0" t="0" b="0"/>
          <a:stretch/>
        </p:blipFill>
        <p:spPr>
          <a:xfrm>
            <a:off x="10211105" y="2286000"/>
            <a:ext cx="1218895" cy="1218895"/>
          </a:xfrm>
          <a:prstGeom prst="rect">
            <a:avLst/>
          </a:prstGeom>
        </p:spPr>
      </p:pic>
      <p:sp>
        <p:nvSpPr>
          <p:cNvPr id="32" name="Shape 27"/>
          <p:cNvSpPr/>
          <p:nvPr/>
        </p:nvSpPr>
        <p:spPr>
          <a:xfrm>
            <a:off x="6553505" y="2438705"/>
            <a:ext cx="457200" cy="457200"/>
          </a:xfrm>
          <a:prstGeom prst="roundRect">
            <a:avLst>
              <a:gd name="adj" fmla="val 200000"/>
            </a:avLst>
          </a:prstGeom>
          <a:solidFill>
            <a:srgbClr val="FFF0E9"/>
          </a:solidFill>
          <a:ln/>
        </p:spPr>
      </p:sp>
      <p:pic>
        <p:nvPicPr>
          <p:cNvPr id="33" name="Image 3" descr="preencoded.png">    </p:cNvPr>
          <p:cNvPicPr>
            <a:picLocks noChangeAspect="1"/>
          </p:cNvPicPr>
          <p:nvPr/>
        </p:nvPicPr>
        <p:blipFill>
          <a:blip r:embed="rId4"/>
          <a:srcRect l="0" r="0" t="0" b="0"/>
          <a:stretch/>
        </p:blipFill>
        <p:spPr>
          <a:xfrm>
            <a:off x="6710782" y="2572207"/>
            <a:ext cx="142646" cy="190195"/>
          </a:xfrm>
          <a:prstGeom prst="rect">
            <a:avLst/>
          </a:prstGeom>
        </p:spPr>
      </p:pic>
      <p:sp>
        <p:nvSpPr>
          <p:cNvPr id="34" name="Text 28"/>
          <p:cNvSpPr txBox="1"/>
          <p:nvPr/>
        </p:nvSpPr>
        <p:spPr>
          <a:xfrm>
            <a:off x="7162495" y="2447849"/>
            <a:ext cx="1705356"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Functional Value</a:t>
            </a:r>
            <a:endParaRPr lang="en-US" sz="1500" dirty="0"/>
          </a:p>
        </p:txBody>
      </p:sp>
      <p:sp>
        <p:nvSpPr>
          <p:cNvPr id="35" name="Text 29"/>
          <p:cNvSpPr txBox="1"/>
          <p:nvPr/>
        </p:nvSpPr>
        <p:spPr>
          <a:xfrm>
            <a:off x="7162495" y="2714854"/>
            <a:ext cx="1295705" cy="162763"/>
          </a:xfrm>
          <a:prstGeom prst="rect">
            <a:avLst/>
          </a:prstGeom>
          <a:noFill/>
          <a:ln/>
        </p:spPr>
        <p:txBody>
          <a:bodyPr wrap="square" lIns="0" tIns="0" rIns="0" bIns="0" rtlCol="0" anchor="ctr"/>
          <a:lstStyle/>
          <a:p>
            <a:pPr algn="l" indent="0" marL="0">
              <a:buNone/>
            </a:pPr>
            <a:r>
              <a:rPr lang="en-US" sz="900" b="1" dirty="0">
                <a:solidFill>
                  <a:srgbClr val="FF6B35"/>
                </a:solidFill>
                <a:latin typeface="Noto Sans JP" pitchFamily="34" charset="0"/>
                <a:ea typeface="Noto Sans JP" pitchFamily="34" charset="-122"/>
                <a:cs typeface="Noto Sans JP" pitchFamily="34" charset="-120"/>
              </a:rPr>
              <a:t>機能的価値・価格訴求</a:t>
            </a:r>
            <a:endParaRPr lang="en-US" sz="900" dirty="0"/>
          </a:p>
        </p:txBody>
      </p:sp>
      <p:sp>
        <p:nvSpPr>
          <p:cNvPr id="36" name="Text 30"/>
          <p:cNvSpPr txBox="1"/>
          <p:nvPr/>
        </p:nvSpPr>
        <p:spPr>
          <a:xfrm>
            <a:off x="6782105" y="3114446"/>
            <a:ext cx="17721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高技術×低価格</a:t>
            </a:r>
            <a:endParaRPr lang="en-US" sz="1800" dirty="0"/>
          </a:p>
        </p:txBody>
      </p:sp>
      <p:sp>
        <p:nvSpPr>
          <p:cNvPr id="37" name="Text 31"/>
          <p:cNvSpPr txBox="1"/>
          <p:nvPr/>
        </p:nvSpPr>
        <p:spPr>
          <a:xfrm>
            <a:off x="6782105" y="3514954"/>
            <a:ext cx="412028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安かろう悪かろうの不安を「高技術」で払拭しつつ、安さを強調</a:t>
            </a:r>
            <a:endParaRPr lang="en-US" sz="1000" dirty="0"/>
          </a:p>
        </p:txBody>
      </p:sp>
      <p:sp>
        <p:nvSpPr>
          <p:cNvPr id="38" name="Text 32"/>
          <p:cNvSpPr txBox="1"/>
          <p:nvPr/>
        </p:nvSpPr>
        <p:spPr>
          <a:xfrm>
            <a:off x="6782105" y="3924605"/>
            <a:ext cx="109545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毎月通える</a:t>
            </a:r>
            <a:endParaRPr lang="en-US" sz="1500" dirty="0"/>
          </a:p>
        </p:txBody>
      </p:sp>
      <p:sp>
        <p:nvSpPr>
          <p:cNvPr id="39" name="Text 33"/>
          <p:cNvSpPr txBox="1"/>
          <p:nvPr/>
        </p:nvSpPr>
        <p:spPr>
          <a:xfrm>
            <a:off x="6782105" y="4186123"/>
            <a:ext cx="184800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リーズナブルな価格</a:t>
            </a:r>
            <a:endParaRPr lang="en-US" sz="1500" dirty="0"/>
          </a:p>
        </p:txBody>
      </p:sp>
      <p:sp>
        <p:nvSpPr>
          <p:cNvPr id="40" name="Text 34"/>
          <p:cNvSpPr txBox="1"/>
          <p:nvPr/>
        </p:nvSpPr>
        <p:spPr>
          <a:xfrm>
            <a:off x="6782105" y="4533595"/>
            <a:ext cx="4539082"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「1回限り」ではなく「継続利用（メンテナンス）」のハードルを下げる</a:t>
            </a:r>
            <a:endParaRPr lang="en-US" sz="1000" dirty="0"/>
          </a:p>
        </p:txBody>
      </p:sp>
      <p:pic>
        <p:nvPicPr>
          <p:cNvPr id="41" name="Image 4" descr="preencoded.png">    </p:cNvPr>
          <p:cNvPicPr>
            <a:picLocks noChangeAspect="1"/>
          </p:cNvPicPr>
          <p:nvPr/>
        </p:nvPicPr>
        <p:blipFill>
          <a:blip r:embed="rId5"/>
          <a:srcRect l="0" r="0" t="-43" b="-43"/>
          <a:stretch/>
        </p:blipFill>
        <p:spPr>
          <a:xfrm>
            <a:off x="6782105" y="5009998"/>
            <a:ext cx="133502" cy="152705"/>
          </a:xfrm>
          <a:prstGeom prst="rect">
            <a:avLst/>
          </a:prstGeom>
        </p:spPr>
      </p:pic>
      <p:sp>
        <p:nvSpPr>
          <p:cNvPr id="42" name="Text 35"/>
          <p:cNvSpPr txBox="1"/>
          <p:nvPr/>
        </p:nvSpPr>
        <p:spPr>
          <a:xfrm>
            <a:off x="6991502" y="4962449"/>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ロング料金なし</a:t>
            </a:r>
            <a:endParaRPr lang="en-US" sz="1300" dirty="0"/>
          </a:p>
        </p:txBody>
      </p:sp>
      <p:pic>
        <p:nvPicPr>
          <p:cNvPr id="43" name="Image 5" descr="preencoded.png">    </p:cNvPr>
          <p:cNvPicPr>
            <a:picLocks noChangeAspect="1"/>
          </p:cNvPicPr>
          <p:nvPr/>
        </p:nvPicPr>
        <p:blipFill>
          <a:blip r:embed="rId6"/>
          <a:srcRect l="0" r="0" t="-43" b="-43"/>
          <a:stretch/>
        </p:blipFill>
        <p:spPr>
          <a:xfrm>
            <a:off x="6782105" y="5352898"/>
            <a:ext cx="133502" cy="152705"/>
          </a:xfrm>
          <a:prstGeom prst="rect">
            <a:avLst/>
          </a:prstGeom>
        </p:spPr>
      </p:pic>
      <p:sp>
        <p:nvSpPr>
          <p:cNvPr id="44" name="Text 36"/>
          <p:cNvSpPr txBox="1"/>
          <p:nvPr/>
        </p:nvSpPr>
        <p:spPr>
          <a:xfrm>
            <a:off x="6991502" y="5305349"/>
            <a:ext cx="1538935"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平日22時まで営業</a:t>
            </a:r>
            <a:endParaRPr lang="en-US" sz="1300" dirty="0"/>
          </a:p>
        </p:txBody>
      </p:sp>
      <p:sp>
        <p:nvSpPr>
          <p:cNvPr id="45" name="Text 37"/>
          <p:cNvSpPr txBox="1"/>
          <p:nvPr/>
        </p:nvSpPr>
        <p:spPr>
          <a:xfrm>
            <a:off x="6782105" y="5639105"/>
            <a:ext cx="3738982"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 学生だけでなく、忙しい若手社会人の「利便性」をカバー</a:t>
            </a:r>
            <a:endParaRPr lang="en-US" sz="1000" dirty="0"/>
          </a:p>
        </p:txBody>
      </p:sp>
      <p:sp>
        <p:nvSpPr>
          <p:cNvPr id="46" name="Shape 38"/>
          <p:cNvSpPr/>
          <p:nvPr/>
        </p:nvSpPr>
        <p:spPr>
          <a:xfrm>
            <a:off x="6553505" y="6057900"/>
            <a:ext cx="4724705" cy="9144"/>
          </a:xfrm>
          <a:prstGeom prst="rect">
            <a:avLst/>
          </a:prstGeom>
          <a:solidFill>
            <a:srgbClr val="F3F4F6"/>
          </a:solidFill>
          <a:ln/>
        </p:spPr>
      </p:sp>
      <p:sp>
        <p:nvSpPr>
          <p:cNvPr id="47" name="Text 39"/>
          <p:cNvSpPr txBox="1"/>
          <p:nvPr/>
        </p:nvSpPr>
        <p:spPr>
          <a:xfrm>
            <a:off x="6667805" y="6334049"/>
            <a:ext cx="853135"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#コスパ重視</a:t>
            </a:r>
            <a:endParaRPr lang="en-US" sz="1000" dirty="0"/>
          </a:p>
        </p:txBody>
      </p:sp>
      <p:sp>
        <p:nvSpPr>
          <p:cNvPr id="48" name="Text 40"/>
          <p:cNvSpPr txBox="1"/>
          <p:nvPr/>
        </p:nvSpPr>
        <p:spPr>
          <a:xfrm>
            <a:off x="7717536" y="6334049"/>
            <a:ext cx="710489"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#学割U24</a:t>
            </a:r>
            <a:endParaRPr lang="en-US" sz="1000" dirty="0"/>
          </a:p>
        </p:txBody>
      </p:sp>
      <p:sp>
        <p:nvSpPr>
          <p:cNvPr id="49" name="Text 41"/>
          <p:cNvSpPr txBox="1"/>
          <p:nvPr/>
        </p:nvSpPr>
        <p:spPr>
          <a:xfrm>
            <a:off x="8625535" y="6334049"/>
            <a:ext cx="909828"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#仕事帰りOK</a:t>
            </a:r>
            <a:endParaRPr lang="en-US" sz="1000" dirty="0"/>
          </a:p>
        </p:txBody>
      </p:sp>
      <p:sp>
        <p:nvSpPr>
          <p:cNvPr id="50" name="Text 42"/>
          <p:cNvSpPr txBox="1"/>
          <p:nvPr/>
        </p:nvSpPr>
        <p:spPr>
          <a:xfrm>
            <a:off x="9736531" y="6334049"/>
            <a:ext cx="452628" cy="200254"/>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#駅近</a:t>
            </a:r>
            <a:endParaRPr lang="en-US" sz="1000" dirty="0"/>
          </a:p>
        </p:txBody>
      </p:sp>
      <p:sp>
        <p:nvSpPr>
          <p:cNvPr id="51" name="Shape 43"/>
          <p:cNvSpPr/>
          <p:nvPr/>
        </p:nvSpPr>
        <p:spPr>
          <a:xfrm>
            <a:off x="609905" y="7258507"/>
            <a:ext cx="10972800" cy="990295"/>
          </a:xfrm>
          <a:prstGeom prst="roundRect">
            <a:avLst>
              <a:gd name="adj" fmla="val 10654"/>
            </a:avLst>
          </a:prstGeom>
          <a:solidFill>
            <a:srgbClr val="1F2937"/>
          </a:solidFill>
          <a:ln/>
          <a:effectLst>
            <a:outerShdw sx="100000" sy="100000" kx="0" ky="0" algn="bl" rotWithShape="0" blurRad="12700" dist="12700" dir="16200000">
              <a:srgbClr val="000000">
                <a:alpha val="75000"/>
              </a:srgbClr>
            </a:outerShdw>
          </a:effectLst>
        </p:spPr>
      </p:sp>
      <p:sp>
        <p:nvSpPr>
          <p:cNvPr id="52" name="Shape 44"/>
          <p:cNvSpPr/>
          <p:nvPr/>
        </p:nvSpPr>
        <p:spPr>
          <a:xfrm>
            <a:off x="761695" y="7448702"/>
            <a:ext cx="267005" cy="381305"/>
          </a:xfrm>
          <a:prstGeom prst="roundRect">
            <a:avLst>
              <a:gd name="adj" fmla="val 97847"/>
            </a:avLst>
          </a:prstGeom>
          <a:solidFill>
            <a:srgbClr val="FF6B35"/>
          </a:solidFill>
          <a:ln/>
        </p:spPr>
      </p:sp>
      <p:pic>
        <p:nvPicPr>
          <p:cNvPr id="53" name="Image 6" descr="preencoded.png">    </p:cNvPr>
          <p:cNvPicPr>
            <a:picLocks noChangeAspect="1"/>
          </p:cNvPicPr>
          <p:nvPr/>
        </p:nvPicPr>
        <p:blipFill>
          <a:blip r:embed="rId7"/>
          <a:srcRect l="0" r="0" t="-100" b="-100"/>
          <a:stretch/>
        </p:blipFill>
        <p:spPr>
          <a:xfrm>
            <a:off x="838505" y="7572146"/>
            <a:ext cx="114300" cy="152705"/>
          </a:xfrm>
          <a:prstGeom prst="rect">
            <a:avLst/>
          </a:prstGeom>
        </p:spPr>
      </p:pic>
      <p:sp>
        <p:nvSpPr>
          <p:cNvPr id="54" name="Text 45"/>
          <p:cNvSpPr txBox="1"/>
          <p:nvPr/>
        </p:nvSpPr>
        <p:spPr>
          <a:xfrm>
            <a:off x="1181405" y="7420356"/>
            <a:ext cx="1452982" cy="247802"/>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Analysis Insight</a:t>
            </a:r>
            <a:endParaRPr lang="en-US" sz="1300" dirty="0"/>
          </a:p>
        </p:txBody>
      </p:sp>
      <p:sp>
        <p:nvSpPr>
          <p:cNvPr id="55" name="Text 46"/>
          <p:cNvSpPr txBox="1"/>
          <p:nvPr/>
        </p:nvSpPr>
        <p:spPr>
          <a:xfrm>
            <a:off x="1181405" y="7715707"/>
            <a:ext cx="10206533" cy="381305"/>
          </a:xfrm>
          <a:prstGeom prst="rect">
            <a:avLst/>
          </a:prstGeom>
          <a:noFill/>
          <a:ln/>
        </p:spPr>
        <p:txBody>
          <a:bodyPr wrap="square" lIns="0" tIns="0" rIns="0" bIns="0" rtlCol="0" anchor="ctr"/>
          <a:lstStyle/>
          <a:p>
            <a:pPr algn="l" indent="0" marL="0">
              <a:buNone/>
            </a:pPr>
            <a:r>
              <a:rPr lang="en-US" sz="1000" dirty="0">
                <a:solidFill>
                  <a:srgbClr val="D1D5DB"/>
                </a:solidFill>
                <a:latin typeface="Noto Sans JP" pitchFamily="34" charset="0"/>
                <a:ea typeface="Noto Sans JP" pitchFamily="34" charset="-122"/>
                <a:cs typeface="Noto Sans JP" pitchFamily="34" charset="-120"/>
              </a:rPr>
              <a:t>「憧れのスタイルになりたいが、お金はかけられない」というF1層（20-34歳女性）および学生層のインサイトに対し、 「トレンド感（憧れ）」を入り口にしつつ、「価格（安心）」で背中を押すという、隙のない2段構えの訴求構成になっています。</a:t>
            </a:r>
            <a:endParaRPr lang="en-US" sz="1000" dirty="0"/>
          </a:p>
        </p:txBody>
      </p:sp>
      <p:sp>
        <p:nvSpPr>
          <p:cNvPr id="56" name="Shape 47"/>
          <p:cNvSpPr/>
          <p:nvPr/>
        </p:nvSpPr>
        <p:spPr>
          <a:xfrm>
            <a:off x="0" y="0"/>
            <a:ext cx="12191695" cy="761695"/>
          </a:xfrm>
          <a:prstGeom prst="rect">
            <a:avLst/>
          </a:prstGeom>
          <a:solidFill>
            <a:srgbClr val="FFFFFF"/>
          </a:solidFill>
          <a:ln/>
        </p:spPr>
      </p:sp>
      <p:sp>
        <p:nvSpPr>
          <p:cNvPr id="57" name="Shape 48"/>
          <p:cNvSpPr/>
          <p:nvPr/>
        </p:nvSpPr>
        <p:spPr>
          <a:xfrm>
            <a:off x="0" y="752551"/>
            <a:ext cx="12191695" cy="9144"/>
          </a:xfrm>
          <a:prstGeom prst="rect">
            <a:avLst/>
          </a:prstGeom>
          <a:solidFill>
            <a:srgbClr val="F3F4F6"/>
          </a:solidFill>
          <a:ln/>
        </p:spPr>
      </p:sp>
      <p:sp>
        <p:nvSpPr>
          <p:cNvPr id="58" name="Shape 49"/>
          <p:cNvSpPr/>
          <p:nvPr/>
        </p:nvSpPr>
        <p:spPr>
          <a:xfrm>
            <a:off x="609905" y="224028"/>
            <a:ext cx="304495" cy="304495"/>
          </a:xfrm>
          <a:prstGeom prst="roundRect">
            <a:avLst>
              <a:gd name="adj" fmla="val 56306"/>
            </a:avLst>
          </a:prstGeom>
          <a:solidFill>
            <a:srgbClr val="1F2937"/>
          </a:solidFill>
          <a:ln/>
        </p:spPr>
      </p:sp>
      <p:pic>
        <p:nvPicPr>
          <p:cNvPr id="59" name="Image 7" descr="preencoded.png">    </p:cNvPr>
          <p:cNvPicPr>
            <a:picLocks noChangeAspect="1"/>
          </p:cNvPicPr>
          <p:nvPr/>
        </p:nvPicPr>
        <p:blipFill>
          <a:blip r:embed="rId8"/>
          <a:srcRect l="0" r="0" t="0" b="0"/>
          <a:stretch/>
        </p:blipFill>
        <p:spPr>
          <a:xfrm>
            <a:off x="694944" y="309982"/>
            <a:ext cx="133502" cy="133502"/>
          </a:xfrm>
          <a:prstGeom prst="rect">
            <a:avLst/>
          </a:prstGeom>
        </p:spPr>
      </p:pic>
      <p:sp>
        <p:nvSpPr>
          <p:cNvPr id="60" name="Text 50"/>
          <p:cNvSpPr txBox="1"/>
          <p:nvPr/>
        </p:nvSpPr>
        <p:spPr>
          <a:xfrm>
            <a:off x="990295" y="280721"/>
            <a:ext cx="2852928"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BENCHMARK ANALYSIS / COPYWRITING</a:t>
            </a:r>
            <a:endParaRPr lang="en-US" sz="1000" dirty="0"/>
          </a:p>
        </p:txBody>
      </p:sp>
      <p:sp>
        <p:nvSpPr>
          <p:cNvPr id="61" name="Text 51"/>
          <p:cNvSpPr txBox="1"/>
          <p:nvPr/>
        </p:nvSpPr>
        <p:spPr>
          <a:xfrm>
            <a:off x="10405872" y="280721"/>
            <a:ext cx="12819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Siena渋谷 訴求分析</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104595"/>
            <a:ext cx="4567428"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渋谷エリア 主要競合サロンの選定</a:t>
            </a:r>
            <a:endParaRPr lang="en-US" sz="2200" dirty="0"/>
          </a:p>
        </p:txBody>
      </p:sp>
      <p:sp>
        <p:nvSpPr>
          <p:cNvPr id="6" name="Text 4"/>
          <p:cNvSpPr txBox="1"/>
          <p:nvPr/>
        </p:nvSpPr>
        <p:spPr>
          <a:xfrm>
            <a:off x="609905" y="1561795"/>
            <a:ext cx="8097012" cy="4572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Siena渋谷と同じ「トレンド×コストパフォーマンス」領域、または「髪質改善×高単価」領域で シェアを争う主要4サロンを抽出しました。</a:t>
            </a:r>
            <a:endParaRPr lang="en-US" sz="1200" dirty="0"/>
          </a:p>
        </p:txBody>
      </p:sp>
      <p:sp>
        <p:nvSpPr>
          <p:cNvPr id="7" name="Shape 5"/>
          <p:cNvSpPr/>
          <p:nvPr/>
        </p:nvSpPr>
        <p:spPr>
          <a:xfrm>
            <a:off x="8643823" y="1638605"/>
            <a:ext cx="609905" cy="381305"/>
          </a:xfrm>
          <a:prstGeom prst="roundRect">
            <a:avLst>
              <a:gd name="adj" fmla="val 239808"/>
            </a:avLst>
          </a:prstGeom>
          <a:solidFill>
            <a:srgbClr val="E5E7EB"/>
          </a:solidFill>
          <a:ln/>
        </p:spPr>
      </p:sp>
      <p:sp>
        <p:nvSpPr>
          <p:cNvPr id="8" name="Text 6"/>
          <p:cNvSpPr txBox="1"/>
          <p:nvPr/>
        </p:nvSpPr>
        <p:spPr>
          <a:xfrm>
            <a:off x="8758123" y="1666951"/>
            <a:ext cx="438912" cy="314554"/>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選定基準</a:t>
            </a:r>
            <a:endParaRPr lang="en-US" sz="900" dirty="0"/>
          </a:p>
        </p:txBody>
      </p:sp>
      <p:sp>
        <p:nvSpPr>
          <p:cNvPr id="9" name="Text 7"/>
          <p:cNvSpPr txBox="1"/>
          <p:nvPr/>
        </p:nvSpPr>
        <p:spPr>
          <a:xfrm>
            <a:off x="9321394" y="1666951"/>
            <a:ext cx="2286000"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渋谷駅徒歩5分圏内 / 口コミ高評価 / 若年層ターゲット</a:t>
            </a:r>
            <a:endParaRPr lang="en-US" sz="900" dirty="0"/>
          </a:p>
        </p:txBody>
      </p:sp>
      <p:sp>
        <p:nvSpPr>
          <p:cNvPr id="10" name="Shape 8"/>
          <p:cNvSpPr/>
          <p:nvPr/>
        </p:nvSpPr>
        <p:spPr>
          <a:xfrm>
            <a:off x="609905" y="2324405"/>
            <a:ext cx="2572207" cy="4000500"/>
          </a:xfrm>
          <a:prstGeom prst="roundRect">
            <a:avLst>
              <a:gd name="adj" fmla="val 1580"/>
            </a:avLst>
          </a:prstGeom>
          <a:solidFill>
            <a:srgbClr val="FFFFFF"/>
          </a:solidFill>
          <a:ln w="12700">
            <a:solidFill>
              <a:srgbClr val="E5E7EB"/>
            </a:solidFill>
            <a:prstDash val="solid"/>
          </a:ln>
        </p:spPr>
      </p:sp>
      <p:sp>
        <p:nvSpPr>
          <p:cNvPr id="11" name="Shape 9"/>
          <p:cNvSpPr/>
          <p:nvPr/>
        </p:nvSpPr>
        <p:spPr>
          <a:xfrm>
            <a:off x="619049" y="2333549"/>
            <a:ext cx="2553005" cy="38405"/>
          </a:xfrm>
          <a:prstGeom prst="rect">
            <a:avLst/>
          </a:prstGeom>
          <a:solidFill>
            <a:srgbClr val="3B82F6"/>
          </a:solidFill>
          <a:ln/>
        </p:spPr>
      </p:sp>
      <p:sp>
        <p:nvSpPr>
          <p:cNvPr id="12" name="Text 10"/>
          <p:cNvSpPr txBox="1"/>
          <p:nvPr/>
        </p:nvSpPr>
        <p:spPr>
          <a:xfrm>
            <a:off x="847649" y="2553005"/>
            <a:ext cx="7818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圧倒的コスパ</a:t>
            </a:r>
            <a:endParaRPr lang="en-US" sz="900" dirty="0"/>
          </a:p>
        </p:txBody>
      </p:sp>
      <p:sp>
        <p:nvSpPr>
          <p:cNvPr id="13" name="Text 11"/>
          <p:cNvSpPr txBox="1"/>
          <p:nvPr/>
        </p:nvSpPr>
        <p:spPr>
          <a:xfrm>
            <a:off x="847649" y="2734056"/>
            <a:ext cx="116220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La fith hair</a:t>
            </a:r>
            <a:endParaRPr lang="en-US" sz="1500" dirty="0"/>
          </a:p>
        </p:txBody>
      </p:sp>
      <p:sp>
        <p:nvSpPr>
          <p:cNvPr id="14" name="Text 12"/>
          <p:cNvSpPr txBox="1"/>
          <p:nvPr/>
        </p:nvSpPr>
        <p:spPr>
          <a:xfrm>
            <a:off x="847649" y="2971800"/>
            <a:ext cx="12865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charme 渋谷</a:t>
            </a:r>
            <a:endParaRPr lang="en-US" sz="1500" dirty="0"/>
          </a:p>
        </p:txBody>
      </p:sp>
      <p:sp>
        <p:nvSpPr>
          <p:cNvPr id="15" name="Shape 13"/>
          <p:cNvSpPr/>
          <p:nvPr/>
        </p:nvSpPr>
        <p:spPr>
          <a:xfrm>
            <a:off x="2638044" y="2562149"/>
            <a:ext cx="304495" cy="304495"/>
          </a:xfrm>
          <a:prstGeom prst="roundRect">
            <a:avLst>
              <a:gd name="adj" fmla="val 300300"/>
            </a:avLst>
          </a:prstGeom>
          <a:solidFill>
            <a:srgbClr val="EFF6FF"/>
          </a:solidFill>
          <a:ln/>
        </p:spPr>
      </p:sp>
      <p:pic>
        <p:nvPicPr>
          <p:cNvPr id="16" name="Image 0" descr="preencoded.png">    </p:cNvPr>
          <p:cNvPicPr>
            <a:picLocks noChangeAspect="1"/>
          </p:cNvPicPr>
          <p:nvPr/>
        </p:nvPicPr>
        <p:blipFill>
          <a:blip r:embed="rId1"/>
          <a:srcRect l="-33" r="-33" t="0" b="0"/>
          <a:stretch/>
        </p:blipFill>
        <p:spPr>
          <a:xfrm>
            <a:off x="2704795" y="2638044"/>
            <a:ext cx="171907" cy="152705"/>
          </a:xfrm>
          <a:prstGeom prst="rect">
            <a:avLst/>
          </a:prstGeom>
        </p:spPr>
      </p:pic>
      <p:sp>
        <p:nvSpPr>
          <p:cNvPr id="17" name="Shape 14"/>
          <p:cNvSpPr/>
          <p:nvPr/>
        </p:nvSpPr>
        <p:spPr>
          <a:xfrm>
            <a:off x="847649" y="3381451"/>
            <a:ext cx="619049" cy="228600"/>
          </a:xfrm>
          <a:prstGeom prst="roundRect">
            <a:avLst>
              <a:gd name="adj" fmla="val 66667"/>
            </a:avLst>
          </a:prstGeom>
          <a:solidFill>
            <a:srgbClr val="E0F2FE"/>
          </a:solidFill>
          <a:ln/>
        </p:spPr>
      </p:sp>
      <p:sp>
        <p:nvSpPr>
          <p:cNvPr id="18" name="Text 15"/>
          <p:cNvSpPr txBox="1"/>
          <p:nvPr/>
        </p:nvSpPr>
        <p:spPr>
          <a:xfrm>
            <a:off x="923544" y="3409798"/>
            <a:ext cx="553212" cy="162763"/>
          </a:xfrm>
          <a:prstGeom prst="rect">
            <a:avLst/>
          </a:prstGeom>
          <a:noFill/>
          <a:ln/>
        </p:spPr>
        <p:txBody>
          <a:bodyPr wrap="square" lIns="0" tIns="0" rIns="0" bIns="0" rtlCol="0" anchor="ctr"/>
          <a:lstStyle/>
          <a:p>
            <a:pPr algn="l" indent="0" marL="0">
              <a:buNone/>
            </a:pPr>
            <a:r>
              <a:rPr lang="en-US" sz="900" b="1" dirty="0">
                <a:solidFill>
                  <a:srgbClr val="0284C7"/>
                </a:solidFill>
                <a:latin typeface="Noto Sans JP" pitchFamily="34" charset="0"/>
                <a:ea typeface="Noto Sans JP" pitchFamily="34" charset="-122"/>
                <a:cs typeface="Noto Sans JP" pitchFamily="34" charset="-120"/>
              </a:rPr>
              <a:t>プチプラ</a:t>
            </a:r>
            <a:endParaRPr lang="en-US" sz="900" dirty="0"/>
          </a:p>
        </p:txBody>
      </p:sp>
      <p:sp>
        <p:nvSpPr>
          <p:cNvPr id="19" name="Shape 16"/>
          <p:cNvSpPr/>
          <p:nvPr/>
        </p:nvSpPr>
        <p:spPr>
          <a:xfrm>
            <a:off x="1533449" y="3381451"/>
            <a:ext cx="838505" cy="228600"/>
          </a:xfrm>
          <a:prstGeom prst="roundRect">
            <a:avLst>
              <a:gd name="adj" fmla="val 66667"/>
            </a:avLst>
          </a:prstGeom>
          <a:solidFill>
            <a:srgbClr val="FCE7F3"/>
          </a:solidFill>
          <a:ln/>
        </p:spPr>
      </p:sp>
      <p:sp>
        <p:nvSpPr>
          <p:cNvPr id="20" name="Text 17"/>
          <p:cNvSpPr txBox="1"/>
          <p:nvPr/>
        </p:nvSpPr>
        <p:spPr>
          <a:xfrm>
            <a:off x="1610258" y="3409798"/>
            <a:ext cx="771754" cy="162763"/>
          </a:xfrm>
          <a:prstGeom prst="rect">
            <a:avLst/>
          </a:prstGeom>
          <a:noFill/>
          <a:ln/>
        </p:spPr>
        <p:txBody>
          <a:bodyPr wrap="square" lIns="0" tIns="0" rIns="0" bIns="0" rtlCol="0" anchor="ctr"/>
          <a:lstStyle/>
          <a:p>
            <a:pPr algn="l" indent="0" marL="0">
              <a:buNone/>
            </a:pPr>
            <a:r>
              <a:rPr lang="en-US" sz="900" b="1" dirty="0">
                <a:solidFill>
                  <a:srgbClr val="DB2777"/>
                </a:solidFill>
                <a:latin typeface="Noto Sans JP" pitchFamily="34" charset="0"/>
                <a:ea typeface="Noto Sans JP" pitchFamily="34" charset="-122"/>
                <a:cs typeface="Noto Sans JP" pitchFamily="34" charset="-120"/>
              </a:rPr>
              <a:t>アディクシー</a:t>
            </a:r>
            <a:endParaRPr lang="en-US" sz="900" dirty="0"/>
          </a:p>
        </p:txBody>
      </p:sp>
      <p:sp>
        <p:nvSpPr>
          <p:cNvPr id="21" name="Shape 18"/>
          <p:cNvSpPr/>
          <p:nvPr/>
        </p:nvSpPr>
        <p:spPr>
          <a:xfrm>
            <a:off x="847649" y="3762756"/>
            <a:ext cx="2095805" cy="724205"/>
          </a:xfrm>
          <a:prstGeom prst="roundRect">
            <a:avLst>
              <a:gd name="adj" fmla="val 13291"/>
            </a:avLst>
          </a:prstGeom>
          <a:solidFill>
            <a:srgbClr val="F9FAFB"/>
          </a:solidFill>
          <a:ln/>
        </p:spPr>
      </p:sp>
      <p:sp>
        <p:nvSpPr>
          <p:cNvPr id="22" name="Text 19"/>
          <p:cNvSpPr txBox="1"/>
          <p:nvPr/>
        </p:nvSpPr>
        <p:spPr>
          <a:xfrm>
            <a:off x="961949" y="3866998"/>
            <a:ext cx="8385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カット+カラー</a:t>
            </a:r>
            <a:endParaRPr lang="en-US" sz="900" dirty="0"/>
          </a:p>
        </p:txBody>
      </p:sp>
      <p:sp>
        <p:nvSpPr>
          <p:cNvPr id="23" name="Text 20"/>
          <p:cNvSpPr txBox="1"/>
          <p:nvPr/>
        </p:nvSpPr>
        <p:spPr>
          <a:xfrm>
            <a:off x="961949" y="4048049"/>
            <a:ext cx="11530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¥4,900〜</a:t>
            </a:r>
            <a:endParaRPr lang="en-US" sz="1800" dirty="0"/>
          </a:p>
        </p:txBody>
      </p:sp>
      <p:sp>
        <p:nvSpPr>
          <p:cNvPr id="24" name="Shape 21"/>
          <p:cNvSpPr/>
          <p:nvPr/>
        </p:nvSpPr>
        <p:spPr>
          <a:xfrm>
            <a:off x="847649" y="5468112"/>
            <a:ext cx="2095805" cy="9144"/>
          </a:xfrm>
          <a:prstGeom prst="rect">
            <a:avLst/>
          </a:prstGeom>
          <a:solidFill>
            <a:srgbClr val="F3F4F6"/>
          </a:solidFill>
          <a:ln/>
        </p:spPr>
      </p:sp>
      <p:sp>
        <p:nvSpPr>
          <p:cNvPr id="25" name="Text 22"/>
          <p:cNvSpPr txBox="1"/>
          <p:nvPr/>
        </p:nvSpPr>
        <p:spPr>
          <a:xfrm>
            <a:off x="847649" y="5266944"/>
            <a:ext cx="6675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強み・特徴</a:t>
            </a:r>
            <a:endParaRPr lang="en-US" sz="900" dirty="0"/>
          </a:p>
        </p:txBody>
      </p:sp>
      <p:sp>
        <p:nvSpPr>
          <p:cNvPr id="26" name="Text 23"/>
          <p:cNvSpPr txBox="1"/>
          <p:nvPr/>
        </p:nvSpPr>
        <p:spPr>
          <a:xfrm>
            <a:off x="847649" y="5553151"/>
            <a:ext cx="15819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全国展開のスケールメリット</a:t>
            </a:r>
            <a:endParaRPr lang="en-US" sz="900" dirty="0"/>
          </a:p>
        </p:txBody>
      </p:sp>
      <p:sp>
        <p:nvSpPr>
          <p:cNvPr id="27" name="Text 24"/>
          <p:cNvSpPr txBox="1"/>
          <p:nvPr/>
        </p:nvSpPr>
        <p:spPr>
          <a:xfrm>
            <a:off x="847649" y="5743346"/>
            <a:ext cx="1248156"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23時まで営業の利便性</a:t>
            </a:r>
            <a:endParaRPr lang="en-US" sz="900" dirty="0"/>
          </a:p>
        </p:txBody>
      </p:sp>
      <p:sp>
        <p:nvSpPr>
          <p:cNvPr id="28" name="Text 25"/>
          <p:cNvSpPr txBox="1"/>
          <p:nvPr/>
        </p:nvSpPr>
        <p:spPr>
          <a:xfrm>
            <a:off x="847649" y="5934456"/>
            <a:ext cx="13533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低価格×高級薬剤の訴求</a:t>
            </a:r>
            <a:endParaRPr lang="en-US" sz="900" dirty="0"/>
          </a:p>
        </p:txBody>
      </p:sp>
      <p:sp>
        <p:nvSpPr>
          <p:cNvPr id="29" name="Shape 26"/>
          <p:cNvSpPr/>
          <p:nvPr/>
        </p:nvSpPr>
        <p:spPr>
          <a:xfrm>
            <a:off x="3409798" y="2324405"/>
            <a:ext cx="2572207" cy="4000500"/>
          </a:xfrm>
          <a:prstGeom prst="roundRect">
            <a:avLst>
              <a:gd name="adj" fmla="val 1580"/>
            </a:avLst>
          </a:prstGeom>
          <a:solidFill>
            <a:srgbClr val="FFFFFF"/>
          </a:solidFill>
          <a:ln w="12700">
            <a:solidFill>
              <a:srgbClr val="E5E7EB"/>
            </a:solidFill>
            <a:prstDash val="solid"/>
          </a:ln>
        </p:spPr>
      </p:sp>
      <p:sp>
        <p:nvSpPr>
          <p:cNvPr id="30" name="Shape 27"/>
          <p:cNvSpPr/>
          <p:nvPr/>
        </p:nvSpPr>
        <p:spPr>
          <a:xfrm>
            <a:off x="3419856" y="2333549"/>
            <a:ext cx="2553005" cy="38405"/>
          </a:xfrm>
          <a:prstGeom prst="rect">
            <a:avLst/>
          </a:prstGeom>
          <a:solidFill>
            <a:srgbClr val="EC4899"/>
          </a:solidFill>
          <a:ln/>
        </p:spPr>
      </p:sp>
      <p:sp>
        <p:nvSpPr>
          <p:cNvPr id="31" name="Text 28"/>
          <p:cNvSpPr txBox="1"/>
          <p:nvPr/>
        </p:nvSpPr>
        <p:spPr>
          <a:xfrm>
            <a:off x="3648456" y="2553005"/>
            <a:ext cx="7818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トレンド発信</a:t>
            </a:r>
            <a:endParaRPr lang="en-US" sz="900" dirty="0"/>
          </a:p>
        </p:txBody>
      </p:sp>
      <p:sp>
        <p:nvSpPr>
          <p:cNvPr id="32" name="Text 29"/>
          <p:cNvSpPr txBox="1"/>
          <p:nvPr/>
        </p:nvSpPr>
        <p:spPr>
          <a:xfrm>
            <a:off x="3648456" y="2734056"/>
            <a:ext cx="724205"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Merak</a:t>
            </a:r>
            <a:endParaRPr lang="en-US" sz="1500" dirty="0"/>
          </a:p>
        </p:txBody>
      </p:sp>
      <p:sp>
        <p:nvSpPr>
          <p:cNvPr id="33" name="Text 30"/>
          <p:cNvSpPr txBox="1"/>
          <p:nvPr/>
        </p:nvSpPr>
        <p:spPr>
          <a:xfrm>
            <a:off x="3648456" y="2971800"/>
            <a:ext cx="109545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【メラク】</a:t>
            </a:r>
            <a:endParaRPr lang="en-US" sz="1500" dirty="0"/>
          </a:p>
        </p:txBody>
      </p:sp>
      <p:sp>
        <p:nvSpPr>
          <p:cNvPr id="34" name="Shape 31"/>
          <p:cNvSpPr/>
          <p:nvPr/>
        </p:nvSpPr>
        <p:spPr>
          <a:xfrm>
            <a:off x="5438851" y="2562149"/>
            <a:ext cx="304495" cy="304495"/>
          </a:xfrm>
          <a:prstGeom prst="roundRect">
            <a:avLst>
              <a:gd name="adj" fmla="val 300300"/>
            </a:avLst>
          </a:prstGeom>
          <a:solidFill>
            <a:srgbClr val="FDF2F8"/>
          </a:solidFill>
          <a:ln/>
        </p:spPr>
      </p:sp>
      <p:pic>
        <p:nvPicPr>
          <p:cNvPr id="35" name="Image 1" descr="preencoded.png">    </p:cNvPr>
          <p:cNvPicPr>
            <a:picLocks noChangeAspect="1"/>
          </p:cNvPicPr>
          <p:nvPr/>
        </p:nvPicPr>
        <p:blipFill>
          <a:blip r:embed="rId2"/>
          <a:srcRect l="0" r="0" t="0" b="0"/>
          <a:stretch/>
        </p:blipFill>
        <p:spPr>
          <a:xfrm>
            <a:off x="5514746" y="2638044"/>
            <a:ext cx="152705" cy="152705"/>
          </a:xfrm>
          <a:prstGeom prst="rect">
            <a:avLst/>
          </a:prstGeom>
        </p:spPr>
      </p:pic>
      <p:sp>
        <p:nvSpPr>
          <p:cNvPr id="36" name="Shape 32"/>
          <p:cNvSpPr/>
          <p:nvPr/>
        </p:nvSpPr>
        <p:spPr>
          <a:xfrm>
            <a:off x="3648456" y="3381451"/>
            <a:ext cx="504749" cy="228600"/>
          </a:xfrm>
          <a:prstGeom prst="roundRect">
            <a:avLst>
              <a:gd name="adj" fmla="val 66667"/>
            </a:avLst>
          </a:prstGeom>
          <a:solidFill>
            <a:srgbClr val="FCE7F3"/>
          </a:solidFill>
          <a:ln/>
        </p:spPr>
      </p:sp>
      <p:sp>
        <p:nvSpPr>
          <p:cNvPr id="37" name="Text 33"/>
          <p:cNvSpPr txBox="1"/>
          <p:nvPr/>
        </p:nvSpPr>
        <p:spPr>
          <a:xfrm>
            <a:off x="3724351" y="3409798"/>
            <a:ext cx="438912" cy="162763"/>
          </a:xfrm>
          <a:prstGeom prst="rect">
            <a:avLst/>
          </a:prstGeom>
          <a:noFill/>
          <a:ln/>
        </p:spPr>
        <p:txBody>
          <a:bodyPr wrap="square" lIns="0" tIns="0" rIns="0" bIns="0" rtlCol="0" anchor="ctr"/>
          <a:lstStyle/>
          <a:p>
            <a:pPr algn="l" indent="0" marL="0">
              <a:buNone/>
            </a:pPr>
            <a:r>
              <a:rPr lang="en-US" sz="900" b="1" dirty="0">
                <a:solidFill>
                  <a:srgbClr val="DB2777"/>
                </a:solidFill>
                <a:latin typeface="Noto Sans JP" pitchFamily="34" charset="0"/>
                <a:ea typeface="Noto Sans JP" pitchFamily="34" charset="-122"/>
                <a:cs typeface="Noto Sans JP" pitchFamily="34" charset="-120"/>
              </a:rPr>
              <a:t>韓国風</a:t>
            </a:r>
            <a:endParaRPr lang="en-US" sz="900" dirty="0"/>
          </a:p>
        </p:txBody>
      </p:sp>
      <p:sp>
        <p:nvSpPr>
          <p:cNvPr id="38" name="Shape 34"/>
          <p:cNvSpPr/>
          <p:nvPr/>
        </p:nvSpPr>
        <p:spPr>
          <a:xfrm>
            <a:off x="4219956" y="3381451"/>
            <a:ext cx="847649" cy="228600"/>
          </a:xfrm>
          <a:prstGeom prst="roundRect">
            <a:avLst>
              <a:gd name="adj" fmla="val 66667"/>
            </a:avLst>
          </a:prstGeom>
          <a:solidFill>
            <a:srgbClr val="DCFCE7"/>
          </a:solidFill>
          <a:ln/>
        </p:spPr>
      </p:sp>
      <p:sp>
        <p:nvSpPr>
          <p:cNvPr id="39" name="Text 35"/>
          <p:cNvSpPr txBox="1"/>
          <p:nvPr/>
        </p:nvSpPr>
        <p:spPr>
          <a:xfrm>
            <a:off x="4295851" y="3409798"/>
            <a:ext cx="781812" cy="162763"/>
          </a:xfrm>
          <a:prstGeom prst="rect">
            <a:avLst/>
          </a:prstGeom>
          <a:noFill/>
          <a:ln/>
        </p:spPr>
        <p:txBody>
          <a:bodyPr wrap="square" lIns="0" tIns="0" rIns="0" bIns="0" rtlCol="0" anchor="ctr"/>
          <a:lstStyle/>
          <a:p>
            <a:pPr algn="l" indent="0" marL="0">
              <a:buNone/>
            </a:pPr>
            <a:r>
              <a:rPr lang="en-US" sz="900" b="1" dirty="0">
                <a:solidFill>
                  <a:srgbClr val="16A34A"/>
                </a:solidFill>
                <a:latin typeface="Noto Sans JP" pitchFamily="34" charset="0"/>
                <a:ea typeface="Noto Sans JP" pitchFamily="34" charset="-122"/>
                <a:cs typeface="Noto Sans JP" pitchFamily="34" charset="-120"/>
              </a:rPr>
              <a:t>顔周りカット</a:t>
            </a:r>
            <a:endParaRPr lang="en-US" sz="900" dirty="0"/>
          </a:p>
        </p:txBody>
      </p:sp>
      <p:sp>
        <p:nvSpPr>
          <p:cNvPr id="40" name="Shape 36"/>
          <p:cNvSpPr/>
          <p:nvPr/>
        </p:nvSpPr>
        <p:spPr>
          <a:xfrm>
            <a:off x="3648456" y="3762756"/>
            <a:ext cx="2095805" cy="724205"/>
          </a:xfrm>
          <a:prstGeom prst="roundRect">
            <a:avLst>
              <a:gd name="adj" fmla="val 13291"/>
            </a:avLst>
          </a:prstGeom>
          <a:solidFill>
            <a:srgbClr val="F9FAFB"/>
          </a:solidFill>
          <a:ln/>
        </p:spPr>
      </p:sp>
      <p:sp>
        <p:nvSpPr>
          <p:cNvPr id="41" name="Text 37"/>
          <p:cNvSpPr txBox="1"/>
          <p:nvPr/>
        </p:nvSpPr>
        <p:spPr>
          <a:xfrm>
            <a:off x="3762756" y="3866998"/>
            <a:ext cx="8385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カット+カラー</a:t>
            </a:r>
            <a:endParaRPr lang="en-US" sz="900" dirty="0"/>
          </a:p>
        </p:txBody>
      </p:sp>
      <p:sp>
        <p:nvSpPr>
          <p:cNvPr id="42" name="Text 38"/>
          <p:cNvSpPr txBox="1"/>
          <p:nvPr/>
        </p:nvSpPr>
        <p:spPr>
          <a:xfrm>
            <a:off x="3762756" y="4048049"/>
            <a:ext cx="11530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¥7,900〜</a:t>
            </a:r>
            <a:endParaRPr lang="en-US" sz="1800" dirty="0"/>
          </a:p>
        </p:txBody>
      </p:sp>
      <p:sp>
        <p:nvSpPr>
          <p:cNvPr id="43" name="Shape 39"/>
          <p:cNvSpPr/>
          <p:nvPr/>
        </p:nvSpPr>
        <p:spPr>
          <a:xfrm>
            <a:off x="3648456" y="5468112"/>
            <a:ext cx="2095805" cy="9144"/>
          </a:xfrm>
          <a:prstGeom prst="rect">
            <a:avLst/>
          </a:prstGeom>
          <a:solidFill>
            <a:srgbClr val="F3F4F6"/>
          </a:solidFill>
          <a:ln/>
        </p:spPr>
      </p:sp>
      <p:sp>
        <p:nvSpPr>
          <p:cNvPr id="44" name="Text 40"/>
          <p:cNvSpPr txBox="1"/>
          <p:nvPr/>
        </p:nvSpPr>
        <p:spPr>
          <a:xfrm>
            <a:off x="3648456" y="5266944"/>
            <a:ext cx="6675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強み・特徴</a:t>
            </a:r>
            <a:endParaRPr lang="en-US" sz="900" dirty="0"/>
          </a:p>
        </p:txBody>
      </p:sp>
      <p:sp>
        <p:nvSpPr>
          <p:cNvPr id="45" name="Text 41"/>
          <p:cNvSpPr txBox="1"/>
          <p:nvPr/>
        </p:nvSpPr>
        <p:spPr>
          <a:xfrm>
            <a:off x="3648456" y="5553151"/>
            <a:ext cx="1334110"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SNS映えする内装と技術</a:t>
            </a:r>
            <a:endParaRPr lang="en-US" sz="900" dirty="0"/>
          </a:p>
        </p:txBody>
      </p:sp>
      <p:sp>
        <p:nvSpPr>
          <p:cNvPr id="46" name="Text 42"/>
          <p:cNvSpPr txBox="1"/>
          <p:nvPr/>
        </p:nvSpPr>
        <p:spPr>
          <a:xfrm>
            <a:off x="3648456" y="5743346"/>
            <a:ext cx="12390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顔周りの似合わせ特化</a:t>
            </a:r>
            <a:endParaRPr lang="en-US" sz="900" dirty="0"/>
          </a:p>
        </p:txBody>
      </p:sp>
      <p:sp>
        <p:nvSpPr>
          <p:cNvPr id="47" name="Text 43"/>
          <p:cNvSpPr txBox="1"/>
          <p:nvPr/>
        </p:nvSpPr>
        <p:spPr>
          <a:xfrm>
            <a:off x="3648456" y="5934456"/>
            <a:ext cx="11247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中価格帯での質重視</a:t>
            </a:r>
            <a:endParaRPr lang="en-US" sz="900" dirty="0"/>
          </a:p>
        </p:txBody>
      </p:sp>
      <p:sp>
        <p:nvSpPr>
          <p:cNvPr id="48" name="Shape 44"/>
          <p:cNvSpPr/>
          <p:nvPr/>
        </p:nvSpPr>
        <p:spPr>
          <a:xfrm>
            <a:off x="6210605" y="2324405"/>
            <a:ext cx="2572207" cy="4000500"/>
          </a:xfrm>
          <a:prstGeom prst="roundRect">
            <a:avLst>
              <a:gd name="adj" fmla="val 1580"/>
            </a:avLst>
          </a:prstGeom>
          <a:solidFill>
            <a:srgbClr val="FFFFFF"/>
          </a:solidFill>
          <a:ln w="12700">
            <a:solidFill>
              <a:srgbClr val="E5E7EB"/>
            </a:solidFill>
            <a:prstDash val="solid"/>
          </a:ln>
        </p:spPr>
      </p:sp>
      <p:sp>
        <p:nvSpPr>
          <p:cNvPr id="49" name="Shape 45"/>
          <p:cNvSpPr/>
          <p:nvPr/>
        </p:nvSpPr>
        <p:spPr>
          <a:xfrm>
            <a:off x="6219749" y="2333549"/>
            <a:ext cx="2553005" cy="38405"/>
          </a:xfrm>
          <a:prstGeom prst="rect">
            <a:avLst/>
          </a:prstGeom>
          <a:solidFill>
            <a:srgbClr val="10B981"/>
          </a:solidFill>
          <a:ln/>
        </p:spPr>
      </p:sp>
      <p:sp>
        <p:nvSpPr>
          <p:cNvPr id="50" name="Text 46"/>
          <p:cNvSpPr txBox="1"/>
          <p:nvPr/>
        </p:nvSpPr>
        <p:spPr>
          <a:xfrm>
            <a:off x="6448349" y="2553005"/>
            <a:ext cx="7818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安定の実力派</a:t>
            </a:r>
            <a:endParaRPr lang="en-US" sz="900" dirty="0"/>
          </a:p>
        </p:txBody>
      </p:sp>
      <p:sp>
        <p:nvSpPr>
          <p:cNvPr id="51" name="Text 47"/>
          <p:cNvSpPr txBox="1"/>
          <p:nvPr/>
        </p:nvSpPr>
        <p:spPr>
          <a:xfrm>
            <a:off x="6448349" y="2734056"/>
            <a:ext cx="1143000"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EIGHT plat</a:t>
            </a:r>
            <a:endParaRPr lang="en-US" sz="1500" dirty="0"/>
          </a:p>
        </p:txBody>
      </p:sp>
      <p:sp>
        <p:nvSpPr>
          <p:cNvPr id="52" name="Text 48"/>
          <p:cNvSpPr txBox="1"/>
          <p:nvPr/>
        </p:nvSpPr>
        <p:spPr>
          <a:xfrm>
            <a:off x="6448349" y="2971800"/>
            <a:ext cx="71506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渋谷店</a:t>
            </a:r>
            <a:endParaRPr lang="en-US" sz="1500" dirty="0"/>
          </a:p>
        </p:txBody>
      </p:sp>
      <p:sp>
        <p:nvSpPr>
          <p:cNvPr id="53" name="Shape 49"/>
          <p:cNvSpPr/>
          <p:nvPr/>
        </p:nvSpPr>
        <p:spPr>
          <a:xfrm>
            <a:off x="8238744" y="2562149"/>
            <a:ext cx="304495" cy="304495"/>
          </a:xfrm>
          <a:prstGeom prst="roundRect">
            <a:avLst>
              <a:gd name="adj" fmla="val 300300"/>
            </a:avLst>
          </a:prstGeom>
          <a:solidFill>
            <a:srgbClr val="ECFDF5"/>
          </a:solidFill>
          <a:ln/>
        </p:spPr>
      </p:sp>
      <p:pic>
        <p:nvPicPr>
          <p:cNvPr id="54" name="Image 2" descr="preencoded.png">    </p:cNvPr>
          <p:cNvPicPr>
            <a:picLocks noChangeAspect="1"/>
          </p:cNvPicPr>
          <p:nvPr/>
        </p:nvPicPr>
        <p:blipFill>
          <a:blip r:embed="rId3"/>
          <a:srcRect l="0" r="0" t="0" b="0"/>
          <a:stretch/>
        </p:blipFill>
        <p:spPr>
          <a:xfrm>
            <a:off x="8315554" y="2638044"/>
            <a:ext cx="152705" cy="152705"/>
          </a:xfrm>
          <a:prstGeom prst="rect">
            <a:avLst/>
          </a:prstGeom>
        </p:spPr>
      </p:pic>
      <p:sp>
        <p:nvSpPr>
          <p:cNvPr id="55" name="Shape 50"/>
          <p:cNvSpPr/>
          <p:nvPr/>
        </p:nvSpPr>
        <p:spPr>
          <a:xfrm>
            <a:off x="6448349" y="3381451"/>
            <a:ext cx="619049" cy="228600"/>
          </a:xfrm>
          <a:prstGeom prst="roundRect">
            <a:avLst>
              <a:gd name="adj" fmla="val 66667"/>
            </a:avLst>
          </a:prstGeom>
          <a:solidFill>
            <a:srgbClr val="FCE7F3"/>
          </a:solidFill>
          <a:ln/>
        </p:spPr>
      </p:sp>
      <p:sp>
        <p:nvSpPr>
          <p:cNvPr id="56" name="Text 51"/>
          <p:cNvSpPr txBox="1"/>
          <p:nvPr/>
        </p:nvSpPr>
        <p:spPr>
          <a:xfrm>
            <a:off x="6524244" y="3409798"/>
            <a:ext cx="553212" cy="162763"/>
          </a:xfrm>
          <a:prstGeom prst="rect">
            <a:avLst/>
          </a:prstGeom>
          <a:noFill/>
          <a:ln/>
        </p:spPr>
        <p:txBody>
          <a:bodyPr wrap="square" lIns="0" tIns="0" rIns="0" bIns="0" rtlCol="0" anchor="ctr"/>
          <a:lstStyle/>
          <a:p>
            <a:pPr algn="l" indent="0" marL="0">
              <a:buNone/>
            </a:pPr>
            <a:r>
              <a:rPr lang="en-US" sz="900" b="1" dirty="0">
                <a:solidFill>
                  <a:srgbClr val="DB2777"/>
                </a:solidFill>
                <a:latin typeface="Noto Sans JP" pitchFamily="34" charset="0"/>
                <a:ea typeface="Noto Sans JP" pitchFamily="34" charset="-122"/>
                <a:cs typeface="Noto Sans JP" pitchFamily="34" charset="-120"/>
              </a:rPr>
              <a:t>イルミナ</a:t>
            </a:r>
            <a:endParaRPr lang="en-US" sz="900" dirty="0"/>
          </a:p>
        </p:txBody>
      </p:sp>
      <p:sp>
        <p:nvSpPr>
          <p:cNvPr id="57" name="Shape 52"/>
          <p:cNvSpPr/>
          <p:nvPr/>
        </p:nvSpPr>
        <p:spPr>
          <a:xfrm>
            <a:off x="7134149" y="3381451"/>
            <a:ext cx="619049" cy="228600"/>
          </a:xfrm>
          <a:prstGeom prst="roundRect">
            <a:avLst>
              <a:gd name="adj" fmla="val 66667"/>
            </a:avLst>
          </a:prstGeom>
          <a:solidFill>
            <a:srgbClr val="E0F2FE"/>
          </a:solidFill>
          <a:ln/>
        </p:spPr>
      </p:sp>
      <p:sp>
        <p:nvSpPr>
          <p:cNvPr id="58" name="Text 53"/>
          <p:cNvSpPr txBox="1"/>
          <p:nvPr/>
        </p:nvSpPr>
        <p:spPr>
          <a:xfrm>
            <a:off x="7210958" y="3409798"/>
            <a:ext cx="553212" cy="162763"/>
          </a:xfrm>
          <a:prstGeom prst="rect">
            <a:avLst/>
          </a:prstGeom>
          <a:noFill/>
          <a:ln/>
        </p:spPr>
        <p:txBody>
          <a:bodyPr wrap="square" lIns="0" tIns="0" rIns="0" bIns="0" rtlCol="0" anchor="ctr"/>
          <a:lstStyle/>
          <a:p>
            <a:pPr algn="l" indent="0" marL="0">
              <a:buNone/>
            </a:pPr>
            <a:r>
              <a:rPr lang="en-US" sz="900" b="1" dirty="0">
                <a:solidFill>
                  <a:srgbClr val="0284C7"/>
                </a:solidFill>
                <a:latin typeface="Noto Sans JP" pitchFamily="34" charset="0"/>
                <a:ea typeface="Noto Sans JP" pitchFamily="34" charset="-122"/>
                <a:cs typeface="Noto Sans JP" pitchFamily="34" charset="-120"/>
              </a:rPr>
              <a:t>高コスパ</a:t>
            </a:r>
            <a:endParaRPr lang="en-US" sz="900" dirty="0"/>
          </a:p>
        </p:txBody>
      </p:sp>
      <p:sp>
        <p:nvSpPr>
          <p:cNvPr id="59" name="Shape 54"/>
          <p:cNvSpPr/>
          <p:nvPr/>
        </p:nvSpPr>
        <p:spPr>
          <a:xfrm>
            <a:off x="6448349" y="3762756"/>
            <a:ext cx="2095805" cy="724205"/>
          </a:xfrm>
          <a:prstGeom prst="roundRect">
            <a:avLst>
              <a:gd name="adj" fmla="val 13291"/>
            </a:avLst>
          </a:prstGeom>
          <a:solidFill>
            <a:srgbClr val="F9FAFB"/>
          </a:solidFill>
          <a:ln/>
        </p:spPr>
      </p:sp>
      <p:sp>
        <p:nvSpPr>
          <p:cNvPr id="60" name="Text 55"/>
          <p:cNvSpPr txBox="1"/>
          <p:nvPr/>
        </p:nvSpPr>
        <p:spPr>
          <a:xfrm>
            <a:off x="6562649" y="3866998"/>
            <a:ext cx="12957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イルミナカラー+カット</a:t>
            </a:r>
            <a:endParaRPr lang="en-US" sz="900" dirty="0"/>
          </a:p>
        </p:txBody>
      </p:sp>
      <p:sp>
        <p:nvSpPr>
          <p:cNvPr id="61" name="Text 56"/>
          <p:cNvSpPr txBox="1"/>
          <p:nvPr/>
        </p:nvSpPr>
        <p:spPr>
          <a:xfrm>
            <a:off x="6562649" y="4048049"/>
            <a:ext cx="11530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¥6,900〜</a:t>
            </a:r>
            <a:endParaRPr lang="en-US" sz="1800" dirty="0"/>
          </a:p>
        </p:txBody>
      </p:sp>
      <p:sp>
        <p:nvSpPr>
          <p:cNvPr id="62" name="Shape 57"/>
          <p:cNvSpPr/>
          <p:nvPr/>
        </p:nvSpPr>
        <p:spPr>
          <a:xfrm>
            <a:off x="6448349" y="5468112"/>
            <a:ext cx="2095805" cy="9144"/>
          </a:xfrm>
          <a:prstGeom prst="rect">
            <a:avLst/>
          </a:prstGeom>
          <a:solidFill>
            <a:srgbClr val="F3F4F6"/>
          </a:solidFill>
          <a:ln/>
        </p:spPr>
      </p:sp>
      <p:sp>
        <p:nvSpPr>
          <p:cNvPr id="63" name="Text 58"/>
          <p:cNvSpPr txBox="1"/>
          <p:nvPr/>
        </p:nvSpPr>
        <p:spPr>
          <a:xfrm>
            <a:off x="6448349" y="5266944"/>
            <a:ext cx="6675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強み・特徴</a:t>
            </a:r>
            <a:endParaRPr lang="en-US" sz="900" dirty="0"/>
          </a:p>
        </p:txBody>
      </p:sp>
      <p:sp>
        <p:nvSpPr>
          <p:cNvPr id="64" name="Text 59"/>
          <p:cNvSpPr txBox="1"/>
          <p:nvPr/>
        </p:nvSpPr>
        <p:spPr>
          <a:xfrm>
            <a:off x="6448349" y="5553151"/>
            <a:ext cx="8961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知名度と信頼感</a:t>
            </a:r>
            <a:endParaRPr lang="en-US" sz="900" dirty="0"/>
          </a:p>
        </p:txBody>
      </p:sp>
      <p:sp>
        <p:nvSpPr>
          <p:cNvPr id="65" name="Text 60"/>
          <p:cNvSpPr txBox="1"/>
          <p:nvPr/>
        </p:nvSpPr>
        <p:spPr>
          <a:xfrm>
            <a:off x="6448349" y="5743346"/>
            <a:ext cx="12390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幅広い客層への対応力</a:t>
            </a:r>
            <a:endParaRPr lang="en-US" sz="900" dirty="0"/>
          </a:p>
        </p:txBody>
      </p:sp>
      <p:sp>
        <p:nvSpPr>
          <p:cNvPr id="66" name="Text 61"/>
          <p:cNvSpPr txBox="1"/>
          <p:nvPr/>
        </p:nvSpPr>
        <p:spPr>
          <a:xfrm>
            <a:off x="6448349" y="5934456"/>
            <a:ext cx="1457554"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メンズ客の取り込みも強い</a:t>
            </a:r>
            <a:endParaRPr lang="en-US" sz="900" dirty="0"/>
          </a:p>
        </p:txBody>
      </p:sp>
      <p:sp>
        <p:nvSpPr>
          <p:cNvPr id="67" name="Shape 62"/>
          <p:cNvSpPr/>
          <p:nvPr/>
        </p:nvSpPr>
        <p:spPr>
          <a:xfrm>
            <a:off x="9010498" y="2324405"/>
            <a:ext cx="2572207" cy="4000500"/>
          </a:xfrm>
          <a:prstGeom prst="roundRect">
            <a:avLst>
              <a:gd name="adj" fmla="val 1580"/>
            </a:avLst>
          </a:prstGeom>
          <a:solidFill>
            <a:srgbClr val="FFFFFF"/>
          </a:solidFill>
          <a:ln w="12700">
            <a:solidFill>
              <a:srgbClr val="E5E7EB"/>
            </a:solidFill>
            <a:prstDash val="solid"/>
          </a:ln>
        </p:spPr>
      </p:sp>
      <p:sp>
        <p:nvSpPr>
          <p:cNvPr id="68" name="Shape 63"/>
          <p:cNvSpPr/>
          <p:nvPr/>
        </p:nvSpPr>
        <p:spPr>
          <a:xfrm>
            <a:off x="9020556" y="2333549"/>
            <a:ext cx="2553005" cy="38405"/>
          </a:xfrm>
          <a:prstGeom prst="rect">
            <a:avLst/>
          </a:prstGeom>
          <a:solidFill>
            <a:srgbClr val="8B5CF6"/>
          </a:solidFill>
          <a:ln/>
        </p:spPr>
      </p:sp>
      <p:sp>
        <p:nvSpPr>
          <p:cNvPr id="69" name="Text 64"/>
          <p:cNvSpPr txBox="1"/>
          <p:nvPr/>
        </p:nvSpPr>
        <p:spPr>
          <a:xfrm>
            <a:off x="9249156" y="2553005"/>
            <a:ext cx="7818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髪質改善・艶</a:t>
            </a:r>
            <a:endParaRPr lang="en-US" sz="900" dirty="0"/>
          </a:p>
        </p:txBody>
      </p:sp>
      <p:sp>
        <p:nvSpPr>
          <p:cNvPr id="70" name="Text 65"/>
          <p:cNvSpPr txBox="1"/>
          <p:nvPr/>
        </p:nvSpPr>
        <p:spPr>
          <a:xfrm>
            <a:off x="9249156" y="2734056"/>
            <a:ext cx="553212"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Zina</a:t>
            </a:r>
            <a:endParaRPr lang="en-US" sz="1500" dirty="0"/>
          </a:p>
        </p:txBody>
      </p:sp>
      <p:sp>
        <p:nvSpPr>
          <p:cNvPr id="71" name="Text 66"/>
          <p:cNvSpPr txBox="1"/>
          <p:nvPr/>
        </p:nvSpPr>
        <p:spPr>
          <a:xfrm>
            <a:off x="9249156" y="2971800"/>
            <a:ext cx="523951"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渋谷</a:t>
            </a:r>
            <a:endParaRPr lang="en-US" sz="1500" dirty="0"/>
          </a:p>
        </p:txBody>
      </p:sp>
      <p:sp>
        <p:nvSpPr>
          <p:cNvPr id="72" name="Shape 67"/>
          <p:cNvSpPr/>
          <p:nvPr/>
        </p:nvSpPr>
        <p:spPr>
          <a:xfrm>
            <a:off x="11039551" y="2562149"/>
            <a:ext cx="304495" cy="304495"/>
          </a:xfrm>
          <a:prstGeom prst="roundRect">
            <a:avLst>
              <a:gd name="adj" fmla="val 300300"/>
            </a:avLst>
          </a:prstGeom>
          <a:solidFill>
            <a:srgbClr val="F5F3FF"/>
          </a:solidFill>
          <a:ln/>
        </p:spPr>
      </p:sp>
      <p:pic>
        <p:nvPicPr>
          <p:cNvPr id="73" name="Image 3" descr="preencoded.png">    </p:cNvPr>
          <p:cNvPicPr>
            <a:picLocks noChangeAspect="1"/>
          </p:cNvPicPr>
          <p:nvPr/>
        </p:nvPicPr>
        <p:blipFill>
          <a:blip r:embed="rId4"/>
          <a:srcRect l="0" r="0" t="0" b="0"/>
          <a:stretch/>
        </p:blipFill>
        <p:spPr>
          <a:xfrm>
            <a:off x="11115446" y="2638044"/>
            <a:ext cx="152705" cy="152705"/>
          </a:xfrm>
          <a:prstGeom prst="rect">
            <a:avLst/>
          </a:prstGeom>
        </p:spPr>
      </p:pic>
      <p:sp>
        <p:nvSpPr>
          <p:cNvPr id="74" name="Shape 68"/>
          <p:cNvSpPr/>
          <p:nvPr/>
        </p:nvSpPr>
        <p:spPr>
          <a:xfrm>
            <a:off x="9249156" y="3381451"/>
            <a:ext cx="619049" cy="228600"/>
          </a:xfrm>
          <a:prstGeom prst="roundRect">
            <a:avLst>
              <a:gd name="adj" fmla="val 66667"/>
            </a:avLst>
          </a:prstGeom>
          <a:solidFill>
            <a:srgbClr val="F3E8FF"/>
          </a:solidFill>
          <a:ln/>
        </p:spPr>
      </p:sp>
      <p:sp>
        <p:nvSpPr>
          <p:cNvPr id="75" name="Text 69"/>
          <p:cNvSpPr txBox="1"/>
          <p:nvPr/>
        </p:nvSpPr>
        <p:spPr>
          <a:xfrm>
            <a:off x="9325051" y="3409798"/>
            <a:ext cx="553212" cy="162763"/>
          </a:xfrm>
          <a:prstGeom prst="rect">
            <a:avLst/>
          </a:prstGeom>
          <a:noFill/>
          <a:ln/>
        </p:spPr>
        <p:txBody>
          <a:bodyPr wrap="square" lIns="0" tIns="0" rIns="0" bIns="0" rtlCol="0" anchor="ctr"/>
          <a:lstStyle/>
          <a:p>
            <a:pPr algn="l" indent="0" marL="0">
              <a:buNone/>
            </a:pPr>
            <a:r>
              <a:rPr lang="en-US" sz="900" b="1" dirty="0">
                <a:solidFill>
                  <a:srgbClr val="9333EA"/>
                </a:solidFill>
                <a:latin typeface="Noto Sans JP" pitchFamily="34" charset="0"/>
                <a:ea typeface="Noto Sans JP" pitchFamily="34" charset="-122"/>
                <a:cs typeface="Noto Sans JP" pitchFamily="34" charset="-120"/>
              </a:rPr>
              <a:t>髪質改善</a:t>
            </a:r>
            <a:endParaRPr lang="en-US" sz="900" dirty="0"/>
          </a:p>
        </p:txBody>
      </p:sp>
      <p:sp>
        <p:nvSpPr>
          <p:cNvPr id="76" name="Shape 70"/>
          <p:cNvSpPr/>
          <p:nvPr/>
        </p:nvSpPr>
        <p:spPr>
          <a:xfrm>
            <a:off x="9934956" y="3381451"/>
            <a:ext cx="390449" cy="228600"/>
          </a:xfrm>
          <a:prstGeom prst="roundRect">
            <a:avLst>
              <a:gd name="adj" fmla="val 66667"/>
            </a:avLst>
          </a:prstGeom>
          <a:solidFill>
            <a:srgbClr val="DCFCE7"/>
          </a:solidFill>
          <a:ln/>
        </p:spPr>
      </p:sp>
      <p:sp>
        <p:nvSpPr>
          <p:cNvPr id="77" name="Text 71"/>
          <p:cNvSpPr txBox="1"/>
          <p:nvPr/>
        </p:nvSpPr>
        <p:spPr>
          <a:xfrm>
            <a:off x="10010851" y="3409798"/>
            <a:ext cx="324612" cy="162763"/>
          </a:xfrm>
          <a:prstGeom prst="rect">
            <a:avLst/>
          </a:prstGeom>
          <a:noFill/>
          <a:ln/>
        </p:spPr>
        <p:txBody>
          <a:bodyPr wrap="square" lIns="0" tIns="0" rIns="0" bIns="0" rtlCol="0" anchor="ctr"/>
          <a:lstStyle/>
          <a:p>
            <a:pPr algn="l" indent="0" marL="0">
              <a:buNone/>
            </a:pPr>
            <a:r>
              <a:rPr lang="en-US" sz="900" b="1" dirty="0">
                <a:solidFill>
                  <a:srgbClr val="16A34A"/>
                </a:solidFill>
                <a:latin typeface="Noto Sans JP" pitchFamily="34" charset="0"/>
                <a:ea typeface="Noto Sans JP" pitchFamily="34" charset="-122"/>
                <a:cs typeface="Noto Sans JP" pitchFamily="34" charset="-120"/>
              </a:rPr>
              <a:t>艶髪</a:t>
            </a:r>
            <a:endParaRPr lang="en-US" sz="900" dirty="0"/>
          </a:p>
        </p:txBody>
      </p:sp>
      <p:sp>
        <p:nvSpPr>
          <p:cNvPr id="78" name="Shape 72"/>
          <p:cNvSpPr/>
          <p:nvPr/>
        </p:nvSpPr>
        <p:spPr>
          <a:xfrm>
            <a:off x="9249156" y="3762756"/>
            <a:ext cx="2095805" cy="724205"/>
          </a:xfrm>
          <a:prstGeom prst="roundRect">
            <a:avLst>
              <a:gd name="adj" fmla="val 13291"/>
            </a:avLst>
          </a:prstGeom>
          <a:solidFill>
            <a:srgbClr val="F9FAFB"/>
          </a:solidFill>
          <a:ln/>
        </p:spPr>
      </p:sp>
      <p:sp>
        <p:nvSpPr>
          <p:cNvPr id="79" name="Text 73"/>
          <p:cNvSpPr txBox="1"/>
          <p:nvPr/>
        </p:nvSpPr>
        <p:spPr>
          <a:xfrm>
            <a:off x="9363456" y="3866998"/>
            <a:ext cx="9528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髪質改善+カラー</a:t>
            </a:r>
            <a:endParaRPr lang="en-US" sz="900" dirty="0"/>
          </a:p>
        </p:txBody>
      </p:sp>
      <p:sp>
        <p:nvSpPr>
          <p:cNvPr id="80" name="Text 74"/>
          <p:cNvSpPr txBox="1"/>
          <p:nvPr/>
        </p:nvSpPr>
        <p:spPr>
          <a:xfrm>
            <a:off x="9363456" y="4048049"/>
            <a:ext cx="11530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¥8,900〜</a:t>
            </a:r>
            <a:endParaRPr lang="en-US" sz="1800" dirty="0"/>
          </a:p>
        </p:txBody>
      </p:sp>
      <p:sp>
        <p:nvSpPr>
          <p:cNvPr id="81" name="Shape 75"/>
          <p:cNvSpPr/>
          <p:nvPr/>
        </p:nvSpPr>
        <p:spPr>
          <a:xfrm>
            <a:off x="9249156" y="5468112"/>
            <a:ext cx="2095805" cy="9144"/>
          </a:xfrm>
          <a:prstGeom prst="rect">
            <a:avLst/>
          </a:prstGeom>
          <a:solidFill>
            <a:srgbClr val="F3F4F6"/>
          </a:solidFill>
          <a:ln/>
        </p:spPr>
      </p:sp>
      <p:sp>
        <p:nvSpPr>
          <p:cNvPr id="82" name="Text 76"/>
          <p:cNvSpPr txBox="1"/>
          <p:nvPr/>
        </p:nvSpPr>
        <p:spPr>
          <a:xfrm>
            <a:off x="9249156" y="5266944"/>
            <a:ext cx="6675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強み・特徴</a:t>
            </a:r>
            <a:endParaRPr lang="en-US" sz="900" dirty="0"/>
          </a:p>
        </p:txBody>
      </p:sp>
      <p:sp>
        <p:nvSpPr>
          <p:cNvPr id="83" name="Text 77"/>
          <p:cNvSpPr txBox="1"/>
          <p:nvPr/>
        </p:nvSpPr>
        <p:spPr>
          <a:xfrm>
            <a:off x="9249156" y="5553151"/>
            <a:ext cx="13533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高単価・高付加価値戦略</a:t>
            </a:r>
            <a:endParaRPr lang="en-US" sz="900" dirty="0"/>
          </a:p>
        </p:txBody>
      </p:sp>
      <p:sp>
        <p:nvSpPr>
          <p:cNvPr id="84" name="Text 78"/>
          <p:cNvSpPr txBox="1"/>
          <p:nvPr/>
        </p:nvSpPr>
        <p:spPr>
          <a:xfrm>
            <a:off x="9249156" y="5743346"/>
            <a:ext cx="10104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マンツーマン接客</a:t>
            </a:r>
            <a:endParaRPr lang="en-US" sz="900" dirty="0"/>
          </a:p>
        </p:txBody>
      </p:sp>
      <p:sp>
        <p:nvSpPr>
          <p:cNvPr id="85" name="Text 79"/>
          <p:cNvSpPr txBox="1"/>
          <p:nvPr/>
        </p:nvSpPr>
        <p:spPr>
          <a:xfrm>
            <a:off x="9249156" y="5934456"/>
            <a:ext cx="11247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大人女性層もカバー</a:t>
            </a:r>
            <a:endParaRPr lang="en-US" sz="900" dirty="0"/>
          </a:p>
        </p:txBody>
      </p:sp>
      <p:sp>
        <p:nvSpPr>
          <p:cNvPr id="86" name="Shape 80"/>
          <p:cNvSpPr/>
          <p:nvPr/>
        </p:nvSpPr>
        <p:spPr>
          <a:xfrm>
            <a:off x="0" y="0"/>
            <a:ext cx="12191695" cy="761695"/>
          </a:xfrm>
          <a:prstGeom prst="rect">
            <a:avLst/>
          </a:prstGeom>
          <a:solidFill>
            <a:srgbClr val="FFFFFF"/>
          </a:solidFill>
          <a:ln/>
        </p:spPr>
      </p:sp>
      <p:sp>
        <p:nvSpPr>
          <p:cNvPr id="87" name="Shape 81"/>
          <p:cNvSpPr/>
          <p:nvPr/>
        </p:nvSpPr>
        <p:spPr>
          <a:xfrm>
            <a:off x="0" y="752551"/>
            <a:ext cx="12191695" cy="9144"/>
          </a:xfrm>
          <a:prstGeom prst="rect">
            <a:avLst/>
          </a:prstGeom>
          <a:solidFill>
            <a:srgbClr val="F3F4F6"/>
          </a:solidFill>
          <a:ln/>
        </p:spPr>
      </p:sp>
      <p:sp>
        <p:nvSpPr>
          <p:cNvPr id="88" name="Shape 82"/>
          <p:cNvSpPr/>
          <p:nvPr/>
        </p:nvSpPr>
        <p:spPr>
          <a:xfrm>
            <a:off x="609905" y="224028"/>
            <a:ext cx="304495" cy="304495"/>
          </a:xfrm>
          <a:prstGeom prst="roundRect">
            <a:avLst>
              <a:gd name="adj" fmla="val 56306"/>
            </a:avLst>
          </a:prstGeom>
          <a:solidFill>
            <a:srgbClr val="FF6B35"/>
          </a:solidFill>
          <a:ln/>
        </p:spPr>
      </p:sp>
      <p:pic>
        <p:nvPicPr>
          <p:cNvPr id="89" name="Image 4" descr="preencoded.png">    </p:cNvPr>
          <p:cNvPicPr>
            <a:picLocks noChangeAspect="1"/>
          </p:cNvPicPr>
          <p:nvPr/>
        </p:nvPicPr>
        <p:blipFill>
          <a:blip r:embed="rId5"/>
          <a:srcRect l="-2512" r="-2512" t="0" b="0"/>
          <a:stretch/>
        </p:blipFill>
        <p:spPr>
          <a:xfrm>
            <a:off x="709574" y="309982"/>
            <a:ext cx="105156" cy="133502"/>
          </a:xfrm>
          <a:prstGeom prst="rect">
            <a:avLst/>
          </a:prstGeom>
        </p:spPr>
      </p:pic>
      <p:sp>
        <p:nvSpPr>
          <p:cNvPr id="90" name="Text 83"/>
          <p:cNvSpPr txBox="1"/>
          <p:nvPr/>
        </p:nvSpPr>
        <p:spPr>
          <a:xfrm>
            <a:off x="990295" y="280721"/>
            <a:ext cx="194858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COMPETITIVE LANDSCAPE</a:t>
            </a:r>
            <a:endParaRPr lang="en-US" sz="1000" dirty="0"/>
          </a:p>
        </p:txBody>
      </p:sp>
      <p:sp>
        <p:nvSpPr>
          <p:cNvPr id="91" name="Text 84"/>
          <p:cNvSpPr txBox="1"/>
          <p:nvPr/>
        </p:nvSpPr>
        <p:spPr>
          <a:xfrm>
            <a:off x="10382098" y="280721"/>
            <a:ext cx="1300277"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周辺競合サロン一覧</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28700"/>
            <a:ext cx="3424428"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渋谷エリア 主要競合比較</a:t>
            </a:r>
            <a:endParaRPr lang="en-US" sz="2200" dirty="0"/>
          </a:p>
        </p:txBody>
      </p:sp>
      <p:sp>
        <p:nvSpPr>
          <p:cNvPr id="6" name="Text 4"/>
          <p:cNvSpPr txBox="1"/>
          <p:nvPr/>
        </p:nvSpPr>
        <p:spPr>
          <a:xfrm>
            <a:off x="609905" y="1485900"/>
            <a:ext cx="697778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「トレンド×低価格」領域におけるSiena渋谷の立ち位置と、競合サロン（低価格・トレンド系）との差異を分析。</a:t>
            </a:r>
            <a:endParaRPr lang="en-US" sz="1000" dirty="0"/>
          </a:p>
        </p:txBody>
      </p:sp>
      <p:sp>
        <p:nvSpPr>
          <p:cNvPr id="7" name="Shape 5"/>
          <p:cNvSpPr/>
          <p:nvPr/>
        </p:nvSpPr>
        <p:spPr>
          <a:xfrm>
            <a:off x="9791395" y="1543507"/>
            <a:ext cx="114300" cy="114300"/>
          </a:xfrm>
          <a:prstGeom prst="roundRect">
            <a:avLst>
              <a:gd name="adj" fmla="val 800000"/>
            </a:avLst>
          </a:prstGeom>
          <a:solidFill>
            <a:srgbClr val="FF6B35"/>
          </a:solidFill>
          <a:ln/>
        </p:spPr>
      </p:sp>
      <p:sp>
        <p:nvSpPr>
          <p:cNvPr id="8" name="Text 6"/>
          <p:cNvSpPr txBox="1"/>
          <p:nvPr/>
        </p:nvSpPr>
        <p:spPr>
          <a:xfrm>
            <a:off x="9981590" y="1514246"/>
            <a:ext cx="7818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ベンチマーク</a:t>
            </a:r>
            <a:endParaRPr lang="en-US" sz="900" dirty="0"/>
          </a:p>
        </p:txBody>
      </p:sp>
      <p:sp>
        <p:nvSpPr>
          <p:cNvPr id="9" name="Shape 7"/>
          <p:cNvSpPr/>
          <p:nvPr/>
        </p:nvSpPr>
        <p:spPr>
          <a:xfrm>
            <a:off x="10820095" y="1543507"/>
            <a:ext cx="114300" cy="114300"/>
          </a:xfrm>
          <a:prstGeom prst="roundRect">
            <a:avLst>
              <a:gd name="adj" fmla="val 800000"/>
            </a:avLst>
          </a:prstGeom>
          <a:solidFill>
            <a:srgbClr val="FFFFFF"/>
          </a:solidFill>
          <a:ln w="12700">
            <a:solidFill>
              <a:srgbClr val="D1D5DB"/>
            </a:solidFill>
            <a:prstDash val="solid"/>
          </a:ln>
        </p:spPr>
      </p:sp>
      <p:sp>
        <p:nvSpPr>
          <p:cNvPr id="10" name="Text 8"/>
          <p:cNvSpPr txBox="1"/>
          <p:nvPr/>
        </p:nvSpPr>
        <p:spPr>
          <a:xfrm>
            <a:off x="11011205" y="1514246"/>
            <a:ext cx="6675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競合サロン</a:t>
            </a:r>
            <a:endParaRPr lang="en-US" sz="900" dirty="0"/>
          </a:p>
        </p:txBody>
      </p:sp>
      <p:sp>
        <p:nvSpPr>
          <p:cNvPr id="11" name="Shape 9"/>
          <p:cNvSpPr/>
          <p:nvPr/>
        </p:nvSpPr>
        <p:spPr>
          <a:xfrm>
            <a:off x="609905" y="1904695"/>
            <a:ext cx="10972800" cy="4095598"/>
          </a:xfrm>
          <a:prstGeom prst="roundRect">
            <a:avLst>
              <a:gd name="adj" fmla="val 62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2" name="Shape 10"/>
          <p:cNvSpPr/>
          <p:nvPr/>
        </p:nvSpPr>
        <p:spPr>
          <a:xfrm>
            <a:off x="619049" y="1914754"/>
            <a:ext cx="1828800" cy="629107"/>
          </a:xfrm>
          <a:prstGeom prst="rect">
            <a:avLst/>
          </a:prstGeom>
          <a:solidFill>
            <a:srgbClr val="F9FAFB"/>
          </a:solidFill>
          <a:ln/>
        </p:spPr>
      </p:sp>
      <p:sp>
        <p:nvSpPr>
          <p:cNvPr id="13" name="Shape 11"/>
          <p:cNvSpPr/>
          <p:nvPr/>
        </p:nvSpPr>
        <p:spPr>
          <a:xfrm>
            <a:off x="619049" y="2524658"/>
            <a:ext cx="1828800" cy="19202"/>
          </a:xfrm>
          <a:prstGeom prst="rect">
            <a:avLst/>
          </a:prstGeom>
          <a:solidFill>
            <a:srgbClr val="E5E7EB"/>
          </a:solidFill>
          <a:ln/>
        </p:spPr>
      </p:sp>
      <p:sp>
        <p:nvSpPr>
          <p:cNvPr id="14" name="Text 12"/>
          <p:cNvSpPr txBox="1"/>
          <p:nvPr/>
        </p:nvSpPr>
        <p:spPr>
          <a:xfrm>
            <a:off x="771754" y="2133295"/>
            <a:ext cx="57150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比較項目</a:t>
            </a:r>
            <a:endParaRPr lang="en-US" sz="900" dirty="0"/>
          </a:p>
        </p:txBody>
      </p:sp>
      <p:sp>
        <p:nvSpPr>
          <p:cNvPr id="15" name="Shape 13"/>
          <p:cNvSpPr/>
          <p:nvPr/>
        </p:nvSpPr>
        <p:spPr>
          <a:xfrm>
            <a:off x="2445106" y="1914754"/>
            <a:ext cx="2743200" cy="629107"/>
          </a:xfrm>
          <a:prstGeom prst="roundRect">
            <a:avLst>
              <a:gd name="adj" fmla="val 17618"/>
            </a:avLst>
          </a:prstGeom>
          <a:solidFill>
            <a:srgbClr val="FF6B35"/>
          </a:solidFill>
          <a:ln/>
        </p:spPr>
      </p:sp>
      <p:sp>
        <p:nvSpPr>
          <p:cNvPr id="16" name="Shape 14"/>
          <p:cNvSpPr/>
          <p:nvPr/>
        </p:nvSpPr>
        <p:spPr>
          <a:xfrm>
            <a:off x="3813962" y="1819656"/>
            <a:ext cx="781812" cy="304495"/>
          </a:xfrm>
          <a:prstGeom prst="roundRect">
            <a:avLst>
              <a:gd name="adj" fmla="val 37538"/>
            </a:avLst>
          </a:prstGeom>
          <a:solidFill>
            <a:srgbClr val="000000"/>
          </a:solidFill>
          <a:ln/>
        </p:spPr>
      </p:sp>
      <p:sp>
        <p:nvSpPr>
          <p:cNvPr id="17" name="Text 15"/>
          <p:cNvSpPr txBox="1"/>
          <p:nvPr/>
        </p:nvSpPr>
        <p:spPr>
          <a:xfrm>
            <a:off x="3494837" y="2143354"/>
            <a:ext cx="734263" cy="162763"/>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SIENA 渋谷</a:t>
            </a:r>
            <a:endParaRPr lang="en-US" sz="900" dirty="0"/>
          </a:p>
        </p:txBody>
      </p:sp>
      <p:sp>
        <p:nvSpPr>
          <p:cNvPr id="18" name="Shape 16"/>
          <p:cNvSpPr/>
          <p:nvPr/>
        </p:nvSpPr>
        <p:spPr>
          <a:xfrm>
            <a:off x="5182819" y="1914754"/>
            <a:ext cx="2190902" cy="629107"/>
          </a:xfrm>
          <a:prstGeom prst="rect">
            <a:avLst/>
          </a:prstGeom>
          <a:solidFill>
            <a:srgbClr val="F9FAFB"/>
          </a:solidFill>
          <a:ln/>
        </p:spPr>
      </p:sp>
      <p:sp>
        <p:nvSpPr>
          <p:cNvPr id="19" name="Shape 17"/>
          <p:cNvSpPr/>
          <p:nvPr/>
        </p:nvSpPr>
        <p:spPr>
          <a:xfrm>
            <a:off x="5182819" y="2524658"/>
            <a:ext cx="2190902" cy="19202"/>
          </a:xfrm>
          <a:prstGeom prst="rect">
            <a:avLst/>
          </a:prstGeom>
          <a:solidFill>
            <a:srgbClr val="E5E7EB"/>
          </a:solidFill>
          <a:ln/>
        </p:spPr>
      </p:sp>
      <p:sp>
        <p:nvSpPr>
          <p:cNvPr id="20" name="Text 18"/>
          <p:cNvSpPr txBox="1"/>
          <p:nvPr/>
        </p:nvSpPr>
        <p:spPr>
          <a:xfrm>
            <a:off x="5795467" y="2029054"/>
            <a:ext cx="1086307"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LA FITH 渋谷</a:t>
            </a:r>
            <a:endParaRPr lang="en-US" sz="1200" dirty="0"/>
          </a:p>
        </p:txBody>
      </p:sp>
      <p:sp>
        <p:nvSpPr>
          <p:cNvPr id="21" name="Text 19"/>
          <p:cNvSpPr txBox="1"/>
          <p:nvPr/>
        </p:nvSpPr>
        <p:spPr>
          <a:xfrm>
            <a:off x="6039612" y="2247595"/>
            <a:ext cx="571500"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ラフィス</a:t>
            </a:r>
            <a:endParaRPr lang="en-US" sz="900" dirty="0"/>
          </a:p>
        </p:txBody>
      </p:sp>
      <p:sp>
        <p:nvSpPr>
          <p:cNvPr id="22" name="Shape 20"/>
          <p:cNvSpPr/>
          <p:nvPr/>
        </p:nvSpPr>
        <p:spPr>
          <a:xfrm>
            <a:off x="7373722" y="1914754"/>
            <a:ext cx="2190902" cy="629107"/>
          </a:xfrm>
          <a:prstGeom prst="rect">
            <a:avLst/>
          </a:prstGeom>
          <a:solidFill>
            <a:srgbClr val="F9FAFB"/>
          </a:solidFill>
          <a:ln/>
        </p:spPr>
      </p:sp>
      <p:sp>
        <p:nvSpPr>
          <p:cNvPr id="23" name="Shape 21"/>
          <p:cNvSpPr/>
          <p:nvPr/>
        </p:nvSpPr>
        <p:spPr>
          <a:xfrm>
            <a:off x="7373722" y="2524658"/>
            <a:ext cx="2190902" cy="19202"/>
          </a:xfrm>
          <a:prstGeom prst="rect">
            <a:avLst/>
          </a:prstGeom>
          <a:solidFill>
            <a:srgbClr val="E5E7EB"/>
          </a:solidFill>
          <a:ln/>
        </p:spPr>
      </p:sp>
      <p:sp>
        <p:nvSpPr>
          <p:cNvPr id="24" name="Text 22"/>
          <p:cNvSpPr txBox="1"/>
          <p:nvPr/>
        </p:nvSpPr>
        <p:spPr>
          <a:xfrm>
            <a:off x="8191195" y="2029054"/>
            <a:ext cx="676656"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MERAK</a:t>
            </a:r>
            <a:endParaRPr lang="en-US" sz="1200" dirty="0"/>
          </a:p>
        </p:txBody>
      </p:sp>
      <p:sp>
        <p:nvSpPr>
          <p:cNvPr id="25" name="Text 23"/>
          <p:cNvSpPr txBox="1"/>
          <p:nvPr/>
        </p:nvSpPr>
        <p:spPr>
          <a:xfrm>
            <a:off x="8289036" y="2247595"/>
            <a:ext cx="448056"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メラク</a:t>
            </a:r>
            <a:endParaRPr lang="en-US" sz="900" dirty="0"/>
          </a:p>
        </p:txBody>
      </p:sp>
      <p:sp>
        <p:nvSpPr>
          <p:cNvPr id="26" name="Shape 24"/>
          <p:cNvSpPr/>
          <p:nvPr/>
        </p:nvSpPr>
        <p:spPr>
          <a:xfrm>
            <a:off x="9564624" y="1914754"/>
            <a:ext cx="2009851" cy="629107"/>
          </a:xfrm>
          <a:prstGeom prst="rect">
            <a:avLst/>
          </a:prstGeom>
          <a:solidFill>
            <a:srgbClr val="F9FAFB"/>
          </a:solidFill>
          <a:ln/>
        </p:spPr>
      </p:sp>
      <p:sp>
        <p:nvSpPr>
          <p:cNvPr id="27" name="Shape 25"/>
          <p:cNvSpPr/>
          <p:nvPr/>
        </p:nvSpPr>
        <p:spPr>
          <a:xfrm>
            <a:off x="9564624" y="2524658"/>
            <a:ext cx="2009851" cy="19202"/>
          </a:xfrm>
          <a:prstGeom prst="rect">
            <a:avLst/>
          </a:prstGeom>
          <a:solidFill>
            <a:srgbClr val="E5E7EB"/>
          </a:solidFill>
          <a:ln/>
        </p:spPr>
      </p:sp>
      <p:sp>
        <p:nvSpPr>
          <p:cNvPr id="28" name="Text 26"/>
          <p:cNvSpPr txBox="1"/>
          <p:nvPr/>
        </p:nvSpPr>
        <p:spPr>
          <a:xfrm>
            <a:off x="10106863" y="2029054"/>
            <a:ext cx="1047902" cy="228600"/>
          </a:xfrm>
          <a:prstGeom prst="rect">
            <a:avLst/>
          </a:prstGeom>
          <a:noFill/>
          <a:ln/>
        </p:spPr>
        <p:txBody>
          <a:bodyPr wrap="square" lIns="0" tIns="0" rIns="0" bIns="0" rtlCol="0" anchor="ctr"/>
          <a:lstStyle/>
          <a:p>
            <a:pPr algn="ctr" indent="0" marL="0">
              <a:buNone/>
            </a:pPr>
            <a:r>
              <a:rPr lang="en-US" sz="1200" b="1" dirty="0">
                <a:solidFill>
                  <a:srgbClr val="1F2937"/>
                </a:solidFill>
                <a:latin typeface="Noto Sans JP" pitchFamily="34" charset="0"/>
                <a:ea typeface="Noto Sans JP" pitchFamily="34" charset="-122"/>
                <a:cs typeface="Noto Sans JP" pitchFamily="34" charset="-120"/>
              </a:rPr>
              <a:t>EIGHT PLAT</a:t>
            </a:r>
            <a:endParaRPr lang="en-US" sz="1200" dirty="0"/>
          </a:p>
        </p:txBody>
      </p:sp>
      <p:sp>
        <p:nvSpPr>
          <p:cNvPr id="29" name="Text 27"/>
          <p:cNvSpPr txBox="1"/>
          <p:nvPr/>
        </p:nvSpPr>
        <p:spPr>
          <a:xfrm>
            <a:off x="10133381" y="2247595"/>
            <a:ext cx="962863"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エイト プラット</a:t>
            </a:r>
            <a:endParaRPr lang="en-US" sz="900" dirty="0"/>
          </a:p>
        </p:txBody>
      </p:sp>
      <p:sp>
        <p:nvSpPr>
          <p:cNvPr id="30" name="Shape 28"/>
          <p:cNvSpPr/>
          <p:nvPr/>
        </p:nvSpPr>
        <p:spPr>
          <a:xfrm>
            <a:off x="619049" y="2542946"/>
            <a:ext cx="1828800" cy="866851"/>
          </a:xfrm>
          <a:prstGeom prst="rect">
            <a:avLst/>
          </a:prstGeom>
          <a:solidFill>
            <a:srgbClr val="F9FAFB"/>
          </a:solidFill>
          <a:ln w="12700">
            <a:solidFill>
              <a:srgbClr val="F3F4F6"/>
            </a:solidFill>
            <a:prstDash val="solid"/>
          </a:ln>
        </p:spPr>
      </p:sp>
      <p:pic>
        <p:nvPicPr>
          <p:cNvPr id="31" name="Image 0" descr="preencoded.png">    </p:cNvPr>
          <p:cNvPicPr>
            <a:picLocks noChangeAspect="1"/>
          </p:cNvPicPr>
          <p:nvPr/>
        </p:nvPicPr>
        <p:blipFill>
          <a:blip r:embed="rId1"/>
          <a:srcRect l="-21233" r="-21233" t="0" b="0"/>
          <a:stretch/>
        </p:blipFill>
        <p:spPr>
          <a:xfrm>
            <a:off x="771754" y="2907792"/>
            <a:ext cx="190195" cy="133502"/>
          </a:xfrm>
          <a:prstGeom prst="rect">
            <a:avLst/>
          </a:prstGeom>
        </p:spPr>
      </p:pic>
      <p:sp>
        <p:nvSpPr>
          <p:cNvPr id="32" name="Text 29"/>
          <p:cNvSpPr txBox="1"/>
          <p:nvPr/>
        </p:nvSpPr>
        <p:spPr>
          <a:xfrm>
            <a:off x="1037844" y="2872130"/>
            <a:ext cx="1167689"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強み・コンセプト</a:t>
            </a:r>
            <a:endParaRPr lang="en-US" sz="1000" dirty="0"/>
          </a:p>
        </p:txBody>
      </p:sp>
      <p:sp>
        <p:nvSpPr>
          <p:cNvPr id="33" name="Shape 30"/>
          <p:cNvSpPr/>
          <p:nvPr/>
        </p:nvSpPr>
        <p:spPr>
          <a:xfrm>
            <a:off x="2445106" y="2542946"/>
            <a:ext cx="2743200" cy="866851"/>
          </a:xfrm>
          <a:prstGeom prst="rect">
            <a:avLst/>
          </a:prstGeom>
          <a:solidFill>
            <a:srgbClr val="FFF0E9"/>
          </a:solidFill>
          <a:ln w="25400">
            <a:solidFill>
              <a:srgbClr val="FF6B35"/>
            </a:solidFill>
            <a:prstDash val="solid"/>
          </a:ln>
        </p:spPr>
      </p:sp>
      <p:sp>
        <p:nvSpPr>
          <p:cNvPr id="34" name="Text 31"/>
          <p:cNvSpPr txBox="1"/>
          <p:nvPr/>
        </p:nvSpPr>
        <p:spPr>
          <a:xfrm>
            <a:off x="2616098" y="2695651"/>
            <a:ext cx="1167689" cy="191110"/>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トレンド×低価格</a:t>
            </a:r>
            <a:endParaRPr lang="en-US" sz="1000" dirty="0"/>
          </a:p>
        </p:txBody>
      </p:sp>
      <p:sp>
        <p:nvSpPr>
          <p:cNvPr id="35" name="Text 32"/>
          <p:cNvSpPr txBox="1"/>
          <p:nvPr/>
        </p:nvSpPr>
        <p:spPr>
          <a:xfrm>
            <a:off x="2616098" y="2924251"/>
            <a:ext cx="2477110" cy="324612"/>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SNS映えするデザインカラーと髪質改善を、学生も通える価格で提供。</a:t>
            </a:r>
            <a:endParaRPr lang="en-US" sz="900" dirty="0"/>
          </a:p>
        </p:txBody>
      </p:sp>
      <p:sp>
        <p:nvSpPr>
          <p:cNvPr id="36" name="Shape 33"/>
          <p:cNvSpPr/>
          <p:nvPr/>
        </p:nvSpPr>
        <p:spPr>
          <a:xfrm>
            <a:off x="5182819" y="2542946"/>
            <a:ext cx="2190902" cy="866851"/>
          </a:xfrm>
          <a:prstGeom prst="rect">
            <a:avLst/>
          </a:prstGeom>
          <a:noFill/>
          <a:ln w="12700">
            <a:solidFill>
              <a:srgbClr val="F3F4F6"/>
            </a:solidFill>
            <a:prstDash val="solid"/>
          </a:ln>
        </p:spPr>
      </p:sp>
      <p:sp>
        <p:nvSpPr>
          <p:cNvPr id="37" name="Text 34"/>
          <p:cNvSpPr txBox="1"/>
          <p:nvPr/>
        </p:nvSpPr>
        <p:spPr>
          <a:xfrm>
            <a:off x="5335524" y="2695651"/>
            <a:ext cx="1034186"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プチプラ×全般</a:t>
            </a:r>
            <a:endParaRPr lang="en-US" sz="1000" dirty="0"/>
          </a:p>
        </p:txBody>
      </p:sp>
      <p:sp>
        <p:nvSpPr>
          <p:cNvPr id="38" name="Text 35"/>
          <p:cNvSpPr txBox="1"/>
          <p:nvPr/>
        </p:nvSpPr>
        <p:spPr>
          <a:xfrm>
            <a:off x="5335524" y="2924251"/>
            <a:ext cx="1924812" cy="32461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圧倒的な安さと店舗数。メニュー幅が広く万能型。</a:t>
            </a:r>
            <a:endParaRPr lang="en-US" sz="900" dirty="0"/>
          </a:p>
        </p:txBody>
      </p:sp>
      <p:sp>
        <p:nvSpPr>
          <p:cNvPr id="39" name="Shape 36"/>
          <p:cNvSpPr/>
          <p:nvPr/>
        </p:nvSpPr>
        <p:spPr>
          <a:xfrm>
            <a:off x="7373722" y="2542946"/>
            <a:ext cx="2190902" cy="866851"/>
          </a:xfrm>
          <a:prstGeom prst="rect">
            <a:avLst/>
          </a:prstGeom>
          <a:noFill/>
          <a:ln w="12700">
            <a:solidFill>
              <a:srgbClr val="F3F4F6"/>
            </a:solidFill>
            <a:prstDash val="solid"/>
          </a:ln>
        </p:spPr>
      </p:sp>
      <p:sp>
        <p:nvSpPr>
          <p:cNvPr id="40" name="Text 37"/>
          <p:cNvSpPr txBox="1"/>
          <p:nvPr/>
        </p:nvSpPr>
        <p:spPr>
          <a:xfrm>
            <a:off x="7526426" y="2695651"/>
            <a:ext cx="1300277"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韓国風×ハイトーン</a:t>
            </a:r>
            <a:endParaRPr lang="en-US" sz="1000" dirty="0"/>
          </a:p>
        </p:txBody>
      </p:sp>
      <p:sp>
        <p:nvSpPr>
          <p:cNvPr id="41" name="Text 38"/>
          <p:cNvSpPr txBox="1"/>
          <p:nvPr/>
        </p:nvSpPr>
        <p:spPr>
          <a:xfrm>
            <a:off x="7526426" y="2924251"/>
            <a:ext cx="1914754" cy="32461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渋谷トップクラスの人気。デザイン特化で単価やや高め。</a:t>
            </a:r>
            <a:endParaRPr lang="en-US" sz="900" dirty="0"/>
          </a:p>
        </p:txBody>
      </p:sp>
      <p:sp>
        <p:nvSpPr>
          <p:cNvPr id="42" name="Shape 39"/>
          <p:cNvSpPr/>
          <p:nvPr/>
        </p:nvSpPr>
        <p:spPr>
          <a:xfrm>
            <a:off x="9564624" y="3400654"/>
            <a:ext cx="2009851" cy="9144"/>
          </a:xfrm>
          <a:prstGeom prst="rect">
            <a:avLst/>
          </a:prstGeom>
          <a:solidFill>
            <a:srgbClr val="F3F4F6"/>
          </a:solidFill>
          <a:ln/>
        </p:spPr>
      </p:sp>
      <p:sp>
        <p:nvSpPr>
          <p:cNvPr id="43" name="Text 40"/>
          <p:cNvSpPr txBox="1"/>
          <p:nvPr/>
        </p:nvSpPr>
        <p:spPr>
          <a:xfrm>
            <a:off x="9717329" y="2695651"/>
            <a:ext cx="1167689"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メンズ×ショート</a:t>
            </a:r>
            <a:endParaRPr lang="en-US" sz="1000" dirty="0"/>
          </a:p>
        </p:txBody>
      </p:sp>
      <p:sp>
        <p:nvSpPr>
          <p:cNvPr id="44" name="Text 41"/>
          <p:cNvSpPr txBox="1"/>
          <p:nvPr/>
        </p:nvSpPr>
        <p:spPr>
          <a:xfrm>
            <a:off x="9717329" y="2924251"/>
            <a:ext cx="1696212" cy="324612"/>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男性客比率が高く、回転率重視のスタイル提案が得意。</a:t>
            </a:r>
            <a:endParaRPr lang="en-US" sz="900" dirty="0"/>
          </a:p>
        </p:txBody>
      </p:sp>
      <p:sp>
        <p:nvSpPr>
          <p:cNvPr id="45" name="Shape 42"/>
          <p:cNvSpPr/>
          <p:nvPr/>
        </p:nvSpPr>
        <p:spPr>
          <a:xfrm>
            <a:off x="619049" y="3409798"/>
            <a:ext cx="1828800" cy="714146"/>
          </a:xfrm>
          <a:prstGeom prst="rect">
            <a:avLst/>
          </a:prstGeom>
          <a:solidFill>
            <a:srgbClr val="F9FAFB"/>
          </a:solidFill>
          <a:ln w="12700">
            <a:solidFill>
              <a:srgbClr val="F3F4F6"/>
            </a:solidFill>
            <a:prstDash val="solid"/>
          </a:ln>
        </p:spPr>
      </p:sp>
      <p:sp>
        <p:nvSpPr>
          <p:cNvPr id="46" name="Text 43"/>
          <p:cNvSpPr txBox="1"/>
          <p:nvPr/>
        </p:nvSpPr>
        <p:spPr>
          <a:xfrm>
            <a:off x="771754" y="3562502"/>
            <a:ext cx="1595628" cy="391363"/>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新規最安値 (カット+カラー)</a:t>
            </a:r>
            <a:endParaRPr lang="en-US" sz="1000" dirty="0"/>
          </a:p>
        </p:txBody>
      </p:sp>
      <p:sp>
        <p:nvSpPr>
          <p:cNvPr id="47" name="Shape 44"/>
          <p:cNvSpPr/>
          <p:nvPr/>
        </p:nvSpPr>
        <p:spPr>
          <a:xfrm>
            <a:off x="2445106" y="3409798"/>
            <a:ext cx="2743200" cy="714146"/>
          </a:xfrm>
          <a:prstGeom prst="rect">
            <a:avLst/>
          </a:prstGeom>
          <a:solidFill>
            <a:srgbClr val="FFF0E9"/>
          </a:solidFill>
          <a:ln w="25400">
            <a:solidFill>
              <a:srgbClr val="FF6B35"/>
            </a:solidFill>
            <a:prstDash val="solid"/>
          </a:ln>
        </p:spPr>
      </p:sp>
      <p:sp>
        <p:nvSpPr>
          <p:cNvPr id="48" name="Text 45"/>
          <p:cNvSpPr txBox="1"/>
          <p:nvPr/>
        </p:nvSpPr>
        <p:spPr>
          <a:xfrm>
            <a:off x="3328416" y="3662172"/>
            <a:ext cx="1071677" cy="191110"/>
          </a:xfrm>
          <a:prstGeom prst="rect">
            <a:avLst/>
          </a:prstGeom>
          <a:noFill/>
          <a:ln/>
        </p:spPr>
        <p:txBody>
          <a:bodyPr wrap="square" lIns="0" tIns="0" rIns="0" bIns="0" rtlCol="0" anchor="ctr"/>
          <a:lstStyle/>
          <a:p>
            <a:pPr algn="ctr" indent="0" marL="0">
              <a:buNone/>
            </a:pPr>
            <a:r>
              <a:rPr lang="en-US" sz="1000" dirty="0">
                <a:solidFill>
                  <a:srgbClr val="374151"/>
                </a:solidFill>
                <a:latin typeface="Noto Sans JP" pitchFamily="34" charset="0"/>
                <a:ea typeface="Noto Sans JP" pitchFamily="34" charset="-122"/>
                <a:cs typeface="Noto Sans JP" pitchFamily="34" charset="-120"/>
              </a:rPr>
              <a:t>¥5,900 平日限定</a:t>
            </a:r>
            <a:endParaRPr lang="en-US" sz="1000" dirty="0"/>
          </a:p>
        </p:txBody>
      </p:sp>
      <p:sp>
        <p:nvSpPr>
          <p:cNvPr id="49" name="Shape 46"/>
          <p:cNvSpPr/>
          <p:nvPr/>
        </p:nvSpPr>
        <p:spPr>
          <a:xfrm>
            <a:off x="5182819" y="3409798"/>
            <a:ext cx="2190902" cy="714146"/>
          </a:xfrm>
          <a:prstGeom prst="rect">
            <a:avLst/>
          </a:prstGeom>
          <a:noFill/>
          <a:ln w="12700">
            <a:solidFill>
              <a:srgbClr val="F3F4F6"/>
            </a:solidFill>
            <a:prstDash val="solid"/>
          </a:ln>
        </p:spPr>
      </p:sp>
      <p:sp>
        <p:nvSpPr>
          <p:cNvPr id="50" name="Text 47"/>
          <p:cNvSpPr txBox="1"/>
          <p:nvPr/>
        </p:nvSpPr>
        <p:spPr>
          <a:xfrm>
            <a:off x="5788152" y="3662172"/>
            <a:ext cx="1071677" cy="191110"/>
          </a:xfrm>
          <a:prstGeom prst="rect">
            <a:avLst/>
          </a:prstGeom>
          <a:noFill/>
          <a:ln/>
        </p:spPr>
        <p:txBody>
          <a:bodyPr wrap="square" lIns="0" tIns="0" rIns="0" bIns="0" rtlCol="0" anchor="ctr"/>
          <a:lstStyle/>
          <a:p>
            <a:pPr algn="ctr" indent="0" marL="0">
              <a:buNone/>
            </a:pPr>
            <a:r>
              <a:rPr lang="en-US" sz="1000" dirty="0">
                <a:solidFill>
                  <a:srgbClr val="374151"/>
                </a:solidFill>
                <a:latin typeface="Noto Sans JP" pitchFamily="34" charset="0"/>
                <a:ea typeface="Noto Sans JP" pitchFamily="34" charset="-122"/>
                <a:cs typeface="Noto Sans JP" pitchFamily="34" charset="-120"/>
              </a:rPr>
              <a:t>¥3,900 最安値圏</a:t>
            </a:r>
            <a:endParaRPr lang="en-US" sz="1000" dirty="0"/>
          </a:p>
        </p:txBody>
      </p:sp>
      <p:sp>
        <p:nvSpPr>
          <p:cNvPr id="51" name="Shape 48"/>
          <p:cNvSpPr/>
          <p:nvPr/>
        </p:nvSpPr>
        <p:spPr>
          <a:xfrm>
            <a:off x="7373722" y="3409798"/>
            <a:ext cx="2190902" cy="714146"/>
          </a:xfrm>
          <a:prstGeom prst="rect">
            <a:avLst/>
          </a:prstGeom>
          <a:noFill/>
          <a:ln w="12700">
            <a:solidFill>
              <a:srgbClr val="F3F4F6"/>
            </a:solidFill>
            <a:prstDash val="solid"/>
          </a:ln>
        </p:spPr>
      </p:sp>
      <p:sp>
        <p:nvSpPr>
          <p:cNvPr id="52" name="Text 49"/>
          <p:cNvSpPr txBox="1"/>
          <p:nvPr/>
        </p:nvSpPr>
        <p:spPr>
          <a:xfrm>
            <a:off x="7912303" y="3662172"/>
            <a:ext cx="1205179" cy="191110"/>
          </a:xfrm>
          <a:prstGeom prst="rect">
            <a:avLst/>
          </a:prstGeom>
          <a:noFill/>
          <a:ln/>
        </p:spPr>
        <p:txBody>
          <a:bodyPr wrap="square" lIns="0" tIns="0" rIns="0" bIns="0" rtlCol="0" anchor="ctr"/>
          <a:lstStyle/>
          <a:p>
            <a:pPr algn="ctr" indent="0" marL="0">
              <a:buNone/>
            </a:pPr>
            <a:r>
              <a:rPr lang="en-US" sz="1000" dirty="0">
                <a:solidFill>
                  <a:srgbClr val="374151"/>
                </a:solidFill>
                <a:latin typeface="Noto Sans JP" pitchFamily="34" charset="0"/>
                <a:ea typeface="Noto Sans JP" pitchFamily="34" charset="-122"/>
                <a:cs typeface="Noto Sans JP" pitchFamily="34" charset="-120"/>
              </a:rPr>
              <a:t>¥7,900 中〜高価格</a:t>
            </a:r>
            <a:endParaRPr lang="en-US" sz="1000" dirty="0"/>
          </a:p>
        </p:txBody>
      </p:sp>
      <p:sp>
        <p:nvSpPr>
          <p:cNvPr id="53" name="Shape 50"/>
          <p:cNvSpPr/>
          <p:nvPr/>
        </p:nvSpPr>
        <p:spPr>
          <a:xfrm>
            <a:off x="9564624" y="4114800"/>
            <a:ext cx="2009851" cy="9144"/>
          </a:xfrm>
          <a:prstGeom prst="rect">
            <a:avLst/>
          </a:prstGeom>
          <a:solidFill>
            <a:srgbClr val="F3F4F6"/>
          </a:solidFill>
          <a:ln/>
        </p:spPr>
      </p:sp>
      <p:sp>
        <p:nvSpPr>
          <p:cNvPr id="54" name="Text 51"/>
          <p:cNvSpPr txBox="1"/>
          <p:nvPr/>
        </p:nvSpPr>
        <p:spPr>
          <a:xfrm>
            <a:off x="10149840" y="3662172"/>
            <a:ext cx="939089" cy="191110"/>
          </a:xfrm>
          <a:prstGeom prst="rect">
            <a:avLst/>
          </a:prstGeom>
          <a:noFill/>
          <a:ln/>
        </p:spPr>
        <p:txBody>
          <a:bodyPr wrap="square" lIns="0" tIns="0" rIns="0" bIns="0" rtlCol="0" anchor="ctr"/>
          <a:lstStyle/>
          <a:p>
            <a:pPr algn="ctr" indent="0" marL="0">
              <a:buNone/>
            </a:pPr>
            <a:r>
              <a:rPr lang="en-US" sz="1000" dirty="0">
                <a:solidFill>
                  <a:srgbClr val="374151"/>
                </a:solidFill>
                <a:latin typeface="Noto Sans JP" pitchFamily="34" charset="0"/>
                <a:ea typeface="Noto Sans JP" pitchFamily="34" charset="-122"/>
                <a:cs typeface="Noto Sans JP" pitchFamily="34" charset="-120"/>
              </a:rPr>
              <a:t>¥4,900 低価格</a:t>
            </a:r>
            <a:endParaRPr lang="en-US" sz="1000" dirty="0"/>
          </a:p>
        </p:txBody>
      </p:sp>
      <p:sp>
        <p:nvSpPr>
          <p:cNvPr id="55" name="Shape 52"/>
          <p:cNvSpPr/>
          <p:nvPr/>
        </p:nvSpPr>
        <p:spPr>
          <a:xfrm>
            <a:off x="619049" y="4123944"/>
            <a:ext cx="1828800" cy="847649"/>
          </a:xfrm>
          <a:prstGeom prst="rect">
            <a:avLst/>
          </a:prstGeom>
          <a:solidFill>
            <a:srgbClr val="F9FAFB"/>
          </a:solidFill>
          <a:ln w="12700">
            <a:solidFill>
              <a:srgbClr val="F3F4F6"/>
            </a:solidFill>
            <a:prstDash val="solid"/>
          </a:ln>
        </p:spPr>
      </p:sp>
      <p:pic>
        <p:nvPicPr>
          <p:cNvPr id="56" name="Image 1" descr="preencoded.png">    </p:cNvPr>
          <p:cNvPicPr>
            <a:picLocks noChangeAspect="1"/>
          </p:cNvPicPr>
          <p:nvPr/>
        </p:nvPicPr>
        <p:blipFill>
          <a:blip r:embed="rId2"/>
          <a:srcRect l="-13318" r="-13318" t="0" b="0"/>
          <a:stretch/>
        </p:blipFill>
        <p:spPr>
          <a:xfrm>
            <a:off x="771754" y="4478731"/>
            <a:ext cx="190195" cy="133502"/>
          </a:xfrm>
          <a:prstGeom prst="rect">
            <a:avLst/>
          </a:prstGeom>
        </p:spPr>
      </p:pic>
      <p:sp>
        <p:nvSpPr>
          <p:cNvPr id="57" name="Text 53"/>
          <p:cNvSpPr txBox="1"/>
          <p:nvPr/>
        </p:nvSpPr>
        <p:spPr>
          <a:xfrm>
            <a:off x="1037844" y="4443070"/>
            <a:ext cx="900684"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主力メニュー</a:t>
            </a:r>
            <a:endParaRPr lang="en-US" sz="1000" dirty="0"/>
          </a:p>
        </p:txBody>
      </p:sp>
      <p:sp>
        <p:nvSpPr>
          <p:cNvPr id="58" name="Shape 54"/>
          <p:cNvSpPr/>
          <p:nvPr/>
        </p:nvSpPr>
        <p:spPr>
          <a:xfrm>
            <a:off x="2445106" y="4123944"/>
            <a:ext cx="2743200" cy="847649"/>
          </a:xfrm>
          <a:prstGeom prst="rect">
            <a:avLst/>
          </a:prstGeom>
          <a:solidFill>
            <a:srgbClr val="FFF0E9"/>
          </a:solidFill>
          <a:ln w="25400">
            <a:solidFill>
              <a:srgbClr val="FF6B35"/>
            </a:solidFill>
            <a:prstDash val="solid"/>
          </a:ln>
        </p:spPr>
      </p:sp>
      <p:pic>
        <p:nvPicPr>
          <p:cNvPr id="59" name="Image 2" descr="preencoded.png">    </p:cNvPr>
          <p:cNvPicPr>
            <a:picLocks noChangeAspect="1"/>
          </p:cNvPicPr>
          <p:nvPr/>
        </p:nvPicPr>
        <p:blipFill>
          <a:blip r:embed="rId3"/>
          <a:srcRect l="-2571" r="-2571" t="0" b="0"/>
          <a:stretch/>
        </p:blipFill>
        <p:spPr>
          <a:xfrm>
            <a:off x="2616098" y="4300423"/>
            <a:ext cx="105156" cy="114300"/>
          </a:xfrm>
          <a:prstGeom prst="rect">
            <a:avLst/>
          </a:prstGeom>
        </p:spPr>
      </p:pic>
      <p:sp>
        <p:nvSpPr>
          <p:cNvPr id="60" name="Text 55"/>
          <p:cNvSpPr txBox="1"/>
          <p:nvPr/>
        </p:nvSpPr>
        <p:spPr>
          <a:xfrm>
            <a:off x="2758745" y="4267505"/>
            <a:ext cx="896112"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イルミナカラー</a:t>
            </a:r>
            <a:endParaRPr lang="en-US" sz="900" dirty="0"/>
          </a:p>
        </p:txBody>
      </p:sp>
      <p:pic>
        <p:nvPicPr>
          <p:cNvPr id="61" name="Image 3" descr="preencoded.png">    </p:cNvPr>
          <p:cNvPicPr>
            <a:picLocks noChangeAspect="1"/>
          </p:cNvPicPr>
          <p:nvPr/>
        </p:nvPicPr>
        <p:blipFill>
          <a:blip r:embed="rId4"/>
          <a:srcRect l="-2571" r="-2571" t="0" b="0"/>
          <a:stretch/>
        </p:blipFill>
        <p:spPr>
          <a:xfrm>
            <a:off x="2616098" y="4490618"/>
            <a:ext cx="105156" cy="114300"/>
          </a:xfrm>
          <a:prstGeom prst="rect">
            <a:avLst/>
          </a:prstGeom>
        </p:spPr>
      </p:pic>
      <p:sp>
        <p:nvSpPr>
          <p:cNvPr id="62" name="Text 56"/>
          <p:cNvSpPr txBox="1"/>
          <p:nvPr/>
        </p:nvSpPr>
        <p:spPr>
          <a:xfrm>
            <a:off x="2758745" y="4457700"/>
            <a:ext cx="991210"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髪質改善 (TOKIO)</a:t>
            </a:r>
            <a:endParaRPr lang="en-US" sz="900" dirty="0"/>
          </a:p>
        </p:txBody>
      </p:sp>
      <p:pic>
        <p:nvPicPr>
          <p:cNvPr id="63" name="Image 4" descr="preencoded.png">    </p:cNvPr>
          <p:cNvPicPr>
            <a:picLocks noChangeAspect="1"/>
          </p:cNvPicPr>
          <p:nvPr/>
        </p:nvPicPr>
        <p:blipFill>
          <a:blip r:embed="rId5"/>
          <a:srcRect l="-2571" r="-2571" t="0" b="0"/>
          <a:stretch/>
        </p:blipFill>
        <p:spPr>
          <a:xfrm>
            <a:off x="2616098" y="4681728"/>
            <a:ext cx="105156" cy="114300"/>
          </a:xfrm>
          <a:prstGeom prst="rect">
            <a:avLst/>
          </a:prstGeom>
        </p:spPr>
      </p:pic>
      <p:sp>
        <p:nvSpPr>
          <p:cNvPr id="64" name="Text 57"/>
          <p:cNvSpPr txBox="1"/>
          <p:nvPr/>
        </p:nvSpPr>
        <p:spPr>
          <a:xfrm>
            <a:off x="2758745" y="4647895"/>
            <a:ext cx="886054" cy="162763"/>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韓国風レイヤー</a:t>
            </a:r>
            <a:endParaRPr lang="en-US" sz="900" dirty="0"/>
          </a:p>
        </p:txBody>
      </p:sp>
      <p:sp>
        <p:nvSpPr>
          <p:cNvPr id="65" name="Shape 58"/>
          <p:cNvSpPr/>
          <p:nvPr/>
        </p:nvSpPr>
        <p:spPr>
          <a:xfrm>
            <a:off x="5182819" y="4123944"/>
            <a:ext cx="2190902" cy="847649"/>
          </a:xfrm>
          <a:prstGeom prst="rect">
            <a:avLst/>
          </a:prstGeom>
          <a:noFill/>
          <a:ln w="12700">
            <a:solidFill>
              <a:srgbClr val="F3F4F6"/>
            </a:solidFill>
            <a:prstDash val="solid"/>
          </a:ln>
        </p:spPr>
      </p:sp>
      <p:sp>
        <p:nvSpPr>
          <p:cNvPr id="66" name="Text 59"/>
          <p:cNvSpPr txBox="1"/>
          <p:nvPr/>
        </p:nvSpPr>
        <p:spPr>
          <a:xfrm>
            <a:off x="5335524" y="4267505"/>
            <a:ext cx="8860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・アディクシー</a:t>
            </a:r>
            <a:endParaRPr lang="en-US" sz="900" dirty="0"/>
          </a:p>
        </p:txBody>
      </p:sp>
      <p:sp>
        <p:nvSpPr>
          <p:cNvPr id="67" name="Text 60"/>
          <p:cNvSpPr txBox="1"/>
          <p:nvPr/>
        </p:nvSpPr>
        <p:spPr>
          <a:xfrm>
            <a:off x="5335524" y="4457700"/>
            <a:ext cx="12390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・オーガニックカラー</a:t>
            </a:r>
            <a:endParaRPr lang="en-US" sz="900" dirty="0"/>
          </a:p>
        </p:txBody>
      </p:sp>
      <p:sp>
        <p:nvSpPr>
          <p:cNvPr id="68" name="Text 61"/>
          <p:cNvSpPr txBox="1"/>
          <p:nvPr/>
        </p:nvSpPr>
        <p:spPr>
          <a:xfrm>
            <a:off x="5335524" y="4647895"/>
            <a:ext cx="6675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・縮毛矯正</a:t>
            </a:r>
            <a:endParaRPr lang="en-US" sz="900" dirty="0"/>
          </a:p>
        </p:txBody>
      </p:sp>
      <p:sp>
        <p:nvSpPr>
          <p:cNvPr id="69" name="Shape 62"/>
          <p:cNvSpPr/>
          <p:nvPr/>
        </p:nvSpPr>
        <p:spPr>
          <a:xfrm>
            <a:off x="7373722" y="4123944"/>
            <a:ext cx="2190902" cy="847649"/>
          </a:xfrm>
          <a:prstGeom prst="rect">
            <a:avLst/>
          </a:prstGeom>
          <a:noFill/>
          <a:ln w="12700">
            <a:solidFill>
              <a:srgbClr val="F3F4F6"/>
            </a:solidFill>
            <a:prstDash val="solid"/>
          </a:ln>
        </p:spPr>
      </p:sp>
      <p:sp>
        <p:nvSpPr>
          <p:cNvPr id="70" name="Text 63"/>
          <p:cNvSpPr txBox="1"/>
          <p:nvPr/>
        </p:nvSpPr>
        <p:spPr>
          <a:xfrm>
            <a:off x="7526426" y="4267505"/>
            <a:ext cx="8860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・ダブルカラー</a:t>
            </a:r>
            <a:endParaRPr lang="en-US" sz="900" dirty="0"/>
          </a:p>
        </p:txBody>
      </p:sp>
      <p:sp>
        <p:nvSpPr>
          <p:cNvPr id="71" name="Text 64"/>
          <p:cNvSpPr txBox="1"/>
          <p:nvPr/>
        </p:nvSpPr>
        <p:spPr>
          <a:xfrm>
            <a:off x="7526426" y="4457700"/>
            <a:ext cx="8961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・顔周りカット</a:t>
            </a:r>
            <a:endParaRPr lang="en-US" sz="900" dirty="0"/>
          </a:p>
        </p:txBody>
      </p:sp>
      <p:sp>
        <p:nvSpPr>
          <p:cNvPr id="72" name="Text 65"/>
          <p:cNvSpPr txBox="1"/>
          <p:nvPr/>
        </p:nvSpPr>
        <p:spPr>
          <a:xfrm>
            <a:off x="7526426" y="4647895"/>
            <a:ext cx="7626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・オージュア</a:t>
            </a:r>
            <a:endParaRPr lang="en-US" sz="900" dirty="0"/>
          </a:p>
        </p:txBody>
      </p:sp>
      <p:sp>
        <p:nvSpPr>
          <p:cNvPr id="73" name="Shape 66"/>
          <p:cNvSpPr/>
          <p:nvPr/>
        </p:nvSpPr>
        <p:spPr>
          <a:xfrm>
            <a:off x="9564624" y="4962449"/>
            <a:ext cx="2009851" cy="9144"/>
          </a:xfrm>
          <a:prstGeom prst="rect">
            <a:avLst/>
          </a:prstGeom>
          <a:solidFill>
            <a:srgbClr val="F3F4F6"/>
          </a:solidFill>
          <a:ln/>
        </p:spPr>
      </p:sp>
      <p:sp>
        <p:nvSpPr>
          <p:cNvPr id="74" name="Text 67"/>
          <p:cNvSpPr txBox="1"/>
          <p:nvPr/>
        </p:nvSpPr>
        <p:spPr>
          <a:xfrm>
            <a:off x="9717329" y="4267505"/>
            <a:ext cx="8860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・メンズパーマ</a:t>
            </a:r>
            <a:endParaRPr lang="en-US" sz="900" dirty="0"/>
          </a:p>
        </p:txBody>
      </p:sp>
      <p:sp>
        <p:nvSpPr>
          <p:cNvPr id="75" name="Text 68"/>
          <p:cNvSpPr txBox="1"/>
          <p:nvPr/>
        </p:nvSpPr>
        <p:spPr>
          <a:xfrm>
            <a:off x="9717329" y="4457700"/>
            <a:ext cx="12289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・ツイストスパイラル</a:t>
            </a:r>
            <a:endParaRPr lang="en-US" sz="900" dirty="0"/>
          </a:p>
        </p:txBody>
      </p:sp>
      <p:sp>
        <p:nvSpPr>
          <p:cNvPr id="76" name="Text 69"/>
          <p:cNvSpPr txBox="1"/>
          <p:nvPr/>
        </p:nvSpPr>
        <p:spPr>
          <a:xfrm>
            <a:off x="9717329" y="4647895"/>
            <a:ext cx="8961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・ショートボブ</a:t>
            </a:r>
            <a:endParaRPr lang="en-US" sz="900" dirty="0"/>
          </a:p>
        </p:txBody>
      </p:sp>
      <p:sp>
        <p:nvSpPr>
          <p:cNvPr id="77" name="Shape 70"/>
          <p:cNvSpPr/>
          <p:nvPr/>
        </p:nvSpPr>
        <p:spPr>
          <a:xfrm>
            <a:off x="619049" y="4972507"/>
            <a:ext cx="1828800" cy="733349"/>
          </a:xfrm>
          <a:prstGeom prst="rect">
            <a:avLst/>
          </a:prstGeom>
          <a:solidFill>
            <a:srgbClr val="F9FAFB"/>
          </a:solidFill>
          <a:ln w="12700">
            <a:solidFill>
              <a:srgbClr val="F3F4F6"/>
            </a:solidFill>
            <a:prstDash val="solid"/>
          </a:ln>
        </p:spPr>
      </p:sp>
      <p:pic>
        <p:nvPicPr>
          <p:cNvPr id="78" name="Image 5" descr="preencoded.png">    </p:cNvPr>
          <p:cNvPicPr>
            <a:picLocks noChangeAspect="1"/>
          </p:cNvPicPr>
          <p:nvPr/>
        </p:nvPicPr>
        <p:blipFill>
          <a:blip r:embed="rId6"/>
          <a:srcRect l="-6986" r="-6986" t="0" b="0"/>
          <a:stretch/>
        </p:blipFill>
        <p:spPr>
          <a:xfrm>
            <a:off x="771754" y="5269687"/>
            <a:ext cx="190195" cy="133502"/>
          </a:xfrm>
          <a:prstGeom prst="rect">
            <a:avLst/>
          </a:prstGeom>
        </p:spPr>
      </p:pic>
      <p:sp>
        <p:nvSpPr>
          <p:cNvPr id="79" name="Text 71"/>
          <p:cNvSpPr txBox="1"/>
          <p:nvPr/>
        </p:nvSpPr>
        <p:spPr>
          <a:xfrm>
            <a:off x="1037844" y="5234026"/>
            <a:ext cx="890626"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学割U24対応</a:t>
            </a:r>
            <a:endParaRPr lang="en-US" sz="1000" dirty="0"/>
          </a:p>
        </p:txBody>
      </p:sp>
      <p:sp>
        <p:nvSpPr>
          <p:cNvPr id="80" name="Shape 72"/>
          <p:cNvSpPr/>
          <p:nvPr/>
        </p:nvSpPr>
        <p:spPr>
          <a:xfrm>
            <a:off x="2445106" y="4972507"/>
            <a:ext cx="2743200" cy="733349"/>
          </a:xfrm>
          <a:prstGeom prst="rect">
            <a:avLst/>
          </a:prstGeom>
          <a:solidFill>
            <a:srgbClr val="FFF0E9"/>
          </a:solidFill>
          <a:ln w="25400">
            <a:solidFill>
              <a:srgbClr val="FF6B35"/>
            </a:solidFill>
            <a:prstDash val="solid"/>
          </a:ln>
        </p:spPr>
      </p:sp>
      <p:pic>
        <p:nvPicPr>
          <p:cNvPr id="81" name="Image 6" descr="preencoded.png">    </p:cNvPr>
          <p:cNvPicPr>
            <a:picLocks noChangeAspect="1"/>
          </p:cNvPicPr>
          <p:nvPr/>
        </p:nvPicPr>
        <p:blipFill>
          <a:blip r:embed="rId7"/>
          <a:srcRect l="0" r="0" t="0" b="0"/>
          <a:stretch/>
        </p:blipFill>
        <p:spPr>
          <a:xfrm>
            <a:off x="3699662" y="5124298"/>
            <a:ext cx="228600" cy="228600"/>
          </a:xfrm>
          <a:prstGeom prst="rect">
            <a:avLst/>
          </a:prstGeom>
        </p:spPr>
      </p:pic>
      <p:sp>
        <p:nvSpPr>
          <p:cNvPr id="82" name="Text 73"/>
          <p:cNvSpPr txBox="1"/>
          <p:nvPr/>
        </p:nvSpPr>
        <p:spPr>
          <a:xfrm>
            <a:off x="3413455" y="5381244"/>
            <a:ext cx="896112" cy="162763"/>
          </a:xfrm>
          <a:prstGeom prst="rect">
            <a:avLst/>
          </a:prstGeom>
          <a:noFill/>
          <a:ln/>
        </p:spPr>
        <p:txBody>
          <a:bodyPr wrap="square" lIns="0" tIns="0" rIns="0" bIns="0" rtlCol="0" anchor="ctr"/>
          <a:lstStyle/>
          <a:p>
            <a:pPr algn="ctr" indent="0" marL="0">
              <a:buNone/>
            </a:pPr>
            <a:r>
              <a:rPr lang="en-US" sz="900" b="1" dirty="0">
                <a:solidFill>
                  <a:srgbClr val="374151"/>
                </a:solidFill>
                <a:latin typeface="Noto Sans JP" pitchFamily="34" charset="0"/>
                <a:ea typeface="Noto Sans JP" pitchFamily="34" charset="-122"/>
                <a:cs typeface="Noto Sans JP" pitchFamily="34" charset="-120"/>
              </a:rPr>
              <a:t>主力クーポン化</a:t>
            </a:r>
            <a:endParaRPr lang="en-US" sz="900" dirty="0"/>
          </a:p>
        </p:txBody>
      </p:sp>
      <p:sp>
        <p:nvSpPr>
          <p:cNvPr id="83" name="Shape 74"/>
          <p:cNvSpPr/>
          <p:nvPr/>
        </p:nvSpPr>
        <p:spPr>
          <a:xfrm>
            <a:off x="5182819" y="4972507"/>
            <a:ext cx="2190902" cy="733349"/>
          </a:xfrm>
          <a:prstGeom prst="rect">
            <a:avLst/>
          </a:prstGeom>
          <a:noFill/>
          <a:ln w="12700">
            <a:solidFill>
              <a:srgbClr val="F3F4F6"/>
            </a:solidFill>
            <a:prstDash val="solid"/>
          </a:ln>
        </p:spPr>
      </p:sp>
      <p:pic>
        <p:nvPicPr>
          <p:cNvPr id="84" name="Image 7" descr="preencoded.png">    </p:cNvPr>
          <p:cNvPicPr>
            <a:picLocks noChangeAspect="1"/>
          </p:cNvPicPr>
          <p:nvPr/>
        </p:nvPicPr>
        <p:blipFill>
          <a:blip r:embed="rId8"/>
          <a:srcRect l="0" r="0" t="-1100" b="-1100"/>
          <a:stretch/>
        </p:blipFill>
        <p:spPr>
          <a:xfrm>
            <a:off x="6217006" y="5156302"/>
            <a:ext cx="114300" cy="133502"/>
          </a:xfrm>
          <a:prstGeom prst="rect">
            <a:avLst/>
          </a:prstGeom>
        </p:spPr>
      </p:pic>
      <p:sp>
        <p:nvSpPr>
          <p:cNvPr id="85" name="Text 75"/>
          <p:cNvSpPr txBox="1"/>
          <p:nvPr/>
        </p:nvSpPr>
        <p:spPr>
          <a:xfrm>
            <a:off x="6159398" y="5349240"/>
            <a:ext cx="324612"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あり</a:t>
            </a:r>
            <a:endParaRPr lang="en-US" sz="900" dirty="0"/>
          </a:p>
        </p:txBody>
      </p:sp>
      <p:sp>
        <p:nvSpPr>
          <p:cNvPr id="86" name="Shape 76"/>
          <p:cNvSpPr/>
          <p:nvPr/>
        </p:nvSpPr>
        <p:spPr>
          <a:xfrm>
            <a:off x="7373722" y="4972507"/>
            <a:ext cx="2190902" cy="733349"/>
          </a:xfrm>
          <a:prstGeom prst="rect">
            <a:avLst/>
          </a:prstGeom>
          <a:noFill/>
          <a:ln w="12700">
            <a:solidFill>
              <a:srgbClr val="F3F4F6"/>
            </a:solidFill>
            <a:prstDash val="solid"/>
          </a:ln>
        </p:spPr>
      </p:sp>
      <p:pic>
        <p:nvPicPr>
          <p:cNvPr id="87" name="Image 8" descr="preencoded.png">    </p:cNvPr>
          <p:cNvPicPr>
            <a:picLocks noChangeAspect="1"/>
          </p:cNvPicPr>
          <p:nvPr/>
        </p:nvPicPr>
        <p:blipFill>
          <a:blip r:embed="rId9"/>
          <a:srcRect l="0" r="0" t="-1100" b="-1100"/>
          <a:stretch/>
        </p:blipFill>
        <p:spPr>
          <a:xfrm>
            <a:off x="8406994" y="5156302"/>
            <a:ext cx="114300" cy="133502"/>
          </a:xfrm>
          <a:prstGeom prst="rect">
            <a:avLst/>
          </a:prstGeom>
        </p:spPr>
      </p:pic>
      <p:sp>
        <p:nvSpPr>
          <p:cNvPr id="88" name="Text 77"/>
          <p:cNvSpPr txBox="1"/>
          <p:nvPr/>
        </p:nvSpPr>
        <p:spPr>
          <a:xfrm>
            <a:off x="8350301" y="5349240"/>
            <a:ext cx="324612"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あり</a:t>
            </a:r>
            <a:endParaRPr lang="en-US" sz="900" dirty="0"/>
          </a:p>
        </p:txBody>
      </p:sp>
      <p:sp>
        <p:nvSpPr>
          <p:cNvPr id="89" name="Shape 78"/>
          <p:cNvSpPr/>
          <p:nvPr/>
        </p:nvSpPr>
        <p:spPr>
          <a:xfrm>
            <a:off x="9564624" y="5696712"/>
            <a:ext cx="2009851" cy="9144"/>
          </a:xfrm>
          <a:prstGeom prst="rect">
            <a:avLst/>
          </a:prstGeom>
          <a:solidFill>
            <a:srgbClr val="F3F4F6"/>
          </a:solidFill>
          <a:ln/>
        </p:spPr>
      </p:sp>
      <p:pic>
        <p:nvPicPr>
          <p:cNvPr id="90" name="Image 9" descr="preencoded.png">    </p:cNvPr>
          <p:cNvPicPr>
            <a:picLocks noChangeAspect="1"/>
          </p:cNvPicPr>
          <p:nvPr/>
        </p:nvPicPr>
        <p:blipFill>
          <a:blip r:embed="rId10"/>
          <a:srcRect l="0" r="0" t="0" b="0"/>
          <a:stretch/>
        </p:blipFill>
        <p:spPr>
          <a:xfrm>
            <a:off x="10482682" y="5152644"/>
            <a:ext cx="171907" cy="171907"/>
          </a:xfrm>
          <a:prstGeom prst="rect">
            <a:avLst/>
          </a:prstGeom>
        </p:spPr>
      </p:pic>
      <p:sp>
        <p:nvSpPr>
          <p:cNvPr id="91" name="Text 79"/>
          <p:cNvSpPr txBox="1"/>
          <p:nvPr/>
        </p:nvSpPr>
        <p:spPr>
          <a:xfrm>
            <a:off x="10226650" y="5352898"/>
            <a:ext cx="771754"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メンズ学割強</a:t>
            </a:r>
            <a:endParaRPr lang="en-US" sz="900" dirty="0"/>
          </a:p>
        </p:txBody>
      </p:sp>
      <p:sp>
        <p:nvSpPr>
          <p:cNvPr id="92" name="Shape 80"/>
          <p:cNvSpPr/>
          <p:nvPr/>
        </p:nvSpPr>
        <p:spPr>
          <a:xfrm>
            <a:off x="619049" y="5705856"/>
            <a:ext cx="1828800" cy="676656"/>
          </a:xfrm>
          <a:prstGeom prst="rect">
            <a:avLst/>
          </a:prstGeom>
          <a:solidFill>
            <a:srgbClr val="F9FAFB"/>
          </a:solidFill>
          <a:ln w="12700">
            <a:solidFill>
              <a:srgbClr val="F3F4F6"/>
            </a:solidFill>
            <a:prstDash val="solid"/>
          </a:ln>
        </p:spPr>
      </p:sp>
      <p:pic>
        <p:nvPicPr>
          <p:cNvPr id="93" name="Image 10" descr="preencoded.png">    </p:cNvPr>
          <p:cNvPicPr>
            <a:picLocks noChangeAspect="1"/>
          </p:cNvPicPr>
          <p:nvPr/>
        </p:nvPicPr>
        <p:blipFill>
          <a:blip r:embed="rId11"/>
          <a:srcRect l="-21233" r="-21233" t="0" b="0"/>
          <a:stretch/>
        </p:blipFill>
        <p:spPr>
          <a:xfrm>
            <a:off x="771754" y="5974690"/>
            <a:ext cx="190195" cy="133502"/>
          </a:xfrm>
          <a:prstGeom prst="rect">
            <a:avLst/>
          </a:prstGeom>
        </p:spPr>
      </p:pic>
      <p:sp>
        <p:nvSpPr>
          <p:cNvPr id="94" name="Text 81"/>
          <p:cNvSpPr txBox="1"/>
          <p:nvPr/>
        </p:nvSpPr>
        <p:spPr>
          <a:xfrm>
            <a:off x="1037844" y="5939028"/>
            <a:ext cx="633679"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営業時間</a:t>
            </a:r>
            <a:endParaRPr lang="en-US" sz="1000" dirty="0"/>
          </a:p>
        </p:txBody>
      </p:sp>
      <p:sp>
        <p:nvSpPr>
          <p:cNvPr id="95" name="Shape 82"/>
          <p:cNvSpPr/>
          <p:nvPr/>
        </p:nvSpPr>
        <p:spPr>
          <a:xfrm>
            <a:off x="2445106" y="5705856"/>
            <a:ext cx="2743200" cy="676656"/>
          </a:xfrm>
          <a:prstGeom prst="rect">
            <a:avLst/>
          </a:prstGeom>
          <a:solidFill>
            <a:srgbClr val="FFF0E9"/>
          </a:solidFill>
          <a:ln w="25400">
            <a:solidFill>
              <a:srgbClr val="FF6B35"/>
            </a:solidFill>
            <a:prstDash val="solid"/>
          </a:ln>
        </p:spPr>
      </p:sp>
      <p:sp>
        <p:nvSpPr>
          <p:cNvPr id="96" name="Text 83"/>
          <p:cNvSpPr txBox="1"/>
          <p:nvPr/>
        </p:nvSpPr>
        <p:spPr>
          <a:xfrm>
            <a:off x="3567989" y="5857646"/>
            <a:ext cx="596189" cy="191110"/>
          </a:xfrm>
          <a:prstGeom prst="rect">
            <a:avLst/>
          </a:prstGeom>
          <a:noFill/>
          <a:ln/>
        </p:spPr>
        <p:txBody>
          <a:bodyPr wrap="square" lIns="0" tIns="0" rIns="0" bIns="0" rtlCol="0" anchor="ctr"/>
          <a:lstStyle/>
          <a:p>
            <a:pPr algn="ctr" indent="0" marL="0">
              <a:buNone/>
            </a:pPr>
            <a:r>
              <a:rPr lang="en-US" sz="1000" b="1" dirty="0">
                <a:solidFill>
                  <a:srgbClr val="1F2937"/>
                </a:solidFill>
                <a:latin typeface="Noto Sans JP" pitchFamily="34" charset="0"/>
                <a:ea typeface="Noto Sans JP" pitchFamily="34" charset="-122"/>
                <a:cs typeface="Noto Sans JP" pitchFamily="34" charset="-120"/>
              </a:rPr>
              <a:t>〜22:00</a:t>
            </a:r>
            <a:endParaRPr lang="en-US" sz="1000" dirty="0"/>
          </a:p>
        </p:txBody>
      </p:sp>
      <p:sp>
        <p:nvSpPr>
          <p:cNvPr id="97" name="Text 84"/>
          <p:cNvSpPr txBox="1"/>
          <p:nvPr/>
        </p:nvSpPr>
        <p:spPr>
          <a:xfrm>
            <a:off x="3471062" y="6048756"/>
            <a:ext cx="781812"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平日夜に強み</a:t>
            </a:r>
            <a:endParaRPr lang="en-US" sz="900" dirty="0"/>
          </a:p>
        </p:txBody>
      </p:sp>
      <p:sp>
        <p:nvSpPr>
          <p:cNvPr id="98" name="Shape 85"/>
          <p:cNvSpPr/>
          <p:nvPr/>
        </p:nvSpPr>
        <p:spPr>
          <a:xfrm>
            <a:off x="5182819" y="5705856"/>
            <a:ext cx="2190902" cy="676656"/>
          </a:xfrm>
          <a:prstGeom prst="rect">
            <a:avLst/>
          </a:prstGeom>
          <a:noFill/>
          <a:ln w="12700">
            <a:solidFill>
              <a:srgbClr val="F3F4F6"/>
            </a:solidFill>
            <a:prstDash val="solid"/>
          </a:ln>
        </p:spPr>
      </p:sp>
      <p:sp>
        <p:nvSpPr>
          <p:cNvPr id="99" name="Text 86"/>
          <p:cNvSpPr txBox="1"/>
          <p:nvPr/>
        </p:nvSpPr>
        <p:spPr>
          <a:xfrm>
            <a:off x="6027725" y="5862218"/>
            <a:ext cx="596189" cy="191110"/>
          </a:xfrm>
          <a:prstGeom prst="rect">
            <a:avLst/>
          </a:prstGeom>
          <a:noFill/>
          <a:ln/>
        </p:spPr>
        <p:txBody>
          <a:bodyPr wrap="square" lIns="0" tIns="0" rIns="0" bIns="0" rtlCol="0" anchor="ctr"/>
          <a:lstStyle/>
          <a:p>
            <a:pPr algn="ctr" indent="0" marL="0">
              <a:buNone/>
            </a:pPr>
            <a:r>
              <a:rPr lang="en-US" sz="1000" b="1" dirty="0">
                <a:solidFill>
                  <a:srgbClr val="4B5563"/>
                </a:solidFill>
                <a:latin typeface="Noto Sans JP" pitchFamily="34" charset="0"/>
                <a:ea typeface="Noto Sans JP" pitchFamily="34" charset="-122"/>
                <a:cs typeface="Noto Sans JP" pitchFamily="34" charset="-120"/>
              </a:rPr>
              <a:t>〜23:00</a:t>
            </a:r>
            <a:endParaRPr lang="en-US" sz="1000" dirty="0"/>
          </a:p>
        </p:txBody>
      </p:sp>
      <p:sp>
        <p:nvSpPr>
          <p:cNvPr id="100" name="Text 87"/>
          <p:cNvSpPr txBox="1"/>
          <p:nvPr/>
        </p:nvSpPr>
        <p:spPr>
          <a:xfrm>
            <a:off x="6045098" y="6053328"/>
            <a:ext cx="553212"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深夜対応</a:t>
            </a:r>
            <a:endParaRPr lang="en-US" sz="900" dirty="0"/>
          </a:p>
        </p:txBody>
      </p:sp>
      <p:sp>
        <p:nvSpPr>
          <p:cNvPr id="101" name="Shape 88"/>
          <p:cNvSpPr/>
          <p:nvPr/>
        </p:nvSpPr>
        <p:spPr>
          <a:xfrm>
            <a:off x="7373722" y="5705856"/>
            <a:ext cx="2190902" cy="676656"/>
          </a:xfrm>
          <a:prstGeom prst="rect">
            <a:avLst/>
          </a:prstGeom>
          <a:noFill/>
          <a:ln w="12700">
            <a:solidFill>
              <a:srgbClr val="F3F4F6"/>
            </a:solidFill>
            <a:prstDash val="solid"/>
          </a:ln>
        </p:spPr>
      </p:sp>
      <p:sp>
        <p:nvSpPr>
          <p:cNvPr id="102" name="Text 89"/>
          <p:cNvSpPr txBox="1"/>
          <p:nvPr/>
        </p:nvSpPr>
        <p:spPr>
          <a:xfrm>
            <a:off x="8218627" y="5862218"/>
            <a:ext cx="596189" cy="191110"/>
          </a:xfrm>
          <a:prstGeom prst="rect">
            <a:avLst/>
          </a:prstGeom>
          <a:noFill/>
          <a:ln/>
        </p:spPr>
        <p:txBody>
          <a:bodyPr wrap="square" lIns="0" tIns="0" rIns="0" bIns="0" rtlCol="0" anchor="ctr"/>
          <a:lstStyle/>
          <a:p>
            <a:pPr algn="ctr" indent="0" marL="0">
              <a:buNone/>
            </a:pPr>
            <a:r>
              <a:rPr lang="en-US" sz="1000" b="1" dirty="0">
                <a:solidFill>
                  <a:srgbClr val="4B5563"/>
                </a:solidFill>
                <a:latin typeface="Noto Sans JP" pitchFamily="34" charset="0"/>
                <a:ea typeface="Noto Sans JP" pitchFamily="34" charset="-122"/>
                <a:cs typeface="Noto Sans JP" pitchFamily="34" charset="-120"/>
              </a:rPr>
              <a:t>〜22:00</a:t>
            </a:r>
            <a:endParaRPr lang="en-US" sz="1000" dirty="0"/>
          </a:p>
        </p:txBody>
      </p:sp>
      <p:sp>
        <p:nvSpPr>
          <p:cNvPr id="103" name="Text 90"/>
          <p:cNvSpPr txBox="1"/>
          <p:nvPr/>
        </p:nvSpPr>
        <p:spPr>
          <a:xfrm>
            <a:off x="8292694" y="6053328"/>
            <a:ext cx="438912"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標準的</a:t>
            </a:r>
            <a:endParaRPr lang="en-US" sz="900" dirty="0"/>
          </a:p>
        </p:txBody>
      </p:sp>
      <p:sp>
        <p:nvSpPr>
          <p:cNvPr id="104" name="Shape 91"/>
          <p:cNvSpPr/>
          <p:nvPr/>
        </p:nvSpPr>
        <p:spPr>
          <a:xfrm>
            <a:off x="9564624" y="6373368"/>
            <a:ext cx="2009851" cy="9144"/>
          </a:xfrm>
          <a:prstGeom prst="rect">
            <a:avLst/>
          </a:prstGeom>
          <a:solidFill>
            <a:srgbClr val="F3F4F6"/>
          </a:solidFill>
          <a:ln/>
        </p:spPr>
      </p:sp>
      <p:sp>
        <p:nvSpPr>
          <p:cNvPr id="105" name="Text 92"/>
          <p:cNvSpPr txBox="1"/>
          <p:nvPr/>
        </p:nvSpPr>
        <p:spPr>
          <a:xfrm>
            <a:off x="10322662" y="5862218"/>
            <a:ext cx="596189" cy="191110"/>
          </a:xfrm>
          <a:prstGeom prst="rect">
            <a:avLst/>
          </a:prstGeom>
          <a:noFill/>
          <a:ln/>
        </p:spPr>
        <p:txBody>
          <a:bodyPr wrap="square" lIns="0" tIns="0" rIns="0" bIns="0" rtlCol="0" anchor="ctr"/>
          <a:lstStyle/>
          <a:p>
            <a:pPr algn="ctr" indent="0" marL="0">
              <a:buNone/>
            </a:pPr>
            <a:r>
              <a:rPr lang="en-US" sz="1000" b="1" dirty="0">
                <a:solidFill>
                  <a:srgbClr val="4B5563"/>
                </a:solidFill>
                <a:latin typeface="Noto Sans JP" pitchFamily="34" charset="0"/>
                <a:ea typeface="Noto Sans JP" pitchFamily="34" charset="-122"/>
                <a:cs typeface="Noto Sans JP" pitchFamily="34" charset="-120"/>
              </a:rPr>
              <a:t>〜23:00</a:t>
            </a:r>
            <a:endParaRPr lang="en-US" sz="1000" dirty="0"/>
          </a:p>
        </p:txBody>
      </p:sp>
      <p:sp>
        <p:nvSpPr>
          <p:cNvPr id="106" name="Text 93"/>
          <p:cNvSpPr txBox="1"/>
          <p:nvPr/>
        </p:nvSpPr>
        <p:spPr>
          <a:xfrm>
            <a:off x="10225735" y="6053328"/>
            <a:ext cx="781812"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仕事帰り対応</a:t>
            </a:r>
            <a:endParaRPr lang="en-US" sz="900" dirty="0"/>
          </a:p>
        </p:txBody>
      </p:sp>
      <p:sp>
        <p:nvSpPr>
          <p:cNvPr id="107" name="Shape 94"/>
          <p:cNvSpPr/>
          <p:nvPr/>
        </p:nvSpPr>
        <p:spPr>
          <a:xfrm>
            <a:off x="609905" y="6152998"/>
            <a:ext cx="7267651" cy="400507"/>
          </a:xfrm>
          <a:prstGeom prst="roundRect">
            <a:avLst>
              <a:gd name="adj" fmla="val 228311"/>
            </a:avLst>
          </a:prstGeom>
          <a:solidFill>
            <a:srgbClr val="FFFFFF"/>
          </a:solidFill>
          <a:ln w="12700">
            <a:solidFill>
              <a:srgbClr val="E5E7EB"/>
            </a:solidFill>
            <a:prstDash val="solid"/>
          </a:ln>
        </p:spPr>
      </p:sp>
      <p:sp>
        <p:nvSpPr>
          <p:cNvPr id="108" name="Text 95"/>
          <p:cNvSpPr txBox="1"/>
          <p:nvPr/>
        </p:nvSpPr>
        <p:spPr>
          <a:xfrm>
            <a:off x="733349" y="6191402"/>
            <a:ext cx="7049110"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Analysis: Siena渋谷は「価格」では最安値競合に劣るものの、「トレンド感（質）」で差別化し、高価格帯サロンより通いやすいポジションを確立。</a:t>
            </a:r>
            <a:endParaRPr lang="en-US" sz="900" dirty="0"/>
          </a:p>
        </p:txBody>
      </p:sp>
      <p:sp>
        <p:nvSpPr>
          <p:cNvPr id="109" name="Text 96"/>
          <p:cNvSpPr txBox="1"/>
          <p:nvPr/>
        </p:nvSpPr>
        <p:spPr>
          <a:xfrm>
            <a:off x="7957109" y="6191402"/>
            <a:ext cx="3715207" cy="314554"/>
          </a:xfrm>
          <a:prstGeom prst="rect">
            <a:avLst/>
          </a:prstGeom>
          <a:noFill/>
          <a:ln/>
        </p:spPr>
        <p:txBody>
          <a:bodyPr wrap="square" lIns="0" tIns="0" rIns="0" bIns="0" rtlCol="0" anchor="ctr"/>
          <a:lstStyle/>
          <a:p>
            <a:pPr algn="r" indent="0" marL="0">
              <a:buNone/>
            </a:pPr>
            <a:r>
              <a:rPr lang="en-US" sz="900" dirty="0">
                <a:solidFill>
                  <a:srgbClr val="9CA3AF"/>
                </a:solidFill>
                <a:latin typeface="Noto Sans JP" pitchFamily="34" charset="0"/>
                <a:ea typeface="Noto Sans JP" pitchFamily="34" charset="-122"/>
                <a:cs typeface="Noto Sans JP" pitchFamily="34" charset="-120"/>
              </a:rPr>
              <a:t>※各社ホットペッパービューティー掲載情報（2026年1月時点）に基づく比較</a:t>
            </a:r>
            <a:endParaRPr lang="en-US" sz="900" dirty="0"/>
          </a:p>
        </p:txBody>
      </p:sp>
      <p:sp>
        <p:nvSpPr>
          <p:cNvPr id="110" name="Shape 97"/>
          <p:cNvSpPr/>
          <p:nvPr/>
        </p:nvSpPr>
        <p:spPr>
          <a:xfrm>
            <a:off x="0" y="0"/>
            <a:ext cx="12191695" cy="761695"/>
          </a:xfrm>
          <a:prstGeom prst="rect">
            <a:avLst/>
          </a:prstGeom>
          <a:solidFill>
            <a:srgbClr val="FFFFFF"/>
          </a:solidFill>
          <a:ln/>
        </p:spPr>
      </p:sp>
      <p:sp>
        <p:nvSpPr>
          <p:cNvPr id="111" name="Shape 98"/>
          <p:cNvSpPr/>
          <p:nvPr/>
        </p:nvSpPr>
        <p:spPr>
          <a:xfrm>
            <a:off x="0" y="752551"/>
            <a:ext cx="12191695" cy="9144"/>
          </a:xfrm>
          <a:prstGeom prst="rect">
            <a:avLst/>
          </a:prstGeom>
          <a:solidFill>
            <a:srgbClr val="F3F4F6"/>
          </a:solidFill>
          <a:ln/>
        </p:spPr>
      </p:sp>
      <p:sp>
        <p:nvSpPr>
          <p:cNvPr id="112" name="Shape 99"/>
          <p:cNvSpPr/>
          <p:nvPr/>
        </p:nvSpPr>
        <p:spPr>
          <a:xfrm>
            <a:off x="609905" y="224028"/>
            <a:ext cx="304495" cy="304495"/>
          </a:xfrm>
          <a:prstGeom prst="roundRect">
            <a:avLst>
              <a:gd name="adj" fmla="val 56306"/>
            </a:avLst>
          </a:prstGeom>
          <a:solidFill>
            <a:srgbClr val="FF6B35"/>
          </a:solidFill>
          <a:ln/>
        </p:spPr>
      </p:sp>
      <p:pic>
        <p:nvPicPr>
          <p:cNvPr id="113" name="Image 11" descr="preencoded.png">    </p:cNvPr>
          <p:cNvPicPr>
            <a:picLocks noChangeAspect="1"/>
          </p:cNvPicPr>
          <p:nvPr/>
        </p:nvPicPr>
        <p:blipFill>
          <a:blip r:embed="rId12"/>
          <a:srcRect l="0" r="0" t="0" b="0"/>
          <a:stretch/>
        </p:blipFill>
        <p:spPr>
          <a:xfrm>
            <a:off x="694944" y="309982"/>
            <a:ext cx="133502" cy="133502"/>
          </a:xfrm>
          <a:prstGeom prst="rect">
            <a:avLst/>
          </a:prstGeom>
        </p:spPr>
      </p:pic>
      <p:sp>
        <p:nvSpPr>
          <p:cNvPr id="114" name="Text 100"/>
          <p:cNvSpPr txBox="1"/>
          <p:nvPr/>
        </p:nvSpPr>
        <p:spPr>
          <a:xfrm>
            <a:off x="990295" y="280721"/>
            <a:ext cx="194858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COMPETITIVE LANDSCAPE</a:t>
            </a:r>
            <a:endParaRPr lang="en-US" sz="1000" dirty="0"/>
          </a:p>
        </p:txBody>
      </p:sp>
      <p:sp>
        <p:nvSpPr>
          <p:cNvPr id="115" name="Text 101"/>
          <p:cNvSpPr txBox="1"/>
          <p:nvPr/>
        </p:nvSpPr>
        <p:spPr>
          <a:xfrm>
            <a:off x="10167214" y="280721"/>
            <a:ext cx="1519733"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09. 渋谷エリア競合比較</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28700"/>
            <a:ext cx="3596335" cy="781812"/>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渋谷駅徒歩5分圏内 競合密集エリアの分析</a:t>
            </a:r>
            <a:endParaRPr lang="en-US" sz="2200" dirty="0"/>
          </a:p>
        </p:txBody>
      </p:sp>
      <p:sp>
        <p:nvSpPr>
          <p:cNvPr id="6" name="Text 4"/>
          <p:cNvSpPr txBox="1"/>
          <p:nvPr/>
        </p:nvSpPr>
        <p:spPr>
          <a:xfrm>
            <a:off x="609905" y="1943100"/>
            <a:ext cx="3577133"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渋谷は、激戦区である渋谷駅から徒歩2-3分の好立地に位置しています。同価格帯（カット+カラー¥6,000〜¥8,000）の競合が多数存在しますが、特に「トレンド×低価格」を打ち出すサロンとの直接競合が激しい状況です。</a:t>
            </a:r>
            <a:endParaRPr lang="en-US" sz="1000" dirty="0"/>
          </a:p>
        </p:txBody>
      </p:sp>
      <p:sp>
        <p:nvSpPr>
          <p:cNvPr id="7" name="Shape 5"/>
          <p:cNvSpPr/>
          <p:nvPr/>
        </p:nvSpPr>
        <p:spPr>
          <a:xfrm>
            <a:off x="609905" y="3029407"/>
            <a:ext cx="3562502" cy="1419149"/>
          </a:xfrm>
          <a:prstGeom prst="roundRect">
            <a:avLst>
              <a:gd name="adj" fmla="val 5189"/>
            </a:avLst>
          </a:prstGeom>
          <a:solidFill>
            <a:srgbClr val="FFFFFF"/>
          </a:solidFill>
          <a:ln/>
          <a:effectLst>
            <a:outerShdw sx="100000" sy="100000" kx="0" ky="0" algn="bl" rotWithShape="0" blurRad="12700" dist="12700" dir="16200000">
              <a:srgbClr val="000000">
                <a:alpha val="75000"/>
              </a:srgbClr>
            </a:outerShdw>
          </a:effectLst>
        </p:spPr>
      </p:sp>
      <p:sp>
        <p:nvSpPr>
          <p:cNvPr id="8" name="Shape 6"/>
          <p:cNvSpPr/>
          <p:nvPr/>
        </p:nvSpPr>
        <p:spPr>
          <a:xfrm>
            <a:off x="609905" y="3029407"/>
            <a:ext cx="38405" cy="1419149"/>
          </a:xfrm>
          <a:prstGeom prst="rect">
            <a:avLst/>
          </a:prstGeom>
          <a:solidFill>
            <a:srgbClr val="FF6B35"/>
          </a:solidFill>
          <a:ln/>
        </p:spPr>
      </p:sp>
      <p:sp>
        <p:nvSpPr>
          <p:cNvPr id="9" name="Text 7"/>
          <p:cNvSpPr txBox="1"/>
          <p:nvPr/>
        </p:nvSpPr>
        <p:spPr>
          <a:xfrm>
            <a:off x="838505" y="3219602"/>
            <a:ext cx="1414577"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TARGET AREA STATS</a:t>
            </a:r>
            <a:endParaRPr lang="en-US" sz="1000" dirty="0"/>
          </a:p>
        </p:txBody>
      </p:sp>
      <p:sp>
        <p:nvSpPr>
          <p:cNvPr id="10" name="Shape 8"/>
          <p:cNvSpPr/>
          <p:nvPr/>
        </p:nvSpPr>
        <p:spPr>
          <a:xfrm>
            <a:off x="838505" y="3867912"/>
            <a:ext cx="3143707" cy="9144"/>
          </a:xfrm>
          <a:prstGeom prst="rect">
            <a:avLst/>
          </a:prstGeom>
          <a:solidFill>
            <a:srgbClr val="F3F4F6"/>
          </a:solidFill>
          <a:ln/>
        </p:spPr>
      </p:sp>
      <p:sp>
        <p:nvSpPr>
          <p:cNvPr id="11" name="Text 9"/>
          <p:cNvSpPr txBox="1"/>
          <p:nvPr/>
        </p:nvSpPr>
        <p:spPr>
          <a:xfrm>
            <a:off x="838505" y="3600907"/>
            <a:ext cx="9006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競合サロン数</a:t>
            </a:r>
            <a:endParaRPr lang="en-US" sz="1000" dirty="0"/>
          </a:p>
        </p:txBody>
      </p:sp>
      <p:sp>
        <p:nvSpPr>
          <p:cNvPr id="12" name="Text 10"/>
          <p:cNvSpPr txBox="1"/>
          <p:nvPr/>
        </p:nvSpPr>
        <p:spPr>
          <a:xfrm>
            <a:off x="3246120" y="3467405"/>
            <a:ext cx="905256"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12店舗</a:t>
            </a:r>
            <a:endParaRPr lang="en-US" sz="1800" dirty="0"/>
          </a:p>
        </p:txBody>
      </p:sp>
      <p:sp>
        <p:nvSpPr>
          <p:cNvPr id="13" name="Text 11"/>
          <p:cNvSpPr txBox="1"/>
          <p:nvPr/>
        </p:nvSpPr>
        <p:spPr>
          <a:xfrm>
            <a:off x="838505" y="4067251"/>
            <a:ext cx="9957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平均単価(推計)</a:t>
            </a:r>
            <a:endParaRPr lang="en-US" sz="1000" dirty="0"/>
          </a:p>
        </p:txBody>
      </p:sp>
      <p:sp>
        <p:nvSpPr>
          <p:cNvPr id="14" name="Text 12"/>
          <p:cNvSpPr txBox="1"/>
          <p:nvPr/>
        </p:nvSpPr>
        <p:spPr>
          <a:xfrm>
            <a:off x="3225089" y="3933749"/>
            <a:ext cx="9244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¥7,800</a:t>
            </a:r>
            <a:endParaRPr lang="en-US" sz="1800" dirty="0"/>
          </a:p>
        </p:txBody>
      </p:sp>
      <p:sp>
        <p:nvSpPr>
          <p:cNvPr id="15" name="Shape 13"/>
          <p:cNvSpPr/>
          <p:nvPr/>
        </p:nvSpPr>
        <p:spPr>
          <a:xfrm>
            <a:off x="609905" y="5505602"/>
            <a:ext cx="3562502" cy="1047902"/>
          </a:xfrm>
          <a:prstGeom prst="roundRect">
            <a:avLst>
              <a:gd name="adj" fmla="val 9519"/>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6" name="Text 14"/>
          <p:cNvSpPr txBox="1"/>
          <p:nvPr/>
        </p:nvSpPr>
        <p:spPr>
          <a:xfrm>
            <a:off x="771754" y="5658307"/>
            <a:ext cx="11247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凡例：バブルの意味</a:t>
            </a:r>
            <a:endParaRPr lang="en-US" sz="900" dirty="0"/>
          </a:p>
        </p:txBody>
      </p:sp>
      <p:sp>
        <p:nvSpPr>
          <p:cNvPr id="17" name="Shape 15"/>
          <p:cNvSpPr/>
          <p:nvPr/>
        </p:nvSpPr>
        <p:spPr>
          <a:xfrm>
            <a:off x="771754" y="5934456"/>
            <a:ext cx="95098" cy="95098"/>
          </a:xfrm>
          <a:prstGeom prst="ellipse">
            <a:avLst/>
          </a:prstGeom>
          <a:solidFill>
            <a:srgbClr val="EF4444"/>
          </a:solidFill>
          <a:ln/>
        </p:spPr>
      </p:sp>
      <p:sp>
        <p:nvSpPr>
          <p:cNvPr id="18" name="Text 16"/>
          <p:cNvSpPr txBox="1"/>
          <p:nvPr/>
        </p:nvSpPr>
        <p:spPr>
          <a:xfrm>
            <a:off x="923544" y="5896051"/>
            <a:ext cx="11247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高価格帯 (¥10,000~)</a:t>
            </a:r>
            <a:endParaRPr lang="en-US" sz="900" dirty="0"/>
          </a:p>
        </p:txBody>
      </p:sp>
      <p:sp>
        <p:nvSpPr>
          <p:cNvPr id="19" name="Shape 17"/>
          <p:cNvSpPr/>
          <p:nvPr/>
        </p:nvSpPr>
        <p:spPr>
          <a:xfrm>
            <a:off x="2424989" y="5934456"/>
            <a:ext cx="95098" cy="95098"/>
          </a:xfrm>
          <a:prstGeom prst="ellipse">
            <a:avLst/>
          </a:prstGeom>
          <a:solidFill>
            <a:srgbClr val="FF6B35"/>
          </a:solidFill>
          <a:ln/>
        </p:spPr>
      </p:sp>
      <p:sp>
        <p:nvSpPr>
          <p:cNvPr id="20" name="Text 18"/>
          <p:cNvSpPr txBox="1"/>
          <p:nvPr/>
        </p:nvSpPr>
        <p:spPr>
          <a:xfrm>
            <a:off x="2577694" y="5896051"/>
            <a:ext cx="14100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中価格帯 (¥6,000~¥9,999)</a:t>
            </a:r>
            <a:endParaRPr lang="en-US" sz="900" dirty="0"/>
          </a:p>
        </p:txBody>
      </p:sp>
      <p:sp>
        <p:nvSpPr>
          <p:cNvPr id="21" name="Shape 19"/>
          <p:cNvSpPr/>
          <p:nvPr/>
        </p:nvSpPr>
        <p:spPr>
          <a:xfrm>
            <a:off x="771754" y="6219749"/>
            <a:ext cx="95098" cy="95098"/>
          </a:xfrm>
          <a:prstGeom prst="ellipse">
            <a:avLst/>
          </a:prstGeom>
          <a:solidFill>
            <a:srgbClr val="60A5FA"/>
          </a:solidFill>
          <a:ln/>
        </p:spPr>
      </p:sp>
      <p:sp>
        <p:nvSpPr>
          <p:cNvPr id="22" name="Text 20"/>
          <p:cNvSpPr txBox="1"/>
          <p:nvPr/>
        </p:nvSpPr>
        <p:spPr>
          <a:xfrm>
            <a:off x="923544" y="6181344"/>
            <a:ext cx="10671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低価格帯 (~¥5,999)</a:t>
            </a:r>
            <a:endParaRPr lang="en-US" sz="900" dirty="0"/>
          </a:p>
        </p:txBody>
      </p:sp>
      <p:sp>
        <p:nvSpPr>
          <p:cNvPr id="23" name="Shape 21"/>
          <p:cNvSpPr/>
          <p:nvPr/>
        </p:nvSpPr>
        <p:spPr>
          <a:xfrm>
            <a:off x="2424989" y="6229807"/>
            <a:ext cx="75895" cy="75895"/>
          </a:xfrm>
          <a:prstGeom prst="roundRect">
            <a:avLst>
              <a:gd name="adj" fmla="val 1204822"/>
            </a:avLst>
          </a:prstGeom>
          <a:solidFill>
            <a:srgbClr val="FFFFFF"/>
          </a:solidFill>
          <a:ln w="12700">
            <a:solidFill>
              <a:srgbClr val="9CA3AF"/>
            </a:solidFill>
            <a:prstDash val="solid"/>
          </a:ln>
        </p:spPr>
      </p:sp>
      <p:sp>
        <p:nvSpPr>
          <p:cNvPr id="24" name="Text 22"/>
          <p:cNvSpPr txBox="1"/>
          <p:nvPr/>
        </p:nvSpPr>
        <p:spPr>
          <a:xfrm>
            <a:off x="2577694" y="6181344"/>
            <a:ext cx="12390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円の大きさ = 席数規模</a:t>
            </a:r>
            <a:endParaRPr lang="en-US" sz="900" dirty="0"/>
          </a:p>
        </p:txBody>
      </p:sp>
      <p:sp>
        <p:nvSpPr>
          <p:cNvPr id="25" name="Shape 23"/>
          <p:cNvSpPr/>
          <p:nvPr/>
        </p:nvSpPr>
        <p:spPr>
          <a:xfrm>
            <a:off x="4468673" y="1067105"/>
            <a:ext cx="7114946" cy="5486400"/>
          </a:xfrm>
          <a:prstGeom prst="roundRect">
            <a:avLst>
              <a:gd name="adj" fmla="val 463"/>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26" name="Image 0" descr="preencoded.png">    </p:cNvPr>
          <p:cNvPicPr>
            <a:picLocks noChangeAspect="1"/>
          </p:cNvPicPr>
          <p:nvPr/>
        </p:nvPicPr>
        <p:blipFill>
          <a:blip r:embed="rId1"/>
          <a:srcRect l="0" r="0" t="-3" b="-3"/>
          <a:stretch/>
        </p:blipFill>
        <p:spPr>
          <a:xfrm>
            <a:off x="4554626" y="1152144"/>
            <a:ext cx="6943954" cy="5315407"/>
          </a:xfrm>
          <a:prstGeom prst="rect">
            <a:avLst/>
          </a:prstGeom>
        </p:spPr>
      </p:pic>
      <p:sp>
        <p:nvSpPr>
          <p:cNvPr id="27" name="Shape 24"/>
          <p:cNvSpPr/>
          <p:nvPr/>
        </p:nvSpPr>
        <p:spPr>
          <a:xfrm>
            <a:off x="4554626" y="6467551"/>
            <a:ext cx="800100" cy="152705"/>
          </a:xfrm>
          <a:prstGeom prst="roundRect">
            <a:avLst>
              <a:gd name="adj" fmla="val 149700"/>
            </a:avLst>
          </a:prstGeom>
          <a:solidFill>
            <a:srgbClr val="FFFFFF">
              <a:alpha val="70000"/>
            </a:srgbClr>
          </a:solidFill>
          <a:ln/>
        </p:spPr>
      </p:sp>
      <p:sp>
        <p:nvSpPr>
          <p:cNvPr id="28" name="Text 25"/>
          <p:cNvSpPr txBox="1"/>
          <p:nvPr/>
        </p:nvSpPr>
        <p:spPr>
          <a:xfrm>
            <a:off x="4630522" y="6458407"/>
            <a:ext cx="734263" cy="162763"/>
          </a:xfrm>
          <a:prstGeom prst="rect">
            <a:avLst/>
          </a:prstGeom>
          <a:noFill/>
          <a:ln/>
        </p:spPr>
        <p:txBody>
          <a:bodyPr wrap="square" lIns="0" tIns="0" rIns="0" bIns="0" rtlCol="0" anchor="ctr"/>
          <a:lstStyle/>
          <a:p>
            <a:pPr algn="l" indent="0" marL="0">
              <a:buNone/>
            </a:pPr>
            <a:r>
              <a:rPr lang="en-US" sz="900" b="1" dirty="0">
                <a:solidFill>
                  <a:srgbClr val="9CA3AF">
                    <a:alpha val="70000"/>
                  </a:srgbClr>
                </a:solidFill>
                <a:latin typeface="Noto Sans JP" pitchFamily="34" charset="0"/>
                <a:ea typeface="Noto Sans JP" pitchFamily="34" charset="-122"/>
                <a:cs typeface="Noto Sans JP" pitchFamily="34" charset="-120"/>
              </a:rPr>
              <a:t>徒歩5分圏内</a:t>
            </a:r>
            <a:endParaRPr lang="en-US" sz="900" dirty="0"/>
          </a:p>
        </p:txBody>
      </p:sp>
      <p:sp>
        <p:nvSpPr>
          <p:cNvPr id="29" name="Shape 26"/>
          <p:cNvSpPr/>
          <p:nvPr/>
        </p:nvSpPr>
        <p:spPr>
          <a:xfrm>
            <a:off x="0" y="0"/>
            <a:ext cx="12191695" cy="761695"/>
          </a:xfrm>
          <a:prstGeom prst="rect">
            <a:avLst/>
          </a:prstGeom>
          <a:solidFill>
            <a:srgbClr val="FFFFFF"/>
          </a:solidFill>
          <a:ln/>
        </p:spPr>
      </p:sp>
      <p:sp>
        <p:nvSpPr>
          <p:cNvPr id="30" name="Shape 27"/>
          <p:cNvSpPr/>
          <p:nvPr/>
        </p:nvSpPr>
        <p:spPr>
          <a:xfrm>
            <a:off x="0" y="752551"/>
            <a:ext cx="12191695" cy="9144"/>
          </a:xfrm>
          <a:prstGeom prst="rect">
            <a:avLst/>
          </a:prstGeom>
          <a:solidFill>
            <a:srgbClr val="F3F4F6"/>
          </a:solidFill>
          <a:ln/>
        </p:spPr>
      </p:sp>
      <p:sp>
        <p:nvSpPr>
          <p:cNvPr id="31" name="Shape 28"/>
          <p:cNvSpPr/>
          <p:nvPr/>
        </p:nvSpPr>
        <p:spPr>
          <a:xfrm>
            <a:off x="609905" y="224028"/>
            <a:ext cx="304495" cy="304495"/>
          </a:xfrm>
          <a:prstGeom prst="roundRect">
            <a:avLst>
              <a:gd name="adj" fmla="val 56306"/>
            </a:avLst>
          </a:prstGeom>
          <a:solidFill>
            <a:srgbClr val="1F2937"/>
          </a:solidFill>
          <a:ln/>
        </p:spPr>
      </p:sp>
      <p:pic>
        <p:nvPicPr>
          <p:cNvPr id="32" name="Image 1" descr="preencoded.png">    </p:cNvPr>
          <p:cNvPicPr>
            <a:picLocks noChangeAspect="1"/>
          </p:cNvPicPr>
          <p:nvPr/>
        </p:nvPicPr>
        <p:blipFill>
          <a:blip r:embed="rId2"/>
          <a:srcRect l="-837" r="-837" t="0" b="0"/>
          <a:stretch/>
        </p:blipFill>
        <p:spPr>
          <a:xfrm>
            <a:off x="685800" y="309982"/>
            <a:ext cx="152705" cy="133502"/>
          </a:xfrm>
          <a:prstGeom prst="rect">
            <a:avLst/>
          </a:prstGeom>
        </p:spPr>
      </p:pic>
      <p:sp>
        <p:nvSpPr>
          <p:cNvPr id="33" name="Text 29"/>
          <p:cNvSpPr txBox="1"/>
          <p:nvPr/>
        </p:nvSpPr>
        <p:spPr>
          <a:xfrm>
            <a:off x="990295" y="280721"/>
            <a:ext cx="1948586"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LOCAL COMPETITION MAP</a:t>
            </a:r>
            <a:endParaRPr lang="en-US" sz="1000" dirty="0"/>
          </a:p>
        </p:txBody>
      </p:sp>
      <p:sp>
        <p:nvSpPr>
          <p:cNvPr id="34" name="Text 30"/>
          <p:cNvSpPr txBox="1"/>
          <p:nvPr/>
        </p:nvSpPr>
        <p:spPr>
          <a:xfrm>
            <a:off x="10351922" y="280721"/>
            <a:ext cx="13386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渋谷エリア 競合分布</a:t>
            </a:r>
            <a:endParaRPr lang="en-US" sz="1000" dirty="0"/>
          </a:p>
        </p:txBody>
      </p:sp>
      <p:sp>
        <p:nvSpPr>
          <p:cNvPr id="35" name="Shape 31"/>
          <p:cNvSpPr/>
          <p:nvPr/>
        </p:nvSpPr>
        <p:spPr>
          <a:xfrm>
            <a:off x="7668158" y="3696005"/>
            <a:ext cx="724205" cy="228600"/>
          </a:xfrm>
          <a:prstGeom prst="roundRect">
            <a:avLst>
              <a:gd name="adj" fmla="val 66667"/>
            </a:avLst>
          </a:prstGeom>
          <a:solidFill>
            <a:srgbClr val="1F2937">
              <a:alpha val="80000"/>
            </a:srgbClr>
          </a:solidFill>
          <a:ln/>
          <a:effectLst>
            <a:outerShdw sx="100000" sy="100000" kx="0" ky="0" algn="bl" rotWithShape="0" blurRad="12700" dist="12700" dir="16200000">
              <a:srgbClr val="000000">
                <a:alpha val="75000"/>
              </a:srgbClr>
            </a:outerShdw>
          </a:effectLst>
        </p:spPr>
      </p:sp>
      <p:pic>
        <p:nvPicPr>
          <p:cNvPr id="36" name="Image 2" descr="preencoded.png">    </p:cNvPr>
          <p:cNvPicPr>
            <a:picLocks noChangeAspect="1"/>
          </p:cNvPicPr>
          <p:nvPr/>
        </p:nvPicPr>
        <p:blipFill>
          <a:blip r:embed="rId3">
            <a:alphaModFix amt="80000"/>
          </a:blip>
          <a:srcRect l="-2571" r="-2571" t="0" b="0"/>
          <a:stretch/>
        </p:blipFill>
        <p:spPr>
          <a:xfrm>
            <a:off x="7782458" y="3757270"/>
            <a:ext cx="105156" cy="114300"/>
          </a:xfrm>
          <a:prstGeom prst="rect">
            <a:avLst/>
          </a:prstGeom>
        </p:spPr>
      </p:pic>
      <p:sp>
        <p:nvSpPr>
          <p:cNvPr id="37" name="Text 32"/>
          <p:cNvSpPr txBox="1"/>
          <p:nvPr/>
        </p:nvSpPr>
        <p:spPr>
          <a:xfrm>
            <a:off x="7925105" y="3724351"/>
            <a:ext cx="438912" cy="162763"/>
          </a:xfrm>
          <a:prstGeom prst="rect">
            <a:avLst/>
          </a:prstGeom>
          <a:noFill/>
          <a:ln/>
        </p:spPr>
        <p:txBody>
          <a:bodyPr wrap="square" lIns="0" tIns="0" rIns="0" bIns="0" rtlCol="0" anchor="ctr"/>
          <a:lstStyle/>
          <a:p>
            <a:pPr algn="l" indent="0" marL="0">
              <a:buNone/>
            </a:pPr>
            <a:r>
              <a:rPr lang="en-US" sz="900" b="1" dirty="0">
                <a:solidFill>
                  <a:srgbClr val="FFFFFF">
                    <a:alpha val="80000"/>
                  </a:srgbClr>
                </a:solidFill>
                <a:latin typeface="Noto Sans JP" pitchFamily="34" charset="0"/>
                <a:ea typeface="Noto Sans JP" pitchFamily="34" charset="-122"/>
                <a:cs typeface="Noto Sans JP" pitchFamily="34" charset="-120"/>
              </a:rPr>
              <a:t>渋谷駅</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FFFFF"/>
          </a:solidFill>
          <a:ln/>
        </p:spPr>
      </p:sp>
      <p:sp>
        <p:nvSpPr>
          <p:cNvPr id="5" name="Shape 3"/>
          <p:cNvSpPr/>
          <p:nvPr/>
        </p:nvSpPr>
        <p:spPr>
          <a:xfrm>
            <a:off x="609905" y="1067105"/>
            <a:ext cx="7114946" cy="5486400"/>
          </a:xfrm>
          <a:prstGeom prst="roundRect">
            <a:avLst>
              <a:gd name="adj" fmla="val 463"/>
            </a:avLst>
          </a:prstGeom>
          <a:noFill/>
          <a:ln w="12700">
            <a:solidFill>
              <a:srgbClr val="E5E7EB"/>
            </a:solidFill>
            <a:prstDash val="solid"/>
          </a:ln>
        </p:spPr>
      </p:sp>
      <p:sp>
        <p:nvSpPr>
          <p:cNvPr id="6" name="Shape 4"/>
          <p:cNvSpPr/>
          <p:nvPr/>
        </p:nvSpPr>
        <p:spPr>
          <a:xfrm>
            <a:off x="619049" y="1076249"/>
            <a:ext cx="3552444" cy="2734056"/>
          </a:xfrm>
          <a:prstGeom prst="rect">
            <a:avLst/>
          </a:prstGeom>
          <a:solidFill>
            <a:srgbClr val="FF6B35">
              <a:alpha val="8000"/>
            </a:srgbClr>
          </a:solidFill>
          <a:ln w="12700">
            <a:solidFill>
              <a:srgbClr val="CBD5E1"/>
            </a:solidFill>
            <a:prstDash val="solid"/>
          </a:ln>
        </p:spPr>
      </p:sp>
      <p:sp>
        <p:nvSpPr>
          <p:cNvPr id="7" name="Shape 5"/>
          <p:cNvSpPr/>
          <p:nvPr/>
        </p:nvSpPr>
        <p:spPr>
          <a:xfrm>
            <a:off x="4166006" y="1076249"/>
            <a:ext cx="3552444" cy="2734056"/>
          </a:xfrm>
          <a:prstGeom prst="rect">
            <a:avLst/>
          </a:prstGeom>
          <a:solidFill>
            <a:srgbClr val="F8FAFC"/>
          </a:solidFill>
          <a:ln/>
        </p:spPr>
      </p:sp>
      <p:sp>
        <p:nvSpPr>
          <p:cNvPr id="8" name="Shape 6"/>
          <p:cNvSpPr/>
          <p:nvPr/>
        </p:nvSpPr>
        <p:spPr>
          <a:xfrm>
            <a:off x="4166006" y="3801161"/>
            <a:ext cx="3552444" cy="9144"/>
          </a:xfrm>
          <a:prstGeom prst="rect">
            <a:avLst/>
          </a:prstGeom>
          <a:solidFill>
            <a:srgbClr val="CBD5E1"/>
          </a:solidFill>
          <a:ln/>
        </p:spPr>
      </p:sp>
      <p:sp>
        <p:nvSpPr>
          <p:cNvPr id="9" name="Shape 7"/>
          <p:cNvSpPr/>
          <p:nvPr/>
        </p:nvSpPr>
        <p:spPr>
          <a:xfrm>
            <a:off x="619049" y="3810305"/>
            <a:ext cx="3552444" cy="2734056"/>
          </a:xfrm>
          <a:prstGeom prst="rect">
            <a:avLst/>
          </a:prstGeom>
          <a:solidFill>
            <a:srgbClr val="F8FAFC"/>
          </a:solidFill>
          <a:ln/>
        </p:spPr>
      </p:sp>
      <p:sp>
        <p:nvSpPr>
          <p:cNvPr id="10" name="Shape 8"/>
          <p:cNvSpPr/>
          <p:nvPr/>
        </p:nvSpPr>
        <p:spPr>
          <a:xfrm>
            <a:off x="4162349" y="3810305"/>
            <a:ext cx="9144" cy="2734056"/>
          </a:xfrm>
          <a:prstGeom prst="rect">
            <a:avLst/>
          </a:prstGeom>
          <a:solidFill>
            <a:srgbClr val="CBD5E1"/>
          </a:solidFill>
          <a:ln/>
        </p:spPr>
      </p:sp>
      <p:sp>
        <p:nvSpPr>
          <p:cNvPr id="11" name="Shape 9"/>
          <p:cNvSpPr/>
          <p:nvPr/>
        </p:nvSpPr>
        <p:spPr>
          <a:xfrm>
            <a:off x="4166006" y="3810305"/>
            <a:ext cx="3552444" cy="2734056"/>
          </a:xfrm>
          <a:prstGeom prst="rect">
            <a:avLst/>
          </a:prstGeom>
          <a:solidFill>
            <a:srgbClr val="F8FAFC"/>
          </a:solidFill>
          <a:ln/>
        </p:spPr>
      </p:sp>
      <p:sp>
        <p:nvSpPr>
          <p:cNvPr id="12" name="Text 10"/>
          <p:cNvSpPr txBox="1"/>
          <p:nvPr/>
        </p:nvSpPr>
        <p:spPr>
          <a:xfrm>
            <a:off x="6607454" y="2018995"/>
            <a:ext cx="896112" cy="162763"/>
          </a:xfrm>
          <a:prstGeom prst="rect">
            <a:avLst/>
          </a:prstGeom>
          <a:noFill/>
          <a:ln/>
        </p:spPr>
        <p:txBody>
          <a:bodyPr wrap="square" lIns="0" tIns="0" rIns="0" bIns="0" rtlCol="0" anchor="ctr"/>
          <a:lstStyle/>
          <a:p>
            <a:pPr algn="r" indent="0" marL="0">
              <a:buNone/>
            </a:pPr>
            <a:r>
              <a:rPr lang="en-US" sz="900" dirty="0">
                <a:solidFill>
                  <a:srgbClr val="9CA3AF"/>
                </a:solidFill>
                <a:latin typeface="Noto Sans JP" pitchFamily="34" charset="0"/>
                <a:ea typeface="Noto Sans JP" pitchFamily="34" charset="-122"/>
                <a:cs typeface="Noto Sans JP" pitchFamily="34" charset="-120"/>
              </a:rPr>
              <a:t>ブランドサロン</a:t>
            </a:r>
            <a:endParaRPr lang="en-US" sz="900" dirty="0"/>
          </a:p>
        </p:txBody>
      </p:sp>
      <p:sp>
        <p:nvSpPr>
          <p:cNvPr id="13" name="Text 11"/>
          <p:cNvSpPr txBox="1"/>
          <p:nvPr/>
        </p:nvSpPr>
        <p:spPr>
          <a:xfrm>
            <a:off x="923544" y="6077102"/>
            <a:ext cx="771754"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格安チェーン</a:t>
            </a:r>
            <a:endParaRPr lang="en-US" sz="900" dirty="0"/>
          </a:p>
        </p:txBody>
      </p:sp>
      <p:sp>
        <p:nvSpPr>
          <p:cNvPr id="14" name="Text 12"/>
          <p:cNvSpPr txBox="1"/>
          <p:nvPr/>
        </p:nvSpPr>
        <p:spPr>
          <a:xfrm>
            <a:off x="6378854" y="6077102"/>
            <a:ext cx="1124712" cy="162763"/>
          </a:xfrm>
          <a:prstGeom prst="rect">
            <a:avLst/>
          </a:prstGeom>
          <a:noFill/>
          <a:ln/>
        </p:spPr>
        <p:txBody>
          <a:bodyPr wrap="square" lIns="0" tIns="0" rIns="0" bIns="0" rtlCol="0" anchor="ctr"/>
          <a:lstStyle/>
          <a:p>
            <a:pPr algn="r" indent="0" marL="0">
              <a:buNone/>
            </a:pPr>
            <a:r>
              <a:rPr lang="en-US" sz="900" dirty="0">
                <a:solidFill>
                  <a:srgbClr val="9CA3AF"/>
                </a:solidFill>
                <a:latin typeface="Noto Sans JP" pitchFamily="34" charset="0"/>
                <a:ea typeface="Noto Sans JP" pitchFamily="34" charset="-122"/>
                <a:cs typeface="Noto Sans JP" pitchFamily="34" charset="-120"/>
              </a:rPr>
              <a:t>髪質改善・ケア特化</a:t>
            </a:r>
            <a:endParaRPr lang="en-US" sz="900" dirty="0"/>
          </a:p>
        </p:txBody>
      </p:sp>
      <p:sp>
        <p:nvSpPr>
          <p:cNvPr id="15" name="Shape 13"/>
          <p:cNvSpPr/>
          <p:nvPr/>
        </p:nvSpPr>
        <p:spPr>
          <a:xfrm>
            <a:off x="923544" y="1380744"/>
            <a:ext cx="1238098" cy="286207"/>
          </a:xfrm>
          <a:prstGeom prst="roundRect">
            <a:avLst>
              <a:gd name="adj" fmla="val 42599"/>
            </a:avLst>
          </a:prstGeom>
          <a:solidFill>
            <a:srgbClr val="FFFFFF"/>
          </a:solidFill>
          <a:ln w="12700">
            <a:solidFill>
              <a:srgbClr val="FF6B35"/>
            </a:solidFill>
            <a:prstDash val="solid"/>
          </a:ln>
        </p:spPr>
      </p:sp>
      <p:sp>
        <p:nvSpPr>
          <p:cNvPr id="16" name="Text 14"/>
          <p:cNvSpPr txBox="1"/>
          <p:nvPr/>
        </p:nvSpPr>
        <p:spPr>
          <a:xfrm>
            <a:off x="1009498" y="1429207"/>
            <a:ext cx="1167689" cy="191110"/>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 Winning Zone</a:t>
            </a:r>
            <a:endParaRPr lang="en-US" sz="1000" dirty="0"/>
          </a:p>
        </p:txBody>
      </p:sp>
      <p:sp>
        <p:nvSpPr>
          <p:cNvPr id="17" name="Text 15"/>
          <p:cNvSpPr txBox="1"/>
          <p:nvPr/>
        </p:nvSpPr>
        <p:spPr>
          <a:xfrm>
            <a:off x="923544" y="2343607"/>
            <a:ext cx="1057961"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コスパ × トレンド</a:t>
            </a:r>
            <a:endParaRPr lang="en-US" sz="900" dirty="0"/>
          </a:p>
        </p:txBody>
      </p:sp>
      <p:sp>
        <p:nvSpPr>
          <p:cNvPr id="18" name="Text 16"/>
          <p:cNvSpPr txBox="1"/>
          <p:nvPr/>
        </p:nvSpPr>
        <p:spPr>
          <a:xfrm>
            <a:off x="923544" y="1686154"/>
            <a:ext cx="1410005" cy="333756"/>
          </a:xfrm>
          <a:prstGeom prst="rect">
            <a:avLst/>
          </a:prstGeom>
          <a:noFill/>
          <a:ln/>
        </p:spPr>
        <p:txBody>
          <a:bodyPr wrap="square" lIns="0" tIns="0" rIns="0" bIns="0" rtlCol="0" anchor="ctr"/>
          <a:lstStyle/>
          <a:p>
            <a:pPr algn="l" indent="0" marL="0">
              <a:buNone/>
            </a:pPr>
            <a:r>
              <a:rPr lang="en-US" sz="1800" b="1" dirty="0">
                <a:solidFill>
                  <a:srgbClr val="1F2937">
                    <a:alpha val="60000"/>
                  </a:srgbClr>
                </a:solidFill>
                <a:latin typeface="Noto Sans JP" pitchFamily="34" charset="0"/>
                <a:ea typeface="Noto Sans JP" pitchFamily="34" charset="-122"/>
                <a:cs typeface="Noto Sans JP" pitchFamily="34" charset="-120"/>
              </a:rPr>
              <a:t>High Trend</a:t>
            </a:r>
            <a:endParaRPr lang="en-US" sz="1800" dirty="0"/>
          </a:p>
        </p:txBody>
      </p:sp>
      <p:sp>
        <p:nvSpPr>
          <p:cNvPr id="19" name="Text 17"/>
          <p:cNvSpPr txBox="1"/>
          <p:nvPr/>
        </p:nvSpPr>
        <p:spPr>
          <a:xfrm>
            <a:off x="923544" y="1990649"/>
            <a:ext cx="1257300" cy="333756"/>
          </a:xfrm>
          <a:prstGeom prst="rect">
            <a:avLst/>
          </a:prstGeom>
          <a:noFill/>
          <a:ln/>
        </p:spPr>
        <p:txBody>
          <a:bodyPr wrap="square" lIns="0" tIns="0" rIns="0" bIns="0" rtlCol="0" anchor="ctr"/>
          <a:lstStyle/>
          <a:p>
            <a:pPr algn="l" indent="0" marL="0">
              <a:buNone/>
            </a:pPr>
            <a:r>
              <a:rPr lang="en-US" sz="1800" b="1" dirty="0">
                <a:solidFill>
                  <a:srgbClr val="1F2937">
                    <a:alpha val="60000"/>
                  </a:srgbClr>
                </a:solidFill>
                <a:latin typeface="Noto Sans JP" pitchFamily="34" charset="0"/>
                <a:ea typeface="Noto Sans JP" pitchFamily="34" charset="-122"/>
                <a:cs typeface="Noto Sans JP" pitchFamily="34" charset="-120"/>
              </a:rPr>
              <a:t>Low Price</a:t>
            </a:r>
            <a:endParaRPr lang="en-US" sz="1800" dirty="0"/>
          </a:p>
        </p:txBody>
      </p:sp>
      <p:sp>
        <p:nvSpPr>
          <p:cNvPr id="20" name="Text 18"/>
          <p:cNvSpPr txBox="1"/>
          <p:nvPr/>
        </p:nvSpPr>
        <p:spPr>
          <a:xfrm>
            <a:off x="6176772" y="1362456"/>
            <a:ext cx="1410005" cy="333756"/>
          </a:xfrm>
          <a:prstGeom prst="rect">
            <a:avLst/>
          </a:prstGeom>
          <a:noFill/>
          <a:ln/>
        </p:spPr>
        <p:txBody>
          <a:bodyPr wrap="square" lIns="0" tIns="0" rIns="0" bIns="0" rtlCol="0" anchor="ctr"/>
          <a:lstStyle/>
          <a:p>
            <a:pPr algn="r"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High Trend</a:t>
            </a:r>
            <a:endParaRPr lang="en-US" sz="1800" dirty="0"/>
          </a:p>
        </p:txBody>
      </p:sp>
      <p:sp>
        <p:nvSpPr>
          <p:cNvPr id="21" name="Text 19"/>
          <p:cNvSpPr txBox="1"/>
          <p:nvPr/>
        </p:nvSpPr>
        <p:spPr>
          <a:xfrm>
            <a:off x="6262726" y="1666951"/>
            <a:ext cx="1324051" cy="333756"/>
          </a:xfrm>
          <a:prstGeom prst="rect">
            <a:avLst/>
          </a:prstGeom>
          <a:noFill/>
          <a:ln/>
        </p:spPr>
        <p:txBody>
          <a:bodyPr wrap="square" lIns="0" tIns="0" rIns="0" bIns="0" rtlCol="0" anchor="ctr"/>
          <a:lstStyle/>
          <a:p>
            <a:pPr algn="r"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High Price</a:t>
            </a:r>
            <a:endParaRPr lang="en-US" sz="1800" dirty="0"/>
          </a:p>
        </p:txBody>
      </p:sp>
      <p:sp>
        <p:nvSpPr>
          <p:cNvPr id="22" name="Text 20"/>
          <p:cNvSpPr txBox="1"/>
          <p:nvPr/>
        </p:nvSpPr>
        <p:spPr>
          <a:xfrm>
            <a:off x="923544" y="5419649"/>
            <a:ext cx="771754" cy="333756"/>
          </a:xfrm>
          <a:prstGeom prst="rect">
            <a:avLst/>
          </a:prstGeom>
          <a:noFill/>
          <a:ln/>
        </p:spPr>
        <p:txBody>
          <a:bodyPr wrap="square" lIns="0" tIns="0" rIns="0" bIns="0" rtlCol="0" anchor="ctr"/>
          <a:lstStyle/>
          <a:p>
            <a:pPr algn="l"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Basic</a:t>
            </a:r>
            <a:endParaRPr lang="en-US" sz="1800" dirty="0"/>
          </a:p>
        </p:txBody>
      </p:sp>
      <p:sp>
        <p:nvSpPr>
          <p:cNvPr id="23" name="Text 21"/>
          <p:cNvSpPr txBox="1"/>
          <p:nvPr/>
        </p:nvSpPr>
        <p:spPr>
          <a:xfrm>
            <a:off x="923544" y="5724144"/>
            <a:ext cx="1257300" cy="333756"/>
          </a:xfrm>
          <a:prstGeom prst="rect">
            <a:avLst/>
          </a:prstGeom>
          <a:noFill/>
          <a:ln/>
        </p:spPr>
        <p:txBody>
          <a:bodyPr wrap="square" lIns="0" tIns="0" rIns="0" bIns="0" rtlCol="0" anchor="ctr"/>
          <a:lstStyle/>
          <a:p>
            <a:pPr algn="l"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Low Price</a:t>
            </a:r>
            <a:endParaRPr lang="en-US" sz="1800" dirty="0"/>
          </a:p>
        </p:txBody>
      </p:sp>
      <p:sp>
        <p:nvSpPr>
          <p:cNvPr id="24" name="Text 22"/>
          <p:cNvSpPr txBox="1"/>
          <p:nvPr/>
        </p:nvSpPr>
        <p:spPr>
          <a:xfrm>
            <a:off x="6813194" y="5419649"/>
            <a:ext cx="771754" cy="333756"/>
          </a:xfrm>
          <a:prstGeom prst="rect">
            <a:avLst/>
          </a:prstGeom>
          <a:noFill/>
          <a:ln/>
        </p:spPr>
        <p:txBody>
          <a:bodyPr wrap="square" lIns="0" tIns="0" rIns="0" bIns="0" rtlCol="0" anchor="ctr"/>
          <a:lstStyle/>
          <a:p>
            <a:pPr algn="r"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Basic</a:t>
            </a:r>
            <a:endParaRPr lang="en-US" sz="1800" dirty="0"/>
          </a:p>
        </p:txBody>
      </p:sp>
      <p:sp>
        <p:nvSpPr>
          <p:cNvPr id="25" name="Text 23"/>
          <p:cNvSpPr txBox="1"/>
          <p:nvPr/>
        </p:nvSpPr>
        <p:spPr>
          <a:xfrm>
            <a:off x="6262726" y="5724144"/>
            <a:ext cx="1324051" cy="333756"/>
          </a:xfrm>
          <a:prstGeom prst="rect">
            <a:avLst/>
          </a:prstGeom>
          <a:noFill/>
          <a:ln/>
        </p:spPr>
        <p:txBody>
          <a:bodyPr wrap="square" lIns="0" tIns="0" rIns="0" bIns="0" rtlCol="0" anchor="ctr"/>
          <a:lstStyle/>
          <a:p>
            <a:pPr algn="r" indent="0" marL="0">
              <a:buNone/>
            </a:pPr>
            <a:r>
              <a:rPr lang="en-US" sz="1800" b="1" dirty="0">
                <a:solidFill>
                  <a:srgbClr val="9CA3AF">
                    <a:alpha val="40000"/>
                  </a:srgbClr>
                </a:solidFill>
                <a:latin typeface="Noto Sans JP" pitchFamily="34" charset="0"/>
                <a:ea typeface="Noto Sans JP" pitchFamily="34" charset="-122"/>
                <a:cs typeface="Noto Sans JP" pitchFamily="34" charset="-120"/>
              </a:rPr>
              <a:t>High Price</a:t>
            </a:r>
            <a:endParaRPr lang="en-US" sz="1800" dirty="0"/>
          </a:p>
        </p:txBody>
      </p:sp>
      <p:sp>
        <p:nvSpPr>
          <p:cNvPr id="26" name="Text 24"/>
          <p:cNvSpPr txBox="1"/>
          <p:nvPr/>
        </p:nvSpPr>
        <p:spPr>
          <a:xfrm>
            <a:off x="6473038" y="6305702"/>
            <a:ext cx="1181405"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平均客単価 (High) →</a:t>
            </a:r>
            <a:endParaRPr lang="en-US" sz="900" dirty="0"/>
          </a:p>
        </p:txBody>
      </p:sp>
      <p:sp>
        <p:nvSpPr>
          <p:cNvPr id="27" name="Text 25"/>
          <p:cNvSpPr txBox="1"/>
          <p:nvPr/>
        </p:nvSpPr>
        <p:spPr>
          <a:xfrm>
            <a:off x="771754" y="6305702"/>
            <a:ext cx="1143000"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平均客単価 (Low)</a:t>
            </a:r>
            <a:endParaRPr lang="en-US" sz="900" dirty="0"/>
          </a:p>
        </p:txBody>
      </p:sp>
      <p:sp>
        <p:nvSpPr>
          <p:cNvPr id="28" name="Text 26"/>
          <p:cNvSpPr txBox="1"/>
          <p:nvPr/>
        </p:nvSpPr>
        <p:spPr>
          <a:xfrm>
            <a:off x="694944" y="1228954"/>
            <a:ext cx="247802" cy="1666951"/>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トレンド・デザイン性 (High)</a:t>
            </a:r>
            <a:endParaRPr lang="en-US" sz="900" dirty="0"/>
          </a:p>
        </p:txBody>
      </p:sp>
      <p:sp>
        <p:nvSpPr>
          <p:cNvPr id="29" name="Text 27"/>
          <p:cNvSpPr txBox="1"/>
          <p:nvPr/>
        </p:nvSpPr>
        <p:spPr>
          <a:xfrm>
            <a:off x="694944" y="4458614"/>
            <a:ext cx="247802" cy="1629461"/>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トレンド・デザイン性 (Low)</a:t>
            </a:r>
            <a:endParaRPr lang="en-US" sz="900" dirty="0"/>
          </a:p>
        </p:txBody>
      </p:sp>
      <p:sp>
        <p:nvSpPr>
          <p:cNvPr id="30" name="Text 28"/>
          <p:cNvSpPr txBox="1"/>
          <p:nvPr/>
        </p:nvSpPr>
        <p:spPr>
          <a:xfrm>
            <a:off x="8026603" y="1114654"/>
            <a:ext cx="3657600" cy="619963"/>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「コスパ×トレンド」の 空白地帯を制圧する</a:t>
            </a:r>
            <a:endParaRPr lang="en-US" sz="1800" dirty="0"/>
          </a:p>
        </p:txBody>
      </p:sp>
      <p:sp>
        <p:nvSpPr>
          <p:cNvPr id="31" name="Text 29"/>
          <p:cNvSpPr txBox="1"/>
          <p:nvPr/>
        </p:nvSpPr>
        <p:spPr>
          <a:xfrm>
            <a:off x="8026603" y="1837944"/>
            <a:ext cx="3624682"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渋谷エリアの競合は「高価格なブランド店」か「低価格な量産店」に二極化しています。 Siena渋谷は、「学生でも通える価格で、SNS映えするクオリティ」という、Z世代が最も求めているポジション（左上象限）を確立しています。</a:t>
            </a:r>
            <a:endParaRPr lang="en-US" sz="1000" dirty="0"/>
          </a:p>
        </p:txBody>
      </p:sp>
      <p:sp>
        <p:nvSpPr>
          <p:cNvPr id="32" name="Shape 30"/>
          <p:cNvSpPr/>
          <p:nvPr/>
        </p:nvSpPr>
        <p:spPr>
          <a:xfrm>
            <a:off x="8026603" y="2924251"/>
            <a:ext cx="3562502" cy="2523744"/>
          </a:xfrm>
          <a:prstGeom prst="roundRect">
            <a:avLst>
              <a:gd name="adj" fmla="val 1641"/>
            </a:avLst>
          </a:prstGeom>
          <a:solidFill>
            <a:srgbClr val="F9FAFB"/>
          </a:solidFill>
          <a:ln w="12700">
            <a:solidFill>
              <a:srgbClr val="F3F4F6"/>
            </a:solidFill>
            <a:prstDash val="solid"/>
          </a:ln>
        </p:spPr>
      </p:sp>
      <p:sp>
        <p:nvSpPr>
          <p:cNvPr id="33" name="Text 31"/>
          <p:cNvSpPr txBox="1"/>
          <p:nvPr/>
        </p:nvSpPr>
        <p:spPr>
          <a:xfrm>
            <a:off x="8226857" y="3114446"/>
            <a:ext cx="116220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MARKET PLAYERS</a:t>
            </a:r>
            <a:endParaRPr lang="en-US" sz="900" dirty="0"/>
          </a:p>
        </p:txBody>
      </p:sp>
      <p:sp>
        <p:nvSpPr>
          <p:cNvPr id="34" name="Shape 32"/>
          <p:cNvSpPr/>
          <p:nvPr/>
        </p:nvSpPr>
        <p:spPr>
          <a:xfrm>
            <a:off x="8226857" y="3524098"/>
            <a:ext cx="152705" cy="152705"/>
          </a:xfrm>
          <a:prstGeom prst="roundRect">
            <a:avLst>
              <a:gd name="adj" fmla="val 598802"/>
            </a:avLst>
          </a:prstGeom>
          <a:solidFill>
            <a:srgbClr val="FF6B35"/>
          </a:solidFill>
          <a:ln w="25400">
            <a:solidFill>
              <a:srgbClr val="FFFFFF"/>
            </a:solidFill>
            <a:prstDash val="solid"/>
          </a:ln>
          <a:effectLst>
            <a:outerShdw sx="100000" sy="100000" kx="0" ky="0" algn="bl" rotWithShape="0" blurRad="12700" dist="12700" dir="16200000">
              <a:srgbClr val="000000">
                <a:alpha val="75000"/>
              </a:srgbClr>
            </a:outerShdw>
          </a:effectLst>
        </p:spPr>
      </p:sp>
      <p:sp>
        <p:nvSpPr>
          <p:cNvPr id="35" name="Text 33"/>
          <p:cNvSpPr txBox="1"/>
          <p:nvPr/>
        </p:nvSpPr>
        <p:spPr>
          <a:xfrm>
            <a:off x="8492947" y="3429000"/>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Siena 渋谷</a:t>
            </a:r>
            <a:endParaRPr lang="en-US" sz="1000" dirty="0"/>
          </a:p>
        </p:txBody>
      </p:sp>
      <p:sp>
        <p:nvSpPr>
          <p:cNvPr id="36" name="Text 34"/>
          <p:cNvSpPr txBox="1"/>
          <p:nvPr/>
        </p:nvSpPr>
        <p:spPr>
          <a:xfrm>
            <a:off x="8492947" y="3610051"/>
            <a:ext cx="1353312" cy="162763"/>
          </a:xfrm>
          <a:prstGeom prst="rect">
            <a:avLst/>
          </a:prstGeom>
          <a:noFill/>
          <a:ln/>
        </p:spPr>
        <p:txBody>
          <a:bodyPr wrap="square" lIns="0" tIns="0" rIns="0" bIns="0" rtlCol="0" anchor="ctr"/>
          <a:lstStyle/>
          <a:p>
            <a:pPr algn="l" indent="0" marL="0">
              <a:buNone/>
            </a:pPr>
            <a:r>
              <a:rPr lang="en-US" sz="900" b="1" dirty="0">
                <a:solidFill>
                  <a:srgbClr val="FF6B35"/>
                </a:solidFill>
                <a:latin typeface="Noto Sans JP" pitchFamily="34" charset="0"/>
                <a:ea typeface="Noto Sans JP" pitchFamily="34" charset="-122"/>
                <a:cs typeface="Noto Sans JP" pitchFamily="34" charset="-120"/>
              </a:rPr>
              <a:t>独自のスイートスポット</a:t>
            </a:r>
            <a:endParaRPr lang="en-US" sz="900" dirty="0"/>
          </a:p>
        </p:txBody>
      </p:sp>
      <p:sp>
        <p:nvSpPr>
          <p:cNvPr id="37" name="Shape 35"/>
          <p:cNvSpPr/>
          <p:nvPr/>
        </p:nvSpPr>
        <p:spPr>
          <a:xfrm>
            <a:off x="8226857" y="4038905"/>
            <a:ext cx="114300" cy="114300"/>
          </a:xfrm>
          <a:prstGeom prst="roundRect">
            <a:avLst>
              <a:gd name="adj" fmla="val 800000"/>
            </a:avLst>
          </a:prstGeom>
          <a:solidFill>
            <a:srgbClr val="D1D5DB"/>
          </a:solidFill>
          <a:ln/>
        </p:spPr>
      </p:sp>
      <p:sp>
        <p:nvSpPr>
          <p:cNvPr id="38" name="Text 36"/>
          <p:cNvSpPr txBox="1"/>
          <p:nvPr/>
        </p:nvSpPr>
        <p:spPr>
          <a:xfrm>
            <a:off x="8455457" y="3924605"/>
            <a:ext cx="1034186" cy="191110"/>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格安チェーン群</a:t>
            </a:r>
            <a:endParaRPr lang="en-US" sz="1000" dirty="0"/>
          </a:p>
        </p:txBody>
      </p:sp>
      <p:sp>
        <p:nvSpPr>
          <p:cNvPr id="39" name="Text 37"/>
          <p:cNvSpPr txBox="1"/>
          <p:nvPr/>
        </p:nvSpPr>
        <p:spPr>
          <a:xfrm>
            <a:off x="8455457" y="4105656"/>
            <a:ext cx="19248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価格は安いがトレンド発信力に課題</a:t>
            </a:r>
            <a:endParaRPr lang="en-US" sz="900" dirty="0"/>
          </a:p>
        </p:txBody>
      </p:sp>
      <p:sp>
        <p:nvSpPr>
          <p:cNvPr id="40" name="Shape 38"/>
          <p:cNvSpPr/>
          <p:nvPr/>
        </p:nvSpPr>
        <p:spPr>
          <a:xfrm>
            <a:off x="8226857" y="4533595"/>
            <a:ext cx="114300" cy="114300"/>
          </a:xfrm>
          <a:prstGeom prst="roundRect">
            <a:avLst>
              <a:gd name="adj" fmla="val 800000"/>
            </a:avLst>
          </a:prstGeom>
          <a:solidFill>
            <a:srgbClr val="9CA3AF"/>
          </a:solidFill>
          <a:ln/>
        </p:spPr>
      </p:sp>
      <p:sp>
        <p:nvSpPr>
          <p:cNvPr id="41" name="Text 39"/>
          <p:cNvSpPr txBox="1"/>
          <p:nvPr/>
        </p:nvSpPr>
        <p:spPr>
          <a:xfrm>
            <a:off x="8455457" y="4419295"/>
            <a:ext cx="1300277" cy="191110"/>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有名ブランドサロン</a:t>
            </a:r>
            <a:endParaRPr lang="en-US" sz="1000" dirty="0"/>
          </a:p>
        </p:txBody>
      </p:sp>
      <p:sp>
        <p:nvSpPr>
          <p:cNvPr id="42" name="Text 40"/>
          <p:cNvSpPr txBox="1"/>
          <p:nvPr/>
        </p:nvSpPr>
        <p:spPr>
          <a:xfrm>
            <a:off x="8455457" y="4600346"/>
            <a:ext cx="19248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トレンド牽引だが学生には高嶺の花</a:t>
            </a:r>
            <a:endParaRPr lang="en-US" sz="900" dirty="0"/>
          </a:p>
        </p:txBody>
      </p:sp>
      <p:sp>
        <p:nvSpPr>
          <p:cNvPr id="43" name="Shape 41"/>
          <p:cNvSpPr/>
          <p:nvPr/>
        </p:nvSpPr>
        <p:spPr>
          <a:xfrm>
            <a:off x="8026603" y="5600700"/>
            <a:ext cx="3562502" cy="875995"/>
          </a:xfrm>
          <a:prstGeom prst="rect">
            <a:avLst/>
          </a:prstGeom>
          <a:solidFill>
            <a:srgbClr val="EFF6FF"/>
          </a:solidFill>
          <a:ln/>
        </p:spPr>
      </p:sp>
      <p:sp>
        <p:nvSpPr>
          <p:cNvPr id="44" name="Shape 42"/>
          <p:cNvSpPr/>
          <p:nvPr/>
        </p:nvSpPr>
        <p:spPr>
          <a:xfrm>
            <a:off x="8026603" y="5600700"/>
            <a:ext cx="38405" cy="875995"/>
          </a:xfrm>
          <a:prstGeom prst="rect">
            <a:avLst/>
          </a:prstGeom>
          <a:solidFill>
            <a:srgbClr val="3B82F6"/>
          </a:solidFill>
          <a:ln/>
        </p:spPr>
      </p:sp>
      <p:pic>
        <p:nvPicPr>
          <p:cNvPr id="45" name="Image 0" descr="preencoded.png">    </p:cNvPr>
          <p:cNvPicPr>
            <a:picLocks noChangeAspect="1"/>
          </p:cNvPicPr>
          <p:nvPr/>
        </p:nvPicPr>
        <p:blipFill>
          <a:blip r:embed="rId1"/>
          <a:srcRect l="0" r="0" t="-43" b="-43"/>
          <a:stretch/>
        </p:blipFill>
        <p:spPr>
          <a:xfrm>
            <a:off x="8216798" y="5790895"/>
            <a:ext cx="133502" cy="152705"/>
          </a:xfrm>
          <a:prstGeom prst="rect">
            <a:avLst/>
          </a:prstGeom>
        </p:spPr>
      </p:pic>
      <p:sp>
        <p:nvSpPr>
          <p:cNvPr id="46" name="Text 43"/>
          <p:cNvSpPr txBox="1"/>
          <p:nvPr/>
        </p:nvSpPr>
        <p:spPr>
          <a:xfrm>
            <a:off x="8464601" y="5743346"/>
            <a:ext cx="657454"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STRATEGY</a:t>
            </a:r>
            <a:endParaRPr lang="en-US" sz="900" dirty="0"/>
          </a:p>
        </p:txBody>
      </p:sp>
      <p:sp>
        <p:nvSpPr>
          <p:cNvPr id="47" name="Text 44"/>
          <p:cNvSpPr txBox="1"/>
          <p:nvPr/>
        </p:nvSpPr>
        <p:spPr>
          <a:xfrm>
            <a:off x="8464601" y="5943600"/>
            <a:ext cx="1957730"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このポジションを死守しつつ、</a:t>
            </a:r>
            <a:endParaRPr lang="en-US" sz="1000" dirty="0"/>
          </a:p>
        </p:txBody>
      </p:sp>
      <p:sp>
        <p:nvSpPr>
          <p:cNvPr id="48" name="Text 45"/>
          <p:cNvSpPr txBox="1"/>
          <p:nvPr/>
        </p:nvSpPr>
        <p:spPr>
          <a:xfrm>
            <a:off x="8464601" y="6133795"/>
            <a:ext cx="23673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「髪質改善」で客単価の底上げを狙う</a:t>
            </a:r>
            <a:endParaRPr lang="en-US" sz="1000" dirty="0"/>
          </a:p>
        </p:txBody>
      </p:sp>
      <p:pic>
        <p:nvPicPr>
          <p:cNvPr id="49" name="Image 1" descr="preencoded.png">    </p:cNvPr>
          <p:cNvPicPr>
            <a:picLocks noChangeAspect="1"/>
          </p:cNvPicPr>
          <p:nvPr/>
        </p:nvPicPr>
        <p:blipFill>
          <a:blip r:embed="rId2"/>
          <a:srcRect l="-70" r="-70" t="0" b="0"/>
          <a:stretch/>
        </p:blipFill>
        <p:spPr>
          <a:xfrm>
            <a:off x="847649" y="1304849"/>
            <a:ext cx="6638544" cy="5009998"/>
          </a:xfrm>
          <a:prstGeom prst="rect">
            <a:avLst/>
          </a:prstGeom>
        </p:spPr>
      </p:pic>
      <p:sp>
        <p:nvSpPr>
          <p:cNvPr id="50" name="Shape 46"/>
          <p:cNvSpPr/>
          <p:nvPr/>
        </p:nvSpPr>
        <p:spPr>
          <a:xfrm>
            <a:off x="0" y="0"/>
            <a:ext cx="12191695" cy="761695"/>
          </a:xfrm>
          <a:prstGeom prst="rect">
            <a:avLst/>
          </a:prstGeom>
          <a:solidFill>
            <a:srgbClr val="FFFFFF"/>
          </a:solidFill>
          <a:ln/>
        </p:spPr>
      </p:sp>
      <p:sp>
        <p:nvSpPr>
          <p:cNvPr id="51" name="Shape 47"/>
          <p:cNvSpPr/>
          <p:nvPr/>
        </p:nvSpPr>
        <p:spPr>
          <a:xfrm>
            <a:off x="0" y="752551"/>
            <a:ext cx="12191695" cy="9144"/>
          </a:xfrm>
          <a:prstGeom prst="rect">
            <a:avLst/>
          </a:prstGeom>
          <a:solidFill>
            <a:srgbClr val="F3F4F6"/>
          </a:solidFill>
          <a:ln/>
        </p:spPr>
      </p:sp>
      <p:sp>
        <p:nvSpPr>
          <p:cNvPr id="52" name="Shape 48"/>
          <p:cNvSpPr/>
          <p:nvPr/>
        </p:nvSpPr>
        <p:spPr>
          <a:xfrm>
            <a:off x="609905" y="224028"/>
            <a:ext cx="304495" cy="304495"/>
          </a:xfrm>
          <a:prstGeom prst="roundRect">
            <a:avLst>
              <a:gd name="adj" fmla="val 56306"/>
            </a:avLst>
          </a:prstGeom>
          <a:solidFill>
            <a:srgbClr val="1F2937"/>
          </a:solidFill>
          <a:ln/>
        </p:spPr>
      </p:sp>
      <p:pic>
        <p:nvPicPr>
          <p:cNvPr id="53" name="Image 2" descr="preencoded.png">    </p:cNvPr>
          <p:cNvPicPr>
            <a:picLocks noChangeAspect="1"/>
          </p:cNvPicPr>
          <p:nvPr/>
        </p:nvPicPr>
        <p:blipFill>
          <a:blip r:embed="rId3"/>
          <a:srcRect l="0" r="0" t="0" b="0"/>
          <a:stretch/>
        </p:blipFill>
        <p:spPr>
          <a:xfrm>
            <a:off x="694944" y="309982"/>
            <a:ext cx="133502" cy="133502"/>
          </a:xfrm>
          <a:prstGeom prst="rect">
            <a:avLst/>
          </a:prstGeom>
        </p:spPr>
      </p:pic>
      <p:sp>
        <p:nvSpPr>
          <p:cNvPr id="54" name="Shape 49"/>
          <p:cNvSpPr/>
          <p:nvPr/>
        </p:nvSpPr>
        <p:spPr>
          <a:xfrm>
            <a:off x="9759391" y="261518"/>
            <a:ext cx="1047902" cy="228600"/>
          </a:xfrm>
          <a:prstGeom prst="roundRect">
            <a:avLst>
              <a:gd name="adj" fmla="val 66667"/>
            </a:avLst>
          </a:prstGeom>
          <a:solidFill>
            <a:srgbClr val="FF6B35"/>
          </a:solidFill>
          <a:ln/>
        </p:spPr>
      </p:sp>
      <p:sp>
        <p:nvSpPr>
          <p:cNvPr id="55" name="Text 50"/>
          <p:cNvSpPr txBox="1"/>
          <p:nvPr/>
        </p:nvSpPr>
        <p:spPr>
          <a:xfrm>
            <a:off x="990295" y="280721"/>
            <a:ext cx="1910182"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LOCAL POSITIONING MAP</a:t>
            </a:r>
            <a:endParaRPr lang="en-US" sz="1000" dirty="0"/>
          </a:p>
        </p:txBody>
      </p:sp>
      <p:sp>
        <p:nvSpPr>
          <p:cNvPr id="56" name="Text 51"/>
          <p:cNvSpPr txBox="1"/>
          <p:nvPr/>
        </p:nvSpPr>
        <p:spPr>
          <a:xfrm>
            <a:off x="9873691" y="290779"/>
            <a:ext cx="905256"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SHIBUYA AREA</a:t>
            </a:r>
            <a:endParaRPr lang="en-US" sz="900" dirty="0"/>
          </a:p>
        </p:txBody>
      </p:sp>
      <p:sp>
        <p:nvSpPr>
          <p:cNvPr id="57" name="Text 52"/>
          <p:cNvSpPr txBox="1"/>
          <p:nvPr/>
        </p:nvSpPr>
        <p:spPr>
          <a:xfrm>
            <a:off x="10916107" y="280721"/>
            <a:ext cx="7671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2026.01.03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28700"/>
            <a:ext cx="4786884"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広域商圏におけるエリア特性の比較</a:t>
            </a:r>
            <a:endParaRPr lang="en-US" sz="2200" dirty="0"/>
          </a:p>
        </p:txBody>
      </p:sp>
      <p:sp>
        <p:nvSpPr>
          <p:cNvPr id="6" name="Text 4"/>
          <p:cNvSpPr txBox="1"/>
          <p:nvPr/>
        </p:nvSpPr>
        <p:spPr>
          <a:xfrm>
            <a:off x="609905" y="1500530"/>
            <a:ext cx="571042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Siena渋谷が位置する「渋谷エリア」と、流入層が重複する「代官山」「銀座」の特性を比較。</a:t>
            </a:r>
            <a:endParaRPr lang="en-US" sz="1000" dirty="0"/>
          </a:p>
        </p:txBody>
      </p:sp>
      <p:sp>
        <p:nvSpPr>
          <p:cNvPr id="7" name="Text 5"/>
          <p:cNvSpPr txBox="1"/>
          <p:nvPr/>
        </p:nvSpPr>
        <p:spPr>
          <a:xfrm>
            <a:off x="609905" y="1690726"/>
            <a:ext cx="52340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各エリアの強みとターゲットを理解し、Siena独自のポジショニングを明確化します。</a:t>
            </a:r>
            <a:endParaRPr lang="en-US" sz="1000" dirty="0"/>
          </a:p>
        </p:txBody>
      </p:sp>
      <p:sp>
        <p:nvSpPr>
          <p:cNvPr id="8" name="Shape 6"/>
          <p:cNvSpPr/>
          <p:nvPr/>
        </p:nvSpPr>
        <p:spPr>
          <a:xfrm>
            <a:off x="609905" y="2109521"/>
            <a:ext cx="10972800" cy="3400654"/>
          </a:xfrm>
          <a:prstGeom prst="roundRect">
            <a:avLst>
              <a:gd name="adj" fmla="val 904"/>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9" name="Shape 7"/>
          <p:cNvSpPr/>
          <p:nvPr/>
        </p:nvSpPr>
        <p:spPr>
          <a:xfrm>
            <a:off x="619049" y="2119579"/>
            <a:ext cx="609905" cy="1181405"/>
          </a:xfrm>
          <a:prstGeom prst="rect">
            <a:avLst/>
          </a:prstGeom>
          <a:solidFill>
            <a:srgbClr val="F9FAFB"/>
          </a:solidFill>
          <a:ln w="12700">
            <a:solidFill>
              <a:srgbClr val="E5E7EB"/>
            </a:solidFill>
            <a:prstDash val="solid"/>
          </a:ln>
        </p:spPr>
      </p:sp>
      <p:sp>
        <p:nvSpPr>
          <p:cNvPr id="10" name="Shape 8"/>
          <p:cNvSpPr/>
          <p:nvPr/>
        </p:nvSpPr>
        <p:spPr>
          <a:xfrm>
            <a:off x="1223467" y="2119579"/>
            <a:ext cx="3457346" cy="1181405"/>
          </a:xfrm>
          <a:prstGeom prst="rect">
            <a:avLst/>
          </a:prstGeom>
          <a:solidFill>
            <a:srgbClr val="FFFFFF"/>
          </a:solidFill>
          <a:ln/>
        </p:spPr>
      </p:sp>
      <p:sp>
        <p:nvSpPr>
          <p:cNvPr id="11" name="Shape 9"/>
          <p:cNvSpPr/>
          <p:nvPr/>
        </p:nvSpPr>
        <p:spPr>
          <a:xfrm>
            <a:off x="1223467" y="3262579"/>
            <a:ext cx="3457346" cy="38405"/>
          </a:xfrm>
          <a:prstGeom prst="rect">
            <a:avLst/>
          </a:prstGeom>
          <a:solidFill>
            <a:srgbClr val="000000">
              <a:alpha val="0"/>
            </a:srgbClr>
          </a:solidFill>
          <a:ln/>
        </p:spPr>
      </p:sp>
      <p:pic>
        <p:nvPicPr>
          <p:cNvPr id="12" name="Image 0" descr="preencoded.png">    </p:cNvPr>
          <p:cNvPicPr>
            <a:picLocks noChangeAspect="1"/>
          </p:cNvPicPr>
          <p:nvPr/>
        </p:nvPicPr>
        <p:blipFill>
          <a:blip r:embed="rId1">
            <a:alphaModFix amt="20000"/>
          </a:blip>
          <a:srcRect l="-743" r="-743" t="0" b="0"/>
          <a:stretch/>
        </p:blipFill>
        <p:spPr>
          <a:xfrm>
            <a:off x="4294022" y="2195474"/>
            <a:ext cx="304495" cy="342900"/>
          </a:xfrm>
          <a:prstGeom prst="rect">
            <a:avLst/>
          </a:prstGeom>
        </p:spPr>
      </p:pic>
      <p:sp>
        <p:nvSpPr>
          <p:cNvPr id="13" name="Text 10"/>
          <p:cNvSpPr txBox="1"/>
          <p:nvPr/>
        </p:nvSpPr>
        <p:spPr>
          <a:xfrm>
            <a:off x="2347265" y="2338121"/>
            <a:ext cx="1295705" cy="162763"/>
          </a:xfrm>
          <a:prstGeom prst="rect">
            <a:avLst/>
          </a:prstGeom>
          <a:noFill/>
          <a:ln/>
        </p:spPr>
        <p:txBody>
          <a:bodyPr wrap="square" lIns="0" tIns="0" rIns="0" bIns="0" rtlCol="0" anchor="ctr"/>
          <a:lstStyle/>
          <a:p>
            <a:pPr algn="ctr" indent="0" marL="0">
              <a:buNone/>
            </a:pPr>
            <a:r>
              <a:rPr lang="en-US" sz="900" b="1" dirty="0">
                <a:solidFill>
                  <a:srgbClr val="FF6B35"/>
                </a:solidFill>
                <a:latin typeface="Noto Sans JP" pitchFamily="34" charset="0"/>
                <a:ea typeface="Noto Sans JP" pitchFamily="34" charset="-122"/>
                <a:cs typeface="Noto Sans JP" pitchFamily="34" charset="-120"/>
              </a:rPr>
              <a:t>BENCHMARK AREA</a:t>
            </a:r>
            <a:endParaRPr lang="en-US" sz="900" dirty="0"/>
          </a:p>
        </p:txBody>
      </p:sp>
      <p:sp>
        <p:nvSpPr>
          <p:cNvPr id="14" name="Text 11"/>
          <p:cNvSpPr txBox="1"/>
          <p:nvPr/>
        </p:nvSpPr>
        <p:spPr>
          <a:xfrm>
            <a:off x="2377440" y="2519172"/>
            <a:ext cx="1314907"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渋谷エリア</a:t>
            </a:r>
            <a:endParaRPr lang="en-US" sz="1800" dirty="0"/>
          </a:p>
        </p:txBody>
      </p:sp>
      <p:sp>
        <p:nvSpPr>
          <p:cNvPr id="15" name="Text 12"/>
          <p:cNvSpPr txBox="1"/>
          <p:nvPr/>
        </p:nvSpPr>
        <p:spPr>
          <a:xfrm>
            <a:off x="2100377" y="2872130"/>
            <a:ext cx="1791310"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トレンド発信地 / 学生・若者の街</a:t>
            </a:r>
            <a:endParaRPr lang="en-US" sz="900" dirty="0"/>
          </a:p>
        </p:txBody>
      </p:sp>
      <p:sp>
        <p:nvSpPr>
          <p:cNvPr id="16" name="Shape 13"/>
          <p:cNvSpPr/>
          <p:nvPr/>
        </p:nvSpPr>
        <p:spPr>
          <a:xfrm>
            <a:off x="4674413" y="2119579"/>
            <a:ext cx="3448202" cy="1181405"/>
          </a:xfrm>
          <a:prstGeom prst="rect">
            <a:avLst/>
          </a:prstGeom>
          <a:solidFill>
            <a:srgbClr val="FFFFFF"/>
          </a:solidFill>
          <a:ln/>
        </p:spPr>
      </p:sp>
      <p:sp>
        <p:nvSpPr>
          <p:cNvPr id="17" name="Shape 14"/>
          <p:cNvSpPr/>
          <p:nvPr/>
        </p:nvSpPr>
        <p:spPr>
          <a:xfrm>
            <a:off x="4674413" y="3262579"/>
            <a:ext cx="3448202" cy="38405"/>
          </a:xfrm>
          <a:prstGeom prst="rect">
            <a:avLst/>
          </a:prstGeom>
          <a:solidFill>
            <a:srgbClr val="000000">
              <a:alpha val="0"/>
            </a:srgbClr>
          </a:solidFill>
          <a:ln/>
        </p:spPr>
      </p:sp>
      <p:pic>
        <p:nvPicPr>
          <p:cNvPr id="18" name="Image 1" descr="preencoded.png">    </p:cNvPr>
          <p:cNvPicPr>
            <a:picLocks noChangeAspect="1"/>
          </p:cNvPicPr>
          <p:nvPr/>
        </p:nvPicPr>
        <p:blipFill>
          <a:blip r:embed="rId2">
            <a:alphaModFix amt="20000"/>
          </a:blip>
          <a:srcRect l="0" r="0" t="0" b="0"/>
          <a:stretch/>
        </p:blipFill>
        <p:spPr>
          <a:xfrm>
            <a:off x="7702906" y="2195474"/>
            <a:ext cx="342900" cy="342900"/>
          </a:xfrm>
          <a:prstGeom prst="rect">
            <a:avLst/>
          </a:prstGeom>
        </p:spPr>
      </p:pic>
      <p:sp>
        <p:nvSpPr>
          <p:cNvPr id="19" name="Text 15"/>
          <p:cNvSpPr txBox="1"/>
          <p:nvPr/>
        </p:nvSpPr>
        <p:spPr>
          <a:xfrm>
            <a:off x="5861304" y="2338121"/>
            <a:ext cx="1162202"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NEIGHBOR AREA</a:t>
            </a:r>
            <a:endParaRPr lang="en-US" sz="900" dirty="0"/>
          </a:p>
        </p:txBody>
      </p:sp>
      <p:sp>
        <p:nvSpPr>
          <p:cNvPr id="20" name="Text 16"/>
          <p:cNvSpPr txBox="1"/>
          <p:nvPr/>
        </p:nvSpPr>
        <p:spPr>
          <a:xfrm>
            <a:off x="5713171" y="2519172"/>
            <a:ext cx="1543507"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代官山エリア</a:t>
            </a:r>
            <a:endParaRPr lang="en-US" sz="1800" dirty="0"/>
          </a:p>
        </p:txBody>
      </p:sp>
      <p:sp>
        <p:nvSpPr>
          <p:cNvPr id="21" name="Text 17"/>
          <p:cNvSpPr txBox="1"/>
          <p:nvPr/>
        </p:nvSpPr>
        <p:spPr>
          <a:xfrm>
            <a:off x="5492801" y="2872130"/>
            <a:ext cx="1905610"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洗練された隠れ家 / オシャレ上級者</a:t>
            </a:r>
            <a:endParaRPr lang="en-US" sz="900" dirty="0"/>
          </a:p>
        </p:txBody>
      </p:sp>
      <p:sp>
        <p:nvSpPr>
          <p:cNvPr id="22" name="Shape 18"/>
          <p:cNvSpPr/>
          <p:nvPr/>
        </p:nvSpPr>
        <p:spPr>
          <a:xfrm>
            <a:off x="8122615" y="2119579"/>
            <a:ext cx="3457346" cy="1181405"/>
          </a:xfrm>
          <a:prstGeom prst="rect">
            <a:avLst/>
          </a:prstGeom>
          <a:solidFill>
            <a:srgbClr val="FFFFFF"/>
          </a:solidFill>
          <a:ln/>
        </p:spPr>
      </p:sp>
      <p:sp>
        <p:nvSpPr>
          <p:cNvPr id="23" name="Shape 19"/>
          <p:cNvSpPr/>
          <p:nvPr/>
        </p:nvSpPr>
        <p:spPr>
          <a:xfrm>
            <a:off x="8122615" y="3262579"/>
            <a:ext cx="3457346" cy="38405"/>
          </a:xfrm>
          <a:prstGeom prst="rect">
            <a:avLst/>
          </a:prstGeom>
          <a:solidFill>
            <a:srgbClr val="000000">
              <a:alpha val="0"/>
            </a:srgbClr>
          </a:solidFill>
          <a:ln/>
        </p:spPr>
      </p:sp>
      <p:sp>
        <p:nvSpPr>
          <p:cNvPr id="24" name="Shape 20"/>
          <p:cNvSpPr/>
          <p:nvPr/>
        </p:nvSpPr>
        <p:spPr>
          <a:xfrm>
            <a:off x="8122615" y="2119579"/>
            <a:ext cx="3457346" cy="1143000"/>
          </a:xfrm>
          <a:prstGeom prst="roundRect">
            <a:avLst>
              <a:gd name="adj" fmla="val 8000"/>
            </a:avLst>
          </a:prstGeom>
          <a:solidFill>
            <a:srgbClr val="EFF6FF"/>
          </a:solidFill>
          <a:ln/>
        </p:spPr>
      </p:sp>
      <p:pic>
        <p:nvPicPr>
          <p:cNvPr id="25" name="Image 2" descr="preencoded.png">    </p:cNvPr>
          <p:cNvPicPr>
            <a:picLocks noChangeAspect="1"/>
          </p:cNvPicPr>
          <p:nvPr/>
        </p:nvPicPr>
        <p:blipFill>
          <a:blip r:embed="rId3">
            <a:alphaModFix amt="20000"/>
          </a:blip>
          <a:srcRect l="0" r="0" t="0" b="0"/>
          <a:stretch/>
        </p:blipFill>
        <p:spPr>
          <a:xfrm>
            <a:off x="11153851" y="2195474"/>
            <a:ext cx="342900" cy="342900"/>
          </a:xfrm>
          <a:prstGeom prst="rect">
            <a:avLst/>
          </a:prstGeom>
        </p:spPr>
      </p:pic>
      <p:sp>
        <p:nvSpPr>
          <p:cNvPr id="26" name="Text 21"/>
          <p:cNvSpPr txBox="1"/>
          <p:nvPr/>
        </p:nvSpPr>
        <p:spPr>
          <a:xfrm>
            <a:off x="9326880" y="2338121"/>
            <a:ext cx="1133856" cy="162763"/>
          </a:xfrm>
          <a:prstGeom prst="rect">
            <a:avLst/>
          </a:prstGeom>
          <a:noFill/>
          <a:ln/>
        </p:spPr>
        <p:txBody>
          <a:bodyPr wrap="square" lIns="0" tIns="0" rIns="0" bIns="0" rtlCol="0" anchor="ctr"/>
          <a:lstStyle/>
          <a:p>
            <a:pPr algn="ctr" indent="0" marL="0">
              <a:buNone/>
            </a:pPr>
            <a:r>
              <a:rPr lang="en-US" sz="900" b="1" dirty="0">
                <a:solidFill>
                  <a:srgbClr val="1E40AF"/>
                </a:solidFill>
                <a:latin typeface="Noto Sans JP" pitchFamily="34" charset="0"/>
                <a:ea typeface="Noto Sans JP" pitchFamily="34" charset="-122"/>
                <a:cs typeface="Noto Sans JP" pitchFamily="34" charset="-120"/>
              </a:rPr>
              <a:t>HIGH-END AREA</a:t>
            </a:r>
            <a:endParaRPr lang="en-US" sz="900" dirty="0"/>
          </a:p>
        </p:txBody>
      </p:sp>
      <p:sp>
        <p:nvSpPr>
          <p:cNvPr id="27" name="Text 22"/>
          <p:cNvSpPr txBox="1"/>
          <p:nvPr/>
        </p:nvSpPr>
        <p:spPr>
          <a:xfrm>
            <a:off x="9276588" y="2519172"/>
            <a:ext cx="1314907"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銀座エリア</a:t>
            </a:r>
            <a:endParaRPr lang="en-US" sz="1800" dirty="0"/>
          </a:p>
        </p:txBody>
      </p:sp>
      <p:sp>
        <p:nvSpPr>
          <p:cNvPr id="28" name="Text 23"/>
          <p:cNvSpPr txBox="1"/>
          <p:nvPr/>
        </p:nvSpPr>
        <p:spPr>
          <a:xfrm>
            <a:off x="9056218" y="2872130"/>
            <a:ext cx="1677010" cy="162763"/>
          </a:xfrm>
          <a:prstGeom prst="rect">
            <a:avLst/>
          </a:prstGeom>
          <a:noFill/>
          <a:ln/>
        </p:spPr>
        <p:txBody>
          <a:bodyPr wrap="square" lIns="0" tIns="0" rIns="0" bIns="0" rtlCol="0" anchor="ctr"/>
          <a:lstStyle/>
          <a:p>
            <a:pPr algn="ctr" indent="0" marL="0">
              <a:buNone/>
            </a:pPr>
            <a:r>
              <a:rPr lang="en-US" sz="900" b="1" dirty="0">
                <a:solidFill>
                  <a:srgbClr val="6B7280"/>
                </a:solidFill>
                <a:latin typeface="Noto Sans JP" pitchFamily="34" charset="0"/>
                <a:ea typeface="Noto Sans JP" pitchFamily="34" charset="-122"/>
                <a:cs typeface="Noto Sans JP" pitchFamily="34" charset="-120"/>
              </a:rPr>
              <a:t>大人の美意識 / 高級ブランド街</a:t>
            </a:r>
            <a:endParaRPr lang="en-US" sz="900" dirty="0"/>
          </a:p>
        </p:txBody>
      </p:sp>
      <p:sp>
        <p:nvSpPr>
          <p:cNvPr id="29" name="Shape 24"/>
          <p:cNvSpPr/>
          <p:nvPr/>
        </p:nvSpPr>
        <p:spPr>
          <a:xfrm>
            <a:off x="619049" y="3300070"/>
            <a:ext cx="609905" cy="1429207"/>
          </a:xfrm>
          <a:prstGeom prst="rect">
            <a:avLst/>
          </a:prstGeom>
          <a:solidFill>
            <a:srgbClr val="FFFFFF"/>
          </a:solidFill>
          <a:ln w="12700">
            <a:solidFill>
              <a:srgbClr val="E5E7EB"/>
            </a:solidFill>
            <a:prstDash val="solid"/>
          </a:ln>
        </p:spPr>
      </p:sp>
      <p:sp>
        <p:nvSpPr>
          <p:cNvPr id="30" name="Text 25"/>
          <p:cNvSpPr txBox="1"/>
          <p:nvPr/>
        </p:nvSpPr>
        <p:spPr>
          <a:xfrm>
            <a:off x="847649" y="3491179"/>
            <a:ext cx="245974" cy="1028700"/>
          </a:xfrm>
          <a:prstGeom prst="rect">
            <a:avLst/>
          </a:prstGeom>
          <a:noFill/>
          <a:ln/>
        </p:spPr>
        <p:txBody>
          <a:bodyPr wrap="square" lIns="0" tIns="0" rIns="0" bIns="0" rtlCol="0" anchor="ctr"/>
          <a:lstStyle/>
          <a:p>
            <a:pPr algn="ctr" indent="0" marL="0">
              <a:buNone/>
            </a:pPr>
            <a:r>
              <a:rPr lang="en-US" sz="1000" b="1" dirty="0">
                <a:solidFill>
                  <a:srgbClr val="374151"/>
                </a:solidFill>
                <a:latin typeface="Noto Sans JP" pitchFamily="34" charset="0"/>
                <a:ea typeface="Noto Sans JP" pitchFamily="34" charset="-122"/>
                <a:cs typeface="Noto Sans JP" pitchFamily="34" charset="-120"/>
              </a:rPr>
              <a:t>エリア特徴</a:t>
            </a:r>
            <a:endParaRPr lang="en-US" sz="1000" dirty="0"/>
          </a:p>
        </p:txBody>
      </p:sp>
      <p:sp>
        <p:nvSpPr>
          <p:cNvPr id="31" name="Shape 26"/>
          <p:cNvSpPr/>
          <p:nvPr/>
        </p:nvSpPr>
        <p:spPr>
          <a:xfrm>
            <a:off x="1223467" y="3300070"/>
            <a:ext cx="3457346" cy="1429207"/>
          </a:xfrm>
          <a:prstGeom prst="rect">
            <a:avLst/>
          </a:prstGeom>
          <a:solidFill>
            <a:srgbClr val="FFFBF9"/>
          </a:solidFill>
          <a:ln w="12700">
            <a:solidFill>
              <a:srgbClr val="FED7AA"/>
            </a:solidFill>
            <a:prstDash val="solid"/>
          </a:ln>
        </p:spPr>
      </p:sp>
      <p:sp>
        <p:nvSpPr>
          <p:cNvPr id="32" name="Text 27"/>
          <p:cNvSpPr txBox="1"/>
          <p:nvPr/>
        </p:nvSpPr>
        <p:spPr>
          <a:xfrm>
            <a:off x="1470355" y="3799332"/>
            <a:ext cx="2941625" cy="409651"/>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トレンド × コスパ #最先端 #SNS映え #回転率重視</a:t>
            </a:r>
            <a:endParaRPr lang="en-US" sz="1000" dirty="0"/>
          </a:p>
        </p:txBody>
      </p:sp>
      <p:sp>
        <p:nvSpPr>
          <p:cNvPr id="33" name="Shape 28"/>
          <p:cNvSpPr/>
          <p:nvPr/>
        </p:nvSpPr>
        <p:spPr>
          <a:xfrm>
            <a:off x="4674413" y="3300070"/>
            <a:ext cx="3448202" cy="1429207"/>
          </a:xfrm>
          <a:prstGeom prst="rect">
            <a:avLst/>
          </a:prstGeom>
          <a:solidFill>
            <a:srgbClr val="FFFFFF"/>
          </a:solidFill>
          <a:ln w="12700">
            <a:solidFill>
              <a:srgbClr val="A7F3D0"/>
            </a:solidFill>
            <a:prstDash val="solid"/>
          </a:ln>
        </p:spPr>
      </p:sp>
      <p:sp>
        <p:nvSpPr>
          <p:cNvPr id="34" name="Text 29"/>
          <p:cNvSpPr txBox="1"/>
          <p:nvPr/>
        </p:nvSpPr>
        <p:spPr>
          <a:xfrm>
            <a:off x="4903013" y="3799332"/>
            <a:ext cx="2960827" cy="409651"/>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デザイン性 × 空間美 #似合わせ #外国人風 #プライベート感</a:t>
            </a:r>
            <a:endParaRPr lang="en-US" sz="1000" dirty="0"/>
          </a:p>
        </p:txBody>
      </p:sp>
      <p:sp>
        <p:nvSpPr>
          <p:cNvPr id="35" name="Shape 30"/>
          <p:cNvSpPr/>
          <p:nvPr/>
        </p:nvSpPr>
        <p:spPr>
          <a:xfrm>
            <a:off x="8122615" y="3300070"/>
            <a:ext cx="3457346" cy="1429207"/>
          </a:xfrm>
          <a:prstGeom prst="rect">
            <a:avLst/>
          </a:prstGeom>
          <a:solidFill>
            <a:srgbClr val="FFFFFF"/>
          </a:solidFill>
          <a:ln w="12700">
            <a:solidFill>
              <a:srgbClr val="BFDBFE"/>
            </a:solidFill>
            <a:prstDash val="solid"/>
          </a:ln>
        </p:spPr>
      </p:sp>
      <p:sp>
        <p:nvSpPr>
          <p:cNvPr id="36" name="Text 31"/>
          <p:cNvSpPr txBox="1"/>
          <p:nvPr/>
        </p:nvSpPr>
        <p:spPr>
          <a:xfrm>
            <a:off x="8351215" y="3799332"/>
            <a:ext cx="2960827" cy="409651"/>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高級志向 × 接客品質 #ブランド力 #髪質改善 #おもてなし</a:t>
            </a:r>
            <a:endParaRPr lang="en-US" sz="1000" dirty="0"/>
          </a:p>
        </p:txBody>
      </p:sp>
      <p:sp>
        <p:nvSpPr>
          <p:cNvPr id="37" name="Shape 32"/>
          <p:cNvSpPr/>
          <p:nvPr/>
        </p:nvSpPr>
        <p:spPr>
          <a:xfrm>
            <a:off x="619049" y="4720133"/>
            <a:ext cx="609905" cy="1429207"/>
          </a:xfrm>
          <a:prstGeom prst="rect">
            <a:avLst/>
          </a:prstGeom>
          <a:solidFill>
            <a:srgbClr val="FFFFFF"/>
          </a:solidFill>
          <a:ln w="12700">
            <a:solidFill>
              <a:srgbClr val="E5E7EB"/>
            </a:solidFill>
            <a:prstDash val="solid"/>
          </a:ln>
        </p:spPr>
      </p:sp>
      <p:sp>
        <p:nvSpPr>
          <p:cNvPr id="38" name="Text 33"/>
          <p:cNvSpPr txBox="1"/>
          <p:nvPr/>
        </p:nvSpPr>
        <p:spPr>
          <a:xfrm>
            <a:off x="847649" y="4910328"/>
            <a:ext cx="245974" cy="1028700"/>
          </a:xfrm>
          <a:prstGeom prst="rect">
            <a:avLst/>
          </a:prstGeom>
          <a:noFill/>
          <a:ln/>
        </p:spPr>
        <p:txBody>
          <a:bodyPr wrap="square" lIns="0" tIns="0" rIns="0" bIns="0" rtlCol="0" anchor="ctr"/>
          <a:lstStyle/>
          <a:p>
            <a:pPr algn="ctr" indent="0" marL="0">
              <a:buNone/>
            </a:pPr>
            <a:r>
              <a:rPr lang="en-US" sz="1000" b="1" dirty="0">
                <a:solidFill>
                  <a:srgbClr val="374151"/>
                </a:solidFill>
                <a:latin typeface="Noto Sans JP" pitchFamily="34" charset="0"/>
                <a:ea typeface="Noto Sans JP" pitchFamily="34" charset="-122"/>
                <a:cs typeface="Noto Sans JP" pitchFamily="34" charset="-120"/>
              </a:rPr>
              <a:t>平均価格帯</a:t>
            </a:r>
            <a:endParaRPr lang="en-US" sz="1000" dirty="0"/>
          </a:p>
        </p:txBody>
      </p:sp>
      <p:sp>
        <p:nvSpPr>
          <p:cNvPr id="39" name="Shape 34"/>
          <p:cNvSpPr/>
          <p:nvPr/>
        </p:nvSpPr>
        <p:spPr>
          <a:xfrm>
            <a:off x="1223467" y="4720133"/>
            <a:ext cx="3457346" cy="1429207"/>
          </a:xfrm>
          <a:prstGeom prst="rect">
            <a:avLst/>
          </a:prstGeom>
          <a:solidFill>
            <a:srgbClr val="FFFBF9"/>
          </a:solidFill>
          <a:ln w="12700">
            <a:solidFill>
              <a:srgbClr val="FED7AA"/>
            </a:solidFill>
            <a:prstDash val="solid"/>
          </a:ln>
        </p:spPr>
      </p:sp>
      <p:sp>
        <p:nvSpPr>
          <p:cNvPr id="40" name="Text 35"/>
          <p:cNvSpPr txBox="1"/>
          <p:nvPr/>
        </p:nvSpPr>
        <p:spPr>
          <a:xfrm>
            <a:off x="1470355" y="5321808"/>
            <a:ext cx="2960827" cy="200254"/>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¥5,000 〜 ¥8,000 学生でも通いやすい価格設定</a:t>
            </a:r>
            <a:endParaRPr lang="en-US" sz="1000" dirty="0"/>
          </a:p>
        </p:txBody>
      </p:sp>
      <p:sp>
        <p:nvSpPr>
          <p:cNvPr id="41" name="Shape 36"/>
          <p:cNvSpPr/>
          <p:nvPr/>
        </p:nvSpPr>
        <p:spPr>
          <a:xfrm>
            <a:off x="4674413" y="4720133"/>
            <a:ext cx="3448202" cy="1429207"/>
          </a:xfrm>
          <a:prstGeom prst="rect">
            <a:avLst/>
          </a:prstGeom>
          <a:solidFill>
            <a:srgbClr val="FFFFFF"/>
          </a:solidFill>
          <a:ln w="12700">
            <a:solidFill>
              <a:srgbClr val="A7F3D0"/>
            </a:solidFill>
            <a:prstDash val="solid"/>
          </a:ln>
        </p:spPr>
      </p:sp>
      <p:sp>
        <p:nvSpPr>
          <p:cNvPr id="42" name="Text 37"/>
          <p:cNvSpPr txBox="1"/>
          <p:nvPr/>
        </p:nvSpPr>
        <p:spPr>
          <a:xfrm>
            <a:off x="4903013" y="5321808"/>
            <a:ext cx="2894076" cy="200254"/>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¥8,000 〜 ¥12,000 技術料が含まれた中価格帯</a:t>
            </a:r>
            <a:endParaRPr lang="en-US" sz="1000" dirty="0"/>
          </a:p>
        </p:txBody>
      </p:sp>
      <p:sp>
        <p:nvSpPr>
          <p:cNvPr id="43" name="Shape 38"/>
          <p:cNvSpPr/>
          <p:nvPr/>
        </p:nvSpPr>
        <p:spPr>
          <a:xfrm>
            <a:off x="8122615" y="4720133"/>
            <a:ext cx="3457346" cy="1429207"/>
          </a:xfrm>
          <a:prstGeom prst="rect">
            <a:avLst/>
          </a:prstGeom>
          <a:solidFill>
            <a:srgbClr val="FFFFFF"/>
          </a:solidFill>
          <a:ln w="12700">
            <a:solidFill>
              <a:srgbClr val="BFDBFE"/>
            </a:solidFill>
            <a:prstDash val="solid"/>
          </a:ln>
        </p:spPr>
      </p:sp>
      <p:sp>
        <p:nvSpPr>
          <p:cNvPr id="44" name="Text 39"/>
          <p:cNvSpPr txBox="1"/>
          <p:nvPr/>
        </p:nvSpPr>
        <p:spPr>
          <a:xfrm>
            <a:off x="8351215" y="5219395"/>
            <a:ext cx="2969971" cy="409651"/>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¥12,000 〜 ¥20,000 高単価・高付加価値メニュー中心</a:t>
            </a:r>
            <a:endParaRPr lang="en-US" sz="1000" dirty="0"/>
          </a:p>
        </p:txBody>
      </p:sp>
      <p:sp>
        <p:nvSpPr>
          <p:cNvPr id="45" name="Shape 40"/>
          <p:cNvSpPr/>
          <p:nvPr/>
        </p:nvSpPr>
        <p:spPr>
          <a:xfrm>
            <a:off x="619049" y="6140196"/>
            <a:ext cx="609905" cy="1837944"/>
          </a:xfrm>
          <a:prstGeom prst="rect">
            <a:avLst/>
          </a:prstGeom>
          <a:solidFill>
            <a:srgbClr val="FFFFFF"/>
          </a:solidFill>
          <a:ln w="12700">
            <a:solidFill>
              <a:srgbClr val="E5E7EB"/>
            </a:solidFill>
            <a:prstDash val="solid"/>
          </a:ln>
        </p:spPr>
      </p:sp>
      <p:sp>
        <p:nvSpPr>
          <p:cNvPr id="46" name="Text 41"/>
          <p:cNvSpPr txBox="1"/>
          <p:nvPr/>
        </p:nvSpPr>
        <p:spPr>
          <a:xfrm>
            <a:off x="847649" y="6330391"/>
            <a:ext cx="245974" cy="1438351"/>
          </a:xfrm>
          <a:prstGeom prst="rect">
            <a:avLst/>
          </a:prstGeom>
          <a:noFill/>
          <a:ln/>
        </p:spPr>
        <p:txBody>
          <a:bodyPr wrap="square" lIns="0" tIns="0" rIns="0" bIns="0" rtlCol="0" anchor="ctr"/>
          <a:lstStyle/>
          <a:p>
            <a:pPr algn="ctr" indent="0" marL="0">
              <a:buNone/>
            </a:pPr>
            <a:r>
              <a:rPr lang="en-US" sz="1000" b="1" dirty="0">
                <a:solidFill>
                  <a:srgbClr val="374151"/>
                </a:solidFill>
                <a:latin typeface="Noto Sans JP" pitchFamily="34" charset="0"/>
                <a:ea typeface="Noto Sans JP" pitchFamily="34" charset="-122"/>
                <a:cs typeface="Noto Sans JP" pitchFamily="34" charset="-120"/>
              </a:rPr>
              <a:t>主要ターゲット</a:t>
            </a:r>
            <a:endParaRPr lang="en-US" sz="1000" dirty="0"/>
          </a:p>
        </p:txBody>
      </p:sp>
      <p:sp>
        <p:nvSpPr>
          <p:cNvPr id="47" name="Shape 42"/>
          <p:cNvSpPr/>
          <p:nvPr/>
        </p:nvSpPr>
        <p:spPr>
          <a:xfrm>
            <a:off x="1223467" y="6140196"/>
            <a:ext cx="3457346" cy="1837944"/>
          </a:xfrm>
          <a:prstGeom prst="rect">
            <a:avLst/>
          </a:prstGeom>
          <a:solidFill>
            <a:srgbClr val="FFFBF9"/>
          </a:solidFill>
          <a:ln w="12700">
            <a:solidFill>
              <a:srgbClr val="FED7AA"/>
            </a:solidFill>
            <a:prstDash val="solid"/>
          </a:ln>
        </p:spPr>
      </p:sp>
      <p:pic>
        <p:nvPicPr>
          <p:cNvPr id="48" name="Image 3" descr="preencoded.png">    </p:cNvPr>
          <p:cNvPicPr>
            <a:picLocks noChangeAspect="1"/>
          </p:cNvPicPr>
          <p:nvPr/>
        </p:nvPicPr>
        <p:blipFill>
          <a:blip r:embed="rId4"/>
          <a:srcRect l="-2838" r="-2838" t="0" b="0"/>
          <a:stretch/>
        </p:blipFill>
        <p:spPr>
          <a:xfrm>
            <a:off x="1560881" y="6945782"/>
            <a:ext cx="123444" cy="133502"/>
          </a:xfrm>
          <a:prstGeom prst="rect">
            <a:avLst/>
          </a:prstGeom>
        </p:spPr>
      </p:pic>
      <p:sp>
        <p:nvSpPr>
          <p:cNvPr id="49" name="Text 43"/>
          <p:cNvSpPr txBox="1"/>
          <p:nvPr/>
        </p:nvSpPr>
        <p:spPr>
          <a:xfrm>
            <a:off x="1851660" y="6840626"/>
            <a:ext cx="1414577"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10代後半 〜 20代前半</a:t>
            </a:r>
            <a:endParaRPr lang="en-US" sz="1000" dirty="0"/>
          </a:p>
        </p:txBody>
      </p:sp>
      <p:sp>
        <p:nvSpPr>
          <p:cNvPr id="50" name="Text 44"/>
          <p:cNvSpPr txBox="1"/>
          <p:nvPr/>
        </p:nvSpPr>
        <p:spPr>
          <a:xfrm>
            <a:off x="1851660" y="7021678"/>
            <a:ext cx="10104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学生・フリーター</a:t>
            </a:r>
            <a:endParaRPr lang="en-US" sz="900" dirty="0"/>
          </a:p>
        </p:txBody>
      </p:sp>
      <p:sp>
        <p:nvSpPr>
          <p:cNvPr id="51" name="Shape 45"/>
          <p:cNvSpPr/>
          <p:nvPr/>
        </p:nvSpPr>
        <p:spPr>
          <a:xfrm>
            <a:off x="4674413" y="6140196"/>
            <a:ext cx="3448202" cy="1837944"/>
          </a:xfrm>
          <a:prstGeom prst="rect">
            <a:avLst/>
          </a:prstGeom>
          <a:solidFill>
            <a:srgbClr val="FFFFFF"/>
          </a:solidFill>
          <a:ln w="12700">
            <a:solidFill>
              <a:srgbClr val="A7F3D0"/>
            </a:solidFill>
            <a:prstDash val="solid"/>
          </a:ln>
        </p:spPr>
      </p:sp>
      <p:pic>
        <p:nvPicPr>
          <p:cNvPr id="52" name="Image 4" descr="preencoded.png">    </p:cNvPr>
          <p:cNvPicPr>
            <a:picLocks noChangeAspect="1"/>
          </p:cNvPicPr>
          <p:nvPr/>
        </p:nvPicPr>
        <p:blipFill>
          <a:blip r:embed="rId5"/>
          <a:srcRect l="-1507" r="-1507" t="0" b="0"/>
          <a:stretch/>
        </p:blipFill>
        <p:spPr>
          <a:xfrm>
            <a:off x="4969764" y="6945782"/>
            <a:ext cx="171907" cy="133502"/>
          </a:xfrm>
          <a:prstGeom prst="rect">
            <a:avLst/>
          </a:prstGeom>
        </p:spPr>
      </p:pic>
      <p:sp>
        <p:nvSpPr>
          <p:cNvPr id="53" name="Text 46"/>
          <p:cNvSpPr txBox="1"/>
          <p:nvPr/>
        </p:nvSpPr>
        <p:spPr>
          <a:xfrm>
            <a:off x="5284318" y="6840626"/>
            <a:ext cx="114848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20代後半 〜 30代</a:t>
            </a:r>
            <a:endParaRPr lang="en-US" sz="1000" dirty="0"/>
          </a:p>
        </p:txBody>
      </p:sp>
      <p:sp>
        <p:nvSpPr>
          <p:cNvPr id="54" name="Text 47"/>
          <p:cNvSpPr txBox="1"/>
          <p:nvPr/>
        </p:nvSpPr>
        <p:spPr>
          <a:xfrm>
            <a:off x="5284318" y="7021678"/>
            <a:ext cx="13432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アパレル・クリエイター</a:t>
            </a:r>
            <a:endParaRPr lang="en-US" sz="900" dirty="0"/>
          </a:p>
        </p:txBody>
      </p:sp>
      <p:sp>
        <p:nvSpPr>
          <p:cNvPr id="55" name="Shape 48"/>
          <p:cNvSpPr/>
          <p:nvPr/>
        </p:nvSpPr>
        <p:spPr>
          <a:xfrm>
            <a:off x="8122615" y="6140196"/>
            <a:ext cx="3457346" cy="1837944"/>
          </a:xfrm>
          <a:prstGeom prst="rect">
            <a:avLst/>
          </a:prstGeom>
          <a:solidFill>
            <a:srgbClr val="FFFFFF"/>
          </a:solidFill>
          <a:ln w="12700">
            <a:solidFill>
              <a:srgbClr val="BFDBFE"/>
            </a:solidFill>
            <a:prstDash val="solid"/>
          </a:ln>
        </p:spPr>
      </p:sp>
      <p:sp>
        <p:nvSpPr>
          <p:cNvPr id="56" name="Shape 49"/>
          <p:cNvSpPr/>
          <p:nvPr/>
        </p:nvSpPr>
        <p:spPr>
          <a:xfrm>
            <a:off x="8351215" y="6859829"/>
            <a:ext cx="304495" cy="304495"/>
          </a:xfrm>
          <a:prstGeom prst="roundRect">
            <a:avLst>
              <a:gd name="adj" fmla="val 300300"/>
            </a:avLst>
          </a:prstGeom>
          <a:solidFill>
            <a:srgbClr val="DBEAFE"/>
          </a:solidFill>
          <a:ln/>
        </p:spPr>
      </p:sp>
      <p:pic>
        <p:nvPicPr>
          <p:cNvPr id="57" name="Image 5" descr="preencoded.png">    </p:cNvPr>
          <p:cNvPicPr>
            <a:picLocks noChangeAspect="1"/>
          </p:cNvPicPr>
          <p:nvPr/>
        </p:nvPicPr>
        <p:blipFill>
          <a:blip r:embed="rId6"/>
          <a:srcRect l="-1507" r="-1507" t="0" b="0"/>
          <a:stretch/>
        </p:blipFill>
        <p:spPr>
          <a:xfrm>
            <a:off x="8460943" y="6945782"/>
            <a:ext cx="85954" cy="133502"/>
          </a:xfrm>
          <a:prstGeom prst="rect">
            <a:avLst/>
          </a:prstGeom>
        </p:spPr>
      </p:pic>
      <p:sp>
        <p:nvSpPr>
          <p:cNvPr id="58" name="Text 50"/>
          <p:cNvSpPr txBox="1"/>
          <p:nvPr/>
        </p:nvSpPr>
        <p:spPr>
          <a:xfrm>
            <a:off x="8731606" y="6840626"/>
            <a:ext cx="8814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30代 〜 50代</a:t>
            </a:r>
            <a:endParaRPr lang="en-US" sz="1000" dirty="0"/>
          </a:p>
        </p:txBody>
      </p:sp>
      <p:sp>
        <p:nvSpPr>
          <p:cNvPr id="59" name="Text 51"/>
          <p:cNvSpPr txBox="1"/>
          <p:nvPr/>
        </p:nvSpPr>
        <p:spPr>
          <a:xfrm>
            <a:off x="8731606" y="7021678"/>
            <a:ext cx="1038758"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OL・経営者・主婦</a:t>
            </a:r>
            <a:endParaRPr lang="en-US" sz="900" dirty="0"/>
          </a:p>
        </p:txBody>
      </p:sp>
      <p:sp>
        <p:nvSpPr>
          <p:cNvPr id="60" name="Shape 52"/>
          <p:cNvSpPr/>
          <p:nvPr/>
        </p:nvSpPr>
        <p:spPr>
          <a:xfrm>
            <a:off x="619049" y="7970825"/>
            <a:ext cx="609905" cy="1619402"/>
          </a:xfrm>
          <a:prstGeom prst="rect">
            <a:avLst/>
          </a:prstGeom>
          <a:solidFill>
            <a:srgbClr val="FFFFFF"/>
          </a:solidFill>
          <a:ln/>
        </p:spPr>
      </p:sp>
      <p:sp>
        <p:nvSpPr>
          <p:cNvPr id="61" name="Shape 53"/>
          <p:cNvSpPr/>
          <p:nvPr/>
        </p:nvSpPr>
        <p:spPr>
          <a:xfrm>
            <a:off x="1219810" y="7970825"/>
            <a:ext cx="9144" cy="1619402"/>
          </a:xfrm>
          <a:prstGeom prst="rect">
            <a:avLst/>
          </a:prstGeom>
          <a:solidFill>
            <a:srgbClr val="E5E7EB"/>
          </a:solidFill>
          <a:ln/>
        </p:spPr>
      </p:sp>
      <p:sp>
        <p:nvSpPr>
          <p:cNvPr id="62" name="Text 54"/>
          <p:cNvSpPr txBox="1"/>
          <p:nvPr/>
        </p:nvSpPr>
        <p:spPr>
          <a:xfrm>
            <a:off x="847649" y="8161934"/>
            <a:ext cx="245974" cy="1239012"/>
          </a:xfrm>
          <a:prstGeom prst="rect">
            <a:avLst/>
          </a:prstGeom>
          <a:noFill/>
          <a:ln/>
        </p:spPr>
        <p:txBody>
          <a:bodyPr wrap="square" lIns="0" tIns="0" rIns="0" bIns="0" rtlCol="0" anchor="ctr"/>
          <a:lstStyle/>
          <a:p>
            <a:pPr algn="ctr" indent="0" marL="0">
              <a:buNone/>
            </a:pPr>
            <a:r>
              <a:rPr lang="en-US" sz="1000" b="1" dirty="0">
                <a:solidFill>
                  <a:srgbClr val="374151"/>
                </a:solidFill>
                <a:latin typeface="Noto Sans JP" pitchFamily="34" charset="0"/>
                <a:ea typeface="Noto Sans JP" pitchFamily="34" charset="-122"/>
                <a:cs typeface="Noto Sans JP" pitchFamily="34" charset="-120"/>
              </a:rPr>
              <a:t>訴求ポイント</a:t>
            </a:r>
            <a:endParaRPr lang="en-US" sz="1000" dirty="0"/>
          </a:p>
        </p:txBody>
      </p:sp>
      <p:sp>
        <p:nvSpPr>
          <p:cNvPr id="63" name="Shape 55"/>
          <p:cNvSpPr/>
          <p:nvPr/>
        </p:nvSpPr>
        <p:spPr>
          <a:xfrm>
            <a:off x="1223467" y="7970825"/>
            <a:ext cx="3457346" cy="1619402"/>
          </a:xfrm>
          <a:prstGeom prst="rect">
            <a:avLst/>
          </a:prstGeom>
          <a:solidFill>
            <a:srgbClr val="FFFBF9"/>
          </a:solidFill>
          <a:ln w="12700">
            <a:solidFill>
              <a:srgbClr val="FED7AA"/>
            </a:solidFill>
            <a:prstDash val="solid"/>
          </a:ln>
        </p:spPr>
      </p:sp>
      <p:pic>
        <p:nvPicPr>
          <p:cNvPr id="64" name="Image 6" descr="preencoded.png">    </p:cNvPr>
          <p:cNvPicPr>
            <a:picLocks noChangeAspect="1"/>
          </p:cNvPicPr>
          <p:nvPr/>
        </p:nvPicPr>
        <p:blipFill>
          <a:blip r:embed="rId7"/>
          <a:srcRect l="-2571" r="-2571" t="0" b="0"/>
          <a:stretch/>
        </p:blipFill>
        <p:spPr>
          <a:xfrm>
            <a:off x="1470355" y="8492947"/>
            <a:ext cx="105156" cy="114300"/>
          </a:xfrm>
          <a:prstGeom prst="rect">
            <a:avLst/>
          </a:prstGeom>
        </p:spPr>
      </p:pic>
      <p:sp>
        <p:nvSpPr>
          <p:cNvPr id="65" name="Text 56"/>
          <p:cNvSpPr txBox="1"/>
          <p:nvPr/>
        </p:nvSpPr>
        <p:spPr>
          <a:xfrm>
            <a:off x="1651406" y="8455457"/>
            <a:ext cx="1424635"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SNSで話題のスタイル</a:t>
            </a:r>
            <a:endParaRPr lang="en-US" sz="1000" dirty="0"/>
          </a:p>
        </p:txBody>
      </p:sp>
      <p:pic>
        <p:nvPicPr>
          <p:cNvPr id="66" name="Image 7" descr="preencoded.png">    </p:cNvPr>
          <p:cNvPicPr>
            <a:picLocks noChangeAspect="1"/>
          </p:cNvPicPr>
          <p:nvPr/>
        </p:nvPicPr>
        <p:blipFill>
          <a:blip r:embed="rId8"/>
          <a:srcRect l="-2571" r="-2571" t="0" b="0"/>
          <a:stretch/>
        </p:blipFill>
        <p:spPr>
          <a:xfrm>
            <a:off x="1470355" y="8721547"/>
            <a:ext cx="105156" cy="114300"/>
          </a:xfrm>
          <a:prstGeom prst="rect">
            <a:avLst/>
          </a:prstGeom>
        </p:spPr>
      </p:pic>
      <p:sp>
        <p:nvSpPr>
          <p:cNvPr id="67" name="Text 57"/>
          <p:cNvSpPr txBox="1"/>
          <p:nvPr/>
        </p:nvSpPr>
        <p:spPr>
          <a:xfrm>
            <a:off x="1651406" y="8684057"/>
            <a:ext cx="1700784"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透明感・ハイトーンカラー</a:t>
            </a:r>
            <a:endParaRPr lang="en-US" sz="1000" dirty="0"/>
          </a:p>
        </p:txBody>
      </p:sp>
      <p:pic>
        <p:nvPicPr>
          <p:cNvPr id="68" name="Image 8" descr="preencoded.png">    </p:cNvPr>
          <p:cNvPicPr>
            <a:picLocks noChangeAspect="1"/>
          </p:cNvPicPr>
          <p:nvPr/>
        </p:nvPicPr>
        <p:blipFill>
          <a:blip r:embed="rId9"/>
          <a:srcRect l="-2571" r="-2571" t="0" b="0"/>
          <a:stretch/>
        </p:blipFill>
        <p:spPr>
          <a:xfrm>
            <a:off x="1470355" y="8950147"/>
            <a:ext cx="105156" cy="114300"/>
          </a:xfrm>
          <a:prstGeom prst="rect">
            <a:avLst/>
          </a:prstGeom>
        </p:spPr>
      </p:pic>
      <p:sp>
        <p:nvSpPr>
          <p:cNvPr id="69" name="Text 58"/>
          <p:cNvSpPr txBox="1"/>
          <p:nvPr/>
        </p:nvSpPr>
        <p:spPr>
          <a:xfrm>
            <a:off x="1651406" y="8912657"/>
            <a:ext cx="1300277"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お得な学割・平日割</a:t>
            </a:r>
            <a:endParaRPr lang="en-US" sz="1000" dirty="0"/>
          </a:p>
        </p:txBody>
      </p:sp>
      <p:sp>
        <p:nvSpPr>
          <p:cNvPr id="70" name="Shape 59"/>
          <p:cNvSpPr/>
          <p:nvPr/>
        </p:nvSpPr>
        <p:spPr>
          <a:xfrm>
            <a:off x="4674413" y="7970825"/>
            <a:ext cx="3448202" cy="1619402"/>
          </a:xfrm>
          <a:prstGeom prst="rect">
            <a:avLst/>
          </a:prstGeom>
          <a:solidFill>
            <a:srgbClr val="FFFFFF"/>
          </a:solidFill>
          <a:ln/>
        </p:spPr>
      </p:sp>
      <p:sp>
        <p:nvSpPr>
          <p:cNvPr id="71" name="Shape 60"/>
          <p:cNvSpPr/>
          <p:nvPr/>
        </p:nvSpPr>
        <p:spPr>
          <a:xfrm>
            <a:off x="8113471" y="7970825"/>
            <a:ext cx="9144" cy="1619402"/>
          </a:xfrm>
          <a:prstGeom prst="rect">
            <a:avLst/>
          </a:prstGeom>
          <a:solidFill>
            <a:srgbClr val="A7F3D0"/>
          </a:solidFill>
          <a:ln/>
        </p:spPr>
      </p:sp>
      <p:pic>
        <p:nvPicPr>
          <p:cNvPr id="72" name="Image 9" descr="preencoded.png">    </p:cNvPr>
          <p:cNvPicPr>
            <a:picLocks noChangeAspect="1"/>
          </p:cNvPicPr>
          <p:nvPr/>
        </p:nvPicPr>
        <p:blipFill>
          <a:blip r:embed="rId10"/>
          <a:srcRect l="-2571" r="-2571" t="0" b="0"/>
          <a:stretch/>
        </p:blipFill>
        <p:spPr>
          <a:xfrm>
            <a:off x="4903013" y="8492947"/>
            <a:ext cx="105156" cy="114300"/>
          </a:xfrm>
          <a:prstGeom prst="rect">
            <a:avLst/>
          </a:prstGeom>
        </p:spPr>
      </p:pic>
      <p:sp>
        <p:nvSpPr>
          <p:cNvPr id="73" name="Text 61"/>
          <p:cNvSpPr txBox="1"/>
          <p:nvPr/>
        </p:nvSpPr>
        <p:spPr>
          <a:xfrm>
            <a:off x="5084064" y="8455457"/>
            <a:ext cx="14337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個性を活かす似合わせ</a:t>
            </a:r>
            <a:endParaRPr lang="en-US" sz="1000" dirty="0"/>
          </a:p>
        </p:txBody>
      </p:sp>
      <p:pic>
        <p:nvPicPr>
          <p:cNvPr id="74" name="Image 10" descr="preencoded.png">    </p:cNvPr>
          <p:cNvPicPr>
            <a:picLocks noChangeAspect="1"/>
          </p:cNvPicPr>
          <p:nvPr/>
        </p:nvPicPr>
        <p:blipFill>
          <a:blip r:embed="rId11"/>
          <a:srcRect l="-2571" r="-2571" t="0" b="0"/>
          <a:stretch/>
        </p:blipFill>
        <p:spPr>
          <a:xfrm>
            <a:off x="4903013" y="8721547"/>
            <a:ext cx="105156" cy="114300"/>
          </a:xfrm>
          <a:prstGeom prst="rect">
            <a:avLst/>
          </a:prstGeom>
        </p:spPr>
      </p:pic>
      <p:sp>
        <p:nvSpPr>
          <p:cNvPr id="75" name="Text 62"/>
          <p:cNvSpPr txBox="1"/>
          <p:nvPr/>
        </p:nvSpPr>
        <p:spPr>
          <a:xfrm>
            <a:off x="5084064" y="8684057"/>
            <a:ext cx="14337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リラックスできる空間</a:t>
            </a:r>
            <a:endParaRPr lang="en-US" sz="1000" dirty="0"/>
          </a:p>
        </p:txBody>
      </p:sp>
      <p:pic>
        <p:nvPicPr>
          <p:cNvPr id="76" name="Image 11" descr="preencoded.png">    </p:cNvPr>
          <p:cNvPicPr>
            <a:picLocks noChangeAspect="1"/>
          </p:cNvPicPr>
          <p:nvPr/>
        </p:nvPicPr>
        <p:blipFill>
          <a:blip r:embed="rId12"/>
          <a:srcRect l="-2571" r="-2571" t="0" b="0"/>
          <a:stretch/>
        </p:blipFill>
        <p:spPr>
          <a:xfrm>
            <a:off x="4903013" y="8950147"/>
            <a:ext cx="105156" cy="114300"/>
          </a:xfrm>
          <a:prstGeom prst="rect">
            <a:avLst/>
          </a:prstGeom>
        </p:spPr>
      </p:pic>
      <p:sp>
        <p:nvSpPr>
          <p:cNvPr id="77" name="Text 63"/>
          <p:cNvSpPr txBox="1"/>
          <p:nvPr/>
        </p:nvSpPr>
        <p:spPr>
          <a:xfrm>
            <a:off x="5084064" y="8912657"/>
            <a:ext cx="1300277"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髪への負担レス施術</a:t>
            </a:r>
            <a:endParaRPr lang="en-US" sz="1000" dirty="0"/>
          </a:p>
        </p:txBody>
      </p:sp>
      <p:sp>
        <p:nvSpPr>
          <p:cNvPr id="78" name="Shape 64"/>
          <p:cNvSpPr/>
          <p:nvPr/>
        </p:nvSpPr>
        <p:spPr>
          <a:xfrm>
            <a:off x="8122615" y="7970825"/>
            <a:ext cx="3457346" cy="1619402"/>
          </a:xfrm>
          <a:prstGeom prst="rect">
            <a:avLst/>
          </a:prstGeom>
          <a:solidFill>
            <a:srgbClr val="FFFFFF"/>
          </a:solidFill>
          <a:ln/>
        </p:spPr>
      </p:sp>
      <p:sp>
        <p:nvSpPr>
          <p:cNvPr id="79" name="Shape 65"/>
          <p:cNvSpPr/>
          <p:nvPr/>
        </p:nvSpPr>
        <p:spPr>
          <a:xfrm>
            <a:off x="11570818" y="7970825"/>
            <a:ext cx="9144" cy="1619402"/>
          </a:xfrm>
          <a:prstGeom prst="rect">
            <a:avLst/>
          </a:prstGeom>
          <a:solidFill>
            <a:srgbClr val="BFDBFE"/>
          </a:solidFill>
          <a:ln/>
        </p:spPr>
      </p:sp>
      <p:pic>
        <p:nvPicPr>
          <p:cNvPr id="80" name="Image 12" descr="preencoded.png">    </p:cNvPr>
          <p:cNvPicPr>
            <a:picLocks noChangeAspect="1"/>
          </p:cNvPicPr>
          <p:nvPr/>
        </p:nvPicPr>
        <p:blipFill>
          <a:blip r:embed="rId13"/>
          <a:srcRect l="-2571" r="-2571" t="0" b="0"/>
          <a:stretch/>
        </p:blipFill>
        <p:spPr>
          <a:xfrm>
            <a:off x="8351215" y="8492947"/>
            <a:ext cx="105156" cy="114300"/>
          </a:xfrm>
          <a:prstGeom prst="rect">
            <a:avLst/>
          </a:prstGeom>
        </p:spPr>
      </p:pic>
      <p:sp>
        <p:nvSpPr>
          <p:cNvPr id="81" name="Text 66"/>
          <p:cNvSpPr txBox="1"/>
          <p:nvPr/>
        </p:nvSpPr>
        <p:spPr>
          <a:xfrm>
            <a:off x="8532266" y="8455457"/>
            <a:ext cx="1700784"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エイジングケア・髪質改善</a:t>
            </a:r>
            <a:endParaRPr lang="en-US" sz="1000" dirty="0"/>
          </a:p>
        </p:txBody>
      </p:sp>
      <p:pic>
        <p:nvPicPr>
          <p:cNvPr id="82" name="Image 13" descr="preencoded.png">    </p:cNvPr>
          <p:cNvPicPr>
            <a:picLocks noChangeAspect="1"/>
          </p:cNvPicPr>
          <p:nvPr/>
        </p:nvPicPr>
        <p:blipFill>
          <a:blip r:embed="rId14"/>
          <a:srcRect l="-2571" r="-2571" t="0" b="0"/>
          <a:stretch/>
        </p:blipFill>
        <p:spPr>
          <a:xfrm>
            <a:off x="8351215" y="8721547"/>
            <a:ext cx="105156" cy="114300"/>
          </a:xfrm>
          <a:prstGeom prst="rect">
            <a:avLst/>
          </a:prstGeom>
        </p:spPr>
      </p:pic>
      <p:sp>
        <p:nvSpPr>
          <p:cNvPr id="83" name="Text 67"/>
          <p:cNvSpPr txBox="1"/>
          <p:nvPr/>
        </p:nvSpPr>
        <p:spPr>
          <a:xfrm>
            <a:off x="8532266" y="8684057"/>
            <a:ext cx="1567282"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個室・フルフラットスパ</a:t>
            </a:r>
            <a:endParaRPr lang="en-US" sz="1000" dirty="0"/>
          </a:p>
        </p:txBody>
      </p:sp>
      <p:pic>
        <p:nvPicPr>
          <p:cNvPr id="84" name="Image 14" descr="preencoded.png">    </p:cNvPr>
          <p:cNvPicPr>
            <a:picLocks noChangeAspect="1"/>
          </p:cNvPicPr>
          <p:nvPr/>
        </p:nvPicPr>
        <p:blipFill>
          <a:blip r:embed="rId15"/>
          <a:srcRect l="-2571" r="-2571" t="0" b="0"/>
          <a:stretch/>
        </p:blipFill>
        <p:spPr>
          <a:xfrm>
            <a:off x="8351215" y="8950147"/>
            <a:ext cx="105156" cy="114300"/>
          </a:xfrm>
          <a:prstGeom prst="rect">
            <a:avLst/>
          </a:prstGeom>
        </p:spPr>
      </p:pic>
      <p:sp>
        <p:nvSpPr>
          <p:cNvPr id="85" name="Text 68"/>
          <p:cNvSpPr txBox="1"/>
          <p:nvPr/>
        </p:nvSpPr>
        <p:spPr>
          <a:xfrm>
            <a:off x="8532266" y="8912657"/>
            <a:ext cx="116768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マンツーマン対応</a:t>
            </a:r>
            <a:endParaRPr lang="en-US" sz="1000" dirty="0"/>
          </a:p>
        </p:txBody>
      </p:sp>
      <p:sp>
        <p:nvSpPr>
          <p:cNvPr id="86" name="Shape 69"/>
          <p:cNvSpPr/>
          <p:nvPr/>
        </p:nvSpPr>
        <p:spPr>
          <a:xfrm>
            <a:off x="609905" y="5658307"/>
            <a:ext cx="10972800" cy="895198"/>
          </a:xfrm>
          <a:prstGeom prst="roundRect">
            <a:avLst>
              <a:gd name="adj" fmla="val 1304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87" name="Shape 70"/>
          <p:cNvSpPr/>
          <p:nvPr/>
        </p:nvSpPr>
        <p:spPr>
          <a:xfrm>
            <a:off x="771754" y="5915254"/>
            <a:ext cx="381305" cy="381305"/>
          </a:xfrm>
          <a:prstGeom prst="roundRect">
            <a:avLst>
              <a:gd name="adj" fmla="val 239808"/>
            </a:avLst>
          </a:prstGeom>
          <a:solidFill>
            <a:srgbClr val="1F2937"/>
          </a:solidFill>
          <a:ln/>
        </p:spPr>
      </p:sp>
      <p:pic>
        <p:nvPicPr>
          <p:cNvPr id="88" name="Image 15" descr="preencoded.png">    </p:cNvPr>
          <p:cNvPicPr>
            <a:picLocks noChangeAspect="1"/>
          </p:cNvPicPr>
          <p:nvPr/>
        </p:nvPicPr>
        <p:blipFill>
          <a:blip r:embed="rId16"/>
          <a:srcRect l="0" r="0" t="-100" b="-100"/>
          <a:stretch/>
        </p:blipFill>
        <p:spPr>
          <a:xfrm>
            <a:off x="905256" y="6029554"/>
            <a:ext cx="114300" cy="152705"/>
          </a:xfrm>
          <a:prstGeom prst="rect">
            <a:avLst/>
          </a:prstGeom>
        </p:spPr>
      </p:pic>
      <p:sp>
        <p:nvSpPr>
          <p:cNvPr id="89" name="Text 71"/>
          <p:cNvSpPr txBox="1"/>
          <p:nvPr/>
        </p:nvSpPr>
        <p:spPr>
          <a:xfrm>
            <a:off x="1304849" y="5810098"/>
            <a:ext cx="1305763"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STRATEGIC INSIGHT</a:t>
            </a:r>
            <a:endParaRPr lang="en-US" sz="900" dirty="0"/>
          </a:p>
        </p:txBody>
      </p:sp>
      <p:sp>
        <p:nvSpPr>
          <p:cNvPr id="90" name="Text 72"/>
          <p:cNvSpPr txBox="1"/>
          <p:nvPr/>
        </p:nvSpPr>
        <p:spPr>
          <a:xfrm>
            <a:off x="1304849" y="6010351"/>
            <a:ext cx="10130638" cy="381305"/>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Siena渋谷は「渋谷のトレンド感」と「通いやすい価格」を両立させることで、代官山や銀座には敷居の高さを感じるZ世代・若手社会人の需要を一手に引き受けるポテンシャルがあります。</a:t>
            </a:r>
            <a:endParaRPr lang="en-US" sz="1000" dirty="0"/>
          </a:p>
        </p:txBody>
      </p:sp>
      <p:sp>
        <p:nvSpPr>
          <p:cNvPr id="91" name="Shape 73"/>
          <p:cNvSpPr/>
          <p:nvPr/>
        </p:nvSpPr>
        <p:spPr>
          <a:xfrm>
            <a:off x="0" y="0"/>
            <a:ext cx="12191695" cy="761695"/>
          </a:xfrm>
          <a:prstGeom prst="rect">
            <a:avLst/>
          </a:prstGeom>
          <a:solidFill>
            <a:srgbClr val="FFFFFF"/>
          </a:solidFill>
          <a:ln/>
        </p:spPr>
      </p:sp>
      <p:sp>
        <p:nvSpPr>
          <p:cNvPr id="92" name="Shape 74"/>
          <p:cNvSpPr/>
          <p:nvPr/>
        </p:nvSpPr>
        <p:spPr>
          <a:xfrm>
            <a:off x="0" y="752551"/>
            <a:ext cx="12191695" cy="9144"/>
          </a:xfrm>
          <a:prstGeom prst="rect">
            <a:avLst/>
          </a:prstGeom>
          <a:solidFill>
            <a:srgbClr val="F3F4F6"/>
          </a:solidFill>
          <a:ln/>
        </p:spPr>
      </p:sp>
      <p:sp>
        <p:nvSpPr>
          <p:cNvPr id="93" name="Shape 75"/>
          <p:cNvSpPr/>
          <p:nvPr/>
        </p:nvSpPr>
        <p:spPr>
          <a:xfrm>
            <a:off x="609905" y="224028"/>
            <a:ext cx="304495" cy="304495"/>
          </a:xfrm>
          <a:prstGeom prst="roundRect">
            <a:avLst>
              <a:gd name="adj" fmla="val 56306"/>
            </a:avLst>
          </a:prstGeom>
          <a:solidFill>
            <a:srgbClr val="1F2937"/>
          </a:solidFill>
          <a:ln/>
        </p:spPr>
      </p:sp>
      <p:pic>
        <p:nvPicPr>
          <p:cNvPr id="94" name="Image 16" descr="preencoded.png">    </p:cNvPr>
          <p:cNvPicPr>
            <a:picLocks noChangeAspect="1"/>
          </p:cNvPicPr>
          <p:nvPr/>
        </p:nvPicPr>
        <p:blipFill>
          <a:blip r:embed="rId17"/>
          <a:srcRect l="0" r="0" t="0" b="0"/>
          <a:stretch/>
        </p:blipFill>
        <p:spPr>
          <a:xfrm>
            <a:off x="694944" y="309982"/>
            <a:ext cx="133502" cy="133502"/>
          </a:xfrm>
          <a:prstGeom prst="rect">
            <a:avLst/>
          </a:prstGeom>
        </p:spPr>
      </p:pic>
      <p:sp>
        <p:nvSpPr>
          <p:cNvPr id="95" name="Text 76"/>
          <p:cNvSpPr txBox="1"/>
          <p:nvPr/>
        </p:nvSpPr>
        <p:spPr>
          <a:xfrm>
            <a:off x="990295" y="280721"/>
            <a:ext cx="1462126"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AREA COMPARISON</a:t>
            </a:r>
            <a:endParaRPr lang="en-US" sz="1000" dirty="0"/>
          </a:p>
        </p:txBody>
      </p:sp>
      <p:sp>
        <p:nvSpPr>
          <p:cNvPr id="96" name="Text 77"/>
          <p:cNvSpPr txBox="1"/>
          <p:nvPr/>
        </p:nvSpPr>
        <p:spPr>
          <a:xfrm>
            <a:off x="9952330" y="280721"/>
            <a:ext cx="17391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商圏エリア別 競合環境分析</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FFFFF"/>
          </a:solidFill>
          <a:ln/>
        </p:spPr>
      </p:sp>
      <p:sp>
        <p:nvSpPr>
          <p:cNvPr id="5" name="Shape 3"/>
          <p:cNvSpPr/>
          <p:nvPr/>
        </p:nvSpPr>
        <p:spPr>
          <a:xfrm>
            <a:off x="609905" y="1067105"/>
            <a:ext cx="8010144" cy="5486400"/>
          </a:xfrm>
          <a:prstGeom prst="roundRect">
            <a:avLst>
              <a:gd name="adj" fmla="val 463"/>
            </a:avLst>
          </a:prstGeom>
          <a:solidFill>
            <a:srgbClr val="F9FAFB"/>
          </a:solidFill>
          <a:ln w="12700">
            <a:solidFill>
              <a:srgbClr val="E5E7EB"/>
            </a:solidFill>
            <a:prstDash val="solid"/>
          </a:ln>
        </p:spPr>
      </p:sp>
      <p:sp>
        <p:nvSpPr>
          <p:cNvPr id="6" name="Text 4"/>
          <p:cNvSpPr txBox="1"/>
          <p:nvPr/>
        </p:nvSpPr>
        <p:spPr>
          <a:xfrm>
            <a:off x="771754" y="5648249"/>
            <a:ext cx="4829861" cy="876910"/>
          </a:xfrm>
          <a:prstGeom prst="rect">
            <a:avLst/>
          </a:prstGeom>
          <a:noFill/>
          <a:ln/>
        </p:spPr>
        <p:txBody>
          <a:bodyPr wrap="square" lIns="0" tIns="0" rIns="0" bIns="0" rtlCol="0" anchor="ctr"/>
          <a:lstStyle/>
          <a:p>
            <a:pPr algn="l" indent="0" marL="0">
              <a:buNone/>
            </a:pPr>
            <a:r>
              <a:rPr lang="en-US" sz="4800" b="1" dirty="0">
                <a:solidFill>
                  <a:srgbClr val="F3F4F6"/>
                </a:solidFill>
                <a:latin typeface="Noto Sans JP" pitchFamily="34" charset="0"/>
                <a:ea typeface="Noto Sans JP" pitchFamily="34" charset="-122"/>
                <a:cs typeface="Noto Sans JP" pitchFamily="34" charset="-120"/>
              </a:rPr>
              <a:t>Casual / Trend</a:t>
            </a:r>
            <a:endParaRPr lang="en-US" sz="4800" dirty="0"/>
          </a:p>
        </p:txBody>
      </p:sp>
      <p:sp>
        <p:nvSpPr>
          <p:cNvPr id="7" name="Text 5"/>
          <p:cNvSpPr txBox="1"/>
          <p:nvPr/>
        </p:nvSpPr>
        <p:spPr>
          <a:xfrm>
            <a:off x="3484778" y="1095451"/>
            <a:ext cx="5429707" cy="876910"/>
          </a:xfrm>
          <a:prstGeom prst="rect">
            <a:avLst/>
          </a:prstGeom>
          <a:noFill/>
          <a:ln/>
        </p:spPr>
        <p:txBody>
          <a:bodyPr wrap="square" lIns="0" tIns="0" rIns="0" bIns="0" rtlCol="0" anchor="ctr"/>
          <a:lstStyle/>
          <a:p>
            <a:pPr algn="r" indent="0" marL="0">
              <a:buNone/>
            </a:pPr>
            <a:r>
              <a:rPr lang="en-US" sz="4800" b="1" dirty="0">
                <a:solidFill>
                  <a:srgbClr val="F3F4F6"/>
                </a:solidFill>
                <a:latin typeface="Noto Sans JP" pitchFamily="34" charset="0"/>
                <a:ea typeface="Noto Sans JP" pitchFamily="34" charset="-122"/>
                <a:cs typeface="Noto Sans JP" pitchFamily="34" charset="-120"/>
              </a:rPr>
              <a:t>Luxury / Quality</a:t>
            </a:r>
            <a:endParaRPr lang="en-US" sz="4800" dirty="0"/>
          </a:p>
        </p:txBody>
      </p:sp>
      <p:sp>
        <p:nvSpPr>
          <p:cNvPr id="8" name="Text 6"/>
          <p:cNvSpPr txBox="1"/>
          <p:nvPr/>
        </p:nvSpPr>
        <p:spPr>
          <a:xfrm>
            <a:off x="8915400" y="1086307"/>
            <a:ext cx="2809951" cy="514807"/>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Sienaは 「独自の山」を築けるか</a:t>
            </a:r>
            <a:endParaRPr lang="en-US" sz="1500" dirty="0"/>
          </a:p>
        </p:txBody>
      </p:sp>
      <p:sp>
        <p:nvSpPr>
          <p:cNvPr id="9" name="Shape 7"/>
          <p:cNvSpPr/>
          <p:nvPr/>
        </p:nvSpPr>
        <p:spPr>
          <a:xfrm>
            <a:off x="8915400" y="1733702"/>
            <a:ext cx="38405" cy="1104595"/>
          </a:xfrm>
          <a:prstGeom prst="rect">
            <a:avLst/>
          </a:prstGeom>
          <a:solidFill>
            <a:srgbClr val="FF6B35"/>
          </a:solidFill>
          <a:ln/>
        </p:spPr>
      </p:sp>
      <p:sp>
        <p:nvSpPr>
          <p:cNvPr id="10" name="Shape 8"/>
          <p:cNvSpPr/>
          <p:nvPr/>
        </p:nvSpPr>
        <p:spPr>
          <a:xfrm>
            <a:off x="9068105" y="1886407"/>
            <a:ext cx="114300" cy="114300"/>
          </a:xfrm>
          <a:prstGeom prst="roundRect">
            <a:avLst>
              <a:gd name="adj" fmla="val 800000"/>
            </a:avLst>
          </a:prstGeom>
          <a:solidFill>
            <a:srgbClr val="FF6B35"/>
          </a:solidFill>
          <a:ln/>
        </p:spPr>
      </p:sp>
      <p:sp>
        <p:nvSpPr>
          <p:cNvPr id="11" name="Text 9"/>
          <p:cNvSpPr txBox="1"/>
          <p:nvPr/>
        </p:nvSpPr>
        <p:spPr>
          <a:xfrm>
            <a:off x="9258300" y="1848002"/>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渋谷エリア</a:t>
            </a:r>
            <a:endParaRPr lang="en-US" sz="1000" dirty="0"/>
          </a:p>
        </p:txBody>
      </p:sp>
      <p:sp>
        <p:nvSpPr>
          <p:cNvPr id="12" name="Text 10"/>
          <p:cNvSpPr txBox="1"/>
          <p:nvPr/>
        </p:nvSpPr>
        <p:spPr>
          <a:xfrm>
            <a:off x="9068105" y="2066544"/>
            <a:ext cx="1515161"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低〜中単価 × トレンド重視</a:t>
            </a:r>
            <a:endParaRPr lang="en-US" sz="900" dirty="0"/>
          </a:p>
        </p:txBody>
      </p:sp>
      <p:sp>
        <p:nvSpPr>
          <p:cNvPr id="13" name="Text 11"/>
          <p:cNvSpPr txBox="1"/>
          <p:nvPr/>
        </p:nvSpPr>
        <p:spPr>
          <a:xfrm>
            <a:off x="9068105" y="2266798"/>
            <a:ext cx="2410358" cy="4572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学生・若年層が中心。回転率とデザイン性が鍵。</a:t>
            </a:r>
            <a:endParaRPr lang="en-US" sz="1200" dirty="0"/>
          </a:p>
        </p:txBody>
      </p:sp>
      <p:sp>
        <p:nvSpPr>
          <p:cNvPr id="14" name="Shape 12"/>
          <p:cNvSpPr/>
          <p:nvPr/>
        </p:nvSpPr>
        <p:spPr>
          <a:xfrm>
            <a:off x="8915400" y="2991002"/>
            <a:ext cx="38405" cy="1104595"/>
          </a:xfrm>
          <a:prstGeom prst="rect">
            <a:avLst/>
          </a:prstGeom>
          <a:solidFill>
            <a:srgbClr val="E5E7EB"/>
          </a:solidFill>
          <a:ln/>
        </p:spPr>
      </p:sp>
      <p:sp>
        <p:nvSpPr>
          <p:cNvPr id="15" name="Text 13"/>
          <p:cNvSpPr txBox="1"/>
          <p:nvPr/>
        </p:nvSpPr>
        <p:spPr>
          <a:xfrm>
            <a:off x="9258300" y="3105302"/>
            <a:ext cx="900684"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代官山エリア</a:t>
            </a:r>
            <a:endParaRPr lang="en-US" sz="1000" dirty="0"/>
          </a:p>
        </p:txBody>
      </p:sp>
      <p:sp>
        <p:nvSpPr>
          <p:cNvPr id="16" name="Text 14"/>
          <p:cNvSpPr txBox="1"/>
          <p:nvPr/>
        </p:nvSpPr>
        <p:spPr>
          <a:xfrm>
            <a:off x="9068105" y="3323844"/>
            <a:ext cx="1400861"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中〜高単価 × 世界観重視</a:t>
            </a:r>
            <a:endParaRPr lang="en-US" sz="900" dirty="0"/>
          </a:p>
        </p:txBody>
      </p:sp>
      <p:sp>
        <p:nvSpPr>
          <p:cNvPr id="17" name="Text 15"/>
          <p:cNvSpPr txBox="1"/>
          <p:nvPr/>
        </p:nvSpPr>
        <p:spPr>
          <a:xfrm>
            <a:off x="9068105" y="3524098"/>
            <a:ext cx="2410358" cy="4572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デザイン感度が高い層。顧客ロイヤリティが高い。</a:t>
            </a:r>
            <a:endParaRPr lang="en-US" sz="1200" dirty="0"/>
          </a:p>
        </p:txBody>
      </p:sp>
      <p:sp>
        <p:nvSpPr>
          <p:cNvPr id="18" name="Shape 16"/>
          <p:cNvSpPr/>
          <p:nvPr/>
        </p:nvSpPr>
        <p:spPr>
          <a:xfrm>
            <a:off x="8915400" y="4248302"/>
            <a:ext cx="2667305" cy="1104595"/>
          </a:xfrm>
          <a:prstGeom prst="roundRect">
            <a:avLst>
              <a:gd name="adj" fmla="val 5709"/>
            </a:avLst>
          </a:prstGeom>
          <a:solidFill>
            <a:srgbClr val="EFF6FF"/>
          </a:solidFill>
          <a:ln/>
        </p:spPr>
      </p:sp>
      <p:sp>
        <p:nvSpPr>
          <p:cNvPr id="19" name="Shape 17"/>
          <p:cNvSpPr/>
          <p:nvPr/>
        </p:nvSpPr>
        <p:spPr>
          <a:xfrm>
            <a:off x="8915400" y="4248302"/>
            <a:ext cx="38405" cy="1104595"/>
          </a:xfrm>
          <a:prstGeom prst="rect">
            <a:avLst/>
          </a:prstGeom>
          <a:solidFill>
            <a:srgbClr val="2563EB"/>
          </a:solidFill>
          <a:ln/>
        </p:spPr>
      </p:sp>
      <p:sp>
        <p:nvSpPr>
          <p:cNvPr id="20" name="Shape 18"/>
          <p:cNvSpPr/>
          <p:nvPr/>
        </p:nvSpPr>
        <p:spPr>
          <a:xfrm>
            <a:off x="9068105" y="4401007"/>
            <a:ext cx="114300" cy="114300"/>
          </a:xfrm>
          <a:prstGeom prst="roundRect">
            <a:avLst>
              <a:gd name="adj" fmla="val 800000"/>
            </a:avLst>
          </a:prstGeom>
          <a:solidFill>
            <a:srgbClr val="2563EB"/>
          </a:solidFill>
          <a:ln/>
        </p:spPr>
      </p:sp>
      <p:sp>
        <p:nvSpPr>
          <p:cNvPr id="21" name="Text 19"/>
          <p:cNvSpPr txBox="1"/>
          <p:nvPr/>
        </p:nvSpPr>
        <p:spPr>
          <a:xfrm>
            <a:off x="9258300" y="4362602"/>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銀座エリア</a:t>
            </a:r>
            <a:endParaRPr lang="en-US" sz="1000" dirty="0"/>
          </a:p>
        </p:txBody>
      </p:sp>
      <p:sp>
        <p:nvSpPr>
          <p:cNvPr id="22" name="Text 20"/>
          <p:cNvSpPr txBox="1"/>
          <p:nvPr/>
        </p:nvSpPr>
        <p:spPr>
          <a:xfrm>
            <a:off x="9068105" y="4581144"/>
            <a:ext cx="1400861" cy="162763"/>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高単価 × 品質・接客重視</a:t>
            </a:r>
            <a:endParaRPr lang="en-US" sz="900" dirty="0"/>
          </a:p>
        </p:txBody>
      </p:sp>
      <p:sp>
        <p:nvSpPr>
          <p:cNvPr id="23" name="Text 21"/>
          <p:cNvSpPr txBox="1"/>
          <p:nvPr/>
        </p:nvSpPr>
        <p:spPr>
          <a:xfrm>
            <a:off x="9068105" y="4781398"/>
            <a:ext cx="2410358" cy="457200"/>
          </a:xfrm>
          <a:prstGeom prst="rect">
            <a:avLst/>
          </a:prstGeom>
          <a:noFill/>
          <a:ln/>
        </p:spPr>
        <p:txBody>
          <a:bodyPr wrap="square" lIns="0" tIns="0" rIns="0" bIns="0" rtlCol="0" anchor="ctr"/>
          <a:lstStyle/>
          <a:p>
            <a:pPr algn="l" indent="0" marL="0">
              <a:buNone/>
            </a:pPr>
            <a:r>
              <a:rPr lang="en-US" sz="1200" dirty="0">
                <a:solidFill>
                  <a:srgbClr val="6B7280"/>
                </a:solidFill>
                <a:latin typeface="Noto Sans JP" pitchFamily="34" charset="0"/>
                <a:ea typeface="Noto Sans JP" pitchFamily="34" charset="-122"/>
                <a:cs typeface="Noto Sans JP" pitchFamily="34" charset="-120"/>
              </a:rPr>
              <a:t>大人女性・富裕層。髪質改善やエイジングケア。</a:t>
            </a:r>
            <a:endParaRPr lang="en-US" sz="1200" dirty="0"/>
          </a:p>
        </p:txBody>
      </p:sp>
      <p:sp>
        <p:nvSpPr>
          <p:cNvPr id="24" name="Shape 22"/>
          <p:cNvSpPr/>
          <p:nvPr/>
        </p:nvSpPr>
        <p:spPr>
          <a:xfrm>
            <a:off x="8915400" y="5352898"/>
            <a:ext cx="2667305" cy="1162202"/>
          </a:xfrm>
          <a:prstGeom prst="roundRect">
            <a:avLst>
              <a:gd name="adj" fmla="val 7739"/>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25" name="Shape 23"/>
          <p:cNvSpPr/>
          <p:nvPr/>
        </p:nvSpPr>
        <p:spPr>
          <a:xfrm>
            <a:off x="3412541" y="2716682"/>
            <a:ext cx="2000707" cy="1647749"/>
          </a:xfrm>
          <a:prstGeom prst="ellipse">
            <a:avLst/>
          </a:prstGeom>
          <a:solidFill>
            <a:srgbClr val="06B6D4">
              <a:alpha val="54000"/>
            </a:srgbClr>
          </a:solidFill>
          <a:ln w="25400">
            <a:solidFill>
              <a:srgbClr val="06B6D4"/>
            </a:solidFill>
            <a:prstDash val="solid"/>
          </a:ln>
        </p:spPr>
      </p:sp>
      <p:sp>
        <p:nvSpPr>
          <p:cNvPr id="26" name="Shape 24"/>
          <p:cNvSpPr/>
          <p:nvPr/>
        </p:nvSpPr>
        <p:spPr>
          <a:xfrm>
            <a:off x="3754526" y="3412541"/>
            <a:ext cx="1314907" cy="247802"/>
          </a:xfrm>
          <a:prstGeom prst="roundRect">
            <a:avLst>
              <a:gd name="adj" fmla="val 283849"/>
            </a:avLst>
          </a:prstGeom>
          <a:solidFill>
            <a:srgbClr val="06B6D4">
              <a:alpha val="54000"/>
            </a:srgbClr>
          </a:solidFill>
          <a:ln/>
          <a:effectLst>
            <a:outerShdw sx="100000" sy="100000" kx="0" ky="0" algn="bl" rotWithShape="0" blurRad="63500" dist="38100" dir="5400000">
              <a:srgbClr val="000000">
                <a:alpha val="10000"/>
              </a:srgbClr>
            </a:outerShdw>
          </a:effectLst>
        </p:spPr>
      </p:sp>
      <p:pic>
        <p:nvPicPr>
          <p:cNvPr id="27" name="Image 0" descr="preencoded.png">    </p:cNvPr>
          <p:cNvPicPr>
            <a:picLocks noChangeAspect="1"/>
          </p:cNvPicPr>
          <p:nvPr/>
        </p:nvPicPr>
        <p:blipFill>
          <a:blip r:embed="rId1">
            <a:alphaModFix amt="54000"/>
          </a:blip>
          <a:srcRect l="-1911" r="-1911" t="0" b="0"/>
          <a:stretch/>
        </p:blipFill>
        <p:spPr>
          <a:xfrm>
            <a:off x="3868826" y="3483864"/>
            <a:ext cx="133502" cy="114300"/>
          </a:xfrm>
          <a:prstGeom prst="rect">
            <a:avLst/>
          </a:prstGeom>
        </p:spPr>
      </p:pic>
      <p:sp>
        <p:nvSpPr>
          <p:cNvPr id="28" name="Text 25"/>
          <p:cNvSpPr txBox="1"/>
          <p:nvPr/>
        </p:nvSpPr>
        <p:spPr>
          <a:xfrm>
            <a:off x="4039819" y="3450946"/>
            <a:ext cx="1000354" cy="162763"/>
          </a:xfrm>
          <a:prstGeom prst="rect">
            <a:avLst/>
          </a:prstGeom>
          <a:noFill/>
          <a:ln/>
        </p:spPr>
        <p:txBody>
          <a:bodyPr wrap="square" lIns="0" tIns="0" rIns="0" bIns="0" rtlCol="0" anchor="ctr"/>
          <a:lstStyle/>
          <a:p>
            <a:pPr algn="ctr" indent="0" marL="0">
              <a:buNone/>
            </a:pPr>
            <a:r>
              <a:rPr lang="en-US" sz="900" b="1" dirty="0">
                <a:solidFill>
                  <a:srgbClr val="FFFFFF">
                    <a:alpha val="54000"/>
                  </a:srgbClr>
                </a:solidFill>
                <a:latin typeface="Noto Sans JP" pitchFamily="34" charset="0"/>
                <a:ea typeface="Noto Sans JP" pitchFamily="34" charset="-122"/>
                <a:cs typeface="Noto Sans JP" pitchFamily="34" charset="-120"/>
              </a:rPr>
              <a:t>Next Blue Ocean</a:t>
            </a:r>
            <a:endParaRPr lang="en-US" sz="900" dirty="0"/>
          </a:p>
        </p:txBody>
      </p:sp>
      <p:sp>
        <p:nvSpPr>
          <p:cNvPr id="29" name="Text 26"/>
          <p:cNvSpPr txBox="1"/>
          <p:nvPr/>
        </p:nvSpPr>
        <p:spPr>
          <a:xfrm>
            <a:off x="771754" y="1238098"/>
            <a:ext cx="21863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広域ポジショニングマップ</a:t>
            </a:r>
            <a:endParaRPr lang="en-US" sz="1300" dirty="0"/>
          </a:p>
        </p:txBody>
      </p:sp>
      <p:sp>
        <p:nvSpPr>
          <p:cNvPr id="30" name="Text 27"/>
          <p:cNvSpPr txBox="1"/>
          <p:nvPr/>
        </p:nvSpPr>
        <p:spPr>
          <a:xfrm>
            <a:off x="771754" y="1485900"/>
            <a:ext cx="20391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渋谷・代官山・銀座の主要サロン分布</a:t>
            </a:r>
            <a:endParaRPr lang="en-US" sz="900" dirty="0"/>
          </a:p>
        </p:txBody>
      </p:sp>
      <p:pic>
        <p:nvPicPr>
          <p:cNvPr id="31" name="Image 1" descr="preencoded.png">    </p:cNvPr>
          <p:cNvPicPr>
            <a:picLocks noChangeAspect="1"/>
          </p:cNvPicPr>
          <p:nvPr/>
        </p:nvPicPr>
        <p:blipFill>
          <a:blip r:embed="rId2"/>
          <a:srcRect l="-1" r="-1" t="0" b="0"/>
          <a:stretch/>
        </p:blipFill>
        <p:spPr>
          <a:xfrm>
            <a:off x="923544" y="1533449"/>
            <a:ext cx="7372807" cy="4705502"/>
          </a:xfrm>
          <a:prstGeom prst="rect">
            <a:avLst/>
          </a:prstGeom>
        </p:spPr>
      </p:pic>
      <p:sp>
        <p:nvSpPr>
          <p:cNvPr id="32" name="Shape 28"/>
          <p:cNvSpPr/>
          <p:nvPr/>
        </p:nvSpPr>
        <p:spPr>
          <a:xfrm>
            <a:off x="7209130" y="6314846"/>
            <a:ext cx="1248156" cy="152705"/>
          </a:xfrm>
          <a:prstGeom prst="roundRect">
            <a:avLst>
              <a:gd name="adj" fmla="val 149700"/>
            </a:avLst>
          </a:prstGeom>
          <a:solidFill>
            <a:srgbClr val="FFFFFF"/>
          </a:solidFill>
          <a:ln/>
        </p:spPr>
      </p:sp>
      <p:sp>
        <p:nvSpPr>
          <p:cNvPr id="33" name="Text 29"/>
          <p:cNvSpPr txBox="1"/>
          <p:nvPr/>
        </p:nvSpPr>
        <p:spPr>
          <a:xfrm>
            <a:off x="7285939" y="6305702"/>
            <a:ext cx="1181405"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平均客単価 (High) →</a:t>
            </a:r>
            <a:endParaRPr lang="en-US" sz="900" dirty="0"/>
          </a:p>
        </p:txBody>
      </p:sp>
      <p:sp>
        <p:nvSpPr>
          <p:cNvPr id="34" name="Shape 30"/>
          <p:cNvSpPr/>
          <p:nvPr/>
        </p:nvSpPr>
        <p:spPr>
          <a:xfrm>
            <a:off x="771754" y="6314846"/>
            <a:ext cx="1209751" cy="152705"/>
          </a:xfrm>
          <a:prstGeom prst="roundRect">
            <a:avLst>
              <a:gd name="adj" fmla="val 149700"/>
            </a:avLst>
          </a:prstGeom>
          <a:solidFill>
            <a:srgbClr val="FFFFFF"/>
          </a:solidFill>
          <a:ln/>
        </p:spPr>
      </p:sp>
      <p:sp>
        <p:nvSpPr>
          <p:cNvPr id="35" name="Text 31"/>
          <p:cNvSpPr txBox="1"/>
          <p:nvPr/>
        </p:nvSpPr>
        <p:spPr>
          <a:xfrm>
            <a:off x="847649" y="6305702"/>
            <a:ext cx="1143000"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平均客単価 (Low)</a:t>
            </a:r>
            <a:endParaRPr lang="en-US" sz="900" dirty="0"/>
          </a:p>
        </p:txBody>
      </p:sp>
      <p:sp>
        <p:nvSpPr>
          <p:cNvPr id="36" name="Shape 32"/>
          <p:cNvSpPr/>
          <p:nvPr/>
        </p:nvSpPr>
        <p:spPr>
          <a:xfrm>
            <a:off x="-131674" y="630022"/>
            <a:ext cx="1657807" cy="152705"/>
          </a:xfrm>
          <a:prstGeom prst="roundRect">
            <a:avLst>
              <a:gd name="adj" fmla="val 149700"/>
            </a:avLst>
          </a:prstGeom>
          <a:solidFill>
            <a:srgbClr val="FFFFFF"/>
          </a:solidFill>
          <a:ln/>
        </p:spPr>
      </p:sp>
      <p:sp>
        <p:nvSpPr>
          <p:cNvPr id="37" name="Text 33"/>
          <p:cNvSpPr txBox="1"/>
          <p:nvPr/>
        </p:nvSpPr>
        <p:spPr>
          <a:xfrm>
            <a:off x="609905" y="-44806"/>
            <a:ext cx="247802" cy="1505102"/>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ラグジュアリー・品質重視</a:t>
            </a:r>
            <a:endParaRPr lang="en-US" sz="900" dirty="0"/>
          </a:p>
        </p:txBody>
      </p:sp>
      <p:sp>
        <p:nvSpPr>
          <p:cNvPr id="38" name="Shape 34"/>
          <p:cNvSpPr/>
          <p:nvPr/>
        </p:nvSpPr>
        <p:spPr>
          <a:xfrm>
            <a:off x="-130759" y="4879238"/>
            <a:ext cx="1657807" cy="152705"/>
          </a:xfrm>
          <a:prstGeom prst="roundRect">
            <a:avLst>
              <a:gd name="adj" fmla="val 149700"/>
            </a:avLst>
          </a:prstGeom>
          <a:solidFill>
            <a:srgbClr val="FFFFFF"/>
          </a:solidFill>
          <a:ln/>
        </p:spPr>
      </p:sp>
      <p:sp>
        <p:nvSpPr>
          <p:cNvPr id="39" name="Text 35"/>
          <p:cNvSpPr txBox="1"/>
          <p:nvPr/>
        </p:nvSpPr>
        <p:spPr>
          <a:xfrm>
            <a:off x="609905" y="4205326"/>
            <a:ext cx="247802" cy="1505102"/>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 カジュアル・トレンド重視</a:t>
            </a:r>
            <a:endParaRPr lang="en-US" sz="900" dirty="0"/>
          </a:p>
        </p:txBody>
      </p:sp>
      <p:pic>
        <p:nvPicPr>
          <p:cNvPr id="40" name="Image 2" descr="preencoded.png">    </p:cNvPr>
          <p:cNvPicPr>
            <a:picLocks noChangeAspect="1"/>
          </p:cNvPicPr>
          <p:nvPr/>
        </p:nvPicPr>
        <p:blipFill>
          <a:blip r:embed="rId3"/>
          <a:srcRect l="0" r="0" t="0" b="0"/>
          <a:stretch/>
        </p:blipFill>
        <p:spPr>
          <a:xfrm>
            <a:off x="9077249" y="5538521"/>
            <a:ext cx="114300" cy="114300"/>
          </a:xfrm>
          <a:prstGeom prst="rect">
            <a:avLst/>
          </a:prstGeom>
        </p:spPr>
      </p:pic>
      <p:sp>
        <p:nvSpPr>
          <p:cNvPr id="41" name="Text 36"/>
          <p:cNvSpPr txBox="1"/>
          <p:nvPr/>
        </p:nvSpPr>
        <p:spPr>
          <a:xfrm>
            <a:off x="9229954" y="5505602"/>
            <a:ext cx="905256" cy="162763"/>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OPPORTUNITY</a:t>
            </a:r>
            <a:endParaRPr lang="en-US" sz="900" dirty="0"/>
          </a:p>
        </p:txBody>
      </p:sp>
      <p:sp>
        <p:nvSpPr>
          <p:cNvPr id="42" name="Text 37"/>
          <p:cNvSpPr txBox="1"/>
          <p:nvPr/>
        </p:nvSpPr>
        <p:spPr>
          <a:xfrm>
            <a:off x="9077249" y="5734202"/>
            <a:ext cx="1500530"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「中単価 × 高品質」の</a:t>
            </a:r>
            <a:endParaRPr lang="en-US" sz="1000" dirty="0"/>
          </a:p>
        </p:txBody>
      </p:sp>
      <p:sp>
        <p:nvSpPr>
          <p:cNvPr id="43" name="Text 38"/>
          <p:cNvSpPr txBox="1"/>
          <p:nvPr/>
        </p:nvSpPr>
        <p:spPr>
          <a:xfrm>
            <a:off x="9077249" y="5917082"/>
            <a:ext cx="7671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空白地帯へ</a:t>
            </a:r>
            <a:endParaRPr lang="en-US" sz="1000" dirty="0"/>
          </a:p>
        </p:txBody>
      </p:sp>
      <p:sp>
        <p:nvSpPr>
          <p:cNvPr id="44" name="Text 39"/>
          <p:cNvSpPr txBox="1"/>
          <p:nvPr/>
        </p:nvSpPr>
        <p:spPr>
          <a:xfrm>
            <a:off x="9077249" y="6195974"/>
            <a:ext cx="2410358" cy="7242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渋谷の気軽さを残しつつ、銀座レベルの「髪質改善」を取り入れることで、単価UPと客層拡大を同時に実現できるポテンシャルがあります。</a:t>
            </a:r>
            <a:endParaRPr lang="en-US" sz="900" dirty="0"/>
          </a:p>
        </p:txBody>
      </p:sp>
      <p:sp>
        <p:nvSpPr>
          <p:cNvPr id="45" name="Shape 40"/>
          <p:cNvSpPr/>
          <p:nvPr/>
        </p:nvSpPr>
        <p:spPr>
          <a:xfrm>
            <a:off x="0" y="0"/>
            <a:ext cx="12191695" cy="761695"/>
          </a:xfrm>
          <a:prstGeom prst="rect">
            <a:avLst/>
          </a:prstGeom>
          <a:solidFill>
            <a:srgbClr val="FFFFFF"/>
          </a:solidFill>
          <a:ln/>
        </p:spPr>
      </p:sp>
      <p:sp>
        <p:nvSpPr>
          <p:cNvPr id="46" name="Shape 41"/>
          <p:cNvSpPr/>
          <p:nvPr/>
        </p:nvSpPr>
        <p:spPr>
          <a:xfrm>
            <a:off x="0" y="752551"/>
            <a:ext cx="12191695" cy="9144"/>
          </a:xfrm>
          <a:prstGeom prst="rect">
            <a:avLst/>
          </a:prstGeom>
          <a:solidFill>
            <a:srgbClr val="F3F4F6"/>
          </a:solidFill>
          <a:ln/>
        </p:spPr>
      </p:sp>
      <p:sp>
        <p:nvSpPr>
          <p:cNvPr id="47" name="Shape 42"/>
          <p:cNvSpPr/>
          <p:nvPr/>
        </p:nvSpPr>
        <p:spPr>
          <a:xfrm>
            <a:off x="609905" y="224028"/>
            <a:ext cx="304495" cy="304495"/>
          </a:xfrm>
          <a:prstGeom prst="roundRect">
            <a:avLst>
              <a:gd name="adj" fmla="val 56306"/>
            </a:avLst>
          </a:prstGeom>
          <a:solidFill>
            <a:srgbClr val="1F2937"/>
          </a:solidFill>
          <a:ln/>
        </p:spPr>
      </p:sp>
      <p:pic>
        <p:nvPicPr>
          <p:cNvPr id="48" name="Image 3" descr="preencoded.png">    </p:cNvPr>
          <p:cNvPicPr>
            <a:picLocks noChangeAspect="1"/>
          </p:cNvPicPr>
          <p:nvPr/>
        </p:nvPicPr>
        <p:blipFill>
          <a:blip r:embed="rId4"/>
          <a:srcRect l="0" r="0" t="0" b="0"/>
          <a:stretch/>
        </p:blipFill>
        <p:spPr>
          <a:xfrm>
            <a:off x="694944" y="309982"/>
            <a:ext cx="133502" cy="133502"/>
          </a:xfrm>
          <a:prstGeom prst="rect">
            <a:avLst/>
          </a:prstGeom>
        </p:spPr>
      </p:pic>
      <p:sp>
        <p:nvSpPr>
          <p:cNvPr id="49" name="Shape 43"/>
          <p:cNvSpPr/>
          <p:nvPr/>
        </p:nvSpPr>
        <p:spPr>
          <a:xfrm>
            <a:off x="8591702" y="261518"/>
            <a:ext cx="1190549" cy="228600"/>
          </a:xfrm>
          <a:prstGeom prst="roundRect">
            <a:avLst>
              <a:gd name="adj" fmla="val 66667"/>
            </a:avLst>
          </a:prstGeom>
          <a:solidFill>
            <a:srgbClr val="2563EB"/>
          </a:solidFill>
          <a:ln/>
        </p:spPr>
      </p:sp>
      <p:sp>
        <p:nvSpPr>
          <p:cNvPr id="50" name="Text 44"/>
          <p:cNvSpPr txBox="1"/>
          <p:nvPr/>
        </p:nvSpPr>
        <p:spPr>
          <a:xfrm>
            <a:off x="990295" y="280721"/>
            <a:ext cx="1815084"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AREA POSITIONING MAP</a:t>
            </a:r>
            <a:endParaRPr lang="en-US" sz="1000" dirty="0"/>
          </a:p>
        </p:txBody>
      </p:sp>
      <p:sp>
        <p:nvSpPr>
          <p:cNvPr id="51" name="Text 45"/>
          <p:cNvSpPr txBox="1"/>
          <p:nvPr/>
        </p:nvSpPr>
        <p:spPr>
          <a:xfrm>
            <a:off x="8706002" y="290779"/>
            <a:ext cx="1047902"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Market Overview</a:t>
            </a:r>
            <a:endParaRPr lang="en-US" sz="900" dirty="0"/>
          </a:p>
        </p:txBody>
      </p:sp>
      <p:sp>
        <p:nvSpPr>
          <p:cNvPr id="52" name="Text 46"/>
          <p:cNvSpPr txBox="1"/>
          <p:nvPr/>
        </p:nvSpPr>
        <p:spPr>
          <a:xfrm>
            <a:off x="9849002" y="280721"/>
            <a:ext cx="183428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商圏エリア別ポジショニング</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Shape 3"/>
          <p:cNvSpPr/>
          <p:nvPr/>
        </p:nvSpPr>
        <p:spPr>
          <a:xfrm>
            <a:off x="609905" y="1067105"/>
            <a:ext cx="7114946" cy="5486400"/>
          </a:xfrm>
          <a:prstGeom prst="roundRect">
            <a:avLst>
              <a:gd name="adj" fmla="val 463"/>
            </a:avLst>
          </a:prstGeom>
          <a:solidFill>
            <a:srgbClr val="FFFFFF"/>
          </a:solidFill>
          <a:ln w="12700">
            <a:solidFill>
              <a:srgbClr val="FF6B35"/>
            </a:solidFill>
            <a:prstDash val="solid"/>
          </a:ln>
          <a:effectLst>
            <a:outerShdw sx="100000" sy="100000" kx="0" ky="0" algn="bl" rotWithShape="0" blurRad="12700" dist="12700" dir="16200000">
              <a:srgbClr val="000000">
                <a:alpha val="75000"/>
              </a:srgbClr>
            </a:outerShdw>
          </a:effectLst>
        </p:spPr>
      </p:sp>
      <p:sp>
        <p:nvSpPr>
          <p:cNvPr id="6" name="Shape 4"/>
          <p:cNvSpPr/>
          <p:nvPr/>
        </p:nvSpPr>
        <p:spPr>
          <a:xfrm>
            <a:off x="619049" y="1076249"/>
            <a:ext cx="7095744" cy="571500"/>
          </a:xfrm>
          <a:prstGeom prst="rect">
            <a:avLst/>
          </a:prstGeom>
          <a:solidFill>
            <a:srgbClr val="FF6B35"/>
          </a:solidFill>
          <a:ln/>
        </p:spPr>
      </p:sp>
      <p:sp>
        <p:nvSpPr>
          <p:cNvPr id="7" name="Shape 5"/>
          <p:cNvSpPr/>
          <p:nvPr/>
        </p:nvSpPr>
        <p:spPr>
          <a:xfrm>
            <a:off x="847649" y="1248156"/>
            <a:ext cx="1123798" cy="228600"/>
          </a:xfrm>
          <a:prstGeom prst="roundRect">
            <a:avLst>
              <a:gd name="adj" fmla="val 66667"/>
            </a:avLst>
          </a:prstGeom>
          <a:solidFill>
            <a:srgbClr val="FFFFFF"/>
          </a:solidFill>
          <a:ln/>
        </p:spPr>
      </p:sp>
      <p:sp>
        <p:nvSpPr>
          <p:cNvPr id="8" name="Text 6"/>
          <p:cNvSpPr txBox="1"/>
          <p:nvPr/>
        </p:nvSpPr>
        <p:spPr>
          <a:xfrm>
            <a:off x="923544" y="1276502"/>
            <a:ext cx="1057961" cy="162763"/>
          </a:xfrm>
          <a:prstGeom prst="rect">
            <a:avLst/>
          </a:prstGeom>
          <a:noFill/>
          <a:ln/>
        </p:spPr>
        <p:txBody>
          <a:bodyPr wrap="square" lIns="0" tIns="0" rIns="0" bIns="0" rtlCol="0" anchor="ctr"/>
          <a:lstStyle/>
          <a:p>
            <a:pPr algn="l" indent="0" marL="0">
              <a:buNone/>
            </a:pPr>
            <a:r>
              <a:rPr lang="en-US" sz="900" b="1" dirty="0">
                <a:solidFill>
                  <a:srgbClr val="FF6B35"/>
                </a:solidFill>
                <a:latin typeface="Noto Sans JP" pitchFamily="34" charset="0"/>
                <a:ea typeface="Noto Sans JP" pitchFamily="34" charset="-122"/>
                <a:cs typeface="Noto Sans JP" pitchFamily="34" charset="-120"/>
              </a:rPr>
              <a:t>PRIMARY TARGET</a:t>
            </a:r>
            <a:endParaRPr lang="en-US" sz="900" dirty="0"/>
          </a:p>
        </p:txBody>
      </p:sp>
      <p:sp>
        <p:nvSpPr>
          <p:cNvPr id="9" name="Text 7"/>
          <p:cNvSpPr txBox="1"/>
          <p:nvPr/>
        </p:nvSpPr>
        <p:spPr>
          <a:xfrm>
            <a:off x="2085746" y="1218895"/>
            <a:ext cx="1981505"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トレンド追求・Z世代</a:t>
            </a:r>
            <a:endParaRPr lang="en-US" sz="1500" dirty="0"/>
          </a:p>
        </p:txBody>
      </p:sp>
      <p:sp>
        <p:nvSpPr>
          <p:cNvPr id="10" name="Text 8"/>
          <p:cNvSpPr txBox="1"/>
          <p:nvPr/>
        </p:nvSpPr>
        <p:spPr>
          <a:xfrm>
            <a:off x="6479438" y="1266444"/>
            <a:ext cx="1110082" cy="191110"/>
          </a:xfrm>
          <a:prstGeom prst="rect">
            <a:avLst/>
          </a:prstGeom>
          <a:noFill/>
          <a:ln/>
        </p:spPr>
        <p:txBody>
          <a:bodyPr wrap="square" lIns="0" tIns="0" rIns="0" bIns="0" rtlCol="0" anchor="ctr"/>
          <a:lstStyle/>
          <a:p>
            <a:pPr algn="l" indent="0" marL="0">
              <a:buNone/>
            </a:pPr>
            <a:r>
              <a:rPr lang="en-US" sz="1000" dirty="0">
                <a:solidFill>
                  <a:srgbClr val="FFFFFF">
                    <a:alpha val="90000"/>
                  </a:srgbClr>
                </a:solidFill>
                <a:latin typeface="Noto Sans JP" pitchFamily="34" charset="0"/>
                <a:ea typeface="Noto Sans JP" pitchFamily="34" charset="-122"/>
                <a:cs typeface="Noto Sans JP" pitchFamily="34" charset="-120"/>
              </a:rPr>
              <a:t>構成比 推定 70%</a:t>
            </a:r>
            <a:endParaRPr lang="en-US" sz="1000" dirty="0"/>
          </a:p>
        </p:txBody>
      </p:sp>
      <p:sp>
        <p:nvSpPr>
          <p:cNvPr id="11" name="Shape 9"/>
          <p:cNvSpPr/>
          <p:nvPr/>
        </p:nvSpPr>
        <p:spPr>
          <a:xfrm>
            <a:off x="2981858" y="1876349"/>
            <a:ext cx="9144" cy="4438498"/>
          </a:xfrm>
          <a:prstGeom prst="rect">
            <a:avLst/>
          </a:prstGeom>
          <a:solidFill>
            <a:srgbClr val="F3F4F6"/>
          </a:solidFill>
          <a:ln/>
        </p:spPr>
      </p:sp>
      <p:sp>
        <p:nvSpPr>
          <p:cNvPr id="12" name="Shape 10"/>
          <p:cNvSpPr/>
          <p:nvPr/>
        </p:nvSpPr>
        <p:spPr>
          <a:xfrm>
            <a:off x="1189634" y="1876349"/>
            <a:ext cx="1218895" cy="1218895"/>
          </a:xfrm>
          <a:prstGeom prst="roundRect">
            <a:avLst>
              <a:gd name="adj" fmla="val 75019"/>
            </a:avLst>
          </a:prstGeom>
          <a:solidFill>
            <a:srgbClr val="F3F4F6"/>
          </a:solidFill>
          <a:ln/>
        </p:spPr>
      </p:sp>
      <p:pic>
        <p:nvPicPr>
          <p:cNvPr id="13" name="Image 0" descr="preencoded.png">    </p:cNvPr>
          <p:cNvPicPr>
            <a:picLocks noChangeAspect="1"/>
          </p:cNvPicPr>
          <p:nvPr/>
        </p:nvPicPr>
        <p:blipFill>
          <a:blip r:embed="rId1"/>
          <a:srcRect l="-688" r="-688" t="0" b="0"/>
          <a:stretch/>
        </p:blipFill>
        <p:spPr>
          <a:xfrm>
            <a:off x="1618488" y="2200046"/>
            <a:ext cx="362102" cy="571500"/>
          </a:xfrm>
          <a:prstGeom prst="rect">
            <a:avLst/>
          </a:prstGeom>
        </p:spPr>
      </p:pic>
      <p:sp>
        <p:nvSpPr>
          <p:cNvPr id="14" name="Shape 11"/>
          <p:cNvSpPr/>
          <p:nvPr/>
        </p:nvSpPr>
        <p:spPr>
          <a:xfrm>
            <a:off x="2104034" y="2790749"/>
            <a:ext cx="304495" cy="304495"/>
          </a:xfrm>
          <a:prstGeom prst="roundRect">
            <a:avLst>
              <a:gd name="adj" fmla="val 300300"/>
            </a:avLst>
          </a:prstGeom>
          <a:solidFill>
            <a:srgbClr val="F472B6"/>
          </a:solidFill>
          <a:ln w="25400">
            <a:solidFill>
              <a:srgbClr val="FFFFFF"/>
            </a:solidFill>
            <a:prstDash val="solid"/>
          </a:ln>
        </p:spPr>
      </p:sp>
      <p:pic>
        <p:nvPicPr>
          <p:cNvPr id="15" name="Image 1" descr="preencoded.png">    </p:cNvPr>
          <p:cNvPicPr>
            <a:picLocks noChangeAspect="1"/>
          </p:cNvPicPr>
          <p:nvPr/>
        </p:nvPicPr>
        <p:blipFill>
          <a:blip r:embed="rId2"/>
          <a:srcRect l="0" r="0" t="-1100" b="-1100"/>
          <a:stretch/>
        </p:blipFill>
        <p:spPr>
          <a:xfrm>
            <a:off x="2199132" y="2876702"/>
            <a:ext cx="114300" cy="133502"/>
          </a:xfrm>
          <a:prstGeom prst="rect">
            <a:avLst/>
          </a:prstGeom>
        </p:spPr>
      </p:pic>
      <p:sp>
        <p:nvSpPr>
          <p:cNvPr id="16" name="Text 12"/>
          <p:cNvSpPr txBox="1"/>
          <p:nvPr/>
        </p:nvSpPr>
        <p:spPr>
          <a:xfrm>
            <a:off x="1226210" y="3228746"/>
            <a:ext cx="1324051"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F1層 / 学生</a:t>
            </a:r>
            <a:endParaRPr lang="en-US" sz="1800" dirty="0"/>
          </a:p>
        </p:txBody>
      </p:sp>
      <p:sp>
        <p:nvSpPr>
          <p:cNvPr id="17" name="Text 13"/>
          <p:cNvSpPr txBox="1"/>
          <p:nvPr/>
        </p:nvSpPr>
        <p:spPr>
          <a:xfrm>
            <a:off x="1317650" y="3590849"/>
            <a:ext cx="1071677"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18〜24歳・女性</a:t>
            </a:r>
            <a:endParaRPr lang="en-US" sz="1000" dirty="0"/>
          </a:p>
        </p:txBody>
      </p:sp>
      <p:sp>
        <p:nvSpPr>
          <p:cNvPr id="18" name="Text 14"/>
          <p:cNvSpPr txBox="1"/>
          <p:nvPr/>
        </p:nvSpPr>
        <p:spPr>
          <a:xfrm>
            <a:off x="847649" y="3924605"/>
            <a:ext cx="5532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価格感度</a:t>
            </a:r>
            <a:endParaRPr lang="en-US" sz="900" dirty="0"/>
          </a:p>
        </p:txBody>
      </p:sp>
      <p:sp>
        <p:nvSpPr>
          <p:cNvPr id="19" name="Text 15"/>
          <p:cNvSpPr txBox="1"/>
          <p:nvPr/>
        </p:nvSpPr>
        <p:spPr>
          <a:xfrm>
            <a:off x="2067458" y="3924605"/>
            <a:ext cx="771754"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高 (安さ重視)</a:t>
            </a:r>
            <a:endParaRPr lang="en-US" sz="900" dirty="0"/>
          </a:p>
        </p:txBody>
      </p:sp>
      <p:sp>
        <p:nvSpPr>
          <p:cNvPr id="20" name="Shape 16"/>
          <p:cNvSpPr/>
          <p:nvPr/>
        </p:nvSpPr>
        <p:spPr>
          <a:xfrm>
            <a:off x="847649" y="4123944"/>
            <a:ext cx="1904695" cy="75895"/>
          </a:xfrm>
          <a:prstGeom prst="roundRect">
            <a:avLst>
              <a:gd name="adj" fmla="val 602411"/>
            </a:avLst>
          </a:prstGeom>
          <a:solidFill>
            <a:srgbClr val="F3F4F6"/>
          </a:solidFill>
          <a:ln/>
        </p:spPr>
      </p:sp>
      <p:sp>
        <p:nvSpPr>
          <p:cNvPr id="21" name="Shape 17"/>
          <p:cNvSpPr/>
          <p:nvPr/>
        </p:nvSpPr>
        <p:spPr>
          <a:xfrm>
            <a:off x="847649" y="4123944"/>
            <a:ext cx="1714500" cy="75895"/>
          </a:xfrm>
          <a:prstGeom prst="roundRect">
            <a:avLst>
              <a:gd name="adj" fmla="val 602411"/>
            </a:avLst>
          </a:prstGeom>
          <a:solidFill>
            <a:srgbClr val="FF6B35"/>
          </a:solidFill>
          <a:ln/>
        </p:spPr>
      </p:sp>
      <p:sp>
        <p:nvSpPr>
          <p:cNvPr id="22" name="Text 18"/>
          <p:cNvSpPr txBox="1"/>
          <p:nvPr/>
        </p:nvSpPr>
        <p:spPr>
          <a:xfrm>
            <a:off x="847649" y="4304995"/>
            <a:ext cx="7818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トレンド志向</a:t>
            </a:r>
            <a:endParaRPr lang="en-US" sz="900" dirty="0"/>
          </a:p>
        </p:txBody>
      </p:sp>
      <p:sp>
        <p:nvSpPr>
          <p:cNvPr id="23" name="Text 19"/>
          <p:cNvSpPr txBox="1"/>
          <p:nvPr/>
        </p:nvSpPr>
        <p:spPr>
          <a:xfrm>
            <a:off x="2521915" y="4304995"/>
            <a:ext cx="3246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激高</a:t>
            </a:r>
            <a:endParaRPr lang="en-US" sz="900" dirty="0"/>
          </a:p>
        </p:txBody>
      </p:sp>
      <p:sp>
        <p:nvSpPr>
          <p:cNvPr id="24" name="Shape 20"/>
          <p:cNvSpPr/>
          <p:nvPr/>
        </p:nvSpPr>
        <p:spPr>
          <a:xfrm>
            <a:off x="847649" y="4505249"/>
            <a:ext cx="1904695" cy="75895"/>
          </a:xfrm>
          <a:prstGeom prst="roundRect">
            <a:avLst>
              <a:gd name="adj" fmla="val 602411"/>
            </a:avLst>
          </a:prstGeom>
          <a:solidFill>
            <a:srgbClr val="F3F4F6"/>
          </a:solidFill>
          <a:ln/>
        </p:spPr>
      </p:sp>
      <p:sp>
        <p:nvSpPr>
          <p:cNvPr id="25" name="Shape 21"/>
          <p:cNvSpPr/>
          <p:nvPr/>
        </p:nvSpPr>
        <p:spPr>
          <a:xfrm>
            <a:off x="847649" y="4505249"/>
            <a:ext cx="1809598" cy="75895"/>
          </a:xfrm>
          <a:prstGeom prst="roundRect">
            <a:avLst>
              <a:gd name="adj" fmla="val 602411"/>
            </a:avLst>
          </a:prstGeom>
          <a:solidFill>
            <a:srgbClr val="FF6B35"/>
          </a:solidFill>
          <a:ln/>
        </p:spPr>
      </p:sp>
      <p:sp>
        <p:nvSpPr>
          <p:cNvPr id="26" name="Text 22"/>
          <p:cNvSpPr txBox="1"/>
          <p:nvPr/>
        </p:nvSpPr>
        <p:spPr>
          <a:xfrm>
            <a:off x="847649" y="4686300"/>
            <a:ext cx="99121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店舗ロイヤリティ</a:t>
            </a:r>
            <a:endParaRPr lang="en-US" sz="900" dirty="0"/>
          </a:p>
        </p:txBody>
      </p:sp>
      <p:sp>
        <p:nvSpPr>
          <p:cNvPr id="27" name="Text 23"/>
          <p:cNvSpPr txBox="1"/>
          <p:nvPr/>
        </p:nvSpPr>
        <p:spPr>
          <a:xfrm>
            <a:off x="2181758" y="4686300"/>
            <a:ext cx="657454"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低 (移り気)</a:t>
            </a:r>
            <a:endParaRPr lang="en-US" sz="900" dirty="0"/>
          </a:p>
        </p:txBody>
      </p:sp>
      <p:sp>
        <p:nvSpPr>
          <p:cNvPr id="28" name="Shape 24"/>
          <p:cNvSpPr/>
          <p:nvPr/>
        </p:nvSpPr>
        <p:spPr>
          <a:xfrm>
            <a:off x="847649" y="4886554"/>
            <a:ext cx="1904695" cy="75895"/>
          </a:xfrm>
          <a:prstGeom prst="roundRect">
            <a:avLst>
              <a:gd name="adj" fmla="val 602411"/>
            </a:avLst>
          </a:prstGeom>
          <a:solidFill>
            <a:srgbClr val="F3F4F6"/>
          </a:solidFill>
          <a:ln/>
        </p:spPr>
      </p:sp>
      <p:sp>
        <p:nvSpPr>
          <p:cNvPr id="29" name="Shape 25"/>
          <p:cNvSpPr/>
          <p:nvPr/>
        </p:nvSpPr>
        <p:spPr>
          <a:xfrm>
            <a:off x="847649" y="4886554"/>
            <a:ext cx="571500" cy="75895"/>
          </a:xfrm>
          <a:prstGeom prst="roundRect">
            <a:avLst>
              <a:gd name="adj" fmla="val 602411"/>
            </a:avLst>
          </a:prstGeom>
          <a:solidFill>
            <a:srgbClr val="FF6B35"/>
          </a:solidFill>
          <a:ln/>
        </p:spPr>
      </p:sp>
      <p:sp>
        <p:nvSpPr>
          <p:cNvPr id="30" name="Shape 26"/>
          <p:cNvSpPr/>
          <p:nvPr/>
        </p:nvSpPr>
        <p:spPr>
          <a:xfrm>
            <a:off x="3217774" y="1876349"/>
            <a:ext cx="2057400" cy="2333549"/>
          </a:xfrm>
          <a:prstGeom prst="roundRect">
            <a:avLst>
              <a:gd name="adj" fmla="val 2469"/>
            </a:avLst>
          </a:prstGeom>
          <a:solidFill>
            <a:srgbClr val="FDF2F8"/>
          </a:solidFill>
          <a:ln/>
        </p:spPr>
      </p:sp>
      <p:pic>
        <p:nvPicPr>
          <p:cNvPr id="31" name="Image 2" descr="preencoded.png">    </p:cNvPr>
          <p:cNvPicPr>
            <a:picLocks noChangeAspect="1"/>
          </p:cNvPicPr>
          <p:nvPr/>
        </p:nvPicPr>
        <p:blipFill>
          <a:blip r:embed="rId3"/>
          <a:srcRect l="0" r="0" t="0" b="0"/>
          <a:stretch/>
        </p:blipFill>
        <p:spPr>
          <a:xfrm>
            <a:off x="3370478" y="2048256"/>
            <a:ext cx="152705" cy="152705"/>
          </a:xfrm>
          <a:prstGeom prst="rect">
            <a:avLst/>
          </a:prstGeom>
        </p:spPr>
      </p:pic>
      <p:sp>
        <p:nvSpPr>
          <p:cNvPr id="32" name="Text 27"/>
          <p:cNvSpPr txBox="1"/>
          <p:nvPr/>
        </p:nvSpPr>
        <p:spPr>
          <a:xfrm>
            <a:off x="3599078" y="2029054"/>
            <a:ext cx="1167689" cy="191110"/>
          </a:xfrm>
          <a:prstGeom prst="rect">
            <a:avLst/>
          </a:prstGeom>
          <a:noFill/>
          <a:ln/>
        </p:spPr>
        <p:txBody>
          <a:bodyPr wrap="square" lIns="0" tIns="0" rIns="0" bIns="0" rtlCol="0" anchor="ctr"/>
          <a:lstStyle/>
          <a:p>
            <a:pPr algn="l" indent="0" marL="0">
              <a:buNone/>
            </a:pPr>
            <a:r>
              <a:rPr lang="en-US" sz="1000" b="1" dirty="0">
                <a:solidFill>
                  <a:srgbClr val="EC4899"/>
                </a:solidFill>
                <a:latin typeface="Noto Sans JP" pitchFamily="34" charset="0"/>
                <a:ea typeface="Noto Sans JP" pitchFamily="34" charset="-122"/>
                <a:cs typeface="Noto Sans JP" pitchFamily="34" charset="-120"/>
              </a:rPr>
              <a:t>来店動機・ニーズ</a:t>
            </a:r>
            <a:endParaRPr lang="en-US" sz="1000" dirty="0"/>
          </a:p>
        </p:txBody>
      </p:sp>
      <p:sp>
        <p:nvSpPr>
          <p:cNvPr id="33" name="Text 28"/>
          <p:cNvSpPr txBox="1"/>
          <p:nvPr/>
        </p:nvSpPr>
        <p:spPr>
          <a:xfrm>
            <a:off x="3370478" y="22951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●Instagramで見た「あの髪色」になりたい</a:t>
            </a:r>
            <a:endParaRPr lang="en-US" sz="1000" dirty="0"/>
          </a:p>
        </p:txBody>
      </p:sp>
      <p:sp>
        <p:nvSpPr>
          <p:cNvPr id="34" name="Text 29"/>
          <p:cNvSpPr txBox="1"/>
          <p:nvPr/>
        </p:nvSpPr>
        <p:spPr>
          <a:xfrm>
            <a:off x="3370478" y="27523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●バイト代で通える範囲で最大限可愛く</a:t>
            </a:r>
            <a:endParaRPr lang="en-US" sz="1000" dirty="0"/>
          </a:p>
        </p:txBody>
      </p:sp>
      <p:sp>
        <p:nvSpPr>
          <p:cNvPr id="35" name="Text 30"/>
          <p:cNvSpPr txBox="1"/>
          <p:nvPr/>
        </p:nvSpPr>
        <p:spPr>
          <a:xfrm>
            <a:off x="3370478" y="32095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●学校で浮かない程度の透明感が欲しい</a:t>
            </a:r>
            <a:endParaRPr lang="en-US" sz="1000" dirty="0"/>
          </a:p>
        </p:txBody>
      </p:sp>
      <p:sp>
        <p:nvSpPr>
          <p:cNvPr id="36" name="Shape 31"/>
          <p:cNvSpPr/>
          <p:nvPr/>
        </p:nvSpPr>
        <p:spPr>
          <a:xfrm>
            <a:off x="5426964" y="1876349"/>
            <a:ext cx="2057400" cy="2333549"/>
          </a:xfrm>
          <a:prstGeom prst="roundRect">
            <a:avLst>
              <a:gd name="adj" fmla="val 2469"/>
            </a:avLst>
          </a:prstGeom>
          <a:solidFill>
            <a:srgbClr val="EFF6FF"/>
          </a:solidFill>
          <a:ln/>
        </p:spPr>
      </p:sp>
      <p:pic>
        <p:nvPicPr>
          <p:cNvPr id="37" name="Image 3" descr="preencoded.png">    </p:cNvPr>
          <p:cNvPicPr>
            <a:picLocks noChangeAspect="1"/>
          </p:cNvPicPr>
          <p:nvPr/>
        </p:nvPicPr>
        <p:blipFill>
          <a:blip r:embed="rId4"/>
          <a:srcRect l="0" r="0" t="-100" b="-100"/>
          <a:stretch/>
        </p:blipFill>
        <p:spPr>
          <a:xfrm>
            <a:off x="5579669" y="2048256"/>
            <a:ext cx="114300" cy="152705"/>
          </a:xfrm>
          <a:prstGeom prst="rect">
            <a:avLst/>
          </a:prstGeom>
        </p:spPr>
      </p:pic>
      <p:sp>
        <p:nvSpPr>
          <p:cNvPr id="38" name="Text 32"/>
          <p:cNvSpPr txBox="1"/>
          <p:nvPr/>
        </p:nvSpPr>
        <p:spPr>
          <a:xfrm>
            <a:off x="5769864" y="2029054"/>
            <a:ext cx="1034186" cy="191110"/>
          </a:xfrm>
          <a:prstGeom prst="rect">
            <a:avLst/>
          </a:prstGeom>
          <a:noFill/>
          <a:ln/>
        </p:spPr>
        <p:txBody>
          <a:bodyPr wrap="square" lIns="0" tIns="0" rIns="0" bIns="0" rtlCol="0" anchor="ctr"/>
          <a:lstStyle/>
          <a:p>
            <a:pPr algn="l" indent="0" marL="0">
              <a:buNone/>
            </a:pPr>
            <a:r>
              <a:rPr lang="en-US" sz="1000" b="1" dirty="0">
                <a:solidFill>
                  <a:srgbClr val="3B82F6"/>
                </a:solidFill>
                <a:latin typeface="Noto Sans JP" pitchFamily="34" charset="0"/>
                <a:ea typeface="Noto Sans JP" pitchFamily="34" charset="-122"/>
                <a:cs typeface="Noto Sans JP" pitchFamily="34" charset="-120"/>
              </a:rPr>
              <a:t>情報収集・媒体</a:t>
            </a:r>
            <a:endParaRPr lang="en-US" sz="1000" dirty="0"/>
          </a:p>
        </p:txBody>
      </p:sp>
      <p:sp>
        <p:nvSpPr>
          <p:cNvPr id="39" name="Text 33"/>
          <p:cNvSpPr txBox="1"/>
          <p:nvPr/>
        </p:nvSpPr>
        <p:spPr>
          <a:xfrm>
            <a:off x="5579669" y="22951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●Instagram検索 → 保存済み投稿を持参</a:t>
            </a:r>
            <a:endParaRPr lang="en-US" sz="1000" dirty="0"/>
          </a:p>
        </p:txBody>
      </p:sp>
      <p:sp>
        <p:nvSpPr>
          <p:cNvPr id="40" name="Text 34"/>
          <p:cNvSpPr txBox="1"/>
          <p:nvPr/>
        </p:nvSpPr>
        <p:spPr>
          <a:xfrm>
            <a:off x="5579669" y="27523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●TikTokでBefore/After動画を確認</a:t>
            </a:r>
            <a:endParaRPr lang="en-US" sz="1000" dirty="0"/>
          </a:p>
        </p:txBody>
      </p:sp>
      <p:sp>
        <p:nvSpPr>
          <p:cNvPr id="41" name="Text 35"/>
          <p:cNvSpPr txBox="1"/>
          <p:nvPr/>
        </p:nvSpPr>
        <p:spPr>
          <a:xfrm>
            <a:off x="5579669" y="3209544"/>
            <a:ext cx="1853489" cy="381305"/>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●HPBのクーポン価格順でソート</a:t>
            </a:r>
            <a:endParaRPr lang="en-US" sz="1000" dirty="0"/>
          </a:p>
        </p:txBody>
      </p:sp>
      <p:sp>
        <p:nvSpPr>
          <p:cNvPr id="42" name="Shape 36"/>
          <p:cNvSpPr/>
          <p:nvPr/>
        </p:nvSpPr>
        <p:spPr>
          <a:xfrm>
            <a:off x="3217774" y="4362602"/>
            <a:ext cx="4267505" cy="1952244"/>
          </a:xfrm>
          <a:prstGeom prst="roundRect">
            <a:avLst>
              <a:gd name="adj" fmla="val 2742"/>
            </a:avLst>
          </a:prstGeom>
          <a:solidFill>
            <a:srgbClr val="F3F4F6"/>
          </a:solidFill>
          <a:ln/>
        </p:spPr>
      </p:sp>
      <p:pic>
        <p:nvPicPr>
          <p:cNvPr id="43" name="Image 4" descr="preencoded.png">    </p:cNvPr>
          <p:cNvPicPr>
            <a:picLocks noChangeAspect="1"/>
          </p:cNvPicPr>
          <p:nvPr/>
        </p:nvPicPr>
        <p:blipFill>
          <a:blip r:embed="rId5"/>
          <a:srcRect l="0" r="0" t="0" b="0"/>
          <a:stretch/>
        </p:blipFill>
        <p:spPr>
          <a:xfrm>
            <a:off x="3370478" y="4533595"/>
            <a:ext cx="152705" cy="152705"/>
          </a:xfrm>
          <a:prstGeom prst="rect">
            <a:avLst/>
          </a:prstGeom>
        </p:spPr>
      </p:pic>
      <p:sp>
        <p:nvSpPr>
          <p:cNvPr id="44" name="Text 37"/>
          <p:cNvSpPr txBox="1"/>
          <p:nvPr/>
        </p:nvSpPr>
        <p:spPr>
          <a:xfrm>
            <a:off x="3599078" y="4515307"/>
            <a:ext cx="1767535" cy="191110"/>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不満・不安（Pain Points）</a:t>
            </a:r>
            <a:endParaRPr lang="en-US" sz="1000" dirty="0"/>
          </a:p>
        </p:txBody>
      </p:sp>
      <p:sp>
        <p:nvSpPr>
          <p:cNvPr id="45" name="Shape 38"/>
          <p:cNvSpPr/>
          <p:nvPr/>
        </p:nvSpPr>
        <p:spPr>
          <a:xfrm>
            <a:off x="3370478" y="4781398"/>
            <a:ext cx="1904695" cy="914400"/>
          </a:xfrm>
          <a:prstGeom prst="roundRect">
            <a:avLst>
              <a:gd name="adj" fmla="val 4167"/>
            </a:avLst>
          </a:prstGeom>
          <a:solidFill>
            <a:srgbClr val="FFFFFF"/>
          </a:solidFill>
          <a:ln/>
          <a:effectLst>
            <a:outerShdw sx="100000" sy="100000" kx="0" ky="0" algn="bl" rotWithShape="0" blurRad="12700" dist="12700" dir="16200000">
              <a:srgbClr val="000000">
                <a:alpha val="75000"/>
              </a:srgbClr>
            </a:outerShdw>
          </a:effectLst>
        </p:spPr>
      </p:sp>
      <p:sp>
        <p:nvSpPr>
          <p:cNvPr id="46" name="Text 39"/>
          <p:cNvSpPr txBox="1"/>
          <p:nvPr/>
        </p:nvSpPr>
        <p:spPr>
          <a:xfrm>
            <a:off x="3446374" y="4848149"/>
            <a:ext cx="7818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価格への不安</a:t>
            </a:r>
            <a:endParaRPr lang="en-US" sz="900" dirty="0"/>
          </a:p>
        </p:txBody>
      </p:sp>
      <p:sp>
        <p:nvSpPr>
          <p:cNvPr id="47" name="Text 40"/>
          <p:cNvSpPr txBox="1"/>
          <p:nvPr/>
        </p:nvSpPr>
        <p:spPr>
          <a:xfrm>
            <a:off x="3446374" y="5048402"/>
            <a:ext cx="1834286" cy="57150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「ロング料金とかトリートメント追加で結局高くなるのが怖い」</a:t>
            </a:r>
            <a:endParaRPr lang="en-US" sz="1000" dirty="0"/>
          </a:p>
        </p:txBody>
      </p:sp>
      <p:sp>
        <p:nvSpPr>
          <p:cNvPr id="48" name="Shape 41"/>
          <p:cNvSpPr/>
          <p:nvPr/>
        </p:nvSpPr>
        <p:spPr>
          <a:xfrm>
            <a:off x="5426964" y="4781398"/>
            <a:ext cx="1904695" cy="914400"/>
          </a:xfrm>
          <a:prstGeom prst="roundRect">
            <a:avLst>
              <a:gd name="adj" fmla="val 4167"/>
            </a:avLst>
          </a:prstGeom>
          <a:solidFill>
            <a:srgbClr val="FFFFFF"/>
          </a:solidFill>
          <a:ln/>
          <a:effectLst>
            <a:outerShdw sx="100000" sy="100000" kx="0" ky="0" algn="bl" rotWithShape="0" blurRad="12700" dist="12700" dir="16200000">
              <a:srgbClr val="000000">
                <a:alpha val="75000"/>
              </a:srgbClr>
            </a:outerShdw>
          </a:effectLst>
        </p:spPr>
      </p:sp>
      <p:sp>
        <p:nvSpPr>
          <p:cNvPr id="49" name="Text 42"/>
          <p:cNvSpPr txBox="1"/>
          <p:nvPr/>
        </p:nvSpPr>
        <p:spPr>
          <a:xfrm>
            <a:off x="5502859" y="4848149"/>
            <a:ext cx="7818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失敗への恐怖</a:t>
            </a:r>
            <a:endParaRPr lang="en-US" sz="900" dirty="0"/>
          </a:p>
        </p:txBody>
      </p:sp>
      <p:sp>
        <p:nvSpPr>
          <p:cNvPr id="50" name="Text 43"/>
          <p:cNvSpPr txBox="1"/>
          <p:nvPr/>
        </p:nvSpPr>
        <p:spPr>
          <a:xfrm>
            <a:off x="5502859" y="5048402"/>
            <a:ext cx="1834286" cy="571500"/>
          </a:xfrm>
          <a:prstGeom prst="rect">
            <a:avLst/>
          </a:prstGeom>
          <a:noFill/>
          <a:ln/>
        </p:spPr>
        <p:txBody>
          <a:bodyPr wrap="square" lIns="0" tIns="0" rIns="0" bIns="0" rtlCol="0" anchor="ctr"/>
          <a:lstStyle/>
          <a:p>
            <a:pPr algn="l" indent="0" marL="0">
              <a:buNone/>
            </a:pPr>
            <a:r>
              <a:rPr lang="en-US" sz="1000" dirty="0">
                <a:solidFill>
                  <a:srgbClr val="1F2937"/>
                </a:solidFill>
                <a:latin typeface="Noto Sans JP" pitchFamily="34" charset="0"/>
                <a:ea typeface="Noto Sans JP" pitchFamily="34" charset="-122"/>
                <a:cs typeface="Noto Sans JP" pitchFamily="34" charset="-120"/>
              </a:rPr>
              <a:t>「思った色にならなかった時が最悪。口コミ写真は必須チェック」</a:t>
            </a:r>
            <a:endParaRPr lang="en-US" sz="1000" dirty="0"/>
          </a:p>
        </p:txBody>
      </p:sp>
      <p:sp>
        <p:nvSpPr>
          <p:cNvPr id="51" name="Shape 44"/>
          <p:cNvSpPr/>
          <p:nvPr/>
        </p:nvSpPr>
        <p:spPr>
          <a:xfrm>
            <a:off x="8026603" y="1067105"/>
            <a:ext cx="3562502" cy="3819449"/>
          </a:xfrm>
          <a:prstGeom prst="roundRect">
            <a:avLst>
              <a:gd name="adj" fmla="val 1098"/>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52" name="Shape 45"/>
          <p:cNvSpPr/>
          <p:nvPr/>
        </p:nvSpPr>
        <p:spPr>
          <a:xfrm>
            <a:off x="8264347" y="2162556"/>
            <a:ext cx="3086100" cy="9144"/>
          </a:xfrm>
          <a:prstGeom prst="rect">
            <a:avLst/>
          </a:prstGeom>
          <a:solidFill>
            <a:srgbClr val="F3F4F6"/>
          </a:solidFill>
          <a:ln/>
        </p:spPr>
      </p:sp>
      <p:sp>
        <p:nvSpPr>
          <p:cNvPr id="53" name="Shape 46"/>
          <p:cNvSpPr/>
          <p:nvPr/>
        </p:nvSpPr>
        <p:spPr>
          <a:xfrm>
            <a:off x="8264347" y="1324051"/>
            <a:ext cx="857707" cy="228600"/>
          </a:xfrm>
          <a:prstGeom prst="roundRect">
            <a:avLst>
              <a:gd name="adj" fmla="val 66667"/>
            </a:avLst>
          </a:prstGeom>
          <a:solidFill>
            <a:srgbClr val="F3F4F6"/>
          </a:solidFill>
          <a:ln/>
        </p:spPr>
      </p:sp>
      <p:sp>
        <p:nvSpPr>
          <p:cNvPr id="54" name="Text 47"/>
          <p:cNvSpPr txBox="1"/>
          <p:nvPr/>
        </p:nvSpPr>
        <p:spPr>
          <a:xfrm>
            <a:off x="8341157" y="1352398"/>
            <a:ext cx="790956"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SUB TARGET</a:t>
            </a:r>
            <a:endParaRPr lang="en-US" sz="900" dirty="0"/>
          </a:p>
        </p:txBody>
      </p:sp>
      <p:sp>
        <p:nvSpPr>
          <p:cNvPr id="55" name="Text 48"/>
          <p:cNvSpPr txBox="1"/>
          <p:nvPr/>
        </p:nvSpPr>
        <p:spPr>
          <a:xfrm>
            <a:off x="8264347" y="1600200"/>
            <a:ext cx="23582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平日夜のビジネス層・メンズ</a:t>
            </a:r>
            <a:endParaRPr lang="en-US" sz="1300" dirty="0"/>
          </a:p>
        </p:txBody>
      </p:sp>
      <p:sp>
        <p:nvSpPr>
          <p:cNvPr id="56" name="Text 49"/>
          <p:cNvSpPr txBox="1"/>
          <p:nvPr/>
        </p:nvSpPr>
        <p:spPr>
          <a:xfrm>
            <a:off x="8264347" y="1848002"/>
            <a:ext cx="943661"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構成比 推定 20%</a:t>
            </a:r>
            <a:endParaRPr lang="en-US" sz="900" dirty="0"/>
          </a:p>
        </p:txBody>
      </p:sp>
      <p:sp>
        <p:nvSpPr>
          <p:cNvPr id="57" name="Shape 50"/>
          <p:cNvSpPr/>
          <p:nvPr/>
        </p:nvSpPr>
        <p:spPr>
          <a:xfrm>
            <a:off x="10886846" y="1429207"/>
            <a:ext cx="457200" cy="457200"/>
          </a:xfrm>
          <a:prstGeom prst="roundRect">
            <a:avLst>
              <a:gd name="adj" fmla="val 200000"/>
            </a:avLst>
          </a:prstGeom>
          <a:solidFill>
            <a:srgbClr val="F3F4F6"/>
          </a:solidFill>
          <a:ln/>
        </p:spPr>
      </p:sp>
      <p:pic>
        <p:nvPicPr>
          <p:cNvPr id="58" name="Image 5" descr="preencoded.png">    </p:cNvPr>
          <p:cNvPicPr>
            <a:picLocks noChangeAspect="1"/>
          </p:cNvPicPr>
          <p:nvPr/>
        </p:nvPicPr>
        <p:blipFill>
          <a:blip r:embed="rId6"/>
          <a:srcRect l="-1648" r="-1648" t="0" b="0"/>
          <a:stretch/>
        </p:blipFill>
        <p:spPr>
          <a:xfrm>
            <a:off x="11030407" y="1561795"/>
            <a:ext cx="171907" cy="190195"/>
          </a:xfrm>
          <a:prstGeom prst="rect">
            <a:avLst/>
          </a:prstGeom>
        </p:spPr>
      </p:pic>
      <p:sp>
        <p:nvSpPr>
          <p:cNvPr id="59" name="Text 51"/>
          <p:cNvSpPr txBox="1"/>
          <p:nvPr/>
        </p:nvSpPr>
        <p:spPr>
          <a:xfrm>
            <a:off x="8264347" y="2314346"/>
            <a:ext cx="80010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CORE NEEDS</a:t>
            </a:r>
            <a:endParaRPr lang="en-US" sz="900" dirty="0"/>
          </a:p>
        </p:txBody>
      </p:sp>
      <p:sp>
        <p:nvSpPr>
          <p:cNvPr id="60" name="Shape 52"/>
          <p:cNvSpPr/>
          <p:nvPr/>
        </p:nvSpPr>
        <p:spPr>
          <a:xfrm>
            <a:off x="8264347" y="2553005"/>
            <a:ext cx="685800" cy="200254"/>
          </a:xfrm>
          <a:prstGeom prst="roundRect">
            <a:avLst>
              <a:gd name="adj" fmla="val 456620"/>
            </a:avLst>
          </a:prstGeom>
          <a:solidFill>
            <a:srgbClr val="EFF6FF"/>
          </a:solidFill>
          <a:ln/>
        </p:spPr>
      </p:sp>
      <p:sp>
        <p:nvSpPr>
          <p:cNvPr id="61" name="Text 53"/>
          <p:cNvSpPr txBox="1"/>
          <p:nvPr/>
        </p:nvSpPr>
        <p:spPr>
          <a:xfrm>
            <a:off x="8360359" y="2572207"/>
            <a:ext cx="576072" cy="152705"/>
          </a:xfrm>
          <a:prstGeom prst="rect">
            <a:avLst/>
          </a:prstGeom>
          <a:noFill/>
          <a:ln/>
        </p:spPr>
        <p:txBody>
          <a:bodyPr wrap="square" lIns="0" tIns="0" rIns="0" bIns="0" rtlCol="0" anchor="ctr"/>
          <a:lstStyle/>
          <a:p>
            <a:pPr algn="l" indent="0" marL="0">
              <a:buNone/>
            </a:pPr>
            <a:r>
              <a:rPr lang="en-US" sz="800" b="1" dirty="0">
                <a:solidFill>
                  <a:srgbClr val="2563EB"/>
                </a:solidFill>
                <a:latin typeface="Noto Sans JP" pitchFamily="34" charset="0"/>
                <a:ea typeface="Noto Sans JP" pitchFamily="34" charset="-122"/>
                <a:cs typeface="Noto Sans JP" pitchFamily="34" charset="-120"/>
              </a:rPr>
              <a:t>#仕事帰り</a:t>
            </a:r>
            <a:endParaRPr lang="en-US" sz="800" dirty="0"/>
          </a:p>
        </p:txBody>
      </p:sp>
      <p:sp>
        <p:nvSpPr>
          <p:cNvPr id="62" name="Shape 54"/>
          <p:cNvSpPr/>
          <p:nvPr/>
        </p:nvSpPr>
        <p:spPr>
          <a:xfrm>
            <a:off x="9020556" y="2553005"/>
            <a:ext cx="466344" cy="200254"/>
          </a:xfrm>
          <a:prstGeom prst="roundRect">
            <a:avLst>
              <a:gd name="adj" fmla="val 456620"/>
            </a:avLst>
          </a:prstGeom>
          <a:solidFill>
            <a:srgbClr val="EFF6FF"/>
          </a:solidFill>
          <a:ln/>
        </p:spPr>
      </p:sp>
      <p:sp>
        <p:nvSpPr>
          <p:cNvPr id="63" name="Text 55"/>
          <p:cNvSpPr txBox="1"/>
          <p:nvPr/>
        </p:nvSpPr>
        <p:spPr>
          <a:xfrm>
            <a:off x="9115654" y="2572207"/>
            <a:ext cx="356616" cy="152705"/>
          </a:xfrm>
          <a:prstGeom prst="rect">
            <a:avLst/>
          </a:prstGeom>
          <a:noFill/>
          <a:ln/>
        </p:spPr>
        <p:txBody>
          <a:bodyPr wrap="square" lIns="0" tIns="0" rIns="0" bIns="0" rtlCol="0" anchor="ctr"/>
          <a:lstStyle/>
          <a:p>
            <a:pPr algn="l" indent="0" marL="0">
              <a:buNone/>
            </a:pPr>
            <a:r>
              <a:rPr lang="en-US" sz="800" b="1" dirty="0">
                <a:solidFill>
                  <a:srgbClr val="2563EB"/>
                </a:solidFill>
                <a:latin typeface="Noto Sans JP" pitchFamily="34" charset="0"/>
                <a:ea typeface="Noto Sans JP" pitchFamily="34" charset="-122"/>
                <a:cs typeface="Noto Sans JP" pitchFamily="34" charset="-120"/>
              </a:rPr>
              <a:t>#時短</a:t>
            </a:r>
            <a:endParaRPr lang="en-US" sz="800" dirty="0"/>
          </a:p>
        </p:txBody>
      </p:sp>
      <p:sp>
        <p:nvSpPr>
          <p:cNvPr id="64" name="Shape 56"/>
          <p:cNvSpPr/>
          <p:nvPr/>
        </p:nvSpPr>
        <p:spPr>
          <a:xfrm>
            <a:off x="9563710" y="2553005"/>
            <a:ext cx="580644" cy="200254"/>
          </a:xfrm>
          <a:prstGeom prst="roundRect">
            <a:avLst>
              <a:gd name="adj" fmla="val 456620"/>
            </a:avLst>
          </a:prstGeom>
          <a:solidFill>
            <a:srgbClr val="EFF6FF"/>
          </a:solidFill>
          <a:ln/>
        </p:spPr>
      </p:sp>
      <p:sp>
        <p:nvSpPr>
          <p:cNvPr id="65" name="Text 57"/>
          <p:cNvSpPr txBox="1"/>
          <p:nvPr/>
        </p:nvSpPr>
        <p:spPr>
          <a:xfrm>
            <a:off x="9658807" y="2572207"/>
            <a:ext cx="470916" cy="152705"/>
          </a:xfrm>
          <a:prstGeom prst="rect">
            <a:avLst/>
          </a:prstGeom>
          <a:noFill/>
          <a:ln/>
        </p:spPr>
        <p:txBody>
          <a:bodyPr wrap="square" lIns="0" tIns="0" rIns="0" bIns="0" rtlCol="0" anchor="ctr"/>
          <a:lstStyle/>
          <a:p>
            <a:pPr algn="l" indent="0" marL="0">
              <a:buNone/>
            </a:pPr>
            <a:r>
              <a:rPr lang="en-US" sz="800" b="1" dirty="0">
                <a:solidFill>
                  <a:srgbClr val="2563EB"/>
                </a:solidFill>
                <a:latin typeface="Noto Sans JP" pitchFamily="34" charset="0"/>
                <a:ea typeface="Noto Sans JP" pitchFamily="34" charset="-122"/>
                <a:cs typeface="Noto Sans JP" pitchFamily="34" charset="-120"/>
              </a:rPr>
              <a:t>#清潔感</a:t>
            </a:r>
            <a:endParaRPr lang="en-US" sz="800" dirty="0"/>
          </a:p>
        </p:txBody>
      </p:sp>
      <p:sp>
        <p:nvSpPr>
          <p:cNvPr id="66" name="Shape 58"/>
          <p:cNvSpPr/>
          <p:nvPr/>
        </p:nvSpPr>
        <p:spPr>
          <a:xfrm>
            <a:off x="10212934" y="2553005"/>
            <a:ext cx="685800" cy="200254"/>
          </a:xfrm>
          <a:prstGeom prst="roundRect">
            <a:avLst>
              <a:gd name="adj" fmla="val 456620"/>
            </a:avLst>
          </a:prstGeom>
          <a:solidFill>
            <a:srgbClr val="EFF6FF"/>
          </a:solidFill>
          <a:ln/>
        </p:spPr>
      </p:sp>
      <p:sp>
        <p:nvSpPr>
          <p:cNvPr id="67" name="Text 59"/>
          <p:cNvSpPr txBox="1"/>
          <p:nvPr/>
        </p:nvSpPr>
        <p:spPr>
          <a:xfrm>
            <a:off x="10308031" y="2572207"/>
            <a:ext cx="576072" cy="152705"/>
          </a:xfrm>
          <a:prstGeom prst="rect">
            <a:avLst/>
          </a:prstGeom>
          <a:noFill/>
          <a:ln/>
        </p:spPr>
        <p:txBody>
          <a:bodyPr wrap="square" lIns="0" tIns="0" rIns="0" bIns="0" rtlCol="0" anchor="ctr"/>
          <a:lstStyle/>
          <a:p>
            <a:pPr algn="l" indent="0" marL="0">
              <a:buNone/>
            </a:pPr>
            <a:r>
              <a:rPr lang="en-US" sz="800" b="1" dirty="0">
                <a:solidFill>
                  <a:srgbClr val="2563EB"/>
                </a:solidFill>
                <a:latin typeface="Noto Sans JP" pitchFamily="34" charset="0"/>
                <a:ea typeface="Noto Sans JP" pitchFamily="34" charset="-122"/>
                <a:cs typeface="Noto Sans JP" pitchFamily="34" charset="-120"/>
              </a:rPr>
              <a:t>#眉毛ケア</a:t>
            </a:r>
            <a:endParaRPr lang="en-US" sz="800" dirty="0"/>
          </a:p>
        </p:txBody>
      </p:sp>
      <p:sp>
        <p:nvSpPr>
          <p:cNvPr id="68" name="Text 60"/>
          <p:cNvSpPr txBox="1"/>
          <p:nvPr/>
        </p:nvSpPr>
        <p:spPr>
          <a:xfrm>
            <a:off x="8264347" y="2894076"/>
            <a:ext cx="81930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KEY DRIVERS</a:t>
            </a:r>
            <a:endParaRPr lang="en-US" sz="900" dirty="0"/>
          </a:p>
        </p:txBody>
      </p:sp>
      <p:sp>
        <p:nvSpPr>
          <p:cNvPr id="69" name="Text 61"/>
          <p:cNvSpPr txBox="1"/>
          <p:nvPr/>
        </p:nvSpPr>
        <p:spPr>
          <a:xfrm>
            <a:off x="8264347" y="3131820"/>
            <a:ext cx="21195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22時まで営業：残業後でも行ける</a:t>
            </a:r>
            <a:endParaRPr lang="en-US" sz="1000" dirty="0"/>
          </a:p>
        </p:txBody>
      </p:sp>
      <p:sp>
        <p:nvSpPr>
          <p:cNvPr id="70" name="Text 62"/>
          <p:cNvSpPr txBox="1"/>
          <p:nvPr/>
        </p:nvSpPr>
        <p:spPr>
          <a:xfrm>
            <a:off x="8264347" y="3398825"/>
            <a:ext cx="2100377"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メンズ限定クーポン：選びやすい</a:t>
            </a:r>
            <a:endParaRPr lang="en-US" sz="1000" dirty="0"/>
          </a:p>
        </p:txBody>
      </p:sp>
      <p:sp>
        <p:nvSpPr>
          <p:cNvPr id="71" name="Text 63"/>
          <p:cNvSpPr txBox="1"/>
          <p:nvPr/>
        </p:nvSpPr>
        <p:spPr>
          <a:xfrm>
            <a:off x="8264347" y="3664915"/>
            <a:ext cx="2233879"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会話少なめ：疲れているので静かに</a:t>
            </a:r>
            <a:endParaRPr lang="en-US" sz="1000" dirty="0"/>
          </a:p>
        </p:txBody>
      </p:sp>
      <p:sp>
        <p:nvSpPr>
          <p:cNvPr id="72" name="Shape 64"/>
          <p:cNvSpPr/>
          <p:nvPr/>
        </p:nvSpPr>
        <p:spPr>
          <a:xfrm>
            <a:off x="8026603" y="5038344"/>
            <a:ext cx="3562502" cy="1514246"/>
          </a:xfrm>
          <a:prstGeom prst="roundRect">
            <a:avLst>
              <a:gd name="adj" fmla="val 4557"/>
            </a:avLst>
          </a:prstGeom>
          <a:solidFill>
            <a:srgbClr val="1F2937"/>
          </a:solidFill>
          <a:ln/>
        </p:spPr>
      </p:sp>
      <p:pic>
        <p:nvPicPr>
          <p:cNvPr id="73" name="Image 6" descr="preencoded.png">    </p:cNvPr>
          <p:cNvPicPr>
            <a:picLocks noChangeAspect="1"/>
          </p:cNvPicPr>
          <p:nvPr/>
        </p:nvPicPr>
        <p:blipFill>
          <a:blip r:embed="rId7"/>
          <a:srcRect l="0" r="0" t="-100" b="-100"/>
          <a:stretch/>
        </p:blipFill>
        <p:spPr>
          <a:xfrm>
            <a:off x="8216798" y="5248656"/>
            <a:ext cx="114300" cy="152705"/>
          </a:xfrm>
          <a:prstGeom prst="rect">
            <a:avLst/>
          </a:prstGeom>
        </p:spPr>
      </p:pic>
      <p:sp>
        <p:nvSpPr>
          <p:cNvPr id="74" name="Text 65"/>
          <p:cNvSpPr txBox="1"/>
          <p:nvPr/>
        </p:nvSpPr>
        <p:spPr>
          <a:xfrm>
            <a:off x="8407908" y="5229454"/>
            <a:ext cx="1176833"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Strategic Insight</a:t>
            </a:r>
            <a:endParaRPr lang="en-US" sz="1000" dirty="0"/>
          </a:p>
        </p:txBody>
      </p:sp>
      <p:sp>
        <p:nvSpPr>
          <p:cNvPr id="75" name="Text 66"/>
          <p:cNvSpPr txBox="1"/>
          <p:nvPr/>
        </p:nvSpPr>
        <p:spPr>
          <a:xfrm>
            <a:off x="8216798" y="5505602"/>
            <a:ext cx="3186684" cy="848563"/>
          </a:xfrm>
          <a:prstGeom prst="rect">
            <a:avLst/>
          </a:prstGeom>
          <a:noFill/>
          <a:ln/>
        </p:spPr>
        <p:txBody>
          <a:bodyPr wrap="square" lIns="0" tIns="0" rIns="0" bIns="0" rtlCol="0" anchor="ctr"/>
          <a:lstStyle/>
          <a:p>
            <a:pPr algn="l" indent="0" marL="0">
              <a:buNone/>
            </a:pPr>
            <a:r>
              <a:rPr lang="en-US" sz="1000" dirty="0">
                <a:solidFill>
                  <a:srgbClr val="D1D5DB"/>
                </a:solidFill>
                <a:latin typeface="Noto Sans JP" pitchFamily="34" charset="0"/>
                <a:ea typeface="Noto Sans JP" pitchFamily="34" charset="-122"/>
                <a:cs typeface="Noto Sans JP" pitchFamily="34" charset="-120"/>
              </a:rPr>
              <a:t>Siena渋谷の成功要因は、「平日昼〜夕方の学生層」と「平日夜のビジネス層」で稼働時間の隙間を埋めている点にあります。 新規提案においても、この「タイムミックス戦略」を模倣すべきです。</a:t>
            </a:r>
            <a:endParaRPr lang="en-US" sz="1000" dirty="0"/>
          </a:p>
        </p:txBody>
      </p:sp>
      <p:sp>
        <p:nvSpPr>
          <p:cNvPr id="76" name="Shape 67"/>
          <p:cNvSpPr/>
          <p:nvPr/>
        </p:nvSpPr>
        <p:spPr>
          <a:xfrm>
            <a:off x="0" y="0"/>
            <a:ext cx="12191695" cy="761695"/>
          </a:xfrm>
          <a:prstGeom prst="rect">
            <a:avLst/>
          </a:prstGeom>
          <a:solidFill>
            <a:srgbClr val="FFFFFF"/>
          </a:solidFill>
          <a:ln/>
        </p:spPr>
      </p:sp>
      <p:sp>
        <p:nvSpPr>
          <p:cNvPr id="77" name="Shape 68"/>
          <p:cNvSpPr/>
          <p:nvPr/>
        </p:nvSpPr>
        <p:spPr>
          <a:xfrm>
            <a:off x="0" y="752551"/>
            <a:ext cx="12191695" cy="9144"/>
          </a:xfrm>
          <a:prstGeom prst="rect">
            <a:avLst/>
          </a:prstGeom>
          <a:solidFill>
            <a:srgbClr val="F3F4F6"/>
          </a:solidFill>
          <a:ln/>
        </p:spPr>
      </p:sp>
      <p:sp>
        <p:nvSpPr>
          <p:cNvPr id="78" name="Shape 69"/>
          <p:cNvSpPr/>
          <p:nvPr/>
        </p:nvSpPr>
        <p:spPr>
          <a:xfrm>
            <a:off x="609905" y="224028"/>
            <a:ext cx="304495" cy="304495"/>
          </a:xfrm>
          <a:prstGeom prst="roundRect">
            <a:avLst>
              <a:gd name="adj" fmla="val 56306"/>
            </a:avLst>
          </a:prstGeom>
          <a:solidFill>
            <a:srgbClr val="FF6B35"/>
          </a:solidFill>
          <a:ln/>
        </p:spPr>
      </p:sp>
      <p:pic>
        <p:nvPicPr>
          <p:cNvPr id="79" name="Image 7" descr="preencoded.png">    </p:cNvPr>
          <p:cNvPicPr>
            <a:picLocks noChangeAspect="1"/>
          </p:cNvPicPr>
          <p:nvPr/>
        </p:nvPicPr>
        <p:blipFill>
          <a:blip r:embed="rId8"/>
          <a:srcRect l="-1507" r="-1507" t="0" b="0"/>
          <a:stretch/>
        </p:blipFill>
        <p:spPr>
          <a:xfrm>
            <a:off x="676656" y="309982"/>
            <a:ext cx="171907" cy="133502"/>
          </a:xfrm>
          <a:prstGeom prst="rect">
            <a:avLst/>
          </a:prstGeom>
        </p:spPr>
      </p:pic>
      <p:sp>
        <p:nvSpPr>
          <p:cNvPr id="80" name="Text 70"/>
          <p:cNvSpPr txBox="1"/>
          <p:nvPr/>
        </p:nvSpPr>
        <p:spPr>
          <a:xfrm>
            <a:off x="990295" y="280721"/>
            <a:ext cx="2129638"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TARGET AUDIENCE ANALYSIS</a:t>
            </a:r>
            <a:endParaRPr lang="en-US" sz="1000" dirty="0"/>
          </a:p>
        </p:txBody>
      </p:sp>
      <p:sp>
        <p:nvSpPr>
          <p:cNvPr id="81" name="Text 71"/>
          <p:cNvSpPr txBox="1"/>
          <p:nvPr/>
        </p:nvSpPr>
        <p:spPr>
          <a:xfrm>
            <a:off x="10248595" y="280721"/>
            <a:ext cx="143377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ターゲット客層の推定</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37844"/>
            <a:ext cx="4476902"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競合が手薄な 3つの「ブルーオーシャン」</a:t>
            </a:r>
            <a:endParaRPr lang="en-US" sz="1800" dirty="0"/>
          </a:p>
        </p:txBody>
      </p:sp>
      <p:sp>
        <p:nvSpPr>
          <p:cNvPr id="6" name="Text 4"/>
          <p:cNvSpPr txBox="1"/>
          <p:nvPr/>
        </p:nvSpPr>
        <p:spPr>
          <a:xfrm>
            <a:off x="609905" y="1429207"/>
            <a:ext cx="36246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既存の「低価格トレンド」ゾーンは激戦区（Red Ocean）。</a:t>
            </a:r>
            <a:endParaRPr lang="en-US" sz="1000" dirty="0"/>
          </a:p>
        </p:txBody>
      </p:sp>
      <p:sp>
        <p:nvSpPr>
          <p:cNvPr id="7" name="Text 5"/>
          <p:cNvSpPr txBox="1"/>
          <p:nvPr/>
        </p:nvSpPr>
        <p:spPr>
          <a:xfrm>
            <a:off x="609905" y="1619402"/>
            <a:ext cx="469178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Sienaの強みを活かしつつ、競合がカバーしきれていない領域へ展開します。</a:t>
            </a:r>
            <a:endParaRPr lang="en-US" sz="1000" dirty="0"/>
          </a:p>
        </p:txBody>
      </p:sp>
      <p:sp>
        <p:nvSpPr>
          <p:cNvPr id="8" name="Shape 6"/>
          <p:cNvSpPr/>
          <p:nvPr/>
        </p:nvSpPr>
        <p:spPr>
          <a:xfrm>
            <a:off x="609905" y="2038198"/>
            <a:ext cx="6181344" cy="4515307"/>
          </a:xfrm>
          <a:prstGeom prst="roundRect">
            <a:avLst>
              <a:gd name="adj" fmla="val 684"/>
            </a:avLst>
          </a:prstGeom>
          <a:noFill/>
          <a:ln w="12700">
            <a:solidFill>
              <a:srgbClr val="E2E8F0"/>
            </a:solidFill>
            <a:prstDash val="solid"/>
          </a:ln>
        </p:spPr>
      </p:sp>
      <p:sp>
        <p:nvSpPr>
          <p:cNvPr id="9" name="Shape 7"/>
          <p:cNvSpPr/>
          <p:nvPr/>
        </p:nvSpPr>
        <p:spPr>
          <a:xfrm>
            <a:off x="619049" y="4295851"/>
            <a:ext cx="6163056" cy="9144"/>
          </a:xfrm>
          <a:prstGeom prst="rect">
            <a:avLst/>
          </a:prstGeom>
          <a:solidFill>
            <a:srgbClr val="D1D5DB"/>
          </a:solidFill>
          <a:ln/>
        </p:spPr>
      </p:sp>
      <p:sp>
        <p:nvSpPr>
          <p:cNvPr id="10" name="Shape 8"/>
          <p:cNvSpPr/>
          <p:nvPr/>
        </p:nvSpPr>
        <p:spPr>
          <a:xfrm>
            <a:off x="3698748" y="2048256"/>
            <a:ext cx="9144" cy="4496105"/>
          </a:xfrm>
          <a:prstGeom prst="rect">
            <a:avLst/>
          </a:prstGeom>
          <a:solidFill>
            <a:srgbClr val="D1D5DB"/>
          </a:solidFill>
          <a:ln/>
        </p:spPr>
      </p:sp>
      <p:sp>
        <p:nvSpPr>
          <p:cNvPr id="11" name="Shape 9"/>
          <p:cNvSpPr/>
          <p:nvPr/>
        </p:nvSpPr>
        <p:spPr>
          <a:xfrm>
            <a:off x="923544" y="5020056"/>
            <a:ext cx="1218895" cy="1218895"/>
          </a:xfrm>
          <a:prstGeom prst="ellipse">
            <a:avLst/>
          </a:prstGeom>
          <a:solidFill>
            <a:srgbClr val="EF4444">
              <a:alpha val="10000"/>
            </a:srgbClr>
          </a:solidFill>
          <a:ln w="25400">
            <a:solidFill>
              <a:srgbClr val="EF4444">
                <a:alpha val="20000"/>
              </a:srgbClr>
            </a:solidFill>
            <a:prstDash val="solid"/>
          </a:ln>
        </p:spPr>
      </p:sp>
      <p:sp>
        <p:nvSpPr>
          <p:cNvPr id="12" name="Text 10"/>
          <p:cNvSpPr txBox="1"/>
          <p:nvPr/>
        </p:nvSpPr>
        <p:spPr>
          <a:xfrm>
            <a:off x="1419149" y="5472684"/>
            <a:ext cx="324612" cy="162763"/>
          </a:xfrm>
          <a:prstGeom prst="rect">
            <a:avLst/>
          </a:prstGeom>
          <a:noFill/>
          <a:ln/>
        </p:spPr>
        <p:txBody>
          <a:bodyPr wrap="square" lIns="0" tIns="0" rIns="0" bIns="0" rtlCol="0" anchor="ctr"/>
          <a:lstStyle/>
          <a:p>
            <a:pPr algn="ctr" indent="0" marL="0">
              <a:buNone/>
            </a:pPr>
            <a:r>
              <a:rPr lang="en-US" sz="900" b="1" dirty="0">
                <a:solidFill>
                  <a:srgbClr val="F87171"/>
                </a:solidFill>
                <a:latin typeface="Noto Sans JP" pitchFamily="34" charset="0"/>
                <a:ea typeface="Noto Sans JP" pitchFamily="34" charset="-122"/>
                <a:cs typeface="Noto Sans JP" pitchFamily="34" charset="-120"/>
              </a:rPr>
              <a:t>激安</a:t>
            </a:r>
            <a:endParaRPr lang="en-US" sz="900" dirty="0"/>
          </a:p>
        </p:txBody>
      </p:sp>
      <p:sp>
        <p:nvSpPr>
          <p:cNvPr id="13" name="Text 11"/>
          <p:cNvSpPr txBox="1"/>
          <p:nvPr/>
        </p:nvSpPr>
        <p:spPr>
          <a:xfrm>
            <a:off x="1307592" y="5609844"/>
            <a:ext cx="543154" cy="162763"/>
          </a:xfrm>
          <a:prstGeom prst="rect">
            <a:avLst/>
          </a:prstGeom>
          <a:noFill/>
          <a:ln/>
        </p:spPr>
        <p:txBody>
          <a:bodyPr wrap="square" lIns="0" tIns="0" rIns="0" bIns="0" rtlCol="0" anchor="ctr"/>
          <a:lstStyle/>
          <a:p>
            <a:pPr algn="ctr" indent="0" marL="0">
              <a:buNone/>
            </a:pPr>
            <a:r>
              <a:rPr lang="en-US" sz="900" b="1" dirty="0">
                <a:solidFill>
                  <a:srgbClr val="F87171"/>
                </a:solidFill>
                <a:latin typeface="Noto Sans JP" pitchFamily="34" charset="0"/>
                <a:ea typeface="Noto Sans JP" pitchFamily="34" charset="-122"/>
                <a:cs typeface="Noto Sans JP" pitchFamily="34" charset="-120"/>
              </a:rPr>
              <a:t>チェーン</a:t>
            </a:r>
            <a:endParaRPr lang="en-US" sz="900" dirty="0"/>
          </a:p>
        </p:txBody>
      </p:sp>
      <p:sp>
        <p:nvSpPr>
          <p:cNvPr id="14" name="Shape 12"/>
          <p:cNvSpPr/>
          <p:nvPr/>
        </p:nvSpPr>
        <p:spPr>
          <a:xfrm>
            <a:off x="4949647" y="2352751"/>
            <a:ext cx="1524305" cy="1524305"/>
          </a:xfrm>
          <a:prstGeom prst="ellipse">
            <a:avLst/>
          </a:prstGeom>
          <a:solidFill>
            <a:srgbClr val="EF4444">
              <a:alpha val="10000"/>
            </a:srgbClr>
          </a:solidFill>
          <a:ln w="25400">
            <a:solidFill>
              <a:srgbClr val="EF4444">
                <a:alpha val="20000"/>
              </a:srgbClr>
            </a:solidFill>
            <a:prstDash val="solid"/>
          </a:ln>
        </p:spPr>
      </p:sp>
      <p:sp>
        <p:nvSpPr>
          <p:cNvPr id="15" name="Text 13"/>
          <p:cNvSpPr txBox="1"/>
          <p:nvPr/>
        </p:nvSpPr>
        <p:spPr>
          <a:xfrm>
            <a:off x="5597042" y="2958084"/>
            <a:ext cx="324612" cy="162763"/>
          </a:xfrm>
          <a:prstGeom prst="rect">
            <a:avLst/>
          </a:prstGeom>
          <a:noFill/>
          <a:ln/>
        </p:spPr>
        <p:txBody>
          <a:bodyPr wrap="square" lIns="0" tIns="0" rIns="0" bIns="0" rtlCol="0" anchor="ctr"/>
          <a:lstStyle/>
          <a:p>
            <a:pPr algn="ctr" indent="0" marL="0">
              <a:buNone/>
            </a:pPr>
            <a:r>
              <a:rPr lang="en-US" sz="900" b="1" dirty="0">
                <a:solidFill>
                  <a:srgbClr val="F87171"/>
                </a:solidFill>
                <a:latin typeface="Noto Sans JP" pitchFamily="34" charset="0"/>
                <a:ea typeface="Noto Sans JP" pitchFamily="34" charset="-122"/>
                <a:cs typeface="Noto Sans JP" pitchFamily="34" charset="-120"/>
              </a:rPr>
              <a:t>高級</a:t>
            </a:r>
            <a:endParaRPr lang="en-US" sz="900" dirty="0"/>
          </a:p>
        </p:txBody>
      </p:sp>
      <p:sp>
        <p:nvSpPr>
          <p:cNvPr id="16" name="Text 14"/>
          <p:cNvSpPr txBox="1"/>
          <p:nvPr/>
        </p:nvSpPr>
        <p:spPr>
          <a:xfrm>
            <a:off x="5426050" y="3095244"/>
            <a:ext cx="667512" cy="162763"/>
          </a:xfrm>
          <a:prstGeom prst="rect">
            <a:avLst/>
          </a:prstGeom>
          <a:noFill/>
          <a:ln/>
        </p:spPr>
        <p:txBody>
          <a:bodyPr wrap="square" lIns="0" tIns="0" rIns="0" bIns="0" rtlCol="0" anchor="ctr"/>
          <a:lstStyle/>
          <a:p>
            <a:pPr algn="ctr" indent="0" marL="0">
              <a:buNone/>
            </a:pPr>
            <a:r>
              <a:rPr lang="en-US" sz="900" b="1" dirty="0">
                <a:solidFill>
                  <a:srgbClr val="F87171"/>
                </a:solidFill>
                <a:latin typeface="Noto Sans JP" pitchFamily="34" charset="0"/>
                <a:ea typeface="Noto Sans JP" pitchFamily="34" charset="-122"/>
                <a:cs typeface="Noto Sans JP" pitchFamily="34" charset="-120"/>
              </a:rPr>
              <a:t>ブランド店</a:t>
            </a:r>
            <a:endParaRPr lang="en-US" sz="900" dirty="0"/>
          </a:p>
        </p:txBody>
      </p:sp>
      <p:sp>
        <p:nvSpPr>
          <p:cNvPr id="17" name="Shape 15"/>
          <p:cNvSpPr/>
          <p:nvPr/>
        </p:nvSpPr>
        <p:spPr>
          <a:xfrm>
            <a:off x="3012948" y="3610051"/>
            <a:ext cx="1371600" cy="1371600"/>
          </a:xfrm>
          <a:prstGeom prst="ellipse">
            <a:avLst/>
          </a:prstGeom>
          <a:solidFill>
            <a:srgbClr val="EF4444">
              <a:alpha val="10000"/>
            </a:srgbClr>
          </a:solidFill>
          <a:ln w="25400">
            <a:solidFill>
              <a:srgbClr val="EF4444">
                <a:alpha val="20000"/>
              </a:srgbClr>
            </a:solidFill>
            <a:prstDash val="solid"/>
          </a:ln>
        </p:spPr>
      </p:sp>
      <p:sp>
        <p:nvSpPr>
          <p:cNvPr id="18" name="Text 16"/>
          <p:cNvSpPr txBox="1"/>
          <p:nvPr/>
        </p:nvSpPr>
        <p:spPr>
          <a:xfrm>
            <a:off x="3526841" y="4139489"/>
            <a:ext cx="438912"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現在地</a:t>
            </a:r>
            <a:endParaRPr lang="en-US" sz="900" dirty="0"/>
          </a:p>
        </p:txBody>
      </p:sp>
      <p:sp>
        <p:nvSpPr>
          <p:cNvPr id="19" name="Text 17"/>
          <p:cNvSpPr txBox="1"/>
          <p:nvPr/>
        </p:nvSpPr>
        <p:spPr>
          <a:xfrm>
            <a:off x="3492094" y="4276649"/>
            <a:ext cx="505663"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(Siena)</a:t>
            </a:r>
            <a:endParaRPr lang="en-US" sz="900" dirty="0"/>
          </a:p>
        </p:txBody>
      </p:sp>
      <p:sp>
        <p:nvSpPr>
          <p:cNvPr id="20" name="Shape 18"/>
          <p:cNvSpPr/>
          <p:nvPr/>
        </p:nvSpPr>
        <p:spPr>
          <a:xfrm>
            <a:off x="7168896" y="1233526"/>
            <a:ext cx="4419295" cy="1591056"/>
          </a:xfrm>
          <a:prstGeom prst="roundRect">
            <a:avLst>
              <a:gd name="adj" fmla="val 413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pic>
        <p:nvPicPr>
          <p:cNvPr id="21" name="Image 0" descr="preencoded.png">    </p:cNvPr>
          <p:cNvPicPr>
            <a:picLocks noChangeAspect="1"/>
          </p:cNvPicPr>
          <p:nvPr/>
        </p:nvPicPr>
        <p:blipFill>
          <a:blip r:embed="rId1">
            <a:alphaModFix amt="10000"/>
          </a:blip>
          <a:srcRect l="0" r="0" t="0" b="0"/>
          <a:stretch/>
        </p:blipFill>
        <p:spPr>
          <a:xfrm>
            <a:off x="10886846" y="1356970"/>
            <a:ext cx="571500" cy="571500"/>
          </a:xfrm>
          <a:prstGeom prst="rect">
            <a:avLst/>
          </a:prstGeom>
        </p:spPr>
      </p:pic>
      <p:sp>
        <p:nvSpPr>
          <p:cNvPr id="22" name="Text 19"/>
          <p:cNvSpPr txBox="1"/>
          <p:nvPr/>
        </p:nvSpPr>
        <p:spPr>
          <a:xfrm>
            <a:off x="7505395" y="1471270"/>
            <a:ext cx="2103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1</a:t>
            </a:r>
            <a:endParaRPr lang="en-US" sz="1200" dirty="0"/>
          </a:p>
        </p:txBody>
      </p:sp>
      <p:sp>
        <p:nvSpPr>
          <p:cNvPr id="23" name="Text 20"/>
          <p:cNvSpPr txBox="1"/>
          <p:nvPr/>
        </p:nvSpPr>
        <p:spPr>
          <a:xfrm>
            <a:off x="7817206" y="1462126"/>
            <a:ext cx="27011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中価格×高品質の持続型髪質改善</a:t>
            </a:r>
            <a:endParaRPr lang="en-US" sz="1300" dirty="0"/>
          </a:p>
        </p:txBody>
      </p:sp>
      <p:sp>
        <p:nvSpPr>
          <p:cNvPr id="24" name="Text 21"/>
          <p:cNvSpPr txBox="1"/>
          <p:nvPr/>
        </p:nvSpPr>
        <p:spPr>
          <a:xfrm>
            <a:off x="7397496" y="1824228"/>
            <a:ext cx="3905402" cy="352958"/>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1.5万円以上の高級店か、簡易的なトリートメントのみの安価店が多い中、「8,000円〜1万円台で通える本格ケア」が空白地帯。</a:t>
            </a:r>
            <a:endParaRPr lang="en-US" sz="900" dirty="0"/>
          </a:p>
        </p:txBody>
      </p:sp>
      <p:sp>
        <p:nvSpPr>
          <p:cNvPr id="25" name="Shape 22"/>
          <p:cNvSpPr/>
          <p:nvPr/>
        </p:nvSpPr>
        <p:spPr>
          <a:xfrm>
            <a:off x="7397496" y="2309774"/>
            <a:ext cx="638251" cy="304495"/>
          </a:xfrm>
          <a:prstGeom prst="roundRect">
            <a:avLst>
              <a:gd name="adj" fmla="val 37538"/>
            </a:avLst>
          </a:prstGeom>
          <a:solidFill>
            <a:srgbClr val="F3F4F6"/>
          </a:solidFill>
          <a:ln/>
        </p:spPr>
      </p:sp>
      <p:sp>
        <p:nvSpPr>
          <p:cNvPr id="26" name="Text 23"/>
          <p:cNvSpPr txBox="1"/>
          <p:nvPr/>
        </p:nvSpPr>
        <p:spPr>
          <a:xfrm>
            <a:off x="7474306" y="2348179"/>
            <a:ext cx="600761"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TOKIO</a:t>
            </a:r>
            <a:endParaRPr lang="en-US" sz="1200" dirty="0"/>
          </a:p>
        </p:txBody>
      </p:sp>
      <p:sp>
        <p:nvSpPr>
          <p:cNvPr id="27" name="Shape 24"/>
          <p:cNvSpPr/>
          <p:nvPr/>
        </p:nvSpPr>
        <p:spPr>
          <a:xfrm>
            <a:off x="8106156" y="2309774"/>
            <a:ext cx="657454" cy="304495"/>
          </a:xfrm>
          <a:prstGeom prst="roundRect">
            <a:avLst>
              <a:gd name="adj" fmla="val 37538"/>
            </a:avLst>
          </a:prstGeom>
          <a:solidFill>
            <a:srgbClr val="F3F4F6"/>
          </a:solidFill>
          <a:ln/>
        </p:spPr>
      </p:sp>
      <p:sp>
        <p:nvSpPr>
          <p:cNvPr id="28" name="Text 25"/>
          <p:cNvSpPr txBox="1"/>
          <p:nvPr/>
        </p:nvSpPr>
        <p:spPr>
          <a:xfrm>
            <a:off x="8182051" y="2348179"/>
            <a:ext cx="619963"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酸熱TR</a:t>
            </a:r>
            <a:endParaRPr lang="en-US" sz="1200" dirty="0"/>
          </a:p>
        </p:txBody>
      </p:sp>
      <p:sp>
        <p:nvSpPr>
          <p:cNvPr id="29" name="Shape 26"/>
          <p:cNvSpPr/>
          <p:nvPr/>
        </p:nvSpPr>
        <p:spPr>
          <a:xfrm>
            <a:off x="8838590" y="2300630"/>
            <a:ext cx="1000354" cy="323698"/>
          </a:xfrm>
          <a:prstGeom prst="roundRect">
            <a:avLst>
              <a:gd name="adj" fmla="val 33234"/>
            </a:avLst>
          </a:prstGeom>
          <a:noFill/>
          <a:ln w="12700">
            <a:solidFill>
              <a:srgbClr val="E5E7EB"/>
            </a:solidFill>
            <a:prstDash val="solid"/>
          </a:ln>
        </p:spPr>
      </p:sp>
      <p:sp>
        <p:nvSpPr>
          <p:cNvPr id="30" name="Text 27"/>
          <p:cNvSpPr txBox="1"/>
          <p:nvPr/>
        </p:nvSpPr>
        <p:spPr>
          <a:xfrm>
            <a:off x="8924544" y="2348179"/>
            <a:ext cx="9436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単価UP狙い</a:t>
            </a:r>
            <a:endParaRPr lang="en-US" sz="1200" dirty="0"/>
          </a:p>
        </p:txBody>
      </p:sp>
      <p:sp>
        <p:nvSpPr>
          <p:cNvPr id="31" name="Shape 28"/>
          <p:cNvSpPr/>
          <p:nvPr/>
        </p:nvSpPr>
        <p:spPr>
          <a:xfrm>
            <a:off x="7168896" y="3014777"/>
            <a:ext cx="4419295" cy="1591056"/>
          </a:xfrm>
          <a:prstGeom prst="roundRect">
            <a:avLst>
              <a:gd name="adj" fmla="val 413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pic>
        <p:nvPicPr>
          <p:cNvPr id="32" name="Image 1" descr="preencoded.png">    </p:cNvPr>
          <p:cNvPicPr>
            <a:picLocks noChangeAspect="1"/>
          </p:cNvPicPr>
          <p:nvPr/>
        </p:nvPicPr>
        <p:blipFill>
          <a:blip r:embed="rId2">
            <a:alphaModFix amt="10000"/>
          </a:blip>
          <a:srcRect l="0" r="0" t="0" b="0"/>
          <a:stretch/>
        </p:blipFill>
        <p:spPr>
          <a:xfrm>
            <a:off x="10886846" y="3138221"/>
            <a:ext cx="571500" cy="571500"/>
          </a:xfrm>
          <a:prstGeom prst="rect">
            <a:avLst/>
          </a:prstGeom>
        </p:spPr>
      </p:pic>
      <p:sp>
        <p:nvSpPr>
          <p:cNvPr id="33" name="Shape 29"/>
          <p:cNvSpPr/>
          <p:nvPr/>
        </p:nvSpPr>
        <p:spPr>
          <a:xfrm>
            <a:off x="7397496" y="3215030"/>
            <a:ext cx="304495" cy="304495"/>
          </a:xfrm>
          <a:prstGeom prst="roundRect">
            <a:avLst>
              <a:gd name="adj" fmla="val 75075"/>
            </a:avLst>
          </a:prstGeom>
          <a:solidFill>
            <a:srgbClr val="EDE9FE"/>
          </a:solidFill>
          <a:ln/>
        </p:spPr>
      </p:sp>
      <p:sp>
        <p:nvSpPr>
          <p:cNvPr id="34" name="Text 30"/>
          <p:cNvSpPr txBox="1"/>
          <p:nvPr/>
        </p:nvSpPr>
        <p:spPr>
          <a:xfrm>
            <a:off x="7505395" y="3252521"/>
            <a:ext cx="210312" cy="228600"/>
          </a:xfrm>
          <a:prstGeom prst="rect">
            <a:avLst/>
          </a:prstGeom>
          <a:noFill/>
          <a:ln/>
        </p:spPr>
        <p:txBody>
          <a:bodyPr wrap="square" lIns="0" tIns="0" rIns="0" bIns="0" rtlCol="0" anchor="ctr"/>
          <a:lstStyle/>
          <a:p>
            <a:pPr algn="l" indent="0" marL="0">
              <a:buNone/>
            </a:pPr>
            <a:r>
              <a:rPr lang="en-US" sz="1200" b="1" dirty="0">
                <a:solidFill>
                  <a:srgbClr val="7C3AED"/>
                </a:solidFill>
                <a:latin typeface="Noto Sans JP" pitchFamily="34" charset="0"/>
                <a:ea typeface="Noto Sans JP" pitchFamily="34" charset="-122"/>
                <a:cs typeface="Noto Sans JP" pitchFamily="34" charset="-120"/>
              </a:rPr>
              <a:t>2</a:t>
            </a:r>
            <a:endParaRPr lang="en-US" sz="1200" dirty="0"/>
          </a:p>
        </p:txBody>
      </p:sp>
      <p:sp>
        <p:nvSpPr>
          <p:cNvPr id="35" name="Text 31"/>
          <p:cNvSpPr txBox="1"/>
          <p:nvPr/>
        </p:nvSpPr>
        <p:spPr>
          <a:xfrm>
            <a:off x="7817206" y="3243377"/>
            <a:ext cx="25292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平日昼間の主婦層向け時短ケア</a:t>
            </a:r>
            <a:endParaRPr lang="en-US" sz="1300" dirty="0"/>
          </a:p>
        </p:txBody>
      </p:sp>
      <p:sp>
        <p:nvSpPr>
          <p:cNvPr id="36" name="Text 32"/>
          <p:cNvSpPr txBox="1"/>
          <p:nvPr/>
        </p:nvSpPr>
        <p:spPr>
          <a:xfrm>
            <a:off x="7397496" y="3605479"/>
            <a:ext cx="4038905" cy="352958"/>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夕方以降は学生・OLで埋まるが、平日昼間は稼働率に余裕あり。 「90分で終わるカラー＆ケア」など、忙しいママ層・主婦層のニーズに応える。</a:t>
            </a:r>
            <a:endParaRPr lang="en-US" sz="900" dirty="0"/>
          </a:p>
        </p:txBody>
      </p:sp>
      <p:sp>
        <p:nvSpPr>
          <p:cNvPr id="37" name="Shape 33"/>
          <p:cNvSpPr/>
          <p:nvPr/>
        </p:nvSpPr>
        <p:spPr>
          <a:xfrm>
            <a:off x="7397496" y="4091026"/>
            <a:ext cx="619049" cy="304495"/>
          </a:xfrm>
          <a:prstGeom prst="roundRect">
            <a:avLst>
              <a:gd name="adj" fmla="val 37538"/>
            </a:avLst>
          </a:prstGeom>
          <a:solidFill>
            <a:srgbClr val="F3F4F6"/>
          </a:solidFill>
          <a:ln/>
        </p:spPr>
      </p:sp>
      <p:sp>
        <p:nvSpPr>
          <p:cNvPr id="38" name="Text 34"/>
          <p:cNvSpPr txBox="1"/>
          <p:nvPr/>
        </p:nvSpPr>
        <p:spPr>
          <a:xfrm>
            <a:off x="7474306" y="4129430"/>
            <a:ext cx="581558"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ママ層</a:t>
            </a:r>
            <a:endParaRPr lang="en-US" sz="1200" dirty="0"/>
          </a:p>
        </p:txBody>
      </p:sp>
      <p:sp>
        <p:nvSpPr>
          <p:cNvPr id="39" name="Shape 35"/>
          <p:cNvSpPr/>
          <p:nvPr/>
        </p:nvSpPr>
        <p:spPr>
          <a:xfrm>
            <a:off x="8083296" y="4091026"/>
            <a:ext cx="466344" cy="304495"/>
          </a:xfrm>
          <a:prstGeom prst="roundRect">
            <a:avLst>
              <a:gd name="adj" fmla="val 37538"/>
            </a:avLst>
          </a:prstGeom>
          <a:solidFill>
            <a:srgbClr val="F3F4F6"/>
          </a:solidFill>
          <a:ln/>
        </p:spPr>
      </p:sp>
      <p:sp>
        <p:nvSpPr>
          <p:cNvPr id="40" name="Text 36"/>
          <p:cNvSpPr txBox="1"/>
          <p:nvPr/>
        </p:nvSpPr>
        <p:spPr>
          <a:xfrm>
            <a:off x="8160106" y="4129430"/>
            <a:ext cx="428854"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時短</a:t>
            </a:r>
            <a:endParaRPr lang="en-US" sz="1200" dirty="0"/>
          </a:p>
        </p:txBody>
      </p:sp>
      <p:sp>
        <p:nvSpPr>
          <p:cNvPr id="41" name="Shape 37"/>
          <p:cNvSpPr/>
          <p:nvPr/>
        </p:nvSpPr>
        <p:spPr>
          <a:xfrm>
            <a:off x="8617306" y="4081882"/>
            <a:ext cx="942746" cy="323698"/>
          </a:xfrm>
          <a:prstGeom prst="roundRect">
            <a:avLst>
              <a:gd name="adj" fmla="val 33234"/>
            </a:avLst>
          </a:prstGeom>
          <a:solidFill>
            <a:srgbClr val="F5F3FF"/>
          </a:solidFill>
          <a:ln w="12700">
            <a:solidFill>
              <a:srgbClr val="EDE9FE"/>
            </a:solidFill>
            <a:prstDash val="solid"/>
          </a:ln>
        </p:spPr>
      </p:sp>
      <p:sp>
        <p:nvSpPr>
          <p:cNvPr id="42" name="Text 38"/>
          <p:cNvSpPr txBox="1"/>
          <p:nvPr/>
        </p:nvSpPr>
        <p:spPr>
          <a:xfrm>
            <a:off x="8703259" y="4129430"/>
            <a:ext cx="886054" cy="228600"/>
          </a:xfrm>
          <a:prstGeom prst="rect">
            <a:avLst/>
          </a:prstGeom>
          <a:noFill/>
          <a:ln/>
        </p:spPr>
        <p:txBody>
          <a:bodyPr wrap="square" lIns="0" tIns="0" rIns="0" bIns="0" rtlCol="0" anchor="ctr"/>
          <a:lstStyle/>
          <a:p>
            <a:pPr algn="l" indent="0" marL="0">
              <a:buNone/>
            </a:pPr>
            <a:r>
              <a:rPr lang="en-US" sz="1200" b="1" dirty="0">
                <a:solidFill>
                  <a:srgbClr val="7C3AED"/>
                </a:solidFill>
                <a:latin typeface="Noto Sans JP" pitchFamily="34" charset="0"/>
                <a:ea typeface="Noto Sans JP" pitchFamily="34" charset="-122"/>
                <a:cs typeface="Noto Sans JP" pitchFamily="34" charset="-120"/>
              </a:rPr>
              <a:t>稼働平準化</a:t>
            </a:r>
            <a:endParaRPr lang="en-US" sz="1200" dirty="0"/>
          </a:p>
        </p:txBody>
      </p:sp>
      <p:sp>
        <p:nvSpPr>
          <p:cNvPr id="43" name="Shape 39"/>
          <p:cNvSpPr/>
          <p:nvPr/>
        </p:nvSpPr>
        <p:spPr>
          <a:xfrm>
            <a:off x="7168896" y="4796028"/>
            <a:ext cx="4419295" cy="1591056"/>
          </a:xfrm>
          <a:prstGeom prst="roundRect">
            <a:avLst>
              <a:gd name="adj" fmla="val 4130"/>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pic>
        <p:nvPicPr>
          <p:cNvPr id="44" name="Image 2" descr="preencoded.png">    </p:cNvPr>
          <p:cNvPicPr>
            <a:picLocks noChangeAspect="1"/>
          </p:cNvPicPr>
          <p:nvPr/>
        </p:nvPicPr>
        <p:blipFill>
          <a:blip r:embed="rId3">
            <a:alphaModFix amt="10000"/>
          </a:blip>
          <a:srcRect l="-469" r="-469" t="0" b="0"/>
          <a:stretch/>
        </p:blipFill>
        <p:spPr>
          <a:xfrm>
            <a:off x="10953598" y="4919472"/>
            <a:ext cx="504749" cy="571500"/>
          </a:xfrm>
          <a:prstGeom prst="rect">
            <a:avLst/>
          </a:prstGeom>
        </p:spPr>
      </p:pic>
      <p:sp>
        <p:nvSpPr>
          <p:cNvPr id="45" name="Text 40"/>
          <p:cNvSpPr txBox="1"/>
          <p:nvPr/>
        </p:nvSpPr>
        <p:spPr>
          <a:xfrm>
            <a:off x="7505395" y="5033772"/>
            <a:ext cx="2103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3</a:t>
            </a:r>
            <a:endParaRPr lang="en-US" sz="1200" dirty="0"/>
          </a:p>
        </p:txBody>
      </p:sp>
      <p:sp>
        <p:nvSpPr>
          <p:cNvPr id="46" name="Text 41"/>
          <p:cNvSpPr txBox="1"/>
          <p:nvPr/>
        </p:nvSpPr>
        <p:spPr>
          <a:xfrm>
            <a:off x="7817206" y="5024628"/>
            <a:ext cx="25292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メンズ眉・頭皮ケアの同時提案</a:t>
            </a:r>
            <a:endParaRPr lang="en-US" sz="1300" dirty="0"/>
          </a:p>
        </p:txBody>
      </p:sp>
      <p:sp>
        <p:nvSpPr>
          <p:cNvPr id="47" name="Text 42"/>
          <p:cNvSpPr txBox="1"/>
          <p:nvPr/>
        </p:nvSpPr>
        <p:spPr>
          <a:xfrm>
            <a:off x="7397496" y="5386730"/>
            <a:ext cx="3915461" cy="352958"/>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Sienaの既存メンズ客に対し、カット＋αの提案が不足。 「身だしなみ特化（眉カット・スパ）」をセットにし、バーバーに行きづらい層を取り込む。</a:t>
            </a:r>
            <a:endParaRPr lang="en-US" sz="900" dirty="0"/>
          </a:p>
        </p:txBody>
      </p:sp>
      <p:sp>
        <p:nvSpPr>
          <p:cNvPr id="48" name="Shape 43"/>
          <p:cNvSpPr/>
          <p:nvPr/>
        </p:nvSpPr>
        <p:spPr>
          <a:xfrm>
            <a:off x="7397496" y="5872277"/>
            <a:ext cx="609905" cy="304495"/>
          </a:xfrm>
          <a:prstGeom prst="roundRect">
            <a:avLst>
              <a:gd name="adj" fmla="val 37538"/>
            </a:avLst>
          </a:prstGeom>
          <a:solidFill>
            <a:srgbClr val="F3F4F6"/>
          </a:solidFill>
          <a:ln/>
        </p:spPr>
      </p:sp>
      <p:sp>
        <p:nvSpPr>
          <p:cNvPr id="49" name="Text 44"/>
          <p:cNvSpPr txBox="1"/>
          <p:nvPr/>
        </p:nvSpPr>
        <p:spPr>
          <a:xfrm>
            <a:off x="7474306" y="5910682"/>
            <a:ext cx="571500"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メンズ</a:t>
            </a:r>
            <a:endParaRPr lang="en-US" sz="1200" dirty="0"/>
          </a:p>
        </p:txBody>
      </p:sp>
      <p:sp>
        <p:nvSpPr>
          <p:cNvPr id="50" name="Shape 45"/>
          <p:cNvSpPr/>
          <p:nvPr/>
        </p:nvSpPr>
        <p:spPr>
          <a:xfrm>
            <a:off x="8080553" y="5872277"/>
            <a:ext cx="923544" cy="304495"/>
          </a:xfrm>
          <a:prstGeom prst="roundRect">
            <a:avLst>
              <a:gd name="adj" fmla="val 37538"/>
            </a:avLst>
          </a:prstGeom>
          <a:solidFill>
            <a:srgbClr val="F3F4F6"/>
          </a:solidFill>
          <a:ln/>
        </p:spPr>
      </p:sp>
      <p:sp>
        <p:nvSpPr>
          <p:cNvPr id="51" name="Text 46"/>
          <p:cNvSpPr txBox="1"/>
          <p:nvPr/>
        </p:nvSpPr>
        <p:spPr>
          <a:xfrm>
            <a:off x="8156448" y="5910682"/>
            <a:ext cx="886054" cy="228600"/>
          </a:xfrm>
          <a:prstGeom prst="rect">
            <a:avLst/>
          </a:prstGeom>
          <a:noFill/>
          <a:ln/>
        </p:spPr>
        <p:txBody>
          <a:bodyPr wrap="square" lIns="0" tIns="0" rIns="0" bIns="0" rtlCol="0" anchor="ctr"/>
          <a:lstStyle/>
          <a:p>
            <a:pPr algn="l" indent="0" marL="0">
              <a:buNone/>
            </a:pPr>
            <a:r>
              <a:rPr lang="en-US" sz="1200" b="1" dirty="0">
                <a:solidFill>
                  <a:srgbClr val="4B5563"/>
                </a:solidFill>
                <a:latin typeface="Noto Sans JP" pitchFamily="34" charset="0"/>
                <a:ea typeface="Noto Sans JP" pitchFamily="34" charset="-122"/>
                <a:cs typeface="Noto Sans JP" pitchFamily="34" charset="-120"/>
              </a:rPr>
              <a:t>身だしなみ</a:t>
            </a:r>
            <a:endParaRPr lang="en-US" sz="1200" dirty="0"/>
          </a:p>
        </p:txBody>
      </p:sp>
      <p:sp>
        <p:nvSpPr>
          <p:cNvPr id="52" name="Shape 47"/>
          <p:cNvSpPr/>
          <p:nvPr/>
        </p:nvSpPr>
        <p:spPr>
          <a:xfrm>
            <a:off x="9071762" y="5862218"/>
            <a:ext cx="733349" cy="323698"/>
          </a:xfrm>
          <a:prstGeom prst="roundRect">
            <a:avLst>
              <a:gd name="adj" fmla="val 33234"/>
            </a:avLst>
          </a:prstGeom>
          <a:noFill/>
          <a:ln w="12700">
            <a:solidFill>
              <a:srgbClr val="E5E7EB"/>
            </a:solidFill>
            <a:prstDash val="solid"/>
          </a:ln>
        </p:spPr>
      </p:sp>
      <p:sp>
        <p:nvSpPr>
          <p:cNvPr id="53" name="Text 48"/>
          <p:cNvSpPr txBox="1"/>
          <p:nvPr/>
        </p:nvSpPr>
        <p:spPr>
          <a:xfrm>
            <a:off x="9156802" y="5910682"/>
            <a:ext cx="676656"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LTV向上</a:t>
            </a:r>
            <a:endParaRPr lang="en-US" sz="1200" dirty="0"/>
          </a:p>
        </p:txBody>
      </p:sp>
      <p:sp>
        <p:nvSpPr>
          <p:cNvPr id="54" name="Shape 49"/>
          <p:cNvSpPr/>
          <p:nvPr/>
        </p:nvSpPr>
        <p:spPr>
          <a:xfrm>
            <a:off x="0" y="0"/>
            <a:ext cx="12191695" cy="761695"/>
          </a:xfrm>
          <a:prstGeom prst="rect">
            <a:avLst/>
          </a:prstGeom>
          <a:solidFill>
            <a:srgbClr val="FFFFFF"/>
          </a:solidFill>
          <a:ln/>
        </p:spPr>
      </p:sp>
      <p:sp>
        <p:nvSpPr>
          <p:cNvPr id="55" name="Shape 50"/>
          <p:cNvSpPr/>
          <p:nvPr/>
        </p:nvSpPr>
        <p:spPr>
          <a:xfrm>
            <a:off x="0" y="752551"/>
            <a:ext cx="12191695" cy="9144"/>
          </a:xfrm>
          <a:prstGeom prst="rect">
            <a:avLst/>
          </a:prstGeom>
          <a:solidFill>
            <a:srgbClr val="F3F4F6"/>
          </a:solidFill>
          <a:ln/>
        </p:spPr>
      </p:sp>
      <p:sp>
        <p:nvSpPr>
          <p:cNvPr id="56" name="Shape 51"/>
          <p:cNvSpPr/>
          <p:nvPr/>
        </p:nvSpPr>
        <p:spPr>
          <a:xfrm>
            <a:off x="609905" y="224028"/>
            <a:ext cx="304495" cy="304495"/>
          </a:xfrm>
          <a:prstGeom prst="roundRect">
            <a:avLst>
              <a:gd name="adj" fmla="val 56306"/>
            </a:avLst>
          </a:prstGeom>
          <a:solidFill>
            <a:srgbClr val="1F2937"/>
          </a:solidFill>
          <a:ln/>
        </p:spPr>
      </p:sp>
      <p:pic>
        <p:nvPicPr>
          <p:cNvPr id="57" name="Image 3" descr="preencoded.png">    </p:cNvPr>
          <p:cNvPicPr>
            <a:picLocks noChangeAspect="1"/>
          </p:cNvPicPr>
          <p:nvPr/>
        </p:nvPicPr>
        <p:blipFill>
          <a:blip r:embed="rId4"/>
          <a:srcRect l="0" r="0" t="0" b="0"/>
          <a:stretch/>
        </p:blipFill>
        <p:spPr>
          <a:xfrm>
            <a:off x="694944" y="309982"/>
            <a:ext cx="133502" cy="133502"/>
          </a:xfrm>
          <a:prstGeom prst="rect">
            <a:avLst/>
          </a:prstGeom>
        </p:spPr>
      </p:pic>
      <p:sp>
        <p:nvSpPr>
          <p:cNvPr id="58" name="Text 52"/>
          <p:cNvSpPr txBox="1"/>
          <p:nvPr/>
        </p:nvSpPr>
        <p:spPr>
          <a:xfrm>
            <a:off x="990295" y="280721"/>
            <a:ext cx="1757477"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MARKET OPPORTUNITY</a:t>
            </a:r>
            <a:endParaRPr lang="en-US" sz="1000" dirty="0"/>
          </a:p>
        </p:txBody>
      </p:sp>
      <p:sp>
        <p:nvSpPr>
          <p:cNvPr id="59" name="Text 53"/>
          <p:cNvSpPr txBox="1"/>
          <p:nvPr/>
        </p:nvSpPr>
        <p:spPr>
          <a:xfrm>
            <a:off x="9715500" y="280721"/>
            <a:ext cx="19677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市場の空白地帯（機会）の発見</a:t>
            </a:r>
            <a:endParaRPr lang="en-US" sz="1000" dirty="0"/>
          </a:p>
        </p:txBody>
      </p:sp>
      <p:sp>
        <p:nvSpPr>
          <p:cNvPr id="60" name="Shape 54"/>
          <p:cNvSpPr/>
          <p:nvPr/>
        </p:nvSpPr>
        <p:spPr>
          <a:xfrm>
            <a:off x="3698748" y="2124151"/>
            <a:ext cx="1714500" cy="209398"/>
          </a:xfrm>
          <a:prstGeom prst="roundRect">
            <a:avLst>
              <a:gd name="adj" fmla="val 79396"/>
            </a:avLst>
          </a:prstGeom>
          <a:solidFill>
            <a:srgbClr val="FFFFFF"/>
          </a:solidFill>
          <a:ln/>
        </p:spPr>
      </p:sp>
      <p:sp>
        <p:nvSpPr>
          <p:cNvPr id="61" name="Text 55"/>
          <p:cNvSpPr txBox="1"/>
          <p:nvPr/>
        </p:nvSpPr>
        <p:spPr>
          <a:xfrm>
            <a:off x="3756355" y="2143354"/>
            <a:ext cx="1686154" cy="162763"/>
          </a:xfrm>
          <a:prstGeom prst="rect">
            <a:avLst/>
          </a:prstGeom>
          <a:noFill/>
          <a:ln/>
        </p:spPr>
        <p:txBody>
          <a:bodyPr wrap="square" lIns="0" tIns="0" rIns="0" bIns="0" rtlCol="0" anchor="ctr"/>
          <a:lstStyle/>
          <a:p>
            <a:pPr algn="l" indent="0" marL="0">
              <a:buNone/>
            </a:pPr>
            <a:r>
              <a:rPr lang="en-US" sz="900" b="1" dirty="0">
                <a:solidFill>
                  <a:srgbClr val="94A3B8"/>
                </a:solidFill>
                <a:latin typeface="Noto Sans JP" pitchFamily="34" charset="0"/>
                <a:ea typeface="Noto Sans JP" pitchFamily="34" charset="-122"/>
                <a:cs typeface="Noto Sans JP" pitchFamily="34" charset="-120"/>
              </a:rPr>
              <a:t>High Quality / ケア・品質重視</a:t>
            </a:r>
            <a:endParaRPr lang="en-US" sz="900" dirty="0"/>
          </a:p>
        </p:txBody>
      </p:sp>
      <p:sp>
        <p:nvSpPr>
          <p:cNvPr id="62" name="Shape 56"/>
          <p:cNvSpPr/>
          <p:nvPr/>
        </p:nvSpPr>
        <p:spPr>
          <a:xfrm>
            <a:off x="3698748" y="6258154"/>
            <a:ext cx="1505102" cy="209398"/>
          </a:xfrm>
          <a:prstGeom prst="roundRect">
            <a:avLst>
              <a:gd name="adj" fmla="val 79396"/>
            </a:avLst>
          </a:prstGeom>
          <a:solidFill>
            <a:srgbClr val="FFFFFF"/>
          </a:solidFill>
          <a:ln/>
        </p:spPr>
      </p:sp>
      <p:sp>
        <p:nvSpPr>
          <p:cNvPr id="63" name="Text 57"/>
          <p:cNvSpPr txBox="1"/>
          <p:nvPr/>
        </p:nvSpPr>
        <p:spPr>
          <a:xfrm>
            <a:off x="3756355" y="6277356"/>
            <a:ext cx="1476756" cy="162763"/>
          </a:xfrm>
          <a:prstGeom prst="rect">
            <a:avLst/>
          </a:prstGeom>
          <a:noFill/>
          <a:ln/>
        </p:spPr>
        <p:txBody>
          <a:bodyPr wrap="square" lIns="0" tIns="0" rIns="0" bIns="0" rtlCol="0" anchor="ctr"/>
          <a:lstStyle/>
          <a:p>
            <a:pPr algn="l" indent="0" marL="0">
              <a:buNone/>
            </a:pPr>
            <a:r>
              <a:rPr lang="en-US" sz="900" b="1" dirty="0">
                <a:solidFill>
                  <a:srgbClr val="94A3B8"/>
                </a:solidFill>
                <a:latin typeface="Noto Sans JP" pitchFamily="34" charset="0"/>
                <a:ea typeface="Noto Sans JP" pitchFamily="34" charset="-122"/>
                <a:cs typeface="Noto Sans JP" pitchFamily="34" charset="-120"/>
              </a:rPr>
              <a:t>Casual / 手軽さ・スピード</a:t>
            </a:r>
            <a:endParaRPr lang="en-US" sz="900" dirty="0"/>
          </a:p>
        </p:txBody>
      </p:sp>
      <p:sp>
        <p:nvSpPr>
          <p:cNvPr id="64" name="Shape 58"/>
          <p:cNvSpPr/>
          <p:nvPr/>
        </p:nvSpPr>
        <p:spPr>
          <a:xfrm>
            <a:off x="5576926" y="4295851"/>
            <a:ext cx="1133856" cy="209398"/>
          </a:xfrm>
          <a:prstGeom prst="roundRect">
            <a:avLst>
              <a:gd name="adj" fmla="val 79396"/>
            </a:avLst>
          </a:prstGeom>
          <a:solidFill>
            <a:srgbClr val="FFFFFF"/>
          </a:solidFill>
          <a:ln/>
        </p:spPr>
      </p:sp>
      <p:sp>
        <p:nvSpPr>
          <p:cNvPr id="65" name="Text 59"/>
          <p:cNvSpPr txBox="1"/>
          <p:nvPr/>
        </p:nvSpPr>
        <p:spPr>
          <a:xfrm>
            <a:off x="5633618" y="4315054"/>
            <a:ext cx="1105510" cy="162763"/>
          </a:xfrm>
          <a:prstGeom prst="rect">
            <a:avLst/>
          </a:prstGeom>
          <a:noFill/>
          <a:ln/>
        </p:spPr>
        <p:txBody>
          <a:bodyPr wrap="square" lIns="0" tIns="0" rIns="0" bIns="0" rtlCol="0" anchor="ctr"/>
          <a:lstStyle/>
          <a:p>
            <a:pPr algn="l" indent="0" marL="0">
              <a:buNone/>
            </a:pPr>
            <a:r>
              <a:rPr lang="en-US" sz="900" b="1" dirty="0">
                <a:solidFill>
                  <a:srgbClr val="94A3B8"/>
                </a:solidFill>
                <a:latin typeface="Noto Sans JP" pitchFamily="34" charset="0"/>
                <a:ea typeface="Noto Sans JP" pitchFamily="34" charset="-122"/>
                <a:cs typeface="Noto Sans JP" pitchFamily="34" charset="-120"/>
              </a:rPr>
              <a:t>High Price / 高単価</a:t>
            </a:r>
            <a:endParaRPr lang="en-US" sz="900" dirty="0"/>
          </a:p>
        </p:txBody>
      </p:sp>
      <p:sp>
        <p:nvSpPr>
          <p:cNvPr id="66" name="Shape 60"/>
          <p:cNvSpPr/>
          <p:nvPr/>
        </p:nvSpPr>
        <p:spPr>
          <a:xfrm>
            <a:off x="694944" y="4295851"/>
            <a:ext cx="1095451" cy="209398"/>
          </a:xfrm>
          <a:prstGeom prst="roundRect">
            <a:avLst>
              <a:gd name="adj" fmla="val 79396"/>
            </a:avLst>
          </a:prstGeom>
          <a:solidFill>
            <a:srgbClr val="FFFFFF"/>
          </a:solidFill>
          <a:ln/>
        </p:spPr>
      </p:sp>
      <p:sp>
        <p:nvSpPr>
          <p:cNvPr id="67" name="Text 61"/>
          <p:cNvSpPr txBox="1"/>
          <p:nvPr/>
        </p:nvSpPr>
        <p:spPr>
          <a:xfrm>
            <a:off x="752551" y="4315054"/>
            <a:ext cx="1067105" cy="162763"/>
          </a:xfrm>
          <a:prstGeom prst="rect">
            <a:avLst/>
          </a:prstGeom>
          <a:noFill/>
          <a:ln/>
        </p:spPr>
        <p:txBody>
          <a:bodyPr wrap="square" lIns="0" tIns="0" rIns="0" bIns="0" rtlCol="0" anchor="ctr"/>
          <a:lstStyle/>
          <a:p>
            <a:pPr algn="l" indent="0" marL="0">
              <a:buNone/>
            </a:pPr>
            <a:r>
              <a:rPr lang="en-US" sz="900" b="1" dirty="0">
                <a:solidFill>
                  <a:srgbClr val="94A3B8"/>
                </a:solidFill>
                <a:latin typeface="Noto Sans JP" pitchFamily="34" charset="0"/>
                <a:ea typeface="Noto Sans JP" pitchFamily="34" charset="-122"/>
                <a:cs typeface="Noto Sans JP" pitchFamily="34" charset="-120"/>
              </a:rPr>
              <a:t>Low Price / 低単価</a:t>
            </a:r>
            <a:endParaRPr lang="en-US" sz="900" dirty="0"/>
          </a:p>
        </p:txBody>
      </p:sp>
      <p:sp>
        <p:nvSpPr>
          <p:cNvPr id="68" name="Shape 62"/>
          <p:cNvSpPr/>
          <p:nvPr/>
        </p:nvSpPr>
        <p:spPr>
          <a:xfrm>
            <a:off x="1228954" y="2657246"/>
            <a:ext cx="1828800" cy="1828800"/>
          </a:xfrm>
          <a:prstGeom prst="ellipse">
            <a:avLst/>
          </a:prstGeom>
          <a:solidFill>
            <a:srgbClr val="06B6D4">
              <a:alpha val="10000"/>
            </a:srgbClr>
          </a:solidFill>
          <a:ln w="25400">
            <a:solidFill>
              <a:srgbClr val="06B6D4">
                <a:alpha val="93000"/>
              </a:srgbClr>
            </a:solidFill>
            <a:prstDash val="solid"/>
          </a:ln>
          <a:effectLst>
            <a:outerShdw sx="100000" sy="100000" kx="0" ky="0" algn="bl" rotWithShape="0" blurRad="165100" dist="12700" dir="16200000">
              <a:srgbClr val="06b6d4">
                <a:alpha val="37600"/>
              </a:srgbClr>
            </a:outerShdw>
          </a:effectLst>
        </p:spPr>
      </p:sp>
      <p:sp>
        <p:nvSpPr>
          <p:cNvPr id="69" name="Text 63"/>
          <p:cNvSpPr txBox="1"/>
          <p:nvPr/>
        </p:nvSpPr>
        <p:spPr>
          <a:xfrm>
            <a:off x="2109521" y="3103474"/>
            <a:ext cx="162763" cy="152705"/>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1</a:t>
            </a:r>
            <a:endParaRPr lang="en-US" sz="900" dirty="0"/>
          </a:p>
        </p:txBody>
      </p:sp>
      <p:sp>
        <p:nvSpPr>
          <p:cNvPr id="70" name="Text 64"/>
          <p:cNvSpPr txBox="1"/>
          <p:nvPr/>
        </p:nvSpPr>
        <p:spPr>
          <a:xfrm>
            <a:off x="1742846" y="3312871"/>
            <a:ext cx="900684"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本格髪質改善</a:t>
            </a:r>
            <a:endParaRPr lang="en-US" sz="1000" dirty="0"/>
          </a:p>
        </p:txBody>
      </p:sp>
      <p:sp>
        <p:nvSpPr>
          <p:cNvPr id="71" name="Text 65"/>
          <p:cNvSpPr txBox="1"/>
          <p:nvPr/>
        </p:nvSpPr>
        <p:spPr>
          <a:xfrm>
            <a:off x="2076602" y="3472891"/>
            <a:ext cx="234086"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a:t>
            </a:r>
            <a:endParaRPr lang="en-US" sz="1000" dirty="0"/>
          </a:p>
        </p:txBody>
      </p:sp>
      <p:sp>
        <p:nvSpPr>
          <p:cNvPr id="72" name="Text 66"/>
          <p:cNvSpPr txBox="1"/>
          <p:nvPr/>
        </p:nvSpPr>
        <p:spPr>
          <a:xfrm>
            <a:off x="1809598" y="3632911"/>
            <a:ext cx="767182"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通いやすさ</a:t>
            </a:r>
            <a:endParaRPr lang="en-US" sz="1000" dirty="0"/>
          </a:p>
        </p:txBody>
      </p:sp>
      <p:sp>
        <p:nvSpPr>
          <p:cNvPr id="73" name="Text 67"/>
          <p:cNvSpPr txBox="1"/>
          <p:nvPr/>
        </p:nvSpPr>
        <p:spPr>
          <a:xfrm>
            <a:off x="1609344" y="3849624"/>
            <a:ext cx="1191463" cy="228600"/>
          </a:xfrm>
          <a:prstGeom prst="rect">
            <a:avLst/>
          </a:prstGeom>
          <a:noFill/>
          <a:ln/>
        </p:spPr>
        <p:txBody>
          <a:bodyPr wrap="square" lIns="0" tIns="0" rIns="0" bIns="0" rtlCol="0" anchor="ctr"/>
          <a:lstStyle/>
          <a:p>
            <a:pPr algn="ctr" indent="0" marL="0">
              <a:buNone/>
            </a:pPr>
            <a:r>
              <a:rPr lang="en-US" sz="1200" dirty="0">
                <a:solidFill>
                  <a:srgbClr val="000000"/>
                </a:solidFill>
                <a:latin typeface="Noto Sans JP" pitchFamily="34" charset="0"/>
                <a:ea typeface="Noto Sans JP" pitchFamily="34" charset="-122"/>
                <a:cs typeface="Noto Sans JP" pitchFamily="34" charset="-120"/>
              </a:rPr>
              <a:t>高級店の品質を</a:t>
            </a:r>
            <a:endParaRPr lang="en-US" sz="1200" dirty="0"/>
          </a:p>
        </p:txBody>
      </p:sp>
      <p:sp>
        <p:nvSpPr>
          <p:cNvPr id="74" name="Text 68"/>
          <p:cNvSpPr txBox="1"/>
          <p:nvPr/>
        </p:nvSpPr>
        <p:spPr>
          <a:xfrm>
            <a:off x="1762049" y="4078224"/>
            <a:ext cx="886054" cy="228600"/>
          </a:xfrm>
          <a:prstGeom prst="rect">
            <a:avLst/>
          </a:prstGeom>
          <a:noFill/>
          <a:ln/>
        </p:spPr>
        <p:txBody>
          <a:bodyPr wrap="square" lIns="0" tIns="0" rIns="0" bIns="0" rtlCol="0" anchor="ctr"/>
          <a:lstStyle/>
          <a:p>
            <a:pPr algn="ctr" indent="0" marL="0">
              <a:buNone/>
            </a:pPr>
            <a:r>
              <a:rPr lang="en-US" sz="1200" dirty="0">
                <a:solidFill>
                  <a:srgbClr val="000000"/>
                </a:solidFill>
                <a:latin typeface="Noto Sans JP" pitchFamily="34" charset="0"/>
                <a:ea typeface="Noto Sans JP" pitchFamily="34" charset="-122"/>
                <a:cs typeface="Noto Sans JP" pitchFamily="34" charset="-120"/>
              </a:rPr>
              <a:t>中価格帯で</a:t>
            </a:r>
            <a:endParaRPr lang="en-US" sz="1200" dirty="0"/>
          </a:p>
        </p:txBody>
      </p:sp>
      <p:sp>
        <p:nvSpPr>
          <p:cNvPr id="75" name="Shape 69"/>
          <p:cNvSpPr/>
          <p:nvPr/>
        </p:nvSpPr>
        <p:spPr>
          <a:xfrm>
            <a:off x="4492447" y="4410151"/>
            <a:ext cx="1371600" cy="1371600"/>
          </a:xfrm>
          <a:prstGeom prst="ellipse">
            <a:avLst/>
          </a:prstGeom>
          <a:solidFill>
            <a:srgbClr val="06B6D4">
              <a:alpha val="10000"/>
            </a:srgbClr>
          </a:solidFill>
          <a:ln w="25400">
            <a:solidFill>
              <a:srgbClr val="06B6D4">
                <a:alpha val="93000"/>
              </a:srgbClr>
            </a:solidFill>
            <a:prstDash val="solid"/>
          </a:ln>
          <a:effectLst>
            <a:outerShdw sx="100000" sy="100000" kx="0" ky="0" algn="bl" rotWithShape="0" blurRad="165100" dist="12700" dir="16200000">
              <a:srgbClr val="06b6d4">
                <a:alpha val="37600"/>
              </a:srgbClr>
            </a:outerShdw>
          </a:effectLst>
        </p:spPr>
      </p:sp>
      <p:sp>
        <p:nvSpPr>
          <p:cNvPr id="76" name="Shape 70"/>
          <p:cNvSpPr/>
          <p:nvPr/>
        </p:nvSpPr>
        <p:spPr>
          <a:xfrm>
            <a:off x="5063947" y="4802429"/>
            <a:ext cx="228600" cy="228600"/>
          </a:xfrm>
          <a:prstGeom prst="roundRect">
            <a:avLst>
              <a:gd name="adj" fmla="val 400000"/>
            </a:avLst>
          </a:prstGeom>
          <a:solidFill>
            <a:srgbClr val="8B5CF6"/>
          </a:solidFill>
          <a:ln/>
          <a:effectLst>
            <a:outerShdw sx="100000" sy="100000" kx="0" ky="0" algn="bl" rotWithShape="0" blurRad="12700" dist="12700" dir="16200000">
              <a:srgbClr val="000000">
                <a:alpha val="75000"/>
              </a:srgbClr>
            </a:outerShdw>
          </a:effectLst>
        </p:spPr>
      </p:sp>
      <p:sp>
        <p:nvSpPr>
          <p:cNvPr id="77" name="Text 71"/>
          <p:cNvSpPr txBox="1"/>
          <p:nvPr/>
        </p:nvSpPr>
        <p:spPr>
          <a:xfrm>
            <a:off x="5144414" y="4840834"/>
            <a:ext cx="162763" cy="152705"/>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2</a:t>
            </a:r>
            <a:endParaRPr lang="en-US" sz="900" dirty="0"/>
          </a:p>
        </p:txBody>
      </p:sp>
      <p:sp>
        <p:nvSpPr>
          <p:cNvPr id="78" name="Text 72"/>
          <p:cNvSpPr txBox="1"/>
          <p:nvPr/>
        </p:nvSpPr>
        <p:spPr>
          <a:xfrm>
            <a:off x="4912157" y="5050231"/>
            <a:ext cx="633679" cy="191110"/>
          </a:xfrm>
          <a:prstGeom prst="rect">
            <a:avLst/>
          </a:prstGeom>
          <a:noFill/>
          <a:ln/>
        </p:spPr>
        <p:txBody>
          <a:bodyPr wrap="square" lIns="0" tIns="0" rIns="0" bIns="0" rtlCol="0" anchor="ctr"/>
          <a:lstStyle/>
          <a:p>
            <a:pPr algn="ctr" indent="0" marL="0">
              <a:buNone/>
            </a:pPr>
            <a:r>
              <a:rPr lang="en-US" sz="1000" b="1" dirty="0">
                <a:solidFill>
                  <a:srgbClr val="6D28D9"/>
                </a:solidFill>
                <a:latin typeface="Noto Sans JP" pitchFamily="34" charset="0"/>
                <a:ea typeface="Noto Sans JP" pitchFamily="34" charset="-122"/>
                <a:cs typeface="Noto Sans JP" pitchFamily="34" charset="-120"/>
              </a:rPr>
              <a:t>平日昼間</a:t>
            </a:r>
            <a:endParaRPr lang="en-US" sz="1000" dirty="0"/>
          </a:p>
        </p:txBody>
      </p:sp>
      <p:sp>
        <p:nvSpPr>
          <p:cNvPr id="79" name="Text 73"/>
          <p:cNvSpPr txBox="1"/>
          <p:nvPr/>
        </p:nvSpPr>
        <p:spPr>
          <a:xfrm>
            <a:off x="4912157" y="5210251"/>
            <a:ext cx="633679" cy="191110"/>
          </a:xfrm>
          <a:prstGeom prst="rect">
            <a:avLst/>
          </a:prstGeom>
          <a:noFill/>
          <a:ln/>
        </p:spPr>
        <p:txBody>
          <a:bodyPr wrap="square" lIns="0" tIns="0" rIns="0" bIns="0" rtlCol="0" anchor="ctr"/>
          <a:lstStyle/>
          <a:p>
            <a:pPr algn="ctr" indent="0" marL="0">
              <a:buNone/>
            </a:pPr>
            <a:r>
              <a:rPr lang="en-US" sz="1000" b="1" dirty="0">
                <a:solidFill>
                  <a:srgbClr val="6D28D9"/>
                </a:solidFill>
                <a:latin typeface="Noto Sans JP" pitchFamily="34" charset="0"/>
                <a:ea typeface="Noto Sans JP" pitchFamily="34" charset="-122"/>
                <a:cs typeface="Noto Sans JP" pitchFamily="34" charset="-120"/>
              </a:rPr>
              <a:t>大人女性</a:t>
            </a:r>
            <a:endParaRPr lang="en-US" sz="1000" dirty="0"/>
          </a:p>
        </p:txBody>
      </p:sp>
      <p:sp>
        <p:nvSpPr>
          <p:cNvPr id="80" name="Shape 74"/>
          <p:cNvSpPr/>
          <p:nvPr/>
        </p:nvSpPr>
        <p:spPr>
          <a:xfrm>
            <a:off x="4003243" y="5020056"/>
            <a:ext cx="1067105" cy="1067105"/>
          </a:xfrm>
          <a:prstGeom prst="ellipse">
            <a:avLst/>
          </a:prstGeom>
          <a:solidFill>
            <a:srgbClr val="06B6D4">
              <a:alpha val="10000"/>
            </a:srgbClr>
          </a:solidFill>
          <a:ln w="25400">
            <a:solidFill>
              <a:srgbClr val="06B6D4">
                <a:alpha val="93000"/>
              </a:srgbClr>
            </a:solidFill>
            <a:prstDash val="solid"/>
          </a:ln>
          <a:effectLst>
            <a:outerShdw sx="100000" sy="100000" kx="0" ky="0" algn="bl" rotWithShape="0" blurRad="165100" dist="12700" dir="16200000">
              <a:srgbClr val="06b6d4">
                <a:alpha val="37600"/>
              </a:srgbClr>
            </a:outerShdw>
          </a:effectLst>
        </p:spPr>
      </p:sp>
      <p:sp>
        <p:nvSpPr>
          <p:cNvPr id="81" name="Text 75"/>
          <p:cNvSpPr txBox="1"/>
          <p:nvPr/>
        </p:nvSpPr>
        <p:spPr>
          <a:xfrm>
            <a:off x="4503420" y="5320894"/>
            <a:ext cx="162763" cy="152705"/>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3</a:t>
            </a:r>
            <a:endParaRPr lang="en-US" sz="900" dirty="0"/>
          </a:p>
        </p:txBody>
      </p:sp>
      <p:sp>
        <p:nvSpPr>
          <p:cNvPr id="82" name="Text 76"/>
          <p:cNvSpPr txBox="1"/>
          <p:nvPr/>
        </p:nvSpPr>
        <p:spPr>
          <a:xfrm>
            <a:off x="4366260" y="5530291"/>
            <a:ext cx="428854"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メンズ</a:t>
            </a:r>
            <a:endParaRPr lang="en-US" sz="900" dirty="0"/>
          </a:p>
        </p:txBody>
      </p:sp>
      <p:sp>
        <p:nvSpPr>
          <p:cNvPr id="83" name="Text 77"/>
          <p:cNvSpPr txBox="1"/>
          <p:nvPr/>
        </p:nvSpPr>
        <p:spPr>
          <a:xfrm>
            <a:off x="4194353" y="5667451"/>
            <a:ext cx="781812"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トータルケア</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28700"/>
            <a:ext cx="5244084"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「トレンド×ケア」を軸とした4つの柱</a:t>
            </a:r>
            <a:endParaRPr lang="en-US" sz="2200" dirty="0"/>
          </a:p>
        </p:txBody>
      </p:sp>
      <p:sp>
        <p:nvSpPr>
          <p:cNvPr id="6" name="Text 4"/>
          <p:cNvSpPr txBox="1"/>
          <p:nvPr/>
        </p:nvSpPr>
        <p:spPr>
          <a:xfrm>
            <a:off x="609905" y="1485900"/>
            <a:ext cx="921623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競合分析に基づき、新規集客のフックとなる「トレンド」と、単価アップ・リピートに繋がる「ケア」を組み合わせた4つの戦略メニューを提案します。</a:t>
            </a:r>
            <a:endParaRPr lang="en-US" sz="1000" dirty="0"/>
          </a:p>
        </p:txBody>
      </p:sp>
      <p:sp>
        <p:nvSpPr>
          <p:cNvPr id="7" name="Shape 5"/>
          <p:cNvSpPr/>
          <p:nvPr/>
        </p:nvSpPr>
        <p:spPr>
          <a:xfrm>
            <a:off x="609905" y="1904695"/>
            <a:ext cx="5372100" cy="2361895"/>
          </a:xfrm>
          <a:prstGeom prst="roundRect">
            <a:avLst>
              <a:gd name="adj" fmla="val 1873"/>
            </a:avLst>
          </a:prstGeom>
          <a:solidFill>
            <a:srgbClr val="FFFFFF"/>
          </a:solidFill>
          <a:ln w="12700">
            <a:solidFill>
              <a:srgbClr val="E5E7EB"/>
            </a:solidFill>
            <a:prstDash val="solid"/>
          </a:ln>
        </p:spPr>
      </p:sp>
      <p:sp>
        <p:nvSpPr>
          <p:cNvPr id="8" name="Shape 6"/>
          <p:cNvSpPr/>
          <p:nvPr/>
        </p:nvSpPr>
        <p:spPr>
          <a:xfrm>
            <a:off x="5286146" y="1914754"/>
            <a:ext cx="694944" cy="228600"/>
          </a:xfrm>
          <a:prstGeom prst="rect">
            <a:avLst/>
          </a:prstGeom>
          <a:solidFill>
            <a:srgbClr val="FDF2F8"/>
          </a:solidFill>
          <a:ln/>
        </p:spPr>
      </p:sp>
      <p:sp>
        <p:nvSpPr>
          <p:cNvPr id="9" name="Text 7"/>
          <p:cNvSpPr txBox="1"/>
          <p:nvPr/>
        </p:nvSpPr>
        <p:spPr>
          <a:xfrm>
            <a:off x="5400446" y="1943100"/>
            <a:ext cx="553212" cy="162763"/>
          </a:xfrm>
          <a:prstGeom prst="rect">
            <a:avLst/>
          </a:prstGeom>
          <a:noFill/>
          <a:ln/>
        </p:spPr>
        <p:txBody>
          <a:bodyPr wrap="square" lIns="0" tIns="0" rIns="0" bIns="0" rtlCol="0" anchor="ctr"/>
          <a:lstStyle/>
          <a:p>
            <a:pPr algn="l" indent="0" marL="0">
              <a:buNone/>
            </a:pPr>
            <a:r>
              <a:rPr lang="en-US" sz="900" b="1" dirty="0">
                <a:solidFill>
                  <a:srgbClr val="EC4899"/>
                </a:solidFill>
                <a:latin typeface="Noto Sans JP" pitchFamily="34" charset="0"/>
                <a:ea typeface="Noto Sans JP" pitchFamily="34" charset="-122"/>
                <a:cs typeface="Noto Sans JP" pitchFamily="34" charset="-120"/>
              </a:rPr>
              <a:t>集客の柱</a:t>
            </a:r>
            <a:endParaRPr lang="en-US" sz="900" dirty="0"/>
          </a:p>
        </p:txBody>
      </p:sp>
      <p:sp>
        <p:nvSpPr>
          <p:cNvPr id="10" name="Shape 8"/>
          <p:cNvSpPr/>
          <p:nvPr/>
        </p:nvSpPr>
        <p:spPr>
          <a:xfrm>
            <a:off x="809244" y="2104949"/>
            <a:ext cx="457200" cy="457200"/>
          </a:xfrm>
          <a:prstGeom prst="roundRect">
            <a:avLst>
              <a:gd name="adj" fmla="val 200000"/>
            </a:avLst>
          </a:prstGeom>
          <a:solidFill>
            <a:srgbClr val="FCE7F3"/>
          </a:solidFill>
          <a:ln/>
        </p:spPr>
      </p:sp>
      <p:pic>
        <p:nvPicPr>
          <p:cNvPr id="11" name="Image 0" descr="preencoded.png">    </p:cNvPr>
          <p:cNvPicPr>
            <a:picLocks noChangeAspect="1"/>
          </p:cNvPicPr>
          <p:nvPr/>
        </p:nvPicPr>
        <p:blipFill>
          <a:blip r:embed="rId1"/>
          <a:srcRect l="0" r="0" t="0" b="0"/>
          <a:stretch/>
        </p:blipFill>
        <p:spPr>
          <a:xfrm>
            <a:off x="942746" y="2238451"/>
            <a:ext cx="190195" cy="190195"/>
          </a:xfrm>
          <a:prstGeom prst="rect">
            <a:avLst/>
          </a:prstGeom>
        </p:spPr>
      </p:pic>
      <p:sp>
        <p:nvSpPr>
          <p:cNvPr id="12" name="Text 9"/>
          <p:cNvSpPr txBox="1"/>
          <p:nvPr/>
        </p:nvSpPr>
        <p:spPr>
          <a:xfrm>
            <a:off x="1419149" y="2115007"/>
            <a:ext cx="1757477"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透明感カラー × ケア</a:t>
            </a:r>
            <a:endParaRPr lang="en-US" sz="1300" dirty="0"/>
          </a:p>
        </p:txBody>
      </p:sp>
      <p:sp>
        <p:nvSpPr>
          <p:cNvPr id="13" name="Text 10"/>
          <p:cNvSpPr txBox="1"/>
          <p:nvPr/>
        </p:nvSpPr>
        <p:spPr>
          <a:xfrm>
            <a:off x="1419149" y="2400300"/>
            <a:ext cx="29535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Target: 20代学生・OL / ニーズ: 赤み消し・ダメージレス</a:t>
            </a:r>
            <a:endParaRPr lang="en-US" sz="900" dirty="0"/>
          </a:p>
        </p:txBody>
      </p:sp>
      <p:pic>
        <p:nvPicPr>
          <p:cNvPr id="14" name="Image 1" descr="preencoded.png">    </p:cNvPr>
          <p:cNvPicPr>
            <a:picLocks noChangeAspect="1"/>
          </p:cNvPicPr>
          <p:nvPr/>
        </p:nvPicPr>
        <p:blipFill>
          <a:blip r:embed="rId2"/>
          <a:srcRect l="-2571" r="-2571" t="0" b="0"/>
          <a:stretch/>
        </p:blipFill>
        <p:spPr>
          <a:xfrm>
            <a:off x="809244" y="2752344"/>
            <a:ext cx="105156" cy="114300"/>
          </a:xfrm>
          <a:prstGeom prst="rect">
            <a:avLst/>
          </a:prstGeom>
        </p:spPr>
      </p:pic>
      <p:sp>
        <p:nvSpPr>
          <p:cNvPr id="15" name="Text 11"/>
          <p:cNvSpPr txBox="1"/>
          <p:nvPr/>
        </p:nvSpPr>
        <p:spPr>
          <a:xfrm>
            <a:off x="990295" y="2714854"/>
            <a:ext cx="4500677"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「ブリーチなし」での透明感を強調し、ダメージを気にする層を取り込む</a:t>
            </a:r>
            <a:endParaRPr lang="en-US" sz="1000" dirty="0"/>
          </a:p>
        </p:txBody>
      </p:sp>
      <p:pic>
        <p:nvPicPr>
          <p:cNvPr id="16" name="Image 2" descr="preencoded.png">    </p:cNvPr>
          <p:cNvPicPr>
            <a:picLocks noChangeAspect="1"/>
          </p:cNvPicPr>
          <p:nvPr/>
        </p:nvPicPr>
        <p:blipFill>
          <a:blip r:embed="rId3"/>
          <a:srcRect l="-2571" r="-2571" t="0" b="0"/>
          <a:stretch/>
        </p:blipFill>
        <p:spPr>
          <a:xfrm>
            <a:off x="809244" y="3057754"/>
            <a:ext cx="105156" cy="114300"/>
          </a:xfrm>
          <a:prstGeom prst="rect">
            <a:avLst/>
          </a:prstGeom>
        </p:spPr>
      </p:pic>
      <p:sp>
        <p:nvSpPr>
          <p:cNvPr id="17" name="Text 12"/>
          <p:cNvSpPr txBox="1"/>
          <p:nvPr/>
        </p:nvSpPr>
        <p:spPr>
          <a:xfrm>
            <a:off x="990295" y="3019349"/>
            <a:ext cx="3929177"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イルミナ/アディクシー等のブランドカラー剤指名で付加価値UP</a:t>
            </a:r>
            <a:endParaRPr lang="en-US" sz="1000" dirty="0"/>
          </a:p>
        </p:txBody>
      </p:sp>
      <p:sp>
        <p:nvSpPr>
          <p:cNvPr id="18" name="Shape 13"/>
          <p:cNvSpPr/>
          <p:nvPr/>
        </p:nvSpPr>
        <p:spPr>
          <a:xfrm>
            <a:off x="809244" y="3362249"/>
            <a:ext cx="4972507" cy="705002"/>
          </a:xfrm>
          <a:prstGeom prst="roundRect">
            <a:avLst>
              <a:gd name="adj" fmla="val 14022"/>
            </a:avLst>
          </a:prstGeom>
          <a:solidFill>
            <a:srgbClr val="F9FAFB"/>
          </a:solidFill>
          <a:ln w="12700">
            <a:solidFill>
              <a:srgbClr val="E5E7EB"/>
            </a:solidFill>
            <a:prstDash val="solid"/>
          </a:ln>
        </p:spPr>
      </p:sp>
      <p:pic>
        <p:nvPicPr>
          <p:cNvPr id="19" name="Image 3" descr="preencoded.png">    </p:cNvPr>
          <p:cNvPicPr>
            <a:picLocks noChangeAspect="1"/>
          </p:cNvPicPr>
          <p:nvPr/>
        </p:nvPicPr>
        <p:blipFill>
          <a:blip r:embed="rId4"/>
          <a:srcRect l="-2571" r="-2571" t="0" b="0"/>
          <a:stretch/>
        </p:blipFill>
        <p:spPr>
          <a:xfrm>
            <a:off x="933602" y="3510382"/>
            <a:ext cx="105156" cy="114300"/>
          </a:xfrm>
          <a:prstGeom prst="rect">
            <a:avLst/>
          </a:prstGeom>
        </p:spPr>
      </p:pic>
      <p:sp>
        <p:nvSpPr>
          <p:cNvPr id="20" name="Text 14"/>
          <p:cNvSpPr txBox="1"/>
          <p:nvPr/>
        </p:nvSpPr>
        <p:spPr>
          <a:xfrm>
            <a:off x="1076249" y="3476549"/>
            <a:ext cx="12390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推奨セットクーポン案</a:t>
            </a:r>
            <a:endParaRPr lang="en-US" sz="900" dirty="0"/>
          </a:p>
        </p:txBody>
      </p:sp>
      <p:sp>
        <p:nvSpPr>
          <p:cNvPr id="21" name="Text 15"/>
          <p:cNvSpPr txBox="1"/>
          <p:nvPr/>
        </p:nvSpPr>
        <p:spPr>
          <a:xfrm>
            <a:off x="933602" y="3715207"/>
            <a:ext cx="2567635"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イルミナカラー ＋ 超音波トリートメント</a:t>
            </a:r>
            <a:endParaRPr lang="en-US" sz="1000" dirty="0"/>
          </a:p>
        </p:txBody>
      </p:sp>
      <p:sp>
        <p:nvSpPr>
          <p:cNvPr id="22" name="Text 16"/>
          <p:cNvSpPr txBox="1"/>
          <p:nvPr/>
        </p:nvSpPr>
        <p:spPr>
          <a:xfrm>
            <a:off x="5095951" y="3685946"/>
            <a:ext cx="691286" cy="247802"/>
          </a:xfrm>
          <a:prstGeom prst="rect">
            <a:avLst/>
          </a:prstGeom>
          <a:noFill/>
          <a:ln/>
        </p:spPr>
        <p:txBody>
          <a:bodyPr wrap="square" lIns="0" tIns="0" rIns="0" bIns="0" rtlCol="0" anchor="ctr"/>
          <a:lstStyle/>
          <a:p>
            <a:pPr algn="l" indent="0" marL="0">
              <a:buNone/>
            </a:pPr>
            <a:r>
              <a:rPr lang="en-US" sz="1300" b="1" dirty="0">
                <a:solidFill>
                  <a:srgbClr val="FF6B35"/>
                </a:solidFill>
                <a:latin typeface="Noto Sans JP" pitchFamily="34" charset="0"/>
                <a:ea typeface="Noto Sans JP" pitchFamily="34" charset="-122"/>
                <a:cs typeface="Noto Sans JP" pitchFamily="34" charset="-120"/>
              </a:rPr>
              <a:t>¥6,900</a:t>
            </a:r>
            <a:endParaRPr lang="en-US" sz="1300" dirty="0"/>
          </a:p>
        </p:txBody>
      </p:sp>
      <p:sp>
        <p:nvSpPr>
          <p:cNvPr id="23" name="Shape 17"/>
          <p:cNvSpPr/>
          <p:nvPr/>
        </p:nvSpPr>
        <p:spPr>
          <a:xfrm>
            <a:off x="6210605" y="1904695"/>
            <a:ext cx="5372100" cy="2361895"/>
          </a:xfrm>
          <a:prstGeom prst="roundRect">
            <a:avLst>
              <a:gd name="adj" fmla="val 1873"/>
            </a:avLst>
          </a:prstGeom>
          <a:solidFill>
            <a:srgbClr val="FFFFFF"/>
          </a:solidFill>
          <a:ln w="12700">
            <a:solidFill>
              <a:srgbClr val="E5E7EB"/>
            </a:solidFill>
            <a:prstDash val="solid"/>
          </a:ln>
        </p:spPr>
      </p:sp>
      <p:sp>
        <p:nvSpPr>
          <p:cNvPr id="24" name="Shape 18"/>
          <p:cNvSpPr/>
          <p:nvPr/>
        </p:nvSpPr>
        <p:spPr>
          <a:xfrm>
            <a:off x="10724998" y="1914754"/>
            <a:ext cx="847649" cy="228600"/>
          </a:xfrm>
          <a:prstGeom prst="rect">
            <a:avLst/>
          </a:prstGeom>
          <a:solidFill>
            <a:srgbClr val="F5F3FF"/>
          </a:solidFill>
          <a:ln/>
        </p:spPr>
      </p:sp>
      <p:sp>
        <p:nvSpPr>
          <p:cNvPr id="25" name="Text 19"/>
          <p:cNvSpPr txBox="1"/>
          <p:nvPr/>
        </p:nvSpPr>
        <p:spPr>
          <a:xfrm>
            <a:off x="10839298" y="1943100"/>
            <a:ext cx="705002" cy="162763"/>
          </a:xfrm>
          <a:prstGeom prst="rect">
            <a:avLst/>
          </a:prstGeom>
          <a:noFill/>
          <a:ln/>
        </p:spPr>
        <p:txBody>
          <a:bodyPr wrap="square" lIns="0" tIns="0" rIns="0" bIns="0" rtlCol="0" anchor="ctr"/>
          <a:lstStyle/>
          <a:p>
            <a:pPr algn="l" indent="0" marL="0">
              <a:buNone/>
            </a:pPr>
            <a:r>
              <a:rPr lang="en-US" sz="900" b="1" dirty="0">
                <a:solidFill>
                  <a:srgbClr val="8B5CF6"/>
                </a:solidFill>
                <a:latin typeface="Noto Sans JP" pitchFamily="34" charset="0"/>
                <a:ea typeface="Noto Sans JP" pitchFamily="34" charset="-122"/>
                <a:cs typeface="Noto Sans JP" pitchFamily="34" charset="-120"/>
              </a:rPr>
              <a:t>単価UPの柱</a:t>
            </a:r>
            <a:endParaRPr lang="en-US" sz="900" dirty="0"/>
          </a:p>
        </p:txBody>
      </p:sp>
      <p:sp>
        <p:nvSpPr>
          <p:cNvPr id="26" name="Shape 20"/>
          <p:cNvSpPr/>
          <p:nvPr/>
        </p:nvSpPr>
        <p:spPr>
          <a:xfrm>
            <a:off x="6409944" y="2104949"/>
            <a:ext cx="457200" cy="457200"/>
          </a:xfrm>
          <a:prstGeom prst="roundRect">
            <a:avLst>
              <a:gd name="adj" fmla="val 200000"/>
            </a:avLst>
          </a:prstGeom>
          <a:solidFill>
            <a:srgbClr val="EDE9FE"/>
          </a:solidFill>
          <a:ln/>
        </p:spPr>
      </p:sp>
      <p:sp>
        <p:nvSpPr>
          <p:cNvPr id="27" name="Text 21"/>
          <p:cNvSpPr txBox="1"/>
          <p:nvPr/>
        </p:nvSpPr>
        <p:spPr>
          <a:xfrm>
            <a:off x="7019849" y="2115007"/>
            <a:ext cx="21863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髪質改善（TOKIO / 酸熱）</a:t>
            </a:r>
            <a:endParaRPr lang="en-US" sz="1300" dirty="0"/>
          </a:p>
        </p:txBody>
      </p:sp>
      <p:sp>
        <p:nvSpPr>
          <p:cNvPr id="28" name="Text 22"/>
          <p:cNvSpPr txBox="1"/>
          <p:nvPr/>
        </p:nvSpPr>
        <p:spPr>
          <a:xfrm>
            <a:off x="7019849" y="2400300"/>
            <a:ext cx="29151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Target: ダメージ悩み層 / ニーズ: 艶・まとまり・持続性</a:t>
            </a:r>
            <a:endParaRPr lang="en-US" sz="900" dirty="0"/>
          </a:p>
        </p:txBody>
      </p:sp>
      <p:pic>
        <p:nvPicPr>
          <p:cNvPr id="29" name="Image 4" descr="preencoded.png">    </p:cNvPr>
          <p:cNvPicPr>
            <a:picLocks noChangeAspect="1"/>
          </p:cNvPicPr>
          <p:nvPr/>
        </p:nvPicPr>
        <p:blipFill>
          <a:blip r:embed="rId5"/>
          <a:srcRect l="-2571" r="-2571" t="0" b="0"/>
          <a:stretch/>
        </p:blipFill>
        <p:spPr>
          <a:xfrm>
            <a:off x="6409944" y="2752344"/>
            <a:ext cx="105156" cy="114300"/>
          </a:xfrm>
          <a:prstGeom prst="rect">
            <a:avLst/>
          </a:prstGeom>
        </p:spPr>
      </p:pic>
      <p:sp>
        <p:nvSpPr>
          <p:cNvPr id="30" name="Text 23"/>
          <p:cNvSpPr txBox="1"/>
          <p:nvPr/>
        </p:nvSpPr>
        <p:spPr>
          <a:xfrm>
            <a:off x="6590995" y="2714854"/>
            <a:ext cx="40910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SNSで話題の「TOKIO」や「酸熱」キーワードをメニュー名に明記</a:t>
            </a:r>
            <a:endParaRPr lang="en-US" sz="1000" dirty="0"/>
          </a:p>
        </p:txBody>
      </p:sp>
      <p:pic>
        <p:nvPicPr>
          <p:cNvPr id="31" name="Image 5" descr="preencoded.png">    </p:cNvPr>
          <p:cNvPicPr>
            <a:picLocks noChangeAspect="1"/>
          </p:cNvPicPr>
          <p:nvPr/>
        </p:nvPicPr>
        <p:blipFill>
          <a:blip r:embed="rId6"/>
          <a:srcRect l="-2571" r="-2571" t="0" b="0"/>
          <a:stretch/>
        </p:blipFill>
        <p:spPr>
          <a:xfrm>
            <a:off x="6409944" y="3057754"/>
            <a:ext cx="105156" cy="114300"/>
          </a:xfrm>
          <a:prstGeom prst="rect">
            <a:avLst/>
          </a:prstGeom>
        </p:spPr>
      </p:pic>
      <p:sp>
        <p:nvSpPr>
          <p:cNvPr id="32" name="Text 24"/>
          <p:cNvSpPr txBox="1"/>
          <p:nvPr/>
        </p:nvSpPr>
        <p:spPr>
          <a:xfrm>
            <a:off x="6590995" y="3019349"/>
            <a:ext cx="44439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カラーとの同時施術で「時短×艶髪」を訴求し、客単価1万円超えを狙う</a:t>
            </a:r>
            <a:endParaRPr lang="en-US" sz="1000" dirty="0"/>
          </a:p>
        </p:txBody>
      </p:sp>
      <p:sp>
        <p:nvSpPr>
          <p:cNvPr id="33" name="Shape 25"/>
          <p:cNvSpPr/>
          <p:nvPr/>
        </p:nvSpPr>
        <p:spPr>
          <a:xfrm>
            <a:off x="6409944" y="3362249"/>
            <a:ext cx="4972507" cy="705002"/>
          </a:xfrm>
          <a:prstGeom prst="roundRect">
            <a:avLst>
              <a:gd name="adj" fmla="val 14022"/>
            </a:avLst>
          </a:prstGeom>
          <a:solidFill>
            <a:srgbClr val="F9FAFB"/>
          </a:solidFill>
          <a:ln w="12700">
            <a:solidFill>
              <a:srgbClr val="E5E7EB"/>
            </a:solidFill>
            <a:prstDash val="solid"/>
          </a:ln>
        </p:spPr>
      </p:sp>
      <p:pic>
        <p:nvPicPr>
          <p:cNvPr id="34" name="Image 6" descr="preencoded.png">    </p:cNvPr>
          <p:cNvPicPr>
            <a:picLocks noChangeAspect="1"/>
          </p:cNvPicPr>
          <p:nvPr/>
        </p:nvPicPr>
        <p:blipFill>
          <a:blip r:embed="rId7"/>
          <a:srcRect l="-2571" r="-2571" t="0" b="0"/>
          <a:stretch/>
        </p:blipFill>
        <p:spPr>
          <a:xfrm>
            <a:off x="6534302" y="3510382"/>
            <a:ext cx="105156" cy="114300"/>
          </a:xfrm>
          <a:prstGeom prst="rect">
            <a:avLst/>
          </a:prstGeom>
        </p:spPr>
      </p:pic>
      <p:sp>
        <p:nvSpPr>
          <p:cNvPr id="35" name="Text 26"/>
          <p:cNvSpPr txBox="1"/>
          <p:nvPr/>
        </p:nvSpPr>
        <p:spPr>
          <a:xfrm>
            <a:off x="6676949" y="3476549"/>
            <a:ext cx="12390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推奨セットクーポン案</a:t>
            </a:r>
            <a:endParaRPr lang="en-US" sz="900" dirty="0"/>
          </a:p>
        </p:txBody>
      </p:sp>
      <p:sp>
        <p:nvSpPr>
          <p:cNvPr id="36" name="Text 27"/>
          <p:cNvSpPr txBox="1"/>
          <p:nvPr/>
        </p:nvSpPr>
        <p:spPr>
          <a:xfrm>
            <a:off x="6534302" y="3715207"/>
            <a:ext cx="2434133"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カット ＋ 酸熱髪質改善トリートメント</a:t>
            </a:r>
            <a:endParaRPr lang="en-US" sz="1000" dirty="0"/>
          </a:p>
        </p:txBody>
      </p:sp>
      <p:sp>
        <p:nvSpPr>
          <p:cNvPr id="37" name="Text 28"/>
          <p:cNvSpPr txBox="1"/>
          <p:nvPr/>
        </p:nvSpPr>
        <p:spPr>
          <a:xfrm>
            <a:off x="10696651" y="3685946"/>
            <a:ext cx="691286" cy="247802"/>
          </a:xfrm>
          <a:prstGeom prst="rect">
            <a:avLst/>
          </a:prstGeom>
          <a:noFill/>
          <a:ln/>
        </p:spPr>
        <p:txBody>
          <a:bodyPr wrap="square" lIns="0" tIns="0" rIns="0" bIns="0" rtlCol="0" anchor="ctr"/>
          <a:lstStyle/>
          <a:p>
            <a:pPr algn="l" indent="0" marL="0">
              <a:buNone/>
            </a:pPr>
            <a:r>
              <a:rPr lang="en-US" sz="1300" b="1" dirty="0">
                <a:solidFill>
                  <a:srgbClr val="FF6B35"/>
                </a:solidFill>
                <a:latin typeface="Noto Sans JP" pitchFamily="34" charset="0"/>
                <a:ea typeface="Noto Sans JP" pitchFamily="34" charset="-122"/>
                <a:cs typeface="Noto Sans JP" pitchFamily="34" charset="-120"/>
              </a:rPr>
              <a:t>¥8,900</a:t>
            </a:r>
            <a:endParaRPr lang="en-US" sz="1300" dirty="0"/>
          </a:p>
        </p:txBody>
      </p:sp>
      <p:sp>
        <p:nvSpPr>
          <p:cNvPr id="38" name="Shape 29"/>
          <p:cNvSpPr/>
          <p:nvPr/>
        </p:nvSpPr>
        <p:spPr>
          <a:xfrm>
            <a:off x="609905" y="4496105"/>
            <a:ext cx="5372100" cy="2361895"/>
          </a:xfrm>
          <a:prstGeom prst="roundRect">
            <a:avLst>
              <a:gd name="adj" fmla="val 1873"/>
            </a:avLst>
          </a:prstGeom>
          <a:solidFill>
            <a:srgbClr val="FFFFFF"/>
          </a:solidFill>
          <a:ln w="12700">
            <a:solidFill>
              <a:srgbClr val="E5E7EB"/>
            </a:solidFill>
            <a:prstDash val="solid"/>
          </a:ln>
        </p:spPr>
      </p:sp>
      <p:sp>
        <p:nvSpPr>
          <p:cNvPr id="39" name="Shape 30"/>
          <p:cNvSpPr/>
          <p:nvPr/>
        </p:nvSpPr>
        <p:spPr>
          <a:xfrm>
            <a:off x="5057546" y="4505249"/>
            <a:ext cx="923544" cy="228600"/>
          </a:xfrm>
          <a:prstGeom prst="rect">
            <a:avLst/>
          </a:prstGeom>
          <a:solidFill>
            <a:srgbClr val="EFF6FF"/>
          </a:solidFill>
          <a:ln/>
        </p:spPr>
      </p:sp>
      <p:sp>
        <p:nvSpPr>
          <p:cNvPr id="40" name="Text 31"/>
          <p:cNvSpPr txBox="1"/>
          <p:nvPr/>
        </p:nvSpPr>
        <p:spPr>
          <a:xfrm>
            <a:off x="5171846" y="4533595"/>
            <a:ext cx="781812"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技術力の証明</a:t>
            </a:r>
            <a:endParaRPr lang="en-US" sz="900" dirty="0"/>
          </a:p>
        </p:txBody>
      </p:sp>
      <p:sp>
        <p:nvSpPr>
          <p:cNvPr id="41" name="Shape 32"/>
          <p:cNvSpPr/>
          <p:nvPr/>
        </p:nvSpPr>
        <p:spPr>
          <a:xfrm>
            <a:off x="809244" y="4695444"/>
            <a:ext cx="457200" cy="457200"/>
          </a:xfrm>
          <a:prstGeom prst="roundRect">
            <a:avLst>
              <a:gd name="adj" fmla="val 200000"/>
            </a:avLst>
          </a:prstGeom>
          <a:solidFill>
            <a:srgbClr val="DBEAFE"/>
          </a:solidFill>
          <a:ln/>
        </p:spPr>
      </p:sp>
      <p:pic>
        <p:nvPicPr>
          <p:cNvPr id="42" name="Image 7" descr="preencoded.png">    </p:cNvPr>
          <p:cNvPicPr>
            <a:picLocks noChangeAspect="1"/>
          </p:cNvPicPr>
          <p:nvPr/>
        </p:nvPicPr>
        <p:blipFill>
          <a:blip r:embed="rId8"/>
          <a:srcRect l="0" r="0" t="0" b="0"/>
          <a:stretch/>
        </p:blipFill>
        <p:spPr>
          <a:xfrm>
            <a:off x="942746" y="4828946"/>
            <a:ext cx="190195" cy="190195"/>
          </a:xfrm>
          <a:prstGeom prst="rect">
            <a:avLst/>
          </a:prstGeom>
        </p:spPr>
      </p:pic>
      <p:sp>
        <p:nvSpPr>
          <p:cNvPr id="43" name="Text 33"/>
          <p:cNvSpPr txBox="1"/>
          <p:nvPr/>
        </p:nvSpPr>
        <p:spPr>
          <a:xfrm>
            <a:off x="1419149" y="4705502"/>
            <a:ext cx="2157984"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顔周りレイヤー / ショート</a:t>
            </a:r>
            <a:endParaRPr lang="en-US" sz="1300" dirty="0"/>
          </a:p>
        </p:txBody>
      </p:sp>
      <p:sp>
        <p:nvSpPr>
          <p:cNvPr id="44" name="Text 34"/>
          <p:cNvSpPr txBox="1"/>
          <p:nvPr/>
        </p:nvSpPr>
        <p:spPr>
          <a:xfrm>
            <a:off x="1419149" y="4990795"/>
            <a:ext cx="31437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Target: おしゃれ敏感層 / ニーズ: 小顔・韓国風・イメチェン</a:t>
            </a:r>
            <a:endParaRPr lang="en-US" sz="900" dirty="0"/>
          </a:p>
        </p:txBody>
      </p:sp>
      <p:pic>
        <p:nvPicPr>
          <p:cNvPr id="45" name="Image 8" descr="preencoded.png">    </p:cNvPr>
          <p:cNvPicPr>
            <a:picLocks noChangeAspect="1"/>
          </p:cNvPicPr>
          <p:nvPr/>
        </p:nvPicPr>
        <p:blipFill>
          <a:blip r:embed="rId9"/>
          <a:srcRect l="-2571" r="-2571" t="0" b="0"/>
          <a:stretch/>
        </p:blipFill>
        <p:spPr>
          <a:xfrm>
            <a:off x="809244" y="5343754"/>
            <a:ext cx="105156" cy="114300"/>
          </a:xfrm>
          <a:prstGeom prst="rect">
            <a:avLst/>
          </a:prstGeom>
        </p:spPr>
      </p:pic>
      <p:sp>
        <p:nvSpPr>
          <p:cNvPr id="46" name="Text 35"/>
          <p:cNvSpPr txBox="1"/>
          <p:nvPr/>
        </p:nvSpPr>
        <p:spPr>
          <a:xfrm>
            <a:off x="990295" y="5305349"/>
            <a:ext cx="456742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「韓国風」「小顔」などのトレンドワードでスタイルページへの流入を強化</a:t>
            </a:r>
            <a:endParaRPr lang="en-US" sz="1000" dirty="0"/>
          </a:p>
        </p:txBody>
      </p:sp>
      <p:pic>
        <p:nvPicPr>
          <p:cNvPr id="47" name="Image 9" descr="preencoded.png">    </p:cNvPr>
          <p:cNvPicPr>
            <a:picLocks noChangeAspect="1"/>
          </p:cNvPicPr>
          <p:nvPr/>
        </p:nvPicPr>
        <p:blipFill>
          <a:blip r:embed="rId10"/>
          <a:srcRect l="-2571" r="-2571" t="0" b="0"/>
          <a:stretch/>
        </p:blipFill>
        <p:spPr>
          <a:xfrm>
            <a:off x="809244" y="5648249"/>
            <a:ext cx="105156" cy="114300"/>
          </a:xfrm>
          <a:prstGeom prst="rect">
            <a:avLst/>
          </a:prstGeom>
        </p:spPr>
      </p:pic>
      <p:sp>
        <p:nvSpPr>
          <p:cNvPr id="48" name="Text 36"/>
          <p:cNvSpPr txBox="1"/>
          <p:nvPr/>
        </p:nvSpPr>
        <p:spPr>
          <a:xfrm>
            <a:off x="990295" y="5609844"/>
            <a:ext cx="391088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前髪や顔周りのポイントパーマ/縮毛を提案し、+αの売上を作る</a:t>
            </a:r>
            <a:endParaRPr lang="en-US" sz="1000" dirty="0"/>
          </a:p>
        </p:txBody>
      </p:sp>
      <p:sp>
        <p:nvSpPr>
          <p:cNvPr id="49" name="Shape 37"/>
          <p:cNvSpPr/>
          <p:nvPr/>
        </p:nvSpPr>
        <p:spPr>
          <a:xfrm>
            <a:off x="809244" y="5952744"/>
            <a:ext cx="4972507" cy="705002"/>
          </a:xfrm>
          <a:prstGeom prst="roundRect">
            <a:avLst>
              <a:gd name="adj" fmla="val 14022"/>
            </a:avLst>
          </a:prstGeom>
          <a:solidFill>
            <a:srgbClr val="F9FAFB"/>
          </a:solidFill>
          <a:ln w="12700">
            <a:solidFill>
              <a:srgbClr val="E5E7EB"/>
            </a:solidFill>
            <a:prstDash val="solid"/>
          </a:ln>
        </p:spPr>
      </p:sp>
      <p:pic>
        <p:nvPicPr>
          <p:cNvPr id="50" name="Image 10" descr="preencoded.png">    </p:cNvPr>
          <p:cNvPicPr>
            <a:picLocks noChangeAspect="1"/>
          </p:cNvPicPr>
          <p:nvPr/>
        </p:nvPicPr>
        <p:blipFill>
          <a:blip r:embed="rId11"/>
          <a:srcRect l="-2571" r="-2571" t="0" b="0"/>
          <a:stretch/>
        </p:blipFill>
        <p:spPr>
          <a:xfrm>
            <a:off x="933602" y="6100877"/>
            <a:ext cx="105156" cy="114300"/>
          </a:xfrm>
          <a:prstGeom prst="rect">
            <a:avLst/>
          </a:prstGeom>
        </p:spPr>
      </p:pic>
      <p:sp>
        <p:nvSpPr>
          <p:cNvPr id="51" name="Text 38"/>
          <p:cNvSpPr txBox="1"/>
          <p:nvPr/>
        </p:nvSpPr>
        <p:spPr>
          <a:xfrm>
            <a:off x="1076249" y="6067044"/>
            <a:ext cx="12390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推奨セットクーポン案</a:t>
            </a:r>
            <a:endParaRPr lang="en-US" sz="900" dirty="0"/>
          </a:p>
        </p:txBody>
      </p:sp>
      <p:sp>
        <p:nvSpPr>
          <p:cNvPr id="52" name="Text 39"/>
          <p:cNvSpPr txBox="1"/>
          <p:nvPr/>
        </p:nvSpPr>
        <p:spPr>
          <a:xfrm>
            <a:off x="933602" y="6305702"/>
            <a:ext cx="2567635"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似合わせカット ＋ 顔周りデザインパーマ</a:t>
            </a:r>
            <a:endParaRPr lang="en-US" sz="1000" dirty="0"/>
          </a:p>
        </p:txBody>
      </p:sp>
      <p:sp>
        <p:nvSpPr>
          <p:cNvPr id="53" name="Text 40"/>
          <p:cNvSpPr txBox="1"/>
          <p:nvPr/>
        </p:nvSpPr>
        <p:spPr>
          <a:xfrm>
            <a:off x="5095951" y="6277356"/>
            <a:ext cx="691286" cy="247802"/>
          </a:xfrm>
          <a:prstGeom prst="rect">
            <a:avLst/>
          </a:prstGeom>
          <a:noFill/>
          <a:ln/>
        </p:spPr>
        <p:txBody>
          <a:bodyPr wrap="square" lIns="0" tIns="0" rIns="0" bIns="0" rtlCol="0" anchor="ctr"/>
          <a:lstStyle/>
          <a:p>
            <a:pPr algn="l" indent="0" marL="0">
              <a:buNone/>
            </a:pPr>
            <a:r>
              <a:rPr lang="en-US" sz="1300" b="1" dirty="0">
                <a:solidFill>
                  <a:srgbClr val="FF6B35"/>
                </a:solidFill>
                <a:latin typeface="Noto Sans JP" pitchFamily="34" charset="0"/>
                <a:ea typeface="Noto Sans JP" pitchFamily="34" charset="-122"/>
                <a:cs typeface="Noto Sans JP" pitchFamily="34" charset="-120"/>
              </a:rPr>
              <a:t>¥7,500</a:t>
            </a:r>
            <a:endParaRPr lang="en-US" sz="1300" dirty="0"/>
          </a:p>
        </p:txBody>
      </p:sp>
      <p:sp>
        <p:nvSpPr>
          <p:cNvPr id="54" name="Shape 41"/>
          <p:cNvSpPr/>
          <p:nvPr/>
        </p:nvSpPr>
        <p:spPr>
          <a:xfrm>
            <a:off x="6210605" y="4496105"/>
            <a:ext cx="5372100" cy="2361895"/>
          </a:xfrm>
          <a:prstGeom prst="roundRect">
            <a:avLst>
              <a:gd name="adj" fmla="val 1873"/>
            </a:avLst>
          </a:prstGeom>
          <a:solidFill>
            <a:srgbClr val="FFFFFF"/>
          </a:solidFill>
          <a:ln w="12700">
            <a:solidFill>
              <a:srgbClr val="E5E7EB"/>
            </a:solidFill>
            <a:prstDash val="solid"/>
          </a:ln>
        </p:spPr>
      </p:sp>
      <p:sp>
        <p:nvSpPr>
          <p:cNvPr id="55" name="Shape 42"/>
          <p:cNvSpPr/>
          <p:nvPr/>
        </p:nvSpPr>
        <p:spPr>
          <a:xfrm>
            <a:off x="10772546" y="4505249"/>
            <a:ext cx="809244" cy="228600"/>
          </a:xfrm>
          <a:prstGeom prst="rect">
            <a:avLst/>
          </a:prstGeom>
          <a:solidFill>
            <a:srgbClr val="1F2937"/>
          </a:solidFill>
          <a:ln/>
        </p:spPr>
      </p:sp>
      <p:sp>
        <p:nvSpPr>
          <p:cNvPr id="56" name="Text 43"/>
          <p:cNvSpPr txBox="1"/>
          <p:nvPr/>
        </p:nvSpPr>
        <p:spPr>
          <a:xfrm>
            <a:off x="10886846" y="4533595"/>
            <a:ext cx="667512"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新規層拡大</a:t>
            </a:r>
            <a:endParaRPr lang="en-US" sz="900" dirty="0"/>
          </a:p>
        </p:txBody>
      </p:sp>
      <p:sp>
        <p:nvSpPr>
          <p:cNvPr id="57" name="Shape 44"/>
          <p:cNvSpPr/>
          <p:nvPr/>
        </p:nvSpPr>
        <p:spPr>
          <a:xfrm>
            <a:off x="6409944" y="4695444"/>
            <a:ext cx="457200" cy="457200"/>
          </a:xfrm>
          <a:prstGeom prst="roundRect">
            <a:avLst>
              <a:gd name="adj" fmla="val 200000"/>
            </a:avLst>
          </a:prstGeom>
          <a:solidFill>
            <a:srgbClr val="F3F4F6"/>
          </a:solidFill>
          <a:ln/>
        </p:spPr>
      </p:sp>
      <p:pic>
        <p:nvPicPr>
          <p:cNvPr id="58" name="Image 11" descr="preencoded.png">    </p:cNvPr>
          <p:cNvPicPr>
            <a:picLocks noChangeAspect="1"/>
          </p:cNvPicPr>
          <p:nvPr/>
        </p:nvPicPr>
        <p:blipFill>
          <a:blip r:embed="rId12"/>
          <a:srcRect l="-1648" r="-1648" t="0" b="0"/>
          <a:stretch/>
        </p:blipFill>
        <p:spPr>
          <a:xfrm>
            <a:off x="6553505" y="4828946"/>
            <a:ext cx="171907" cy="190195"/>
          </a:xfrm>
          <a:prstGeom prst="rect">
            <a:avLst/>
          </a:prstGeom>
        </p:spPr>
      </p:pic>
      <p:sp>
        <p:nvSpPr>
          <p:cNvPr id="59" name="Text 45"/>
          <p:cNvSpPr txBox="1"/>
          <p:nvPr/>
        </p:nvSpPr>
        <p:spPr>
          <a:xfrm>
            <a:off x="7019849" y="4705502"/>
            <a:ext cx="2224735"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メンズ ツイストスパイラル</a:t>
            </a:r>
            <a:endParaRPr lang="en-US" sz="1300" dirty="0"/>
          </a:p>
        </p:txBody>
      </p:sp>
      <p:sp>
        <p:nvSpPr>
          <p:cNvPr id="60" name="Text 46"/>
          <p:cNvSpPr txBox="1"/>
          <p:nvPr/>
        </p:nvSpPr>
        <p:spPr>
          <a:xfrm>
            <a:off x="7019849" y="4990795"/>
            <a:ext cx="3029407"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Target: 男子学生・若手社会人 / ニーズ: 楽なセット・流行</a:t>
            </a:r>
            <a:endParaRPr lang="en-US" sz="900" dirty="0"/>
          </a:p>
        </p:txBody>
      </p:sp>
      <p:pic>
        <p:nvPicPr>
          <p:cNvPr id="61" name="Image 12" descr="preencoded.png">    </p:cNvPr>
          <p:cNvPicPr>
            <a:picLocks noChangeAspect="1"/>
          </p:cNvPicPr>
          <p:nvPr/>
        </p:nvPicPr>
        <p:blipFill>
          <a:blip r:embed="rId13"/>
          <a:srcRect l="-2571" r="-2571" t="0" b="0"/>
          <a:stretch/>
        </p:blipFill>
        <p:spPr>
          <a:xfrm>
            <a:off x="6409944" y="5343754"/>
            <a:ext cx="105156" cy="114300"/>
          </a:xfrm>
          <a:prstGeom prst="rect">
            <a:avLst/>
          </a:prstGeom>
        </p:spPr>
      </p:pic>
      <p:sp>
        <p:nvSpPr>
          <p:cNvPr id="62" name="Text 47"/>
          <p:cNvSpPr txBox="1"/>
          <p:nvPr/>
        </p:nvSpPr>
        <p:spPr>
          <a:xfrm>
            <a:off x="6590995" y="5305349"/>
            <a:ext cx="41678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無造作でセットが楽な「ツイスパ」「波巻き」で、男性客の指名獲得</a:t>
            </a:r>
            <a:endParaRPr lang="en-US" sz="1000" dirty="0"/>
          </a:p>
        </p:txBody>
      </p:sp>
      <p:pic>
        <p:nvPicPr>
          <p:cNvPr id="63" name="Image 13" descr="preencoded.png">    </p:cNvPr>
          <p:cNvPicPr>
            <a:picLocks noChangeAspect="1"/>
          </p:cNvPicPr>
          <p:nvPr/>
        </p:nvPicPr>
        <p:blipFill>
          <a:blip r:embed="rId14"/>
          <a:srcRect l="-2571" r="-2571" t="0" b="0"/>
          <a:stretch/>
        </p:blipFill>
        <p:spPr>
          <a:xfrm>
            <a:off x="6409944" y="5648249"/>
            <a:ext cx="105156" cy="114300"/>
          </a:xfrm>
          <a:prstGeom prst="rect">
            <a:avLst/>
          </a:prstGeom>
        </p:spPr>
      </p:pic>
      <p:sp>
        <p:nvSpPr>
          <p:cNvPr id="64" name="Text 48"/>
          <p:cNvSpPr txBox="1"/>
          <p:nvPr/>
        </p:nvSpPr>
        <p:spPr>
          <a:xfrm>
            <a:off x="6590995" y="5609844"/>
            <a:ext cx="388162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眉カットをセットに含め、トータル身だしなみ提案で満足度UP</a:t>
            </a:r>
            <a:endParaRPr lang="en-US" sz="1000" dirty="0"/>
          </a:p>
        </p:txBody>
      </p:sp>
      <p:sp>
        <p:nvSpPr>
          <p:cNvPr id="65" name="Shape 49"/>
          <p:cNvSpPr/>
          <p:nvPr/>
        </p:nvSpPr>
        <p:spPr>
          <a:xfrm>
            <a:off x="6409944" y="5952744"/>
            <a:ext cx="4972507" cy="705002"/>
          </a:xfrm>
          <a:prstGeom prst="roundRect">
            <a:avLst>
              <a:gd name="adj" fmla="val 14022"/>
            </a:avLst>
          </a:prstGeom>
          <a:solidFill>
            <a:srgbClr val="F9FAFB"/>
          </a:solidFill>
          <a:ln w="12700">
            <a:solidFill>
              <a:srgbClr val="E5E7EB"/>
            </a:solidFill>
            <a:prstDash val="solid"/>
          </a:ln>
        </p:spPr>
      </p:sp>
      <p:pic>
        <p:nvPicPr>
          <p:cNvPr id="66" name="Image 14" descr="preencoded.png">    </p:cNvPr>
          <p:cNvPicPr>
            <a:picLocks noChangeAspect="1"/>
          </p:cNvPicPr>
          <p:nvPr/>
        </p:nvPicPr>
        <p:blipFill>
          <a:blip r:embed="rId15"/>
          <a:srcRect l="-2571" r="-2571" t="0" b="0"/>
          <a:stretch/>
        </p:blipFill>
        <p:spPr>
          <a:xfrm>
            <a:off x="6534302" y="6100877"/>
            <a:ext cx="105156" cy="114300"/>
          </a:xfrm>
          <a:prstGeom prst="rect">
            <a:avLst/>
          </a:prstGeom>
        </p:spPr>
      </p:pic>
      <p:sp>
        <p:nvSpPr>
          <p:cNvPr id="67" name="Text 50"/>
          <p:cNvSpPr txBox="1"/>
          <p:nvPr/>
        </p:nvSpPr>
        <p:spPr>
          <a:xfrm>
            <a:off x="6676949" y="6067044"/>
            <a:ext cx="12390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推奨セットクーポン案</a:t>
            </a:r>
            <a:endParaRPr lang="en-US" sz="900" dirty="0"/>
          </a:p>
        </p:txBody>
      </p:sp>
      <p:sp>
        <p:nvSpPr>
          <p:cNvPr id="68" name="Text 51"/>
          <p:cNvSpPr txBox="1"/>
          <p:nvPr/>
        </p:nvSpPr>
        <p:spPr>
          <a:xfrm>
            <a:off x="6534302" y="6305702"/>
            <a:ext cx="2624328"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メンズカット ＋ ツイストスパイラル ＋ 眉</a:t>
            </a:r>
            <a:endParaRPr lang="en-US" sz="1000" dirty="0"/>
          </a:p>
        </p:txBody>
      </p:sp>
      <p:sp>
        <p:nvSpPr>
          <p:cNvPr id="69" name="Text 52"/>
          <p:cNvSpPr txBox="1"/>
          <p:nvPr/>
        </p:nvSpPr>
        <p:spPr>
          <a:xfrm>
            <a:off x="10596067" y="6277356"/>
            <a:ext cx="795528" cy="247802"/>
          </a:xfrm>
          <a:prstGeom prst="rect">
            <a:avLst/>
          </a:prstGeom>
          <a:noFill/>
          <a:ln/>
        </p:spPr>
        <p:txBody>
          <a:bodyPr wrap="square" lIns="0" tIns="0" rIns="0" bIns="0" rtlCol="0" anchor="ctr"/>
          <a:lstStyle/>
          <a:p>
            <a:pPr algn="l" indent="0" marL="0">
              <a:buNone/>
            </a:pPr>
            <a:r>
              <a:rPr lang="en-US" sz="1300" b="1" dirty="0">
                <a:solidFill>
                  <a:srgbClr val="FF6B35"/>
                </a:solidFill>
                <a:latin typeface="Noto Sans JP" pitchFamily="34" charset="0"/>
                <a:ea typeface="Noto Sans JP" pitchFamily="34" charset="-122"/>
                <a:cs typeface="Noto Sans JP" pitchFamily="34" charset="-120"/>
              </a:rPr>
              <a:t>¥10,500</a:t>
            </a:r>
            <a:endParaRPr lang="en-US" sz="1300" dirty="0"/>
          </a:p>
        </p:txBody>
      </p:sp>
      <p:sp>
        <p:nvSpPr>
          <p:cNvPr id="70" name="Shape 53"/>
          <p:cNvSpPr/>
          <p:nvPr/>
        </p:nvSpPr>
        <p:spPr>
          <a:xfrm>
            <a:off x="609905" y="7010705"/>
            <a:ext cx="10972800" cy="609905"/>
          </a:xfrm>
          <a:prstGeom prst="rect">
            <a:avLst/>
          </a:prstGeom>
          <a:solidFill>
            <a:srgbClr val="FFF0E9"/>
          </a:solidFill>
          <a:ln/>
        </p:spPr>
      </p:sp>
      <p:sp>
        <p:nvSpPr>
          <p:cNvPr id="71" name="Shape 54"/>
          <p:cNvSpPr/>
          <p:nvPr/>
        </p:nvSpPr>
        <p:spPr>
          <a:xfrm>
            <a:off x="609905" y="7010705"/>
            <a:ext cx="38405" cy="609905"/>
          </a:xfrm>
          <a:prstGeom prst="rect">
            <a:avLst/>
          </a:prstGeom>
          <a:solidFill>
            <a:srgbClr val="FF6B35"/>
          </a:solidFill>
          <a:ln/>
        </p:spPr>
      </p:sp>
      <p:pic>
        <p:nvPicPr>
          <p:cNvPr id="72" name="Image 15" descr="preencoded.png">    </p:cNvPr>
          <p:cNvPicPr>
            <a:picLocks noChangeAspect="1"/>
          </p:cNvPicPr>
          <p:nvPr/>
        </p:nvPicPr>
        <p:blipFill>
          <a:blip r:embed="rId16"/>
          <a:srcRect l="-133" r="-133" t="0" b="0"/>
          <a:stretch/>
        </p:blipFill>
        <p:spPr>
          <a:xfrm>
            <a:off x="761695" y="7191756"/>
            <a:ext cx="171907" cy="228600"/>
          </a:xfrm>
          <a:prstGeom prst="rect">
            <a:avLst/>
          </a:prstGeom>
        </p:spPr>
      </p:pic>
      <p:sp>
        <p:nvSpPr>
          <p:cNvPr id="73" name="Text 55"/>
          <p:cNvSpPr txBox="1"/>
          <p:nvPr/>
        </p:nvSpPr>
        <p:spPr>
          <a:xfrm>
            <a:off x="1086307" y="7114946"/>
            <a:ext cx="1162202" cy="162763"/>
          </a:xfrm>
          <a:prstGeom prst="rect">
            <a:avLst/>
          </a:prstGeom>
          <a:noFill/>
          <a:ln/>
        </p:spPr>
        <p:txBody>
          <a:bodyPr wrap="square" lIns="0" tIns="0" rIns="0" bIns="0" rtlCol="0" anchor="ctr"/>
          <a:lstStyle/>
          <a:p>
            <a:pPr algn="l" indent="0" marL="0">
              <a:buNone/>
            </a:pPr>
            <a:r>
              <a:rPr lang="en-US" sz="900" b="1" dirty="0">
                <a:solidFill>
                  <a:srgbClr val="FF6B35"/>
                </a:solidFill>
                <a:latin typeface="Noto Sans JP" pitchFamily="34" charset="0"/>
                <a:ea typeface="Noto Sans JP" pitchFamily="34" charset="-122"/>
                <a:cs typeface="Noto Sans JP" pitchFamily="34" charset="-120"/>
              </a:rPr>
              <a:t>STRATEGY INSIGHT</a:t>
            </a:r>
            <a:endParaRPr lang="en-US" sz="900" dirty="0"/>
          </a:p>
        </p:txBody>
      </p:sp>
      <p:sp>
        <p:nvSpPr>
          <p:cNvPr id="74" name="Text 56"/>
          <p:cNvSpPr txBox="1"/>
          <p:nvPr/>
        </p:nvSpPr>
        <p:spPr>
          <a:xfrm>
            <a:off x="1086307" y="7315200"/>
            <a:ext cx="9339682" cy="191110"/>
          </a:xfrm>
          <a:prstGeom prst="rect">
            <a:avLst/>
          </a:prstGeom>
          <a:noFill/>
          <a:ln/>
        </p:spPr>
        <p:txBody>
          <a:bodyPr wrap="square" lIns="0" tIns="0" rIns="0" bIns="0" rtlCol="0" anchor="ctr"/>
          <a:lstStyle/>
          <a:p>
            <a:pPr algn="l" indent="0" marL="0">
              <a:buNone/>
            </a:pPr>
            <a:r>
              <a:rPr lang="en-US" sz="1000" dirty="0">
                <a:solidFill>
                  <a:srgbClr val="374151"/>
                </a:solidFill>
                <a:latin typeface="Noto Sans JP" pitchFamily="34" charset="0"/>
                <a:ea typeface="Noto Sans JP" pitchFamily="34" charset="-122"/>
                <a:cs typeface="Noto Sans JP" pitchFamily="34" charset="-120"/>
              </a:rPr>
              <a:t>「透明感カラー」で広口に集客しつつ、「髪質改善」と「メンズパーマ」という高単価・高リピート商材で利益率を高めるハイブリッド構成を推奨します。</a:t>
            </a:r>
            <a:endParaRPr lang="en-US" sz="1000" dirty="0"/>
          </a:p>
        </p:txBody>
      </p:sp>
      <p:sp>
        <p:nvSpPr>
          <p:cNvPr id="75" name="Shape 57"/>
          <p:cNvSpPr/>
          <p:nvPr/>
        </p:nvSpPr>
        <p:spPr>
          <a:xfrm>
            <a:off x="0" y="0"/>
            <a:ext cx="12191695" cy="761695"/>
          </a:xfrm>
          <a:prstGeom prst="rect">
            <a:avLst/>
          </a:prstGeom>
          <a:solidFill>
            <a:srgbClr val="FFFFFF"/>
          </a:solidFill>
          <a:ln/>
        </p:spPr>
      </p:sp>
      <p:sp>
        <p:nvSpPr>
          <p:cNvPr id="76" name="Shape 58"/>
          <p:cNvSpPr/>
          <p:nvPr/>
        </p:nvSpPr>
        <p:spPr>
          <a:xfrm>
            <a:off x="0" y="752551"/>
            <a:ext cx="12191695" cy="9144"/>
          </a:xfrm>
          <a:prstGeom prst="rect">
            <a:avLst/>
          </a:prstGeom>
          <a:solidFill>
            <a:srgbClr val="F3F4F6"/>
          </a:solidFill>
          <a:ln/>
        </p:spPr>
      </p:sp>
      <p:sp>
        <p:nvSpPr>
          <p:cNvPr id="77" name="Shape 59"/>
          <p:cNvSpPr/>
          <p:nvPr/>
        </p:nvSpPr>
        <p:spPr>
          <a:xfrm>
            <a:off x="609905" y="224028"/>
            <a:ext cx="304495" cy="304495"/>
          </a:xfrm>
          <a:prstGeom prst="roundRect">
            <a:avLst>
              <a:gd name="adj" fmla="val 56306"/>
            </a:avLst>
          </a:prstGeom>
          <a:solidFill>
            <a:srgbClr val="FF6B35"/>
          </a:solidFill>
          <a:ln/>
        </p:spPr>
      </p:sp>
      <p:pic>
        <p:nvPicPr>
          <p:cNvPr id="78" name="Image 16" descr="preencoded.png">    </p:cNvPr>
          <p:cNvPicPr>
            <a:picLocks noChangeAspect="1"/>
          </p:cNvPicPr>
          <p:nvPr/>
        </p:nvPicPr>
        <p:blipFill>
          <a:blip r:embed="rId17"/>
          <a:srcRect l="0" r="0" t="0" b="0"/>
          <a:stretch/>
        </p:blipFill>
        <p:spPr>
          <a:xfrm>
            <a:off x="694944" y="309982"/>
            <a:ext cx="133502" cy="133502"/>
          </a:xfrm>
          <a:prstGeom prst="rect">
            <a:avLst/>
          </a:prstGeom>
        </p:spPr>
      </p:pic>
      <p:sp>
        <p:nvSpPr>
          <p:cNvPr id="79" name="Shape 60"/>
          <p:cNvSpPr/>
          <p:nvPr/>
        </p:nvSpPr>
        <p:spPr>
          <a:xfrm>
            <a:off x="9058961" y="261518"/>
            <a:ext cx="676656" cy="228600"/>
          </a:xfrm>
          <a:prstGeom prst="roundRect">
            <a:avLst>
              <a:gd name="adj" fmla="val 66667"/>
            </a:avLst>
          </a:prstGeom>
          <a:solidFill>
            <a:srgbClr val="F3F4F6"/>
          </a:solidFill>
          <a:ln/>
        </p:spPr>
      </p:sp>
      <p:sp>
        <p:nvSpPr>
          <p:cNvPr id="80" name="Text 61"/>
          <p:cNvSpPr txBox="1"/>
          <p:nvPr/>
        </p:nvSpPr>
        <p:spPr>
          <a:xfrm>
            <a:off x="990295" y="280721"/>
            <a:ext cx="2157984"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STRATEGIC MENU PROPOSAL</a:t>
            </a:r>
            <a:endParaRPr lang="en-US" sz="1000" dirty="0"/>
          </a:p>
        </p:txBody>
      </p:sp>
      <p:sp>
        <p:nvSpPr>
          <p:cNvPr id="81" name="Text 62"/>
          <p:cNvSpPr txBox="1"/>
          <p:nvPr/>
        </p:nvSpPr>
        <p:spPr>
          <a:xfrm>
            <a:off x="9173261" y="290779"/>
            <a:ext cx="53401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STEP 01</a:t>
            </a:r>
            <a:endParaRPr lang="en-US" sz="900" dirty="0"/>
          </a:p>
        </p:txBody>
      </p:sp>
      <p:sp>
        <p:nvSpPr>
          <p:cNvPr id="82" name="Text 63"/>
          <p:cNvSpPr txBox="1"/>
          <p:nvPr/>
        </p:nvSpPr>
        <p:spPr>
          <a:xfrm>
            <a:off x="9849002" y="280721"/>
            <a:ext cx="1834286"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掲載提案｜推奨メニュー構成</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314554"/>
            <a:ext cx="12191695" cy="6963156"/>
          </a:xfrm>
          <a:prstGeom prst="rect">
            <a:avLst/>
          </a:prstGeom>
          <a:solidFill>
            <a:srgbClr val="F9FAFB"/>
          </a:solidFill>
          <a:ln/>
        </p:spPr>
      </p:sp>
      <p:sp>
        <p:nvSpPr>
          <p:cNvPr id="5" name="Text 3"/>
          <p:cNvSpPr txBox="1"/>
          <p:nvPr/>
        </p:nvSpPr>
        <p:spPr>
          <a:xfrm>
            <a:off x="609905" y="694944"/>
            <a:ext cx="3529584" cy="34290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4層構造の戦略的価格設計</a:t>
            </a:r>
            <a:endParaRPr lang="en-US" sz="2200" dirty="0"/>
          </a:p>
        </p:txBody>
      </p:sp>
      <p:sp>
        <p:nvSpPr>
          <p:cNvPr id="6" name="Text 4"/>
          <p:cNvSpPr txBox="1"/>
          <p:nvPr/>
        </p:nvSpPr>
        <p:spPr>
          <a:xfrm>
            <a:off x="609905" y="1114654"/>
            <a:ext cx="7439558"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エリア平均単価（¥7,800）を意識しつつ、「新規集客のハードル下げ」と「LTV（顧客生涯価値）最大化」を</a:t>
            </a:r>
            <a:endParaRPr lang="en-US" sz="1200" dirty="0"/>
          </a:p>
        </p:txBody>
      </p:sp>
      <p:sp>
        <p:nvSpPr>
          <p:cNvPr id="7" name="Text 5"/>
          <p:cNvSpPr txBox="1"/>
          <p:nvPr/>
        </p:nvSpPr>
        <p:spPr>
          <a:xfrm>
            <a:off x="609905" y="1343254"/>
            <a:ext cx="475305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両立させるための、役割の異なる4つの価格レイヤーを提案します。</a:t>
            </a:r>
            <a:endParaRPr lang="en-US" sz="1200" dirty="0"/>
          </a:p>
        </p:txBody>
      </p:sp>
      <p:sp>
        <p:nvSpPr>
          <p:cNvPr id="8" name="Shape 6"/>
          <p:cNvSpPr/>
          <p:nvPr/>
        </p:nvSpPr>
        <p:spPr>
          <a:xfrm>
            <a:off x="609905" y="1876349"/>
            <a:ext cx="2628900" cy="4028846"/>
          </a:xfrm>
          <a:prstGeom prst="roundRect">
            <a:avLst>
              <a:gd name="adj" fmla="val 1512"/>
            </a:avLst>
          </a:prstGeom>
          <a:solidFill>
            <a:srgbClr val="FFFFFF"/>
          </a:solidFill>
          <a:ln/>
          <a:effectLst>
            <a:outerShdw sx="100000" sy="100000" kx="0" ky="0" algn="bl" rotWithShape="0" blurRad="12700" dist="12700" dir="16200000">
              <a:srgbClr val="000000">
                <a:alpha val="75000"/>
              </a:srgbClr>
            </a:outerShdw>
          </a:effectLst>
        </p:spPr>
      </p:sp>
      <p:sp>
        <p:nvSpPr>
          <p:cNvPr id="9" name="Shape 7"/>
          <p:cNvSpPr/>
          <p:nvPr/>
        </p:nvSpPr>
        <p:spPr>
          <a:xfrm>
            <a:off x="609905" y="1876349"/>
            <a:ext cx="2628900" cy="38405"/>
          </a:xfrm>
          <a:prstGeom prst="rect">
            <a:avLst/>
          </a:prstGeom>
          <a:solidFill>
            <a:srgbClr val="60A5FA"/>
          </a:solidFill>
          <a:ln/>
        </p:spPr>
      </p:sp>
      <p:pic>
        <p:nvPicPr>
          <p:cNvPr id="10" name="Image 0" descr="preencoded.png">    </p:cNvPr>
          <p:cNvPicPr>
            <a:picLocks noChangeAspect="1"/>
          </p:cNvPicPr>
          <p:nvPr/>
        </p:nvPicPr>
        <p:blipFill>
          <a:blip r:embed="rId1">
            <a:alphaModFix amt="10000"/>
          </a:blip>
          <a:srcRect l="-347" r="-347" t="0" b="0"/>
          <a:stretch/>
        </p:blipFill>
        <p:spPr>
          <a:xfrm>
            <a:off x="2514600" y="1990649"/>
            <a:ext cx="647395" cy="571500"/>
          </a:xfrm>
          <a:prstGeom prst="rect">
            <a:avLst/>
          </a:prstGeom>
        </p:spPr>
      </p:pic>
      <p:sp>
        <p:nvSpPr>
          <p:cNvPr id="11" name="Shape 8"/>
          <p:cNvSpPr/>
          <p:nvPr/>
        </p:nvSpPr>
        <p:spPr>
          <a:xfrm>
            <a:off x="800100" y="2124151"/>
            <a:ext cx="599846" cy="228600"/>
          </a:xfrm>
          <a:prstGeom prst="roundRect">
            <a:avLst>
              <a:gd name="adj" fmla="val 66667"/>
            </a:avLst>
          </a:prstGeom>
          <a:solidFill>
            <a:srgbClr val="DBEAFE"/>
          </a:solidFill>
          <a:ln/>
        </p:spPr>
      </p:sp>
      <p:sp>
        <p:nvSpPr>
          <p:cNvPr id="12" name="Text 9"/>
          <p:cNvSpPr txBox="1"/>
          <p:nvPr/>
        </p:nvSpPr>
        <p:spPr>
          <a:xfrm>
            <a:off x="875995" y="2152498"/>
            <a:ext cx="534010"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LAYER 1</a:t>
            </a:r>
            <a:endParaRPr lang="en-US" sz="900" dirty="0"/>
          </a:p>
        </p:txBody>
      </p:sp>
      <p:sp>
        <p:nvSpPr>
          <p:cNvPr id="13" name="Text 10"/>
          <p:cNvSpPr txBox="1"/>
          <p:nvPr/>
        </p:nvSpPr>
        <p:spPr>
          <a:xfrm>
            <a:off x="800100" y="2438705"/>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初回フック戦略</a:t>
            </a:r>
            <a:endParaRPr lang="en-US" sz="1300" dirty="0"/>
          </a:p>
        </p:txBody>
      </p:sp>
      <p:sp>
        <p:nvSpPr>
          <p:cNvPr id="14" name="Text 11"/>
          <p:cNvSpPr txBox="1"/>
          <p:nvPr/>
        </p:nvSpPr>
        <p:spPr>
          <a:xfrm>
            <a:off x="800100" y="2723998"/>
            <a:ext cx="10104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新規集客の最大化</a:t>
            </a:r>
            <a:endParaRPr lang="en-US" sz="900" dirty="0"/>
          </a:p>
        </p:txBody>
      </p:sp>
      <p:sp>
        <p:nvSpPr>
          <p:cNvPr id="15" name="Shape 12"/>
          <p:cNvSpPr/>
          <p:nvPr/>
        </p:nvSpPr>
        <p:spPr>
          <a:xfrm>
            <a:off x="800100" y="3038551"/>
            <a:ext cx="2247595" cy="952805"/>
          </a:xfrm>
          <a:prstGeom prst="roundRect">
            <a:avLst>
              <a:gd name="adj" fmla="val 7678"/>
            </a:avLst>
          </a:prstGeom>
          <a:solidFill>
            <a:srgbClr val="EFF6FF"/>
          </a:solidFill>
          <a:ln/>
        </p:spPr>
      </p:sp>
      <p:sp>
        <p:nvSpPr>
          <p:cNvPr id="16" name="Text 13"/>
          <p:cNvSpPr txBox="1"/>
          <p:nvPr/>
        </p:nvSpPr>
        <p:spPr>
          <a:xfrm>
            <a:off x="1524305" y="3143707"/>
            <a:ext cx="896112" cy="162763"/>
          </a:xfrm>
          <a:prstGeom prst="rect">
            <a:avLst/>
          </a:prstGeom>
          <a:noFill/>
          <a:ln/>
        </p:spPr>
        <p:txBody>
          <a:bodyPr wrap="square" lIns="0" tIns="0" rIns="0" bIns="0" rtlCol="0" anchor="ctr"/>
          <a:lstStyle/>
          <a:p>
            <a:pPr algn="ctr" indent="0" marL="0">
              <a:buNone/>
            </a:pPr>
            <a:r>
              <a:rPr lang="en-US" sz="900" b="1" dirty="0">
                <a:solidFill>
                  <a:srgbClr val="2563EB"/>
                </a:solidFill>
                <a:latin typeface="Noto Sans JP" pitchFamily="34" charset="0"/>
                <a:ea typeface="Noto Sans JP" pitchFamily="34" charset="-122"/>
                <a:cs typeface="Noto Sans JP" pitchFamily="34" charset="-120"/>
              </a:rPr>
              <a:t>推奨クーポン例</a:t>
            </a:r>
            <a:endParaRPr lang="en-US" sz="900" dirty="0"/>
          </a:p>
        </p:txBody>
      </p:sp>
      <p:sp>
        <p:nvSpPr>
          <p:cNvPr id="17" name="Text 14"/>
          <p:cNvSpPr txBox="1"/>
          <p:nvPr/>
        </p:nvSpPr>
        <p:spPr>
          <a:xfrm>
            <a:off x="1463954" y="3333902"/>
            <a:ext cx="1010412"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カット+カラー+Tr</a:t>
            </a:r>
            <a:endParaRPr lang="en-US" sz="900" dirty="0"/>
          </a:p>
        </p:txBody>
      </p:sp>
      <p:sp>
        <p:nvSpPr>
          <p:cNvPr id="18" name="Text 15"/>
          <p:cNvSpPr txBox="1"/>
          <p:nvPr/>
        </p:nvSpPr>
        <p:spPr>
          <a:xfrm>
            <a:off x="1455725" y="3495751"/>
            <a:ext cx="1157630"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¥6,900</a:t>
            </a:r>
            <a:endParaRPr lang="en-US" sz="2200" dirty="0"/>
          </a:p>
        </p:txBody>
      </p:sp>
      <p:sp>
        <p:nvSpPr>
          <p:cNvPr id="19" name="Shape 16"/>
          <p:cNvSpPr/>
          <p:nvPr/>
        </p:nvSpPr>
        <p:spPr>
          <a:xfrm>
            <a:off x="800100" y="4334256"/>
            <a:ext cx="2247595" cy="9144"/>
          </a:xfrm>
          <a:prstGeom prst="rect">
            <a:avLst/>
          </a:prstGeom>
          <a:solidFill>
            <a:srgbClr val="F3F4F6"/>
          </a:solidFill>
          <a:ln/>
        </p:spPr>
      </p:sp>
      <p:sp>
        <p:nvSpPr>
          <p:cNvPr id="20" name="Text 17"/>
          <p:cNvSpPr txBox="1"/>
          <p:nvPr/>
        </p:nvSpPr>
        <p:spPr>
          <a:xfrm>
            <a:off x="800100" y="4134002"/>
            <a:ext cx="5532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設定根拠</a:t>
            </a:r>
            <a:endParaRPr lang="en-US" sz="900" dirty="0"/>
          </a:p>
        </p:txBody>
      </p:sp>
      <p:sp>
        <p:nvSpPr>
          <p:cNvPr id="21" name="Text 18"/>
          <p:cNvSpPr txBox="1"/>
          <p:nvPr/>
        </p:nvSpPr>
        <p:spPr>
          <a:xfrm>
            <a:off x="800100" y="4429354"/>
            <a:ext cx="2243938"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渋谷エリアの平均単価¥7,800に対し、心理的ハードルとなる¥7,000の壁を切る設定。安すぎず「質」への期待も担保できるライン。</a:t>
            </a:r>
            <a:endParaRPr lang="en-US" sz="1000" dirty="0"/>
          </a:p>
        </p:txBody>
      </p:sp>
      <p:sp>
        <p:nvSpPr>
          <p:cNvPr id="22" name="Shape 19"/>
          <p:cNvSpPr/>
          <p:nvPr/>
        </p:nvSpPr>
        <p:spPr>
          <a:xfrm>
            <a:off x="800100" y="5438851"/>
            <a:ext cx="2247595" cy="9144"/>
          </a:xfrm>
          <a:prstGeom prst="rect">
            <a:avLst/>
          </a:prstGeom>
          <a:solidFill>
            <a:srgbClr val="F3F4F6"/>
          </a:solidFill>
          <a:ln/>
        </p:spPr>
      </p:sp>
      <p:pic>
        <p:nvPicPr>
          <p:cNvPr id="23" name="Image 1" descr="preencoded.png">    </p:cNvPr>
          <p:cNvPicPr>
            <a:picLocks noChangeAspect="1"/>
          </p:cNvPicPr>
          <p:nvPr/>
        </p:nvPicPr>
        <p:blipFill>
          <a:blip r:embed="rId2"/>
          <a:srcRect l="0" r="0" t="0" b="0"/>
          <a:stretch/>
        </p:blipFill>
        <p:spPr>
          <a:xfrm>
            <a:off x="800100" y="5581498"/>
            <a:ext cx="114300" cy="114300"/>
          </a:xfrm>
          <a:prstGeom prst="rect">
            <a:avLst/>
          </a:prstGeom>
        </p:spPr>
      </p:pic>
      <p:sp>
        <p:nvSpPr>
          <p:cNvPr id="24" name="Text 20"/>
          <p:cNvSpPr txBox="1"/>
          <p:nvPr/>
        </p:nvSpPr>
        <p:spPr>
          <a:xfrm>
            <a:off x="990295" y="5553151"/>
            <a:ext cx="16386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ターゲット: 全般・比較検討層</a:t>
            </a:r>
            <a:endParaRPr lang="en-US" sz="900" dirty="0"/>
          </a:p>
        </p:txBody>
      </p:sp>
      <p:sp>
        <p:nvSpPr>
          <p:cNvPr id="25" name="Shape 21"/>
          <p:cNvSpPr/>
          <p:nvPr/>
        </p:nvSpPr>
        <p:spPr>
          <a:xfrm>
            <a:off x="3390595" y="1876349"/>
            <a:ext cx="2628900" cy="4028846"/>
          </a:xfrm>
          <a:prstGeom prst="roundRect">
            <a:avLst>
              <a:gd name="adj" fmla="val 1512"/>
            </a:avLst>
          </a:prstGeom>
          <a:solidFill>
            <a:srgbClr val="FFFFFF"/>
          </a:solidFill>
          <a:ln/>
          <a:effectLst>
            <a:outerShdw sx="100000" sy="100000" kx="0" ky="0" algn="bl" rotWithShape="0" blurRad="12700" dist="12700" dir="16200000">
              <a:srgbClr val="000000">
                <a:alpha val="75000"/>
              </a:srgbClr>
            </a:outerShdw>
          </a:effectLst>
        </p:spPr>
      </p:sp>
      <p:sp>
        <p:nvSpPr>
          <p:cNvPr id="26" name="Shape 22"/>
          <p:cNvSpPr/>
          <p:nvPr/>
        </p:nvSpPr>
        <p:spPr>
          <a:xfrm>
            <a:off x="3390595" y="1876349"/>
            <a:ext cx="2628900" cy="38405"/>
          </a:xfrm>
          <a:prstGeom prst="rect">
            <a:avLst/>
          </a:prstGeom>
          <a:solidFill>
            <a:srgbClr val="34D399"/>
          </a:solidFill>
          <a:ln/>
        </p:spPr>
      </p:sp>
      <p:pic>
        <p:nvPicPr>
          <p:cNvPr id="27" name="Image 2" descr="preencoded.png">    </p:cNvPr>
          <p:cNvPicPr>
            <a:picLocks noChangeAspect="1"/>
          </p:cNvPicPr>
          <p:nvPr/>
        </p:nvPicPr>
        <p:blipFill>
          <a:blip r:embed="rId3">
            <a:alphaModFix amt="10000"/>
          </a:blip>
          <a:srcRect l="-469" r="-469" t="0" b="0"/>
          <a:stretch/>
        </p:blipFill>
        <p:spPr>
          <a:xfrm>
            <a:off x="5438851" y="1990649"/>
            <a:ext cx="504749" cy="571500"/>
          </a:xfrm>
          <a:prstGeom prst="rect">
            <a:avLst/>
          </a:prstGeom>
        </p:spPr>
      </p:pic>
      <p:sp>
        <p:nvSpPr>
          <p:cNvPr id="28" name="Shape 23"/>
          <p:cNvSpPr/>
          <p:nvPr/>
        </p:nvSpPr>
        <p:spPr>
          <a:xfrm>
            <a:off x="3581705" y="2124151"/>
            <a:ext cx="599846" cy="228600"/>
          </a:xfrm>
          <a:prstGeom prst="roundRect">
            <a:avLst>
              <a:gd name="adj" fmla="val 66667"/>
            </a:avLst>
          </a:prstGeom>
          <a:solidFill>
            <a:srgbClr val="D1FAE5"/>
          </a:solidFill>
          <a:ln/>
        </p:spPr>
      </p:sp>
      <p:sp>
        <p:nvSpPr>
          <p:cNvPr id="29" name="Text 24"/>
          <p:cNvSpPr txBox="1"/>
          <p:nvPr/>
        </p:nvSpPr>
        <p:spPr>
          <a:xfrm>
            <a:off x="3657600" y="2152498"/>
            <a:ext cx="534010" cy="162763"/>
          </a:xfrm>
          <a:prstGeom prst="rect">
            <a:avLst/>
          </a:prstGeom>
          <a:noFill/>
          <a:ln/>
        </p:spPr>
        <p:txBody>
          <a:bodyPr wrap="square" lIns="0" tIns="0" rIns="0" bIns="0" rtlCol="0" anchor="ctr"/>
          <a:lstStyle/>
          <a:p>
            <a:pPr algn="l" indent="0" marL="0">
              <a:buNone/>
            </a:pPr>
            <a:r>
              <a:rPr lang="en-US" sz="900" b="1" dirty="0">
                <a:solidFill>
                  <a:srgbClr val="059669"/>
                </a:solidFill>
                <a:latin typeface="Noto Sans JP" pitchFamily="34" charset="0"/>
                <a:ea typeface="Noto Sans JP" pitchFamily="34" charset="-122"/>
                <a:cs typeface="Noto Sans JP" pitchFamily="34" charset="-120"/>
              </a:rPr>
              <a:t>LAYER 2</a:t>
            </a:r>
            <a:endParaRPr lang="en-US" sz="900" dirty="0"/>
          </a:p>
        </p:txBody>
      </p:sp>
      <p:sp>
        <p:nvSpPr>
          <p:cNvPr id="30" name="Text 25"/>
          <p:cNvSpPr txBox="1"/>
          <p:nvPr/>
        </p:nvSpPr>
        <p:spPr>
          <a:xfrm>
            <a:off x="3581705" y="2438705"/>
            <a:ext cx="986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稼働率対策</a:t>
            </a:r>
            <a:endParaRPr lang="en-US" sz="1300" dirty="0"/>
          </a:p>
        </p:txBody>
      </p:sp>
      <p:sp>
        <p:nvSpPr>
          <p:cNvPr id="31" name="Text 26"/>
          <p:cNvSpPr txBox="1"/>
          <p:nvPr/>
        </p:nvSpPr>
        <p:spPr>
          <a:xfrm>
            <a:off x="3581705" y="2723998"/>
            <a:ext cx="1457554"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平日・アイドルタイム活用</a:t>
            </a:r>
            <a:endParaRPr lang="en-US" sz="900" dirty="0"/>
          </a:p>
        </p:txBody>
      </p:sp>
      <p:sp>
        <p:nvSpPr>
          <p:cNvPr id="32" name="Shape 27"/>
          <p:cNvSpPr/>
          <p:nvPr/>
        </p:nvSpPr>
        <p:spPr>
          <a:xfrm>
            <a:off x="3581705" y="3038551"/>
            <a:ext cx="2247595" cy="952805"/>
          </a:xfrm>
          <a:prstGeom prst="roundRect">
            <a:avLst>
              <a:gd name="adj" fmla="val 7678"/>
            </a:avLst>
          </a:prstGeom>
          <a:solidFill>
            <a:srgbClr val="ECFDF5"/>
          </a:solidFill>
          <a:ln/>
        </p:spPr>
      </p:sp>
      <p:sp>
        <p:nvSpPr>
          <p:cNvPr id="33" name="Text 28"/>
          <p:cNvSpPr txBox="1"/>
          <p:nvPr/>
        </p:nvSpPr>
        <p:spPr>
          <a:xfrm>
            <a:off x="4248302" y="3143707"/>
            <a:ext cx="1010412" cy="162763"/>
          </a:xfrm>
          <a:prstGeom prst="rect">
            <a:avLst/>
          </a:prstGeom>
          <a:noFill/>
          <a:ln/>
        </p:spPr>
        <p:txBody>
          <a:bodyPr wrap="square" lIns="0" tIns="0" rIns="0" bIns="0" rtlCol="0" anchor="ctr"/>
          <a:lstStyle/>
          <a:p>
            <a:pPr algn="ctr" indent="0" marL="0">
              <a:buNone/>
            </a:pPr>
            <a:r>
              <a:rPr lang="en-US" sz="900" b="1" dirty="0">
                <a:solidFill>
                  <a:srgbClr val="059669"/>
                </a:solidFill>
                <a:latin typeface="Noto Sans JP" pitchFamily="34" charset="0"/>
                <a:ea typeface="Noto Sans JP" pitchFamily="34" charset="-122"/>
                <a:cs typeface="Noto Sans JP" pitchFamily="34" charset="-120"/>
              </a:rPr>
              <a:t>平日限定クーポン</a:t>
            </a:r>
            <a:endParaRPr lang="en-US" sz="900" dirty="0"/>
          </a:p>
        </p:txBody>
      </p:sp>
      <p:sp>
        <p:nvSpPr>
          <p:cNvPr id="34" name="Text 29"/>
          <p:cNvSpPr txBox="1"/>
          <p:nvPr/>
        </p:nvSpPr>
        <p:spPr>
          <a:xfrm>
            <a:off x="4245559" y="3333902"/>
            <a:ext cx="1010412"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カット+カラー+Tr</a:t>
            </a:r>
            <a:endParaRPr lang="en-US" sz="900" dirty="0"/>
          </a:p>
        </p:txBody>
      </p:sp>
      <p:sp>
        <p:nvSpPr>
          <p:cNvPr id="35" name="Text 30"/>
          <p:cNvSpPr txBox="1"/>
          <p:nvPr/>
        </p:nvSpPr>
        <p:spPr>
          <a:xfrm>
            <a:off x="4237330" y="3495751"/>
            <a:ext cx="1157630"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¥5,900</a:t>
            </a:r>
            <a:endParaRPr lang="en-US" sz="2200" dirty="0"/>
          </a:p>
        </p:txBody>
      </p:sp>
      <p:sp>
        <p:nvSpPr>
          <p:cNvPr id="36" name="Shape 31"/>
          <p:cNvSpPr/>
          <p:nvPr/>
        </p:nvSpPr>
        <p:spPr>
          <a:xfrm>
            <a:off x="3581705" y="4334256"/>
            <a:ext cx="2247595" cy="9144"/>
          </a:xfrm>
          <a:prstGeom prst="rect">
            <a:avLst/>
          </a:prstGeom>
          <a:solidFill>
            <a:srgbClr val="F3F4F6"/>
          </a:solidFill>
          <a:ln/>
        </p:spPr>
      </p:sp>
      <p:sp>
        <p:nvSpPr>
          <p:cNvPr id="37" name="Text 32"/>
          <p:cNvSpPr txBox="1"/>
          <p:nvPr/>
        </p:nvSpPr>
        <p:spPr>
          <a:xfrm>
            <a:off x="3581705" y="4134002"/>
            <a:ext cx="5532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設定根拠</a:t>
            </a:r>
            <a:endParaRPr lang="en-US" sz="900" dirty="0"/>
          </a:p>
        </p:txBody>
      </p:sp>
      <p:sp>
        <p:nvSpPr>
          <p:cNvPr id="38" name="Text 33"/>
          <p:cNvSpPr txBox="1"/>
          <p:nvPr/>
        </p:nvSpPr>
        <p:spPr>
          <a:xfrm>
            <a:off x="3581705" y="4429354"/>
            <a:ext cx="2243938"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最安値圏の競合（¥4,900）に対抗しつつ、空席ロスを最小化するための戦略価格。学生や平日休み層を強力に誘引。</a:t>
            </a:r>
            <a:endParaRPr lang="en-US" sz="1000" dirty="0"/>
          </a:p>
        </p:txBody>
      </p:sp>
      <p:sp>
        <p:nvSpPr>
          <p:cNvPr id="39" name="Shape 34"/>
          <p:cNvSpPr/>
          <p:nvPr/>
        </p:nvSpPr>
        <p:spPr>
          <a:xfrm>
            <a:off x="3581705" y="5438851"/>
            <a:ext cx="2247595" cy="9144"/>
          </a:xfrm>
          <a:prstGeom prst="rect">
            <a:avLst/>
          </a:prstGeom>
          <a:solidFill>
            <a:srgbClr val="F3F4F6"/>
          </a:solidFill>
          <a:ln/>
        </p:spPr>
      </p:sp>
      <p:pic>
        <p:nvPicPr>
          <p:cNvPr id="40" name="Image 3" descr="preencoded.png">    </p:cNvPr>
          <p:cNvPicPr>
            <a:picLocks noChangeAspect="1"/>
          </p:cNvPicPr>
          <p:nvPr/>
        </p:nvPicPr>
        <p:blipFill>
          <a:blip r:embed="rId4"/>
          <a:srcRect l="0" r="0" t="0" b="0"/>
          <a:stretch/>
        </p:blipFill>
        <p:spPr>
          <a:xfrm>
            <a:off x="3581705" y="5581498"/>
            <a:ext cx="114300" cy="114300"/>
          </a:xfrm>
          <a:prstGeom prst="rect">
            <a:avLst/>
          </a:prstGeom>
        </p:spPr>
      </p:pic>
      <p:sp>
        <p:nvSpPr>
          <p:cNvPr id="41" name="Text 35"/>
          <p:cNvSpPr txBox="1"/>
          <p:nvPr/>
        </p:nvSpPr>
        <p:spPr>
          <a:xfrm>
            <a:off x="3771900" y="5553151"/>
            <a:ext cx="16386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ターゲット: 学生・フリーター</a:t>
            </a:r>
            <a:endParaRPr lang="en-US" sz="900" dirty="0"/>
          </a:p>
        </p:txBody>
      </p:sp>
      <p:sp>
        <p:nvSpPr>
          <p:cNvPr id="42" name="Shape 36"/>
          <p:cNvSpPr/>
          <p:nvPr/>
        </p:nvSpPr>
        <p:spPr>
          <a:xfrm>
            <a:off x="6172200" y="1876349"/>
            <a:ext cx="2628900" cy="4028846"/>
          </a:xfrm>
          <a:prstGeom prst="roundRect">
            <a:avLst>
              <a:gd name="adj" fmla="val 1512"/>
            </a:avLst>
          </a:prstGeom>
          <a:solidFill>
            <a:srgbClr val="FFFFFF"/>
          </a:solidFill>
          <a:ln/>
          <a:effectLst>
            <a:outerShdw sx="100000" sy="100000" kx="0" ky="0" algn="bl" rotWithShape="0" blurRad="12700" dist="12700" dir="16200000">
              <a:srgbClr val="000000">
                <a:alpha val="75000"/>
              </a:srgbClr>
            </a:outerShdw>
          </a:effectLst>
        </p:spPr>
      </p:sp>
      <p:sp>
        <p:nvSpPr>
          <p:cNvPr id="43" name="Shape 37"/>
          <p:cNvSpPr/>
          <p:nvPr/>
        </p:nvSpPr>
        <p:spPr>
          <a:xfrm>
            <a:off x="6172200" y="1876349"/>
            <a:ext cx="2628900" cy="38405"/>
          </a:xfrm>
          <a:prstGeom prst="rect">
            <a:avLst/>
          </a:prstGeom>
          <a:solidFill>
            <a:srgbClr val="F472B6"/>
          </a:solidFill>
          <a:ln/>
        </p:spPr>
      </p:sp>
      <p:pic>
        <p:nvPicPr>
          <p:cNvPr id="44" name="Image 4" descr="preencoded.png">    </p:cNvPr>
          <p:cNvPicPr>
            <a:picLocks noChangeAspect="1"/>
          </p:cNvPicPr>
          <p:nvPr/>
        </p:nvPicPr>
        <p:blipFill>
          <a:blip r:embed="rId5">
            <a:alphaModFix amt="10000"/>
          </a:blip>
          <a:srcRect l="-469" r="-469" t="0" b="0"/>
          <a:stretch/>
        </p:blipFill>
        <p:spPr>
          <a:xfrm>
            <a:off x="8220456" y="1990649"/>
            <a:ext cx="504749" cy="571500"/>
          </a:xfrm>
          <a:prstGeom prst="rect">
            <a:avLst/>
          </a:prstGeom>
        </p:spPr>
      </p:pic>
      <p:sp>
        <p:nvSpPr>
          <p:cNvPr id="45" name="Shape 38"/>
          <p:cNvSpPr/>
          <p:nvPr/>
        </p:nvSpPr>
        <p:spPr>
          <a:xfrm>
            <a:off x="6362395" y="2124151"/>
            <a:ext cx="599846" cy="228600"/>
          </a:xfrm>
          <a:prstGeom prst="roundRect">
            <a:avLst>
              <a:gd name="adj" fmla="val 66667"/>
            </a:avLst>
          </a:prstGeom>
          <a:solidFill>
            <a:srgbClr val="FCE7F3"/>
          </a:solidFill>
          <a:ln/>
        </p:spPr>
      </p:sp>
      <p:sp>
        <p:nvSpPr>
          <p:cNvPr id="46" name="Text 39"/>
          <p:cNvSpPr txBox="1"/>
          <p:nvPr/>
        </p:nvSpPr>
        <p:spPr>
          <a:xfrm>
            <a:off x="6439205" y="2152498"/>
            <a:ext cx="534010" cy="162763"/>
          </a:xfrm>
          <a:prstGeom prst="rect">
            <a:avLst/>
          </a:prstGeom>
          <a:noFill/>
          <a:ln/>
        </p:spPr>
        <p:txBody>
          <a:bodyPr wrap="square" lIns="0" tIns="0" rIns="0" bIns="0" rtlCol="0" anchor="ctr"/>
          <a:lstStyle/>
          <a:p>
            <a:pPr algn="l" indent="0" marL="0">
              <a:buNone/>
            </a:pPr>
            <a:r>
              <a:rPr lang="en-US" sz="900" b="1" dirty="0">
                <a:solidFill>
                  <a:srgbClr val="DB2777"/>
                </a:solidFill>
                <a:latin typeface="Noto Sans JP" pitchFamily="34" charset="0"/>
                <a:ea typeface="Noto Sans JP" pitchFamily="34" charset="-122"/>
                <a:cs typeface="Noto Sans JP" pitchFamily="34" charset="-120"/>
              </a:rPr>
              <a:t>LAYER 3</a:t>
            </a:r>
            <a:endParaRPr lang="en-US" sz="900" dirty="0"/>
          </a:p>
        </p:txBody>
      </p:sp>
      <p:sp>
        <p:nvSpPr>
          <p:cNvPr id="47" name="Text 40"/>
          <p:cNvSpPr txBox="1"/>
          <p:nvPr/>
        </p:nvSpPr>
        <p:spPr>
          <a:xfrm>
            <a:off x="6362395" y="2438705"/>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若年層囲い込み</a:t>
            </a:r>
            <a:endParaRPr lang="en-US" sz="1300" dirty="0"/>
          </a:p>
        </p:txBody>
      </p:sp>
      <p:sp>
        <p:nvSpPr>
          <p:cNvPr id="48" name="Text 41"/>
          <p:cNvSpPr txBox="1"/>
          <p:nvPr/>
        </p:nvSpPr>
        <p:spPr>
          <a:xfrm>
            <a:off x="6362395" y="2723998"/>
            <a:ext cx="12390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口コミ・トレンド拡散</a:t>
            </a:r>
            <a:endParaRPr lang="en-US" sz="900" dirty="0"/>
          </a:p>
        </p:txBody>
      </p:sp>
      <p:sp>
        <p:nvSpPr>
          <p:cNvPr id="49" name="Shape 42"/>
          <p:cNvSpPr/>
          <p:nvPr/>
        </p:nvSpPr>
        <p:spPr>
          <a:xfrm>
            <a:off x="6362395" y="3038551"/>
            <a:ext cx="2247595" cy="952805"/>
          </a:xfrm>
          <a:prstGeom prst="roundRect">
            <a:avLst>
              <a:gd name="adj" fmla="val 7678"/>
            </a:avLst>
          </a:prstGeom>
          <a:solidFill>
            <a:srgbClr val="FDF2F8"/>
          </a:solidFill>
          <a:ln/>
        </p:spPr>
      </p:sp>
      <p:sp>
        <p:nvSpPr>
          <p:cNvPr id="50" name="Text 43"/>
          <p:cNvSpPr txBox="1"/>
          <p:nvPr/>
        </p:nvSpPr>
        <p:spPr>
          <a:xfrm>
            <a:off x="7262165" y="3143707"/>
            <a:ext cx="543154" cy="162763"/>
          </a:xfrm>
          <a:prstGeom prst="rect">
            <a:avLst/>
          </a:prstGeom>
          <a:noFill/>
          <a:ln/>
        </p:spPr>
        <p:txBody>
          <a:bodyPr wrap="square" lIns="0" tIns="0" rIns="0" bIns="0" rtlCol="0" anchor="ctr"/>
          <a:lstStyle/>
          <a:p>
            <a:pPr algn="ctr" indent="0" marL="0">
              <a:buNone/>
            </a:pPr>
            <a:r>
              <a:rPr lang="en-US" sz="900" b="1" dirty="0">
                <a:solidFill>
                  <a:srgbClr val="DB2777"/>
                </a:solidFill>
                <a:latin typeface="Noto Sans JP" pitchFamily="34" charset="0"/>
                <a:ea typeface="Noto Sans JP" pitchFamily="34" charset="-122"/>
                <a:cs typeface="Noto Sans JP" pitchFamily="34" charset="-120"/>
              </a:rPr>
              <a:t>学割U24</a:t>
            </a:r>
            <a:endParaRPr lang="en-US" sz="900" dirty="0"/>
          </a:p>
        </p:txBody>
      </p:sp>
      <p:sp>
        <p:nvSpPr>
          <p:cNvPr id="51" name="Text 44"/>
          <p:cNvSpPr txBox="1"/>
          <p:nvPr/>
        </p:nvSpPr>
        <p:spPr>
          <a:xfrm>
            <a:off x="7001561" y="3333902"/>
            <a:ext cx="1057961"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デザインカラー+Tr</a:t>
            </a:r>
            <a:endParaRPr lang="en-US" sz="900" dirty="0"/>
          </a:p>
        </p:txBody>
      </p:sp>
      <p:sp>
        <p:nvSpPr>
          <p:cNvPr id="52" name="Text 45"/>
          <p:cNvSpPr txBox="1"/>
          <p:nvPr/>
        </p:nvSpPr>
        <p:spPr>
          <a:xfrm>
            <a:off x="6876288" y="3495751"/>
            <a:ext cx="1443838"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¥6,400〜</a:t>
            </a:r>
            <a:endParaRPr lang="en-US" sz="2200" dirty="0"/>
          </a:p>
        </p:txBody>
      </p:sp>
      <p:sp>
        <p:nvSpPr>
          <p:cNvPr id="53" name="Shape 46"/>
          <p:cNvSpPr/>
          <p:nvPr/>
        </p:nvSpPr>
        <p:spPr>
          <a:xfrm>
            <a:off x="6362395" y="4334256"/>
            <a:ext cx="2247595" cy="9144"/>
          </a:xfrm>
          <a:prstGeom prst="rect">
            <a:avLst/>
          </a:prstGeom>
          <a:solidFill>
            <a:srgbClr val="F3F4F6"/>
          </a:solidFill>
          <a:ln/>
        </p:spPr>
      </p:sp>
      <p:sp>
        <p:nvSpPr>
          <p:cNvPr id="54" name="Text 47"/>
          <p:cNvSpPr txBox="1"/>
          <p:nvPr/>
        </p:nvSpPr>
        <p:spPr>
          <a:xfrm>
            <a:off x="6362395" y="4134002"/>
            <a:ext cx="5532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設定根拠</a:t>
            </a:r>
            <a:endParaRPr lang="en-US" sz="900" dirty="0"/>
          </a:p>
        </p:txBody>
      </p:sp>
      <p:sp>
        <p:nvSpPr>
          <p:cNvPr id="55" name="Text 48"/>
          <p:cNvSpPr txBox="1"/>
          <p:nvPr/>
        </p:nvSpPr>
        <p:spPr>
          <a:xfrm>
            <a:off x="6362395" y="4429354"/>
            <a:ext cx="2224735"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Siena渋谷の強みである「トレンド感」を活かし、SNSでの口コミ拡散を狙う。利益率より広告効果を優先。</a:t>
            </a:r>
            <a:endParaRPr lang="en-US" sz="1000" dirty="0"/>
          </a:p>
        </p:txBody>
      </p:sp>
      <p:sp>
        <p:nvSpPr>
          <p:cNvPr id="56" name="Shape 49"/>
          <p:cNvSpPr/>
          <p:nvPr/>
        </p:nvSpPr>
        <p:spPr>
          <a:xfrm>
            <a:off x="6362395" y="5438851"/>
            <a:ext cx="2247595" cy="9144"/>
          </a:xfrm>
          <a:prstGeom prst="rect">
            <a:avLst/>
          </a:prstGeom>
          <a:solidFill>
            <a:srgbClr val="F3F4F6"/>
          </a:solidFill>
          <a:ln/>
        </p:spPr>
      </p:sp>
      <p:pic>
        <p:nvPicPr>
          <p:cNvPr id="57" name="Image 5" descr="preencoded.png">    </p:cNvPr>
          <p:cNvPicPr>
            <a:picLocks noChangeAspect="1"/>
          </p:cNvPicPr>
          <p:nvPr/>
        </p:nvPicPr>
        <p:blipFill>
          <a:blip r:embed="rId6"/>
          <a:srcRect l="0" r="0" t="0" b="0"/>
          <a:stretch/>
        </p:blipFill>
        <p:spPr>
          <a:xfrm>
            <a:off x="6362395" y="5581498"/>
            <a:ext cx="114300" cy="114300"/>
          </a:xfrm>
          <a:prstGeom prst="rect">
            <a:avLst/>
          </a:prstGeom>
        </p:spPr>
      </p:pic>
      <p:sp>
        <p:nvSpPr>
          <p:cNvPr id="58" name="Text 50"/>
          <p:cNvSpPr txBox="1"/>
          <p:nvPr/>
        </p:nvSpPr>
        <p:spPr>
          <a:xfrm>
            <a:off x="6553505" y="5553151"/>
            <a:ext cx="17529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ターゲット: 流行感度の高い学生</a:t>
            </a:r>
            <a:endParaRPr lang="en-US" sz="900" dirty="0"/>
          </a:p>
        </p:txBody>
      </p:sp>
      <p:sp>
        <p:nvSpPr>
          <p:cNvPr id="59" name="Shape 51"/>
          <p:cNvSpPr/>
          <p:nvPr/>
        </p:nvSpPr>
        <p:spPr>
          <a:xfrm>
            <a:off x="8953805" y="1876349"/>
            <a:ext cx="2628900" cy="4028846"/>
          </a:xfrm>
          <a:prstGeom prst="roundRect">
            <a:avLst>
              <a:gd name="adj" fmla="val 1512"/>
            </a:avLst>
          </a:prstGeom>
          <a:solidFill>
            <a:srgbClr val="FFFFFF"/>
          </a:solidFill>
          <a:ln/>
          <a:effectLst>
            <a:outerShdw sx="100000" sy="100000" kx="0" ky="0" algn="bl" rotWithShape="0" blurRad="12700" dist="12700" dir="16200000">
              <a:srgbClr val="000000">
                <a:alpha val="75000"/>
              </a:srgbClr>
            </a:outerShdw>
          </a:effectLst>
        </p:spPr>
      </p:sp>
      <p:sp>
        <p:nvSpPr>
          <p:cNvPr id="60" name="Shape 52"/>
          <p:cNvSpPr/>
          <p:nvPr/>
        </p:nvSpPr>
        <p:spPr>
          <a:xfrm>
            <a:off x="8953805" y="1876349"/>
            <a:ext cx="2628900" cy="38405"/>
          </a:xfrm>
          <a:prstGeom prst="rect">
            <a:avLst/>
          </a:prstGeom>
          <a:solidFill>
            <a:srgbClr val="FF6B35"/>
          </a:solidFill>
          <a:ln/>
        </p:spPr>
      </p:sp>
      <p:pic>
        <p:nvPicPr>
          <p:cNvPr id="61" name="Image 6" descr="preencoded.png">    </p:cNvPr>
          <p:cNvPicPr>
            <a:picLocks noChangeAspect="1"/>
          </p:cNvPicPr>
          <p:nvPr/>
        </p:nvPicPr>
        <p:blipFill>
          <a:blip r:embed="rId7">
            <a:alphaModFix amt="10000"/>
          </a:blip>
          <a:srcRect l="0" r="0" t="0" b="0"/>
          <a:stretch/>
        </p:blipFill>
        <p:spPr>
          <a:xfrm>
            <a:off x="10934395" y="1990649"/>
            <a:ext cx="571500" cy="571500"/>
          </a:xfrm>
          <a:prstGeom prst="rect">
            <a:avLst/>
          </a:prstGeom>
        </p:spPr>
      </p:pic>
      <p:sp>
        <p:nvSpPr>
          <p:cNvPr id="62" name="Shape 53"/>
          <p:cNvSpPr/>
          <p:nvPr/>
        </p:nvSpPr>
        <p:spPr>
          <a:xfrm>
            <a:off x="9144000" y="2124151"/>
            <a:ext cx="599846" cy="228600"/>
          </a:xfrm>
          <a:prstGeom prst="roundRect">
            <a:avLst>
              <a:gd name="adj" fmla="val 66667"/>
            </a:avLst>
          </a:prstGeom>
          <a:solidFill>
            <a:srgbClr val="FFF0E9"/>
          </a:solidFill>
          <a:ln/>
        </p:spPr>
      </p:sp>
      <p:sp>
        <p:nvSpPr>
          <p:cNvPr id="63" name="Text 54"/>
          <p:cNvSpPr txBox="1"/>
          <p:nvPr/>
        </p:nvSpPr>
        <p:spPr>
          <a:xfrm>
            <a:off x="9219895" y="2152498"/>
            <a:ext cx="534010" cy="162763"/>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LAYER 4</a:t>
            </a:r>
            <a:endParaRPr lang="en-US" sz="900" dirty="0"/>
          </a:p>
        </p:txBody>
      </p:sp>
      <p:sp>
        <p:nvSpPr>
          <p:cNvPr id="64" name="Text 55"/>
          <p:cNvSpPr txBox="1"/>
          <p:nvPr/>
        </p:nvSpPr>
        <p:spPr>
          <a:xfrm>
            <a:off x="9144000" y="2438705"/>
            <a:ext cx="939089"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LTV最大化</a:t>
            </a:r>
            <a:endParaRPr lang="en-US" sz="1300" dirty="0"/>
          </a:p>
        </p:txBody>
      </p:sp>
      <p:sp>
        <p:nvSpPr>
          <p:cNvPr id="65" name="Text 56"/>
          <p:cNvSpPr txBox="1"/>
          <p:nvPr/>
        </p:nvSpPr>
        <p:spPr>
          <a:xfrm>
            <a:off x="9144000" y="2723998"/>
            <a:ext cx="13533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高単価メニューへの定着</a:t>
            </a:r>
            <a:endParaRPr lang="en-US" sz="900" dirty="0"/>
          </a:p>
        </p:txBody>
      </p:sp>
      <p:sp>
        <p:nvSpPr>
          <p:cNvPr id="66" name="Shape 57"/>
          <p:cNvSpPr/>
          <p:nvPr/>
        </p:nvSpPr>
        <p:spPr>
          <a:xfrm>
            <a:off x="9144000" y="3038551"/>
            <a:ext cx="2247595" cy="952805"/>
          </a:xfrm>
          <a:prstGeom prst="roundRect">
            <a:avLst>
              <a:gd name="adj" fmla="val 7678"/>
            </a:avLst>
          </a:prstGeom>
          <a:solidFill>
            <a:srgbClr val="FFF0E9"/>
          </a:solidFill>
          <a:ln/>
        </p:spPr>
      </p:sp>
      <p:sp>
        <p:nvSpPr>
          <p:cNvPr id="67" name="Text 58"/>
          <p:cNvSpPr txBox="1"/>
          <p:nvPr/>
        </p:nvSpPr>
        <p:spPr>
          <a:xfrm>
            <a:off x="9877349" y="3143707"/>
            <a:ext cx="876910" cy="162763"/>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髪質改善 / 継続</a:t>
            </a:r>
            <a:endParaRPr lang="en-US" sz="900" dirty="0"/>
          </a:p>
        </p:txBody>
      </p:sp>
      <p:sp>
        <p:nvSpPr>
          <p:cNvPr id="68" name="Text 59"/>
          <p:cNvSpPr txBox="1"/>
          <p:nvPr/>
        </p:nvSpPr>
        <p:spPr>
          <a:xfrm>
            <a:off x="9909353" y="3333902"/>
            <a:ext cx="810158"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初回¥8,800 →</a:t>
            </a:r>
            <a:endParaRPr lang="en-US" sz="900" dirty="0"/>
          </a:p>
        </p:txBody>
      </p:sp>
      <p:sp>
        <p:nvSpPr>
          <p:cNvPr id="69" name="Text 60"/>
          <p:cNvSpPr txBox="1"/>
          <p:nvPr/>
        </p:nvSpPr>
        <p:spPr>
          <a:xfrm>
            <a:off x="9715500" y="3495751"/>
            <a:ext cx="1319479" cy="419710"/>
          </a:xfrm>
          <a:prstGeom prst="rect">
            <a:avLst/>
          </a:prstGeom>
          <a:noFill/>
          <a:ln/>
        </p:spPr>
        <p:txBody>
          <a:bodyPr wrap="square" lIns="0" tIns="0" rIns="0" bIns="0" rtlCol="0" anchor="ctr"/>
          <a:lstStyle/>
          <a:p>
            <a:pPr algn="ctr" indent="0" marL="0">
              <a:buNone/>
            </a:pPr>
            <a:r>
              <a:rPr lang="en-US" sz="2200" b="1" dirty="0">
                <a:solidFill>
                  <a:srgbClr val="1F2937"/>
                </a:solidFill>
                <a:latin typeface="Noto Sans JP" pitchFamily="34" charset="0"/>
                <a:ea typeface="Noto Sans JP" pitchFamily="34" charset="-122"/>
                <a:cs typeface="Noto Sans JP" pitchFamily="34" charset="-120"/>
              </a:rPr>
              <a:t>¥12,800</a:t>
            </a:r>
            <a:endParaRPr lang="en-US" sz="2200" dirty="0"/>
          </a:p>
        </p:txBody>
      </p:sp>
      <p:sp>
        <p:nvSpPr>
          <p:cNvPr id="70" name="Shape 61"/>
          <p:cNvSpPr/>
          <p:nvPr/>
        </p:nvSpPr>
        <p:spPr>
          <a:xfrm>
            <a:off x="9144000" y="4334256"/>
            <a:ext cx="2247595" cy="9144"/>
          </a:xfrm>
          <a:prstGeom prst="rect">
            <a:avLst/>
          </a:prstGeom>
          <a:solidFill>
            <a:srgbClr val="F3F4F6"/>
          </a:solidFill>
          <a:ln/>
        </p:spPr>
      </p:sp>
      <p:sp>
        <p:nvSpPr>
          <p:cNvPr id="71" name="Text 62"/>
          <p:cNvSpPr txBox="1"/>
          <p:nvPr/>
        </p:nvSpPr>
        <p:spPr>
          <a:xfrm>
            <a:off x="9144000" y="4134002"/>
            <a:ext cx="5532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設定根拠</a:t>
            </a:r>
            <a:endParaRPr lang="en-US" sz="900" dirty="0"/>
          </a:p>
        </p:txBody>
      </p:sp>
      <p:sp>
        <p:nvSpPr>
          <p:cNvPr id="72" name="Text 63"/>
          <p:cNvSpPr txBox="1"/>
          <p:nvPr/>
        </p:nvSpPr>
        <p:spPr>
          <a:xfrm>
            <a:off x="9144000" y="4429354"/>
            <a:ext cx="2233879" cy="848563"/>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入り口は低価格でも、信頼構築後に「本質的なケア」へ誘導。回数券導入で来店サイクルを固定化し収益安定へ。</a:t>
            </a:r>
            <a:endParaRPr lang="en-US" sz="1000" dirty="0"/>
          </a:p>
        </p:txBody>
      </p:sp>
      <p:sp>
        <p:nvSpPr>
          <p:cNvPr id="73" name="Shape 64"/>
          <p:cNvSpPr/>
          <p:nvPr/>
        </p:nvSpPr>
        <p:spPr>
          <a:xfrm>
            <a:off x="9144000" y="5438851"/>
            <a:ext cx="2247595" cy="9144"/>
          </a:xfrm>
          <a:prstGeom prst="rect">
            <a:avLst/>
          </a:prstGeom>
          <a:solidFill>
            <a:srgbClr val="F3F4F6"/>
          </a:solidFill>
          <a:ln/>
        </p:spPr>
      </p:sp>
      <p:pic>
        <p:nvPicPr>
          <p:cNvPr id="74" name="Image 7" descr="preencoded.png">    </p:cNvPr>
          <p:cNvPicPr>
            <a:picLocks noChangeAspect="1"/>
          </p:cNvPicPr>
          <p:nvPr/>
        </p:nvPicPr>
        <p:blipFill>
          <a:blip r:embed="rId8"/>
          <a:srcRect l="0" r="0" t="0" b="0"/>
          <a:stretch/>
        </p:blipFill>
        <p:spPr>
          <a:xfrm>
            <a:off x="9144000" y="5581498"/>
            <a:ext cx="114300" cy="114300"/>
          </a:xfrm>
          <a:prstGeom prst="rect">
            <a:avLst/>
          </a:prstGeom>
        </p:spPr>
      </p:pic>
      <p:sp>
        <p:nvSpPr>
          <p:cNvPr id="75" name="Text 65"/>
          <p:cNvSpPr txBox="1"/>
          <p:nvPr/>
        </p:nvSpPr>
        <p:spPr>
          <a:xfrm>
            <a:off x="9334195" y="5553151"/>
            <a:ext cx="17529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ターゲット: リピーター・悩み層</a:t>
            </a:r>
            <a:endParaRPr lang="en-US" sz="900" dirty="0"/>
          </a:p>
        </p:txBody>
      </p:sp>
      <p:sp>
        <p:nvSpPr>
          <p:cNvPr id="76" name="Shape 66"/>
          <p:cNvSpPr/>
          <p:nvPr/>
        </p:nvSpPr>
        <p:spPr>
          <a:xfrm>
            <a:off x="609905" y="6057900"/>
            <a:ext cx="10972800" cy="838505"/>
          </a:xfrm>
          <a:prstGeom prst="roundRect">
            <a:avLst>
              <a:gd name="adj" fmla="val 14871"/>
            </a:avLst>
          </a:prstGeom>
          <a:solidFill>
            <a:srgbClr val="1F2937"/>
          </a:solidFill>
          <a:ln/>
          <a:effectLst>
            <a:outerShdw sx="100000" sy="100000" kx="0" ky="0" algn="bl" rotWithShape="0" blurRad="12700" dist="12700" dir="16200000">
              <a:srgbClr val="000000">
                <a:alpha val="75000"/>
              </a:srgbClr>
            </a:outerShdw>
          </a:effectLst>
        </p:spPr>
      </p:sp>
      <p:sp>
        <p:nvSpPr>
          <p:cNvPr id="77" name="Shape 67"/>
          <p:cNvSpPr/>
          <p:nvPr/>
        </p:nvSpPr>
        <p:spPr>
          <a:xfrm>
            <a:off x="761695" y="6248095"/>
            <a:ext cx="371246" cy="457200"/>
          </a:xfrm>
          <a:prstGeom prst="roundRect">
            <a:avLst>
              <a:gd name="adj" fmla="val 246306"/>
            </a:avLst>
          </a:prstGeom>
          <a:solidFill>
            <a:srgbClr val="FF6B35"/>
          </a:solidFill>
          <a:ln/>
        </p:spPr>
      </p:sp>
      <p:pic>
        <p:nvPicPr>
          <p:cNvPr id="78" name="Image 8" descr="preencoded.png">    </p:cNvPr>
          <p:cNvPicPr>
            <a:picLocks noChangeAspect="1"/>
          </p:cNvPicPr>
          <p:nvPr/>
        </p:nvPicPr>
        <p:blipFill>
          <a:blip r:embed="rId9"/>
          <a:srcRect l="0" r="0" t="0" b="0"/>
          <a:stretch/>
        </p:blipFill>
        <p:spPr>
          <a:xfrm>
            <a:off x="875995" y="6377026"/>
            <a:ext cx="142646" cy="190195"/>
          </a:xfrm>
          <a:prstGeom prst="rect">
            <a:avLst/>
          </a:prstGeom>
        </p:spPr>
      </p:pic>
      <p:sp>
        <p:nvSpPr>
          <p:cNvPr id="79" name="Text 68"/>
          <p:cNvSpPr txBox="1"/>
          <p:nvPr/>
        </p:nvSpPr>
        <p:spPr>
          <a:xfrm>
            <a:off x="1285646" y="6210605"/>
            <a:ext cx="1462126"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STRATEGY SUMMARY</a:t>
            </a:r>
            <a:endParaRPr lang="en-US" sz="1000" dirty="0"/>
          </a:p>
        </p:txBody>
      </p:sp>
      <p:sp>
        <p:nvSpPr>
          <p:cNvPr id="80" name="Text 69"/>
          <p:cNvSpPr txBox="1"/>
          <p:nvPr/>
        </p:nvSpPr>
        <p:spPr>
          <a:xfrm>
            <a:off x="1285646" y="6429146"/>
            <a:ext cx="4096512"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「安さ」で呼び込み、「質」でファンにし、「高単価メニュー」で収益化する。</a:t>
            </a:r>
            <a:endParaRPr lang="en-US" sz="900" dirty="0"/>
          </a:p>
        </p:txBody>
      </p:sp>
      <p:sp>
        <p:nvSpPr>
          <p:cNvPr id="81" name="Text 70"/>
          <p:cNvSpPr txBox="1"/>
          <p:nvPr/>
        </p:nvSpPr>
        <p:spPr>
          <a:xfrm>
            <a:off x="1285646" y="6581851"/>
            <a:ext cx="5858561"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この3ステップをクーポンとメニュー価格で構造化し、競合他社が追随しにくい独自の収益モデルを構築します。</a:t>
            </a:r>
            <a:endParaRPr lang="en-US" sz="900" dirty="0"/>
          </a:p>
        </p:txBody>
      </p:sp>
      <p:sp>
        <p:nvSpPr>
          <p:cNvPr id="82" name="Shape 71"/>
          <p:cNvSpPr/>
          <p:nvPr/>
        </p:nvSpPr>
        <p:spPr>
          <a:xfrm>
            <a:off x="9133942" y="6248095"/>
            <a:ext cx="9144" cy="457200"/>
          </a:xfrm>
          <a:prstGeom prst="rect">
            <a:avLst/>
          </a:prstGeom>
          <a:solidFill>
            <a:srgbClr val="4B5563"/>
          </a:solidFill>
          <a:ln/>
        </p:spPr>
      </p:sp>
      <p:sp>
        <p:nvSpPr>
          <p:cNvPr id="83" name="Text 72"/>
          <p:cNvSpPr txBox="1"/>
          <p:nvPr/>
        </p:nvSpPr>
        <p:spPr>
          <a:xfrm>
            <a:off x="9448495" y="6238951"/>
            <a:ext cx="896112"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想定平均客単価</a:t>
            </a:r>
            <a:endParaRPr lang="en-US" sz="900" dirty="0"/>
          </a:p>
        </p:txBody>
      </p:sp>
      <p:sp>
        <p:nvSpPr>
          <p:cNvPr id="84" name="Text 73"/>
          <p:cNvSpPr txBox="1"/>
          <p:nvPr/>
        </p:nvSpPr>
        <p:spPr>
          <a:xfrm>
            <a:off x="9536278" y="6429146"/>
            <a:ext cx="771754" cy="277063"/>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¥7,200</a:t>
            </a:r>
            <a:endParaRPr lang="en-US" sz="1500" dirty="0"/>
          </a:p>
        </p:txBody>
      </p:sp>
      <p:sp>
        <p:nvSpPr>
          <p:cNvPr id="85" name="Text 74"/>
          <p:cNvSpPr txBox="1"/>
          <p:nvPr/>
        </p:nvSpPr>
        <p:spPr>
          <a:xfrm>
            <a:off x="10554005" y="6238951"/>
            <a:ext cx="667512" cy="162763"/>
          </a:xfrm>
          <a:prstGeom prst="rect">
            <a:avLst/>
          </a:prstGeom>
          <a:noFill/>
          <a:ln/>
        </p:spPr>
        <p:txBody>
          <a:bodyPr wrap="square" lIns="0" tIns="0" rIns="0" bIns="0" rtlCol="0" anchor="ctr"/>
          <a:lstStyle/>
          <a:p>
            <a:pPr algn="ctr" indent="0" marL="0">
              <a:buNone/>
            </a:pPr>
            <a:r>
              <a:rPr lang="en-US" sz="900" dirty="0">
                <a:solidFill>
                  <a:srgbClr val="9CA3AF"/>
                </a:solidFill>
                <a:latin typeface="Noto Sans JP" pitchFamily="34" charset="0"/>
                <a:ea typeface="Noto Sans JP" pitchFamily="34" charset="-122"/>
                <a:cs typeface="Noto Sans JP" pitchFamily="34" charset="-120"/>
              </a:rPr>
              <a:t>稼働率目標</a:t>
            </a:r>
            <a:endParaRPr lang="en-US" sz="900" dirty="0"/>
          </a:p>
        </p:txBody>
      </p:sp>
      <p:sp>
        <p:nvSpPr>
          <p:cNvPr id="86" name="Text 75"/>
          <p:cNvSpPr txBox="1"/>
          <p:nvPr/>
        </p:nvSpPr>
        <p:spPr>
          <a:xfrm>
            <a:off x="10635386" y="6429146"/>
            <a:ext cx="553212" cy="277063"/>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85%</a:t>
            </a:r>
            <a:endParaRPr lang="en-US" sz="1500" dirty="0"/>
          </a:p>
        </p:txBody>
      </p:sp>
      <p:sp>
        <p:nvSpPr>
          <p:cNvPr id="87" name="Shape 76"/>
          <p:cNvSpPr/>
          <p:nvPr/>
        </p:nvSpPr>
        <p:spPr>
          <a:xfrm>
            <a:off x="0" y="0"/>
            <a:ext cx="12191695" cy="314554"/>
          </a:xfrm>
          <a:prstGeom prst="rect">
            <a:avLst/>
          </a:prstGeom>
          <a:solidFill>
            <a:srgbClr val="FFFFFF"/>
          </a:solidFill>
          <a:ln/>
        </p:spPr>
      </p:sp>
      <p:sp>
        <p:nvSpPr>
          <p:cNvPr id="88" name="Shape 77"/>
          <p:cNvSpPr/>
          <p:nvPr/>
        </p:nvSpPr>
        <p:spPr>
          <a:xfrm>
            <a:off x="0" y="305410"/>
            <a:ext cx="12191695" cy="9144"/>
          </a:xfrm>
          <a:prstGeom prst="rect">
            <a:avLst/>
          </a:prstGeom>
          <a:solidFill>
            <a:srgbClr val="F3F4F6"/>
          </a:solidFill>
          <a:ln/>
        </p:spPr>
      </p:sp>
      <p:sp>
        <p:nvSpPr>
          <p:cNvPr id="89" name="Shape 78"/>
          <p:cNvSpPr/>
          <p:nvPr/>
        </p:nvSpPr>
        <p:spPr>
          <a:xfrm>
            <a:off x="609905" y="0"/>
            <a:ext cx="304495" cy="304495"/>
          </a:xfrm>
          <a:prstGeom prst="roundRect">
            <a:avLst>
              <a:gd name="adj" fmla="val 56306"/>
            </a:avLst>
          </a:prstGeom>
          <a:solidFill>
            <a:srgbClr val="1F2937"/>
          </a:solidFill>
          <a:ln/>
        </p:spPr>
      </p:sp>
      <p:pic>
        <p:nvPicPr>
          <p:cNvPr id="90" name="Image 9" descr="preencoded.png">    </p:cNvPr>
          <p:cNvPicPr>
            <a:picLocks noChangeAspect="1"/>
          </p:cNvPicPr>
          <p:nvPr/>
        </p:nvPicPr>
        <p:blipFill>
          <a:blip r:embed="rId10"/>
          <a:srcRect l="0" r="0" t="0" b="0"/>
          <a:stretch/>
        </p:blipFill>
        <p:spPr>
          <a:xfrm>
            <a:off x="694944" y="85954"/>
            <a:ext cx="133502" cy="133502"/>
          </a:xfrm>
          <a:prstGeom prst="rect">
            <a:avLst/>
          </a:prstGeom>
        </p:spPr>
      </p:pic>
      <p:sp>
        <p:nvSpPr>
          <p:cNvPr id="91" name="Shape 79"/>
          <p:cNvSpPr/>
          <p:nvPr/>
        </p:nvSpPr>
        <p:spPr>
          <a:xfrm>
            <a:off x="9598457" y="28346"/>
            <a:ext cx="1037844" cy="247802"/>
          </a:xfrm>
          <a:prstGeom prst="roundRect">
            <a:avLst>
              <a:gd name="adj" fmla="val 56770"/>
            </a:avLst>
          </a:prstGeom>
          <a:noFill/>
          <a:ln w="12700">
            <a:solidFill>
              <a:srgbClr val="E5E7EB"/>
            </a:solidFill>
            <a:prstDash val="solid"/>
          </a:ln>
        </p:spPr>
      </p:sp>
      <p:sp>
        <p:nvSpPr>
          <p:cNvPr id="92" name="Text 80"/>
          <p:cNvSpPr txBox="1"/>
          <p:nvPr/>
        </p:nvSpPr>
        <p:spPr>
          <a:xfrm>
            <a:off x="990295" y="57607"/>
            <a:ext cx="1519733"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STRATEGIC PRICING</a:t>
            </a:r>
            <a:endParaRPr lang="en-US" sz="1000" dirty="0"/>
          </a:p>
        </p:txBody>
      </p:sp>
      <p:sp>
        <p:nvSpPr>
          <p:cNvPr id="93" name="Text 81"/>
          <p:cNvSpPr txBox="1"/>
          <p:nvPr/>
        </p:nvSpPr>
        <p:spPr>
          <a:xfrm>
            <a:off x="9683496" y="66751"/>
            <a:ext cx="952805"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Phase: 掲載提案</a:t>
            </a:r>
            <a:endParaRPr lang="en-US" sz="900" dirty="0"/>
          </a:p>
        </p:txBody>
      </p:sp>
      <p:sp>
        <p:nvSpPr>
          <p:cNvPr id="94" name="Text 82"/>
          <p:cNvSpPr txBox="1"/>
          <p:nvPr/>
        </p:nvSpPr>
        <p:spPr>
          <a:xfrm>
            <a:off x="10782605" y="57607"/>
            <a:ext cx="900684"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推奨価格設定</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Shape 3"/>
          <p:cNvSpPr/>
          <p:nvPr/>
        </p:nvSpPr>
        <p:spPr>
          <a:xfrm>
            <a:off x="609905" y="1067105"/>
            <a:ext cx="3562502" cy="5486400"/>
          </a:xfrm>
          <a:prstGeom prst="roundRect">
            <a:avLst>
              <a:gd name="adj" fmla="val 824"/>
            </a:avLst>
          </a:prstGeom>
          <a:solidFill>
            <a:srgbClr val="FFFFFF"/>
          </a:solidFill>
          <a:ln/>
          <a:effectLst>
            <a:outerShdw sx="100000" sy="100000" kx="0" ky="0" algn="bl" rotWithShape="0" blurRad="12700" dist="12700" dir="16200000">
              <a:srgbClr val="000000">
                <a:alpha val="75000"/>
              </a:srgbClr>
            </a:outerShdw>
          </a:effectLst>
        </p:spPr>
      </p:sp>
      <p:sp>
        <p:nvSpPr>
          <p:cNvPr id="6" name="Shape 4"/>
          <p:cNvSpPr/>
          <p:nvPr/>
        </p:nvSpPr>
        <p:spPr>
          <a:xfrm>
            <a:off x="609905" y="1067105"/>
            <a:ext cx="3562502" cy="38405"/>
          </a:xfrm>
          <a:prstGeom prst="rect">
            <a:avLst/>
          </a:prstGeom>
          <a:solidFill>
            <a:srgbClr val="FF6B35"/>
          </a:solidFill>
          <a:ln/>
        </p:spPr>
      </p:sp>
      <p:pic>
        <p:nvPicPr>
          <p:cNvPr id="7" name="Image 0" descr="preencoded.png">    </p:cNvPr>
          <p:cNvPicPr>
            <a:picLocks noChangeAspect="1"/>
          </p:cNvPicPr>
          <p:nvPr/>
        </p:nvPicPr>
        <p:blipFill>
          <a:blip r:embed="rId1">
            <a:alphaModFix amt="5000"/>
          </a:blip>
          <a:srcRect l="0" r="0" t="0" b="0"/>
          <a:stretch/>
        </p:blipFill>
        <p:spPr>
          <a:xfrm>
            <a:off x="3098902" y="1257300"/>
            <a:ext cx="914400" cy="914400"/>
          </a:xfrm>
          <a:prstGeom prst="rect">
            <a:avLst/>
          </a:prstGeom>
        </p:spPr>
      </p:pic>
      <p:sp>
        <p:nvSpPr>
          <p:cNvPr id="8" name="Text 5"/>
          <p:cNvSpPr txBox="1"/>
          <p:nvPr/>
        </p:nvSpPr>
        <p:spPr>
          <a:xfrm>
            <a:off x="838505" y="1324051"/>
            <a:ext cx="1028700"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CORE CONCEPT</a:t>
            </a:r>
            <a:endParaRPr lang="en-US" sz="900" dirty="0"/>
          </a:p>
        </p:txBody>
      </p:sp>
      <p:sp>
        <p:nvSpPr>
          <p:cNvPr id="9" name="Text 6"/>
          <p:cNvSpPr txBox="1"/>
          <p:nvPr/>
        </p:nvSpPr>
        <p:spPr>
          <a:xfrm>
            <a:off x="838505" y="1533449"/>
            <a:ext cx="3076956" cy="619963"/>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トレンド再現 × ケア の両立を訴求する</a:t>
            </a:r>
            <a:endParaRPr lang="en-US" sz="1800" dirty="0"/>
          </a:p>
        </p:txBody>
      </p:sp>
      <p:sp>
        <p:nvSpPr>
          <p:cNvPr id="10" name="Text 7"/>
          <p:cNvSpPr txBox="1"/>
          <p:nvPr/>
        </p:nvSpPr>
        <p:spPr>
          <a:xfrm>
            <a:off x="838505" y="2295144"/>
            <a:ext cx="3167482" cy="1057961"/>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iena渋谷の成功要因である「憧れのスタイル」と「安心感（価格・ケア）」のバランスを踏襲。新規サロン様においては、まだ口コミ実績が少ない分、「写真どおりの透明感」という視覚的根拠と言語化を強化します。</a:t>
            </a:r>
            <a:endParaRPr lang="en-US" sz="1000" dirty="0"/>
          </a:p>
        </p:txBody>
      </p:sp>
      <p:sp>
        <p:nvSpPr>
          <p:cNvPr id="11" name="Shape 8"/>
          <p:cNvSpPr/>
          <p:nvPr/>
        </p:nvSpPr>
        <p:spPr>
          <a:xfrm>
            <a:off x="838505" y="3598164"/>
            <a:ext cx="3105302" cy="1143000"/>
          </a:xfrm>
          <a:prstGeom prst="roundRect">
            <a:avLst>
              <a:gd name="adj" fmla="val 5333"/>
            </a:avLst>
          </a:prstGeom>
          <a:solidFill>
            <a:srgbClr val="F9FAFB"/>
          </a:solidFill>
          <a:ln/>
        </p:spPr>
      </p:sp>
      <p:pic>
        <p:nvPicPr>
          <p:cNvPr id="12" name="Image 1" descr="preencoded.png">    </p:cNvPr>
          <p:cNvPicPr>
            <a:picLocks noChangeAspect="1"/>
          </p:cNvPicPr>
          <p:nvPr/>
        </p:nvPicPr>
        <p:blipFill>
          <a:blip r:embed="rId2"/>
          <a:srcRect l="0" r="0" t="0" b="0"/>
          <a:stretch/>
        </p:blipFill>
        <p:spPr>
          <a:xfrm>
            <a:off x="990295" y="3769157"/>
            <a:ext cx="114300" cy="114300"/>
          </a:xfrm>
          <a:prstGeom prst="rect">
            <a:avLst/>
          </a:prstGeom>
        </p:spPr>
      </p:pic>
      <p:sp>
        <p:nvSpPr>
          <p:cNvPr id="13" name="Text 9"/>
          <p:cNvSpPr txBox="1"/>
          <p:nvPr/>
        </p:nvSpPr>
        <p:spPr>
          <a:xfrm>
            <a:off x="1181405" y="3750869"/>
            <a:ext cx="896112" cy="152705"/>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必須キーワード</a:t>
            </a:r>
            <a:endParaRPr lang="en-US" sz="900" dirty="0"/>
          </a:p>
        </p:txBody>
      </p:sp>
      <p:sp>
        <p:nvSpPr>
          <p:cNvPr id="14" name="Shape 10"/>
          <p:cNvSpPr/>
          <p:nvPr/>
        </p:nvSpPr>
        <p:spPr>
          <a:xfrm>
            <a:off x="990295" y="4016959"/>
            <a:ext cx="666598" cy="247802"/>
          </a:xfrm>
          <a:prstGeom prst="roundRect">
            <a:avLst>
              <a:gd name="adj" fmla="val 369004"/>
            </a:avLst>
          </a:prstGeom>
          <a:solidFill>
            <a:srgbClr val="FFFFFF"/>
          </a:solidFill>
          <a:ln w="12700">
            <a:solidFill>
              <a:srgbClr val="E5E7EB"/>
            </a:solidFill>
            <a:prstDash val="solid"/>
          </a:ln>
        </p:spPr>
      </p:sp>
      <p:sp>
        <p:nvSpPr>
          <p:cNvPr id="15" name="Text 11"/>
          <p:cNvSpPr txBox="1"/>
          <p:nvPr/>
        </p:nvSpPr>
        <p:spPr>
          <a:xfrm>
            <a:off x="1114654" y="4055364"/>
            <a:ext cx="505663"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#透明感</a:t>
            </a:r>
            <a:endParaRPr lang="en-US" sz="900" dirty="0"/>
          </a:p>
        </p:txBody>
      </p:sp>
      <p:sp>
        <p:nvSpPr>
          <p:cNvPr id="16" name="Shape 12"/>
          <p:cNvSpPr/>
          <p:nvPr/>
        </p:nvSpPr>
        <p:spPr>
          <a:xfrm>
            <a:off x="1724558" y="4016959"/>
            <a:ext cx="1000354" cy="247802"/>
          </a:xfrm>
          <a:prstGeom prst="roundRect">
            <a:avLst>
              <a:gd name="adj" fmla="val 369004"/>
            </a:avLst>
          </a:prstGeom>
          <a:solidFill>
            <a:srgbClr val="FFFFFF"/>
          </a:solidFill>
          <a:ln w="12700">
            <a:solidFill>
              <a:srgbClr val="E5E7EB"/>
            </a:solidFill>
            <a:prstDash val="solid"/>
          </a:ln>
        </p:spPr>
      </p:sp>
      <p:sp>
        <p:nvSpPr>
          <p:cNvPr id="17" name="Text 13"/>
          <p:cNvSpPr txBox="1"/>
          <p:nvPr/>
        </p:nvSpPr>
        <p:spPr>
          <a:xfrm>
            <a:off x="1848917" y="4055364"/>
            <a:ext cx="838505"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#ダメージレス</a:t>
            </a:r>
            <a:endParaRPr lang="en-US" sz="900" dirty="0"/>
          </a:p>
        </p:txBody>
      </p:sp>
      <p:sp>
        <p:nvSpPr>
          <p:cNvPr id="18" name="Shape 14"/>
          <p:cNvSpPr/>
          <p:nvPr/>
        </p:nvSpPr>
        <p:spPr>
          <a:xfrm>
            <a:off x="2796235" y="4016959"/>
            <a:ext cx="780898" cy="247802"/>
          </a:xfrm>
          <a:prstGeom prst="roundRect">
            <a:avLst>
              <a:gd name="adj" fmla="val 369004"/>
            </a:avLst>
          </a:prstGeom>
          <a:solidFill>
            <a:srgbClr val="FFFFFF"/>
          </a:solidFill>
          <a:ln w="12700">
            <a:solidFill>
              <a:srgbClr val="E5E7EB"/>
            </a:solidFill>
            <a:prstDash val="solid"/>
          </a:ln>
        </p:spPr>
      </p:sp>
      <p:sp>
        <p:nvSpPr>
          <p:cNvPr id="19" name="Text 15"/>
          <p:cNvSpPr txBox="1"/>
          <p:nvPr/>
        </p:nvSpPr>
        <p:spPr>
          <a:xfrm>
            <a:off x="2920594" y="4055364"/>
            <a:ext cx="619963"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#髪質改善</a:t>
            </a:r>
            <a:endParaRPr lang="en-US" sz="900" dirty="0"/>
          </a:p>
        </p:txBody>
      </p:sp>
      <p:sp>
        <p:nvSpPr>
          <p:cNvPr id="20" name="Shape 16"/>
          <p:cNvSpPr/>
          <p:nvPr/>
        </p:nvSpPr>
        <p:spPr>
          <a:xfrm>
            <a:off x="990295" y="4340657"/>
            <a:ext cx="780898" cy="247802"/>
          </a:xfrm>
          <a:prstGeom prst="roundRect">
            <a:avLst>
              <a:gd name="adj" fmla="val 369004"/>
            </a:avLst>
          </a:prstGeom>
          <a:solidFill>
            <a:srgbClr val="FFFFFF"/>
          </a:solidFill>
          <a:ln w="12700">
            <a:solidFill>
              <a:srgbClr val="E5E7EB"/>
            </a:solidFill>
            <a:prstDash val="solid"/>
          </a:ln>
        </p:spPr>
      </p:sp>
      <p:sp>
        <p:nvSpPr>
          <p:cNvPr id="21" name="Text 17"/>
          <p:cNvSpPr txBox="1"/>
          <p:nvPr/>
        </p:nvSpPr>
        <p:spPr>
          <a:xfrm>
            <a:off x="1114654" y="4379062"/>
            <a:ext cx="619963"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#似合わせ</a:t>
            </a:r>
            <a:endParaRPr lang="en-US" sz="900" dirty="0"/>
          </a:p>
        </p:txBody>
      </p:sp>
      <p:sp>
        <p:nvSpPr>
          <p:cNvPr id="22" name="Shape 18"/>
          <p:cNvSpPr/>
          <p:nvPr/>
        </p:nvSpPr>
        <p:spPr>
          <a:xfrm>
            <a:off x="1838858" y="4340657"/>
            <a:ext cx="666598" cy="247802"/>
          </a:xfrm>
          <a:prstGeom prst="roundRect">
            <a:avLst>
              <a:gd name="adj" fmla="val 369004"/>
            </a:avLst>
          </a:prstGeom>
          <a:solidFill>
            <a:srgbClr val="FFFFFF"/>
          </a:solidFill>
          <a:ln w="12700">
            <a:solidFill>
              <a:srgbClr val="E5E7EB"/>
            </a:solidFill>
            <a:prstDash val="solid"/>
          </a:ln>
        </p:spPr>
      </p:sp>
      <p:sp>
        <p:nvSpPr>
          <p:cNvPr id="23" name="Text 19"/>
          <p:cNvSpPr txBox="1"/>
          <p:nvPr/>
        </p:nvSpPr>
        <p:spPr>
          <a:xfrm>
            <a:off x="1963217" y="4379062"/>
            <a:ext cx="505663"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#韓国風</a:t>
            </a:r>
            <a:endParaRPr lang="en-US" sz="900" dirty="0"/>
          </a:p>
        </p:txBody>
      </p:sp>
      <p:sp>
        <p:nvSpPr>
          <p:cNvPr id="24" name="Shape 20"/>
          <p:cNvSpPr/>
          <p:nvPr/>
        </p:nvSpPr>
        <p:spPr>
          <a:xfrm>
            <a:off x="838505" y="4969764"/>
            <a:ext cx="3105302" cy="9144"/>
          </a:xfrm>
          <a:prstGeom prst="rect">
            <a:avLst/>
          </a:prstGeom>
          <a:solidFill>
            <a:srgbClr val="F3F4F6"/>
          </a:solidFill>
          <a:ln/>
        </p:spPr>
      </p:sp>
      <p:sp>
        <p:nvSpPr>
          <p:cNvPr id="25" name="Text 21"/>
          <p:cNvSpPr txBox="1"/>
          <p:nvPr/>
        </p:nvSpPr>
        <p:spPr>
          <a:xfrm>
            <a:off x="838505" y="5122469"/>
            <a:ext cx="110551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ビジュアル選定基準</a:t>
            </a:r>
            <a:endParaRPr lang="en-US" sz="900" dirty="0"/>
          </a:p>
        </p:txBody>
      </p:sp>
      <p:pic>
        <p:nvPicPr>
          <p:cNvPr id="26" name="Image 2" descr="preencoded.png">    </p:cNvPr>
          <p:cNvPicPr>
            <a:picLocks noChangeAspect="1"/>
          </p:cNvPicPr>
          <p:nvPr/>
        </p:nvPicPr>
        <p:blipFill>
          <a:blip r:embed="rId3"/>
          <a:srcRect l="0" r="0" t="0" b="0"/>
          <a:stretch/>
        </p:blipFill>
        <p:spPr>
          <a:xfrm>
            <a:off x="838505" y="5416906"/>
            <a:ext cx="114300" cy="114300"/>
          </a:xfrm>
          <a:prstGeom prst="rect">
            <a:avLst/>
          </a:prstGeom>
        </p:spPr>
      </p:pic>
      <p:sp>
        <p:nvSpPr>
          <p:cNvPr id="27" name="Text 22"/>
          <p:cNvSpPr txBox="1"/>
          <p:nvPr/>
        </p:nvSpPr>
        <p:spPr>
          <a:xfrm>
            <a:off x="1028700" y="5398618"/>
            <a:ext cx="1810512"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自然光での撮影（加工感少なめ）</a:t>
            </a:r>
            <a:endParaRPr lang="en-US" sz="900" dirty="0"/>
          </a:p>
        </p:txBody>
      </p:sp>
      <p:pic>
        <p:nvPicPr>
          <p:cNvPr id="28" name="Image 3" descr="preencoded.png">    </p:cNvPr>
          <p:cNvPicPr>
            <a:picLocks noChangeAspect="1"/>
          </p:cNvPicPr>
          <p:nvPr/>
        </p:nvPicPr>
        <p:blipFill>
          <a:blip r:embed="rId4"/>
          <a:srcRect l="0" r="0" t="0" b="0"/>
          <a:stretch/>
        </p:blipFill>
        <p:spPr>
          <a:xfrm>
            <a:off x="838505" y="5645506"/>
            <a:ext cx="114300" cy="114300"/>
          </a:xfrm>
          <a:prstGeom prst="rect">
            <a:avLst/>
          </a:prstGeom>
        </p:spPr>
      </p:pic>
      <p:sp>
        <p:nvSpPr>
          <p:cNvPr id="29" name="Text 23"/>
          <p:cNvSpPr txBox="1"/>
          <p:nvPr/>
        </p:nvSpPr>
        <p:spPr>
          <a:xfrm>
            <a:off x="1028700" y="5627218"/>
            <a:ext cx="1914754"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髪の艶リングがはっきり見える角度</a:t>
            </a:r>
            <a:endParaRPr lang="en-US" sz="900" dirty="0"/>
          </a:p>
        </p:txBody>
      </p:sp>
      <p:pic>
        <p:nvPicPr>
          <p:cNvPr id="30" name="Image 4" descr="preencoded.png">    </p:cNvPr>
          <p:cNvPicPr>
            <a:picLocks noChangeAspect="1"/>
          </p:cNvPicPr>
          <p:nvPr/>
        </p:nvPicPr>
        <p:blipFill>
          <a:blip r:embed="rId5"/>
          <a:srcRect l="0" r="0" t="0" b="0"/>
          <a:stretch/>
        </p:blipFill>
        <p:spPr>
          <a:xfrm>
            <a:off x="838505" y="5874106"/>
            <a:ext cx="114300" cy="114300"/>
          </a:xfrm>
          <a:prstGeom prst="rect">
            <a:avLst/>
          </a:prstGeom>
        </p:spPr>
      </p:pic>
      <p:sp>
        <p:nvSpPr>
          <p:cNvPr id="31" name="Text 24"/>
          <p:cNvSpPr txBox="1"/>
          <p:nvPr/>
        </p:nvSpPr>
        <p:spPr>
          <a:xfrm>
            <a:off x="1028700" y="5855818"/>
            <a:ext cx="1686154" cy="152705"/>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顔周りのレイヤーの動きを強調</a:t>
            </a:r>
            <a:endParaRPr lang="en-US" sz="900" dirty="0"/>
          </a:p>
        </p:txBody>
      </p:sp>
      <p:sp>
        <p:nvSpPr>
          <p:cNvPr id="32" name="Shape 25"/>
          <p:cNvSpPr/>
          <p:nvPr/>
        </p:nvSpPr>
        <p:spPr>
          <a:xfrm>
            <a:off x="4470502" y="1067105"/>
            <a:ext cx="3448202" cy="2523744"/>
          </a:xfrm>
          <a:prstGeom prst="roundRect">
            <a:avLst>
              <a:gd name="adj" fmla="val 1641"/>
            </a:avLst>
          </a:prstGeom>
          <a:solidFill>
            <a:srgbClr val="FFFFFF"/>
          </a:solidFill>
          <a:ln/>
          <a:effectLst>
            <a:outerShdw sx="100000" sy="100000" kx="0" ky="0" algn="bl" rotWithShape="0" blurRad="12700" dist="12700" dir="16200000">
              <a:srgbClr val="000000">
                <a:alpha val="75000"/>
              </a:srgbClr>
            </a:outerShdw>
          </a:effectLst>
        </p:spPr>
      </p:sp>
      <p:sp>
        <p:nvSpPr>
          <p:cNvPr id="33" name="Shape 26"/>
          <p:cNvSpPr/>
          <p:nvPr/>
        </p:nvSpPr>
        <p:spPr>
          <a:xfrm>
            <a:off x="4623206" y="952805"/>
            <a:ext cx="1561795" cy="228600"/>
          </a:xfrm>
          <a:prstGeom prst="roundRect">
            <a:avLst>
              <a:gd name="adj" fmla="val 400000"/>
            </a:avLst>
          </a:prstGeom>
          <a:solidFill>
            <a:srgbClr val="FF6B35"/>
          </a:solidFill>
          <a:ln/>
        </p:spPr>
      </p:sp>
      <p:sp>
        <p:nvSpPr>
          <p:cNvPr id="34" name="Text 27"/>
          <p:cNvSpPr txBox="1"/>
          <p:nvPr/>
        </p:nvSpPr>
        <p:spPr>
          <a:xfrm>
            <a:off x="4737506" y="981151"/>
            <a:ext cx="1420063"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パターンA：トレンド重視</a:t>
            </a:r>
            <a:endParaRPr lang="en-US" sz="900" dirty="0"/>
          </a:p>
        </p:txBody>
      </p:sp>
      <p:sp>
        <p:nvSpPr>
          <p:cNvPr id="35" name="Text 28"/>
          <p:cNvSpPr txBox="1"/>
          <p:nvPr/>
        </p:nvSpPr>
        <p:spPr>
          <a:xfrm>
            <a:off x="4660697" y="1362456"/>
            <a:ext cx="10104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キャッチコピー例</a:t>
            </a:r>
            <a:endParaRPr lang="en-US" sz="900" dirty="0"/>
          </a:p>
        </p:txBody>
      </p:sp>
      <p:sp>
        <p:nvSpPr>
          <p:cNvPr id="36" name="Shape 29"/>
          <p:cNvSpPr/>
          <p:nvPr/>
        </p:nvSpPr>
        <p:spPr>
          <a:xfrm>
            <a:off x="4660697" y="1561795"/>
            <a:ext cx="38405" cy="714146"/>
          </a:xfrm>
          <a:prstGeom prst="rect">
            <a:avLst/>
          </a:prstGeom>
          <a:solidFill>
            <a:srgbClr val="FF6B35"/>
          </a:solidFill>
          <a:ln/>
        </p:spPr>
      </p:sp>
      <p:sp>
        <p:nvSpPr>
          <p:cNvPr id="37" name="Text 30"/>
          <p:cNvSpPr txBox="1"/>
          <p:nvPr/>
        </p:nvSpPr>
        <p:spPr>
          <a:xfrm>
            <a:off x="4813402" y="1552651"/>
            <a:ext cx="2919679" cy="7242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SNSで話題の透明感カラー♪ イルミナ×髪質改善で 自分史上最高の艶髪へ</a:t>
            </a:r>
            <a:endParaRPr lang="en-US" sz="1300" dirty="0"/>
          </a:p>
        </p:txBody>
      </p:sp>
      <p:sp>
        <p:nvSpPr>
          <p:cNvPr id="38" name="Shape 31"/>
          <p:cNvSpPr/>
          <p:nvPr/>
        </p:nvSpPr>
        <p:spPr>
          <a:xfrm>
            <a:off x="4660697" y="2383841"/>
            <a:ext cx="3066898" cy="1009498"/>
          </a:xfrm>
          <a:prstGeom prst="roundRect">
            <a:avLst>
              <a:gd name="adj" fmla="val 3418"/>
            </a:avLst>
          </a:prstGeom>
          <a:solidFill>
            <a:srgbClr val="F9FAFB"/>
          </a:solidFill>
          <a:ln/>
        </p:spPr>
      </p:sp>
      <p:sp>
        <p:nvSpPr>
          <p:cNvPr id="39" name="Text 32"/>
          <p:cNvSpPr txBox="1"/>
          <p:nvPr/>
        </p:nvSpPr>
        <p:spPr>
          <a:xfrm>
            <a:off x="4774997" y="2507285"/>
            <a:ext cx="6675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本文構成案</a:t>
            </a:r>
            <a:endParaRPr lang="en-US" sz="900" dirty="0"/>
          </a:p>
        </p:txBody>
      </p:sp>
      <p:sp>
        <p:nvSpPr>
          <p:cNvPr id="40" name="Text 33"/>
          <p:cNvSpPr txBox="1"/>
          <p:nvPr/>
        </p:nvSpPr>
        <p:spPr>
          <a:xfrm>
            <a:off x="4774997" y="2731313"/>
            <a:ext cx="2829154" cy="534010"/>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「ブリーチなしでも透ける」大人気のイルミナカラー！ダメージを最小限に抑え、色落ちまで可愛いを計算してご提案します★学割U24対応◎</a:t>
            </a:r>
            <a:endParaRPr lang="en-US" sz="900" dirty="0"/>
          </a:p>
        </p:txBody>
      </p:sp>
      <p:sp>
        <p:nvSpPr>
          <p:cNvPr id="41" name="Shape 34"/>
          <p:cNvSpPr/>
          <p:nvPr/>
        </p:nvSpPr>
        <p:spPr>
          <a:xfrm>
            <a:off x="8140903" y="1067105"/>
            <a:ext cx="3448202" cy="2523744"/>
          </a:xfrm>
          <a:prstGeom prst="roundRect">
            <a:avLst>
              <a:gd name="adj" fmla="val 1641"/>
            </a:avLst>
          </a:prstGeom>
          <a:solidFill>
            <a:srgbClr val="FFFFFF"/>
          </a:solidFill>
          <a:ln/>
          <a:effectLst>
            <a:outerShdw sx="100000" sy="100000" kx="0" ky="0" algn="bl" rotWithShape="0" blurRad="12700" dist="12700" dir="16200000">
              <a:srgbClr val="000000">
                <a:alpha val="75000"/>
              </a:srgbClr>
            </a:outerShdw>
          </a:effectLst>
        </p:spPr>
      </p:sp>
      <p:sp>
        <p:nvSpPr>
          <p:cNvPr id="42" name="Shape 35"/>
          <p:cNvSpPr/>
          <p:nvPr/>
        </p:nvSpPr>
        <p:spPr>
          <a:xfrm>
            <a:off x="8292694" y="952805"/>
            <a:ext cx="1676095" cy="228600"/>
          </a:xfrm>
          <a:prstGeom prst="roundRect">
            <a:avLst>
              <a:gd name="adj" fmla="val 400000"/>
            </a:avLst>
          </a:prstGeom>
          <a:solidFill>
            <a:srgbClr val="3B82F6"/>
          </a:solidFill>
          <a:ln/>
        </p:spPr>
      </p:sp>
      <p:sp>
        <p:nvSpPr>
          <p:cNvPr id="43" name="Text 36"/>
          <p:cNvSpPr txBox="1"/>
          <p:nvPr/>
        </p:nvSpPr>
        <p:spPr>
          <a:xfrm>
            <a:off x="8406994" y="981151"/>
            <a:ext cx="1534363"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パターンB：ケア・悩み解決</a:t>
            </a:r>
            <a:endParaRPr lang="en-US" sz="900" dirty="0"/>
          </a:p>
        </p:txBody>
      </p:sp>
      <p:sp>
        <p:nvSpPr>
          <p:cNvPr id="44" name="Text 37"/>
          <p:cNvSpPr txBox="1"/>
          <p:nvPr/>
        </p:nvSpPr>
        <p:spPr>
          <a:xfrm>
            <a:off x="8331098" y="1362456"/>
            <a:ext cx="10104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キャッチコピー例</a:t>
            </a:r>
            <a:endParaRPr lang="en-US" sz="900" dirty="0"/>
          </a:p>
        </p:txBody>
      </p:sp>
      <p:sp>
        <p:nvSpPr>
          <p:cNvPr id="45" name="Shape 38"/>
          <p:cNvSpPr/>
          <p:nvPr/>
        </p:nvSpPr>
        <p:spPr>
          <a:xfrm>
            <a:off x="8331098" y="1561795"/>
            <a:ext cx="38405" cy="714146"/>
          </a:xfrm>
          <a:prstGeom prst="rect">
            <a:avLst/>
          </a:prstGeom>
          <a:solidFill>
            <a:srgbClr val="3B82F6"/>
          </a:solidFill>
          <a:ln/>
        </p:spPr>
      </p:sp>
      <p:sp>
        <p:nvSpPr>
          <p:cNvPr id="46" name="Text 39"/>
          <p:cNvSpPr txBox="1"/>
          <p:nvPr/>
        </p:nvSpPr>
        <p:spPr>
          <a:xfrm>
            <a:off x="8483803" y="1552651"/>
            <a:ext cx="2910535" cy="7242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広がり・パサつきにサヨナラ。 本気の髪質改善で 毎朝のセットが5分短縮！</a:t>
            </a:r>
            <a:endParaRPr lang="en-US" sz="1300" dirty="0"/>
          </a:p>
        </p:txBody>
      </p:sp>
      <p:sp>
        <p:nvSpPr>
          <p:cNvPr id="47" name="Shape 40"/>
          <p:cNvSpPr/>
          <p:nvPr/>
        </p:nvSpPr>
        <p:spPr>
          <a:xfrm>
            <a:off x="8331098" y="2383841"/>
            <a:ext cx="3066898" cy="1009498"/>
          </a:xfrm>
          <a:prstGeom prst="roundRect">
            <a:avLst>
              <a:gd name="adj" fmla="val 3418"/>
            </a:avLst>
          </a:prstGeom>
          <a:solidFill>
            <a:srgbClr val="F9FAFB"/>
          </a:solidFill>
          <a:ln/>
        </p:spPr>
      </p:sp>
      <p:sp>
        <p:nvSpPr>
          <p:cNvPr id="48" name="Text 41"/>
          <p:cNvSpPr txBox="1"/>
          <p:nvPr/>
        </p:nvSpPr>
        <p:spPr>
          <a:xfrm>
            <a:off x="8445398" y="2507285"/>
            <a:ext cx="6675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本文構成案</a:t>
            </a:r>
            <a:endParaRPr lang="en-US" sz="900" dirty="0"/>
          </a:p>
        </p:txBody>
      </p:sp>
      <p:sp>
        <p:nvSpPr>
          <p:cNvPr id="49" name="Text 42"/>
          <p:cNvSpPr txBox="1"/>
          <p:nvPr/>
        </p:nvSpPr>
        <p:spPr>
          <a:xfrm>
            <a:off x="8445398" y="2731313"/>
            <a:ext cx="2839212" cy="534010"/>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諦めていたダメージ毛も、話題の酸熱トリートメントで驚くほどの手触りに。縮毛矯正まではしたくないけど、うねりが気になる方に最適です♪</a:t>
            </a:r>
            <a:endParaRPr lang="en-US" sz="900" dirty="0"/>
          </a:p>
        </p:txBody>
      </p:sp>
      <p:sp>
        <p:nvSpPr>
          <p:cNvPr id="50" name="Shape 43"/>
          <p:cNvSpPr/>
          <p:nvPr/>
        </p:nvSpPr>
        <p:spPr>
          <a:xfrm>
            <a:off x="4470502" y="3812134"/>
            <a:ext cx="7114946" cy="3276295"/>
          </a:xfrm>
          <a:prstGeom prst="roundRect">
            <a:avLst>
              <a:gd name="adj" fmla="val 974"/>
            </a:avLst>
          </a:prstGeom>
          <a:solidFill>
            <a:srgbClr val="FFFFFF"/>
          </a:solidFill>
          <a:ln/>
          <a:effectLst>
            <a:outerShdw sx="100000" sy="100000" kx="0" ky="0" algn="bl" rotWithShape="0" blurRad="12700" dist="12700" dir="16200000">
              <a:srgbClr val="000000">
                <a:alpha val="75000"/>
              </a:srgbClr>
            </a:outerShdw>
          </a:effectLst>
        </p:spPr>
      </p:sp>
      <p:pic>
        <p:nvPicPr>
          <p:cNvPr id="51" name="Image 5" descr="preencoded.png">    </p:cNvPr>
          <p:cNvPicPr>
            <a:picLocks noChangeAspect="1"/>
          </p:cNvPicPr>
          <p:nvPr/>
        </p:nvPicPr>
        <p:blipFill>
          <a:blip r:embed="rId6"/>
          <a:srcRect l="-760" r="-760" t="0" b="0"/>
          <a:stretch/>
        </p:blipFill>
        <p:spPr>
          <a:xfrm>
            <a:off x="4699102" y="4088282"/>
            <a:ext cx="152705" cy="171907"/>
          </a:xfrm>
          <a:prstGeom prst="rect">
            <a:avLst/>
          </a:prstGeom>
        </p:spPr>
      </p:pic>
      <p:sp>
        <p:nvSpPr>
          <p:cNvPr id="52" name="Text 44"/>
          <p:cNvSpPr txBox="1"/>
          <p:nvPr/>
        </p:nvSpPr>
        <p:spPr>
          <a:xfrm>
            <a:off x="4927702" y="4040734"/>
            <a:ext cx="1843430" cy="267005"/>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NG / OK ガイドライン</a:t>
            </a:r>
            <a:endParaRPr lang="en-US" sz="1300" dirty="0"/>
          </a:p>
        </p:txBody>
      </p:sp>
      <p:pic>
        <p:nvPicPr>
          <p:cNvPr id="53" name="Image 6" descr="preencoded.png">    </p:cNvPr>
          <p:cNvPicPr>
            <a:picLocks noChangeAspect="1"/>
          </p:cNvPicPr>
          <p:nvPr/>
        </p:nvPicPr>
        <p:blipFill>
          <a:blip r:embed="rId7"/>
          <a:srcRect l="0" r="0" t="0" b="0"/>
          <a:stretch/>
        </p:blipFill>
        <p:spPr>
          <a:xfrm>
            <a:off x="4699102" y="4488790"/>
            <a:ext cx="133502" cy="133502"/>
          </a:xfrm>
          <a:prstGeom prst="rect">
            <a:avLst/>
          </a:prstGeom>
        </p:spPr>
      </p:pic>
      <p:sp>
        <p:nvSpPr>
          <p:cNvPr id="54" name="Text 45"/>
          <p:cNvSpPr txBox="1"/>
          <p:nvPr/>
        </p:nvSpPr>
        <p:spPr>
          <a:xfrm>
            <a:off x="4908499" y="4460443"/>
            <a:ext cx="1443838" cy="191110"/>
          </a:xfrm>
          <a:prstGeom prst="rect">
            <a:avLst/>
          </a:prstGeom>
          <a:noFill/>
          <a:ln/>
        </p:spPr>
        <p:txBody>
          <a:bodyPr wrap="square" lIns="0" tIns="0" rIns="0" bIns="0" rtlCol="0" anchor="ctr"/>
          <a:lstStyle/>
          <a:p>
            <a:pPr algn="l" indent="0" marL="0">
              <a:buNone/>
            </a:pPr>
            <a:r>
              <a:rPr lang="en-US" sz="1000" b="1" dirty="0">
                <a:solidFill>
                  <a:srgbClr val="EF4444"/>
                </a:solidFill>
                <a:latin typeface="Noto Sans JP" pitchFamily="34" charset="0"/>
                <a:ea typeface="Noto Sans JP" pitchFamily="34" charset="-122"/>
                <a:cs typeface="Noto Sans JP" pitchFamily="34" charset="-120"/>
              </a:rPr>
              <a:t>BAD (もったいない例)</a:t>
            </a:r>
            <a:endParaRPr lang="en-US" sz="1000" dirty="0"/>
          </a:p>
        </p:txBody>
      </p:sp>
      <p:sp>
        <p:nvSpPr>
          <p:cNvPr id="55" name="Shape 46"/>
          <p:cNvSpPr/>
          <p:nvPr/>
        </p:nvSpPr>
        <p:spPr>
          <a:xfrm>
            <a:off x="4699102" y="4764938"/>
            <a:ext cx="3219602" cy="571500"/>
          </a:xfrm>
          <a:prstGeom prst="rect">
            <a:avLst/>
          </a:prstGeom>
          <a:solidFill>
            <a:srgbClr val="FEF2F2"/>
          </a:solidFill>
          <a:ln/>
        </p:spPr>
      </p:sp>
      <p:sp>
        <p:nvSpPr>
          <p:cNvPr id="56" name="Shape 47"/>
          <p:cNvSpPr/>
          <p:nvPr/>
        </p:nvSpPr>
        <p:spPr>
          <a:xfrm>
            <a:off x="4699102" y="4764938"/>
            <a:ext cx="38405" cy="571500"/>
          </a:xfrm>
          <a:prstGeom prst="rect">
            <a:avLst/>
          </a:prstGeom>
          <a:solidFill>
            <a:srgbClr val="EF4444"/>
          </a:solidFill>
          <a:ln/>
        </p:spPr>
      </p:sp>
      <p:sp>
        <p:nvSpPr>
          <p:cNvPr id="57" name="Text 48"/>
          <p:cNvSpPr txBox="1"/>
          <p:nvPr/>
        </p:nvSpPr>
        <p:spPr>
          <a:xfrm>
            <a:off x="4851806" y="4870094"/>
            <a:ext cx="1686154"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「安いです！来てください！」</a:t>
            </a:r>
            <a:endParaRPr lang="en-US" sz="900" dirty="0"/>
          </a:p>
        </p:txBody>
      </p:sp>
      <p:sp>
        <p:nvSpPr>
          <p:cNvPr id="58" name="Text 49"/>
          <p:cNvSpPr txBox="1"/>
          <p:nvPr/>
        </p:nvSpPr>
        <p:spPr>
          <a:xfrm>
            <a:off x="4851806" y="5060290"/>
            <a:ext cx="25146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価格だけの訴求は、質の低さを懸念させる。</a:t>
            </a:r>
            <a:endParaRPr lang="en-US" sz="900" dirty="0"/>
          </a:p>
        </p:txBody>
      </p:sp>
      <p:sp>
        <p:nvSpPr>
          <p:cNvPr id="59" name="Shape 50"/>
          <p:cNvSpPr/>
          <p:nvPr/>
        </p:nvSpPr>
        <p:spPr>
          <a:xfrm>
            <a:off x="4699102" y="5450738"/>
            <a:ext cx="3219602" cy="571500"/>
          </a:xfrm>
          <a:prstGeom prst="rect">
            <a:avLst/>
          </a:prstGeom>
          <a:solidFill>
            <a:srgbClr val="FEF2F2"/>
          </a:solidFill>
          <a:ln/>
        </p:spPr>
      </p:sp>
      <p:sp>
        <p:nvSpPr>
          <p:cNvPr id="60" name="Shape 51"/>
          <p:cNvSpPr/>
          <p:nvPr/>
        </p:nvSpPr>
        <p:spPr>
          <a:xfrm>
            <a:off x="4699102" y="5450738"/>
            <a:ext cx="38405" cy="571500"/>
          </a:xfrm>
          <a:prstGeom prst="rect">
            <a:avLst/>
          </a:prstGeom>
          <a:solidFill>
            <a:srgbClr val="EF4444"/>
          </a:solidFill>
          <a:ln/>
        </p:spPr>
      </p:sp>
      <p:sp>
        <p:nvSpPr>
          <p:cNvPr id="61" name="Text 52"/>
          <p:cNvSpPr txBox="1"/>
          <p:nvPr/>
        </p:nvSpPr>
        <p:spPr>
          <a:xfrm>
            <a:off x="4851806" y="5555894"/>
            <a:ext cx="1705356"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「カット+カラー ¥5,900」のみ</a:t>
            </a:r>
            <a:endParaRPr lang="en-US" sz="900" dirty="0"/>
          </a:p>
        </p:txBody>
      </p:sp>
      <p:sp>
        <p:nvSpPr>
          <p:cNvPr id="62" name="Text 53"/>
          <p:cNvSpPr txBox="1"/>
          <p:nvPr/>
        </p:nvSpPr>
        <p:spPr>
          <a:xfrm>
            <a:off x="4851806" y="5746090"/>
            <a:ext cx="27432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メニュー名だけではベネフィットが伝わらない。</a:t>
            </a:r>
            <a:endParaRPr lang="en-US" sz="900" dirty="0"/>
          </a:p>
        </p:txBody>
      </p:sp>
      <p:sp>
        <p:nvSpPr>
          <p:cNvPr id="63" name="Shape 54"/>
          <p:cNvSpPr/>
          <p:nvPr/>
        </p:nvSpPr>
        <p:spPr>
          <a:xfrm>
            <a:off x="4699102" y="6136538"/>
            <a:ext cx="3219602" cy="724205"/>
          </a:xfrm>
          <a:prstGeom prst="rect">
            <a:avLst/>
          </a:prstGeom>
          <a:solidFill>
            <a:srgbClr val="FEF2F2"/>
          </a:solidFill>
          <a:ln/>
        </p:spPr>
      </p:sp>
      <p:sp>
        <p:nvSpPr>
          <p:cNvPr id="64" name="Shape 55"/>
          <p:cNvSpPr/>
          <p:nvPr/>
        </p:nvSpPr>
        <p:spPr>
          <a:xfrm>
            <a:off x="4699102" y="6136538"/>
            <a:ext cx="38405" cy="724205"/>
          </a:xfrm>
          <a:prstGeom prst="rect">
            <a:avLst/>
          </a:prstGeom>
          <a:solidFill>
            <a:srgbClr val="EF4444"/>
          </a:solidFill>
          <a:ln/>
        </p:spPr>
      </p:sp>
      <p:sp>
        <p:nvSpPr>
          <p:cNvPr id="65" name="Text 56"/>
          <p:cNvSpPr txBox="1"/>
          <p:nvPr/>
        </p:nvSpPr>
        <p:spPr>
          <a:xfrm>
            <a:off x="4851806" y="6241694"/>
            <a:ext cx="896112"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専門用語の羅列</a:t>
            </a:r>
            <a:endParaRPr lang="en-US" sz="900" dirty="0"/>
          </a:p>
        </p:txBody>
      </p:sp>
      <p:sp>
        <p:nvSpPr>
          <p:cNvPr id="66" name="Text 57"/>
          <p:cNvSpPr txBox="1"/>
          <p:nvPr/>
        </p:nvSpPr>
        <p:spPr>
          <a:xfrm>
            <a:off x="4851806" y="6431890"/>
            <a:ext cx="3038551"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「CMC配合」「アルカリ除去」などは一般客に響きにくい。</a:t>
            </a:r>
            <a:endParaRPr lang="en-US" sz="900" dirty="0"/>
          </a:p>
        </p:txBody>
      </p:sp>
      <p:pic>
        <p:nvPicPr>
          <p:cNvPr id="67" name="Image 7" descr="preencoded.png">    </p:cNvPr>
          <p:cNvPicPr>
            <a:picLocks noChangeAspect="1"/>
          </p:cNvPicPr>
          <p:nvPr/>
        </p:nvPicPr>
        <p:blipFill>
          <a:blip r:embed="rId8"/>
          <a:srcRect l="0" r="0" t="0" b="0"/>
          <a:stretch/>
        </p:blipFill>
        <p:spPr>
          <a:xfrm>
            <a:off x="8140903" y="4488790"/>
            <a:ext cx="133502" cy="133502"/>
          </a:xfrm>
          <a:prstGeom prst="rect">
            <a:avLst/>
          </a:prstGeom>
        </p:spPr>
      </p:pic>
      <p:sp>
        <p:nvSpPr>
          <p:cNvPr id="68" name="Text 58"/>
          <p:cNvSpPr txBox="1"/>
          <p:nvPr/>
        </p:nvSpPr>
        <p:spPr>
          <a:xfrm>
            <a:off x="8350301" y="4460443"/>
            <a:ext cx="1034186" cy="191110"/>
          </a:xfrm>
          <a:prstGeom prst="rect">
            <a:avLst/>
          </a:prstGeom>
          <a:noFill/>
          <a:ln/>
        </p:spPr>
        <p:txBody>
          <a:bodyPr wrap="square" lIns="0" tIns="0" rIns="0" bIns="0" rtlCol="0" anchor="ctr"/>
          <a:lstStyle/>
          <a:p>
            <a:pPr algn="l" indent="0" marL="0">
              <a:buNone/>
            </a:pPr>
            <a:r>
              <a:rPr lang="en-US" sz="1000" b="1" dirty="0">
                <a:solidFill>
                  <a:srgbClr val="059669"/>
                </a:solidFill>
                <a:latin typeface="Noto Sans JP" pitchFamily="34" charset="0"/>
                <a:ea typeface="Noto Sans JP" pitchFamily="34" charset="-122"/>
                <a:cs typeface="Noto Sans JP" pitchFamily="34" charset="-120"/>
              </a:rPr>
              <a:t>GOOD (推奨例)</a:t>
            </a:r>
            <a:endParaRPr lang="en-US" sz="1000" dirty="0"/>
          </a:p>
        </p:txBody>
      </p:sp>
      <p:sp>
        <p:nvSpPr>
          <p:cNvPr id="69" name="Shape 59"/>
          <p:cNvSpPr/>
          <p:nvPr/>
        </p:nvSpPr>
        <p:spPr>
          <a:xfrm>
            <a:off x="8140903" y="4764938"/>
            <a:ext cx="3219602" cy="571500"/>
          </a:xfrm>
          <a:prstGeom prst="rect">
            <a:avLst/>
          </a:prstGeom>
          <a:solidFill>
            <a:srgbClr val="ECFDF5"/>
          </a:solidFill>
          <a:ln/>
        </p:spPr>
      </p:sp>
      <p:sp>
        <p:nvSpPr>
          <p:cNvPr id="70" name="Shape 60"/>
          <p:cNvSpPr/>
          <p:nvPr/>
        </p:nvSpPr>
        <p:spPr>
          <a:xfrm>
            <a:off x="8140903" y="4764938"/>
            <a:ext cx="38405" cy="571500"/>
          </a:xfrm>
          <a:prstGeom prst="rect">
            <a:avLst/>
          </a:prstGeom>
          <a:solidFill>
            <a:srgbClr val="10B981"/>
          </a:solidFill>
          <a:ln/>
        </p:spPr>
      </p:sp>
      <p:sp>
        <p:nvSpPr>
          <p:cNvPr id="71" name="Text 61"/>
          <p:cNvSpPr txBox="1"/>
          <p:nvPr/>
        </p:nvSpPr>
        <p:spPr>
          <a:xfrm>
            <a:off x="8292694" y="4870094"/>
            <a:ext cx="1953158"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「学生限定¥5,900！憧れの透明感」</a:t>
            </a:r>
            <a:endParaRPr lang="en-US" sz="900" dirty="0"/>
          </a:p>
        </p:txBody>
      </p:sp>
      <p:sp>
        <p:nvSpPr>
          <p:cNvPr id="72" name="Text 62"/>
          <p:cNvSpPr txBox="1"/>
          <p:nvPr/>
        </p:nvSpPr>
        <p:spPr>
          <a:xfrm>
            <a:off x="8292694" y="5060290"/>
            <a:ext cx="22860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ターゲット限定＋価格＋得られる未来。</a:t>
            </a:r>
            <a:endParaRPr lang="en-US" sz="900" dirty="0"/>
          </a:p>
        </p:txBody>
      </p:sp>
      <p:sp>
        <p:nvSpPr>
          <p:cNvPr id="73" name="Shape 63"/>
          <p:cNvSpPr/>
          <p:nvPr/>
        </p:nvSpPr>
        <p:spPr>
          <a:xfrm>
            <a:off x="8140903" y="5450738"/>
            <a:ext cx="3219602" cy="571500"/>
          </a:xfrm>
          <a:prstGeom prst="rect">
            <a:avLst/>
          </a:prstGeom>
          <a:solidFill>
            <a:srgbClr val="ECFDF5"/>
          </a:solidFill>
          <a:ln/>
        </p:spPr>
      </p:sp>
      <p:sp>
        <p:nvSpPr>
          <p:cNvPr id="74" name="Shape 64"/>
          <p:cNvSpPr/>
          <p:nvPr/>
        </p:nvSpPr>
        <p:spPr>
          <a:xfrm>
            <a:off x="8140903" y="5450738"/>
            <a:ext cx="38405" cy="571500"/>
          </a:xfrm>
          <a:prstGeom prst="rect">
            <a:avLst/>
          </a:prstGeom>
          <a:solidFill>
            <a:srgbClr val="10B981"/>
          </a:solidFill>
          <a:ln/>
        </p:spPr>
      </p:sp>
      <p:sp>
        <p:nvSpPr>
          <p:cNvPr id="75" name="Text 65"/>
          <p:cNvSpPr txBox="1"/>
          <p:nvPr/>
        </p:nvSpPr>
        <p:spPr>
          <a:xfrm>
            <a:off x="8292694" y="5555894"/>
            <a:ext cx="1943100"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「¥5,900で叶う、韓国風レイヤー」</a:t>
            </a:r>
            <a:endParaRPr lang="en-US" sz="900" dirty="0"/>
          </a:p>
        </p:txBody>
      </p:sp>
      <p:sp>
        <p:nvSpPr>
          <p:cNvPr id="76" name="Text 66"/>
          <p:cNvSpPr txBox="1"/>
          <p:nvPr/>
        </p:nvSpPr>
        <p:spPr>
          <a:xfrm>
            <a:off x="8292694" y="5746090"/>
            <a:ext cx="228600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価格に対する具体的なスタイルの提案。</a:t>
            </a:r>
            <a:endParaRPr lang="en-US" sz="900" dirty="0"/>
          </a:p>
        </p:txBody>
      </p:sp>
      <p:sp>
        <p:nvSpPr>
          <p:cNvPr id="77" name="Shape 67"/>
          <p:cNvSpPr/>
          <p:nvPr/>
        </p:nvSpPr>
        <p:spPr>
          <a:xfrm>
            <a:off x="8140903" y="6136538"/>
            <a:ext cx="3219602" cy="571500"/>
          </a:xfrm>
          <a:prstGeom prst="rect">
            <a:avLst/>
          </a:prstGeom>
          <a:solidFill>
            <a:srgbClr val="ECFDF5"/>
          </a:solidFill>
          <a:ln/>
        </p:spPr>
      </p:sp>
      <p:sp>
        <p:nvSpPr>
          <p:cNvPr id="78" name="Shape 68"/>
          <p:cNvSpPr/>
          <p:nvPr/>
        </p:nvSpPr>
        <p:spPr>
          <a:xfrm>
            <a:off x="8140903" y="6136538"/>
            <a:ext cx="38405" cy="571500"/>
          </a:xfrm>
          <a:prstGeom prst="rect">
            <a:avLst/>
          </a:prstGeom>
          <a:solidFill>
            <a:srgbClr val="10B981"/>
          </a:solidFill>
          <a:ln/>
        </p:spPr>
      </p:sp>
      <p:sp>
        <p:nvSpPr>
          <p:cNvPr id="79" name="Text 69"/>
          <p:cNvSpPr txBox="1"/>
          <p:nvPr/>
        </p:nvSpPr>
        <p:spPr>
          <a:xfrm>
            <a:off x="8292694" y="6241694"/>
            <a:ext cx="1686154"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「ダメージレスな薬剤を使用」</a:t>
            </a:r>
            <a:endParaRPr lang="en-US" sz="900" dirty="0"/>
          </a:p>
        </p:txBody>
      </p:sp>
      <p:sp>
        <p:nvSpPr>
          <p:cNvPr id="80" name="Text 70"/>
          <p:cNvSpPr txBox="1"/>
          <p:nvPr/>
        </p:nvSpPr>
        <p:spPr>
          <a:xfrm>
            <a:off x="8292694" y="6431890"/>
            <a:ext cx="2734056"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 専門用語を「顧客にとってのメリット」に変換。</a:t>
            </a:r>
            <a:endParaRPr lang="en-US" sz="900" dirty="0"/>
          </a:p>
        </p:txBody>
      </p:sp>
      <p:sp>
        <p:nvSpPr>
          <p:cNvPr id="81" name="Shape 71"/>
          <p:cNvSpPr/>
          <p:nvPr/>
        </p:nvSpPr>
        <p:spPr>
          <a:xfrm>
            <a:off x="4470502" y="7317943"/>
            <a:ext cx="7114946" cy="647395"/>
          </a:xfrm>
          <a:prstGeom prst="roundRect">
            <a:avLst>
              <a:gd name="adj" fmla="val 16617"/>
            </a:avLst>
          </a:prstGeom>
          <a:solidFill>
            <a:srgbClr val="1F2937"/>
          </a:solidFill>
          <a:ln/>
        </p:spPr>
      </p:sp>
      <p:pic>
        <p:nvPicPr>
          <p:cNvPr id="82" name="Image 8" descr="preencoded.png">    </p:cNvPr>
          <p:cNvPicPr>
            <a:picLocks noChangeAspect="1"/>
          </p:cNvPicPr>
          <p:nvPr/>
        </p:nvPicPr>
        <p:blipFill>
          <a:blip r:embed="rId9"/>
          <a:srcRect l="-1648" r="-1648" t="0" b="0"/>
          <a:stretch/>
        </p:blipFill>
        <p:spPr>
          <a:xfrm>
            <a:off x="4623206" y="7546543"/>
            <a:ext cx="171907" cy="190195"/>
          </a:xfrm>
          <a:prstGeom prst="rect">
            <a:avLst/>
          </a:prstGeom>
        </p:spPr>
      </p:pic>
      <p:sp>
        <p:nvSpPr>
          <p:cNvPr id="83" name="Text 72"/>
          <p:cNvSpPr txBox="1"/>
          <p:nvPr/>
        </p:nvSpPr>
        <p:spPr>
          <a:xfrm>
            <a:off x="4908499" y="7460590"/>
            <a:ext cx="161940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RECOMMENDED HASHTAGS</a:t>
            </a:r>
            <a:endParaRPr lang="en-US" sz="900" dirty="0"/>
          </a:p>
        </p:txBody>
      </p:sp>
      <p:sp>
        <p:nvSpPr>
          <p:cNvPr id="84" name="Text 73"/>
          <p:cNvSpPr txBox="1"/>
          <p:nvPr/>
        </p:nvSpPr>
        <p:spPr>
          <a:xfrm>
            <a:off x="4908499" y="7622438"/>
            <a:ext cx="196778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検索流入を最大化するタグ構成</a:t>
            </a:r>
            <a:endParaRPr lang="en-US" sz="1000" dirty="0"/>
          </a:p>
        </p:txBody>
      </p:sp>
      <p:sp>
        <p:nvSpPr>
          <p:cNvPr id="85" name="Shape 74"/>
          <p:cNvSpPr/>
          <p:nvPr/>
        </p:nvSpPr>
        <p:spPr>
          <a:xfrm>
            <a:off x="7317943" y="7527341"/>
            <a:ext cx="790956" cy="228600"/>
          </a:xfrm>
          <a:prstGeom prst="roundRect">
            <a:avLst>
              <a:gd name="adj" fmla="val 66667"/>
            </a:avLst>
          </a:prstGeom>
          <a:solidFill>
            <a:srgbClr val="374151"/>
          </a:solidFill>
          <a:ln/>
        </p:spPr>
      </p:sp>
      <p:sp>
        <p:nvSpPr>
          <p:cNvPr id="86" name="Text 75"/>
          <p:cNvSpPr txBox="1"/>
          <p:nvPr/>
        </p:nvSpPr>
        <p:spPr>
          <a:xfrm>
            <a:off x="7393838" y="7555687"/>
            <a:ext cx="724205"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#渋谷美容室</a:t>
            </a:r>
            <a:endParaRPr lang="en-US" sz="900" dirty="0"/>
          </a:p>
        </p:txBody>
      </p:sp>
      <p:sp>
        <p:nvSpPr>
          <p:cNvPr id="87" name="Shape 76"/>
          <p:cNvSpPr/>
          <p:nvPr/>
        </p:nvSpPr>
        <p:spPr>
          <a:xfrm>
            <a:off x="8181137" y="7527341"/>
            <a:ext cx="790956" cy="228600"/>
          </a:xfrm>
          <a:prstGeom prst="roundRect">
            <a:avLst>
              <a:gd name="adj" fmla="val 66667"/>
            </a:avLst>
          </a:prstGeom>
          <a:solidFill>
            <a:srgbClr val="374151"/>
          </a:solidFill>
          <a:ln/>
        </p:spPr>
      </p:sp>
      <p:sp>
        <p:nvSpPr>
          <p:cNvPr id="88" name="Text 77"/>
          <p:cNvSpPr txBox="1"/>
          <p:nvPr/>
        </p:nvSpPr>
        <p:spPr>
          <a:xfrm>
            <a:off x="8257032" y="7555687"/>
            <a:ext cx="724205"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#渋谷カラー</a:t>
            </a:r>
            <a:endParaRPr lang="en-US" sz="900" dirty="0"/>
          </a:p>
        </p:txBody>
      </p:sp>
      <p:sp>
        <p:nvSpPr>
          <p:cNvPr id="89" name="Shape 78"/>
          <p:cNvSpPr/>
          <p:nvPr/>
        </p:nvSpPr>
        <p:spPr>
          <a:xfrm>
            <a:off x="9045245" y="7527341"/>
            <a:ext cx="676656" cy="228600"/>
          </a:xfrm>
          <a:prstGeom prst="roundRect">
            <a:avLst>
              <a:gd name="adj" fmla="val 66667"/>
            </a:avLst>
          </a:prstGeom>
          <a:solidFill>
            <a:srgbClr val="374151"/>
          </a:solidFill>
          <a:ln/>
        </p:spPr>
      </p:sp>
      <p:sp>
        <p:nvSpPr>
          <p:cNvPr id="90" name="Text 79"/>
          <p:cNvSpPr txBox="1"/>
          <p:nvPr/>
        </p:nvSpPr>
        <p:spPr>
          <a:xfrm>
            <a:off x="9121140" y="7555687"/>
            <a:ext cx="609905"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#髪質改善</a:t>
            </a:r>
            <a:endParaRPr lang="en-US" sz="900" dirty="0"/>
          </a:p>
        </p:txBody>
      </p:sp>
      <p:sp>
        <p:nvSpPr>
          <p:cNvPr id="91" name="Shape 80"/>
          <p:cNvSpPr/>
          <p:nvPr/>
        </p:nvSpPr>
        <p:spPr>
          <a:xfrm>
            <a:off x="9794138" y="7527341"/>
            <a:ext cx="657454" cy="228600"/>
          </a:xfrm>
          <a:prstGeom prst="roundRect">
            <a:avLst>
              <a:gd name="adj" fmla="val 66667"/>
            </a:avLst>
          </a:prstGeom>
          <a:solidFill>
            <a:srgbClr val="374151"/>
          </a:solidFill>
          <a:ln/>
        </p:spPr>
      </p:sp>
      <p:sp>
        <p:nvSpPr>
          <p:cNvPr id="92" name="Text 81"/>
          <p:cNvSpPr txBox="1"/>
          <p:nvPr/>
        </p:nvSpPr>
        <p:spPr>
          <a:xfrm>
            <a:off x="9870034" y="7555687"/>
            <a:ext cx="590702" cy="162763"/>
          </a:xfrm>
          <a:prstGeom prst="rect">
            <a:avLst/>
          </a:prstGeom>
          <a:noFill/>
          <a:ln/>
        </p:spPr>
        <p:txBody>
          <a:bodyPr wrap="square" lIns="0" tIns="0" rIns="0" bIns="0" rtlCol="0" anchor="ctr"/>
          <a:lstStyle/>
          <a:p>
            <a:pPr algn="l" indent="0" marL="0">
              <a:buNone/>
            </a:pPr>
            <a:r>
              <a:rPr lang="en-US" sz="900" dirty="0">
                <a:solidFill>
                  <a:srgbClr val="D1D5DB"/>
                </a:solidFill>
                <a:latin typeface="Noto Sans JP" pitchFamily="34" charset="0"/>
                <a:ea typeface="Noto Sans JP" pitchFamily="34" charset="-122"/>
                <a:cs typeface="Noto Sans JP" pitchFamily="34" charset="-120"/>
              </a:rPr>
              <a:t>#学割U24</a:t>
            </a:r>
            <a:endParaRPr lang="en-US" sz="900" dirty="0"/>
          </a:p>
        </p:txBody>
      </p:sp>
      <p:sp>
        <p:nvSpPr>
          <p:cNvPr id="93" name="Shape 82"/>
          <p:cNvSpPr/>
          <p:nvPr/>
        </p:nvSpPr>
        <p:spPr>
          <a:xfrm>
            <a:off x="10523830" y="7527341"/>
            <a:ext cx="914400" cy="228600"/>
          </a:xfrm>
          <a:prstGeom prst="roundRect">
            <a:avLst>
              <a:gd name="adj" fmla="val 66667"/>
            </a:avLst>
          </a:prstGeom>
          <a:solidFill>
            <a:srgbClr val="FF6B35"/>
          </a:solidFill>
          <a:ln/>
        </p:spPr>
      </p:sp>
      <p:sp>
        <p:nvSpPr>
          <p:cNvPr id="94" name="Text 83"/>
          <p:cNvSpPr txBox="1"/>
          <p:nvPr/>
        </p:nvSpPr>
        <p:spPr>
          <a:xfrm>
            <a:off x="10600639" y="7555687"/>
            <a:ext cx="848563"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#（サロン名）</a:t>
            </a:r>
            <a:endParaRPr lang="en-US" sz="900" dirty="0"/>
          </a:p>
        </p:txBody>
      </p:sp>
      <p:sp>
        <p:nvSpPr>
          <p:cNvPr id="95" name="Shape 84"/>
          <p:cNvSpPr/>
          <p:nvPr/>
        </p:nvSpPr>
        <p:spPr>
          <a:xfrm>
            <a:off x="0" y="0"/>
            <a:ext cx="12191695" cy="761695"/>
          </a:xfrm>
          <a:prstGeom prst="rect">
            <a:avLst/>
          </a:prstGeom>
          <a:solidFill>
            <a:srgbClr val="FFFFFF"/>
          </a:solidFill>
          <a:ln/>
        </p:spPr>
      </p:sp>
      <p:sp>
        <p:nvSpPr>
          <p:cNvPr id="96" name="Shape 85"/>
          <p:cNvSpPr/>
          <p:nvPr/>
        </p:nvSpPr>
        <p:spPr>
          <a:xfrm>
            <a:off x="0" y="752551"/>
            <a:ext cx="12191695" cy="9144"/>
          </a:xfrm>
          <a:prstGeom prst="rect">
            <a:avLst/>
          </a:prstGeom>
          <a:solidFill>
            <a:srgbClr val="F3F4F6"/>
          </a:solidFill>
          <a:ln/>
        </p:spPr>
      </p:sp>
      <p:sp>
        <p:nvSpPr>
          <p:cNvPr id="97" name="Shape 86"/>
          <p:cNvSpPr/>
          <p:nvPr/>
        </p:nvSpPr>
        <p:spPr>
          <a:xfrm>
            <a:off x="609905" y="224028"/>
            <a:ext cx="304495" cy="304495"/>
          </a:xfrm>
          <a:prstGeom prst="roundRect">
            <a:avLst>
              <a:gd name="adj" fmla="val 56306"/>
            </a:avLst>
          </a:prstGeom>
          <a:solidFill>
            <a:srgbClr val="1F2937"/>
          </a:solidFill>
          <a:ln/>
        </p:spPr>
      </p:sp>
      <p:pic>
        <p:nvPicPr>
          <p:cNvPr id="98" name="Image 9" descr="preencoded.png">    </p:cNvPr>
          <p:cNvPicPr>
            <a:picLocks noChangeAspect="1"/>
          </p:cNvPicPr>
          <p:nvPr/>
        </p:nvPicPr>
        <p:blipFill>
          <a:blip r:embed="rId10"/>
          <a:srcRect l="0" r="0" t="0" b="0"/>
          <a:stretch/>
        </p:blipFill>
        <p:spPr>
          <a:xfrm>
            <a:off x="694944" y="309982"/>
            <a:ext cx="133502" cy="133502"/>
          </a:xfrm>
          <a:prstGeom prst="rect">
            <a:avLst/>
          </a:prstGeom>
        </p:spPr>
      </p:pic>
      <p:sp>
        <p:nvSpPr>
          <p:cNvPr id="99" name="Shape 87"/>
          <p:cNvSpPr/>
          <p:nvPr/>
        </p:nvSpPr>
        <p:spPr>
          <a:xfrm>
            <a:off x="8672170" y="261518"/>
            <a:ext cx="676656" cy="228600"/>
          </a:xfrm>
          <a:prstGeom prst="roundRect">
            <a:avLst>
              <a:gd name="adj" fmla="val 66667"/>
            </a:avLst>
          </a:prstGeom>
          <a:solidFill>
            <a:srgbClr val="FF6B35"/>
          </a:solidFill>
          <a:ln/>
        </p:spPr>
      </p:sp>
      <p:sp>
        <p:nvSpPr>
          <p:cNvPr id="100" name="Text 88"/>
          <p:cNvSpPr txBox="1"/>
          <p:nvPr/>
        </p:nvSpPr>
        <p:spPr>
          <a:xfrm>
            <a:off x="990295" y="280721"/>
            <a:ext cx="2653589"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PROPOSAL: COPYWRITING &amp; VISUAL</a:t>
            </a:r>
            <a:endParaRPr lang="en-US" sz="1000" dirty="0"/>
          </a:p>
        </p:txBody>
      </p:sp>
      <p:sp>
        <p:nvSpPr>
          <p:cNvPr id="101" name="Text 89"/>
          <p:cNvSpPr txBox="1"/>
          <p:nvPr/>
        </p:nvSpPr>
        <p:spPr>
          <a:xfrm>
            <a:off x="8786470" y="290779"/>
            <a:ext cx="534010"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STEP 03</a:t>
            </a:r>
            <a:endParaRPr lang="en-US" sz="900" dirty="0"/>
          </a:p>
        </p:txBody>
      </p:sp>
      <p:sp>
        <p:nvSpPr>
          <p:cNvPr id="102" name="Text 90"/>
          <p:cNvSpPr txBox="1"/>
          <p:nvPr/>
        </p:nvSpPr>
        <p:spPr>
          <a:xfrm>
            <a:off x="9462211" y="280721"/>
            <a:ext cx="2224735"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掲載提案｜コピー・ビジュアル指針</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503834"/>
            <a:ext cx="12191695" cy="5952744"/>
          </a:xfrm>
          <a:prstGeom prst="rect">
            <a:avLst/>
          </a:prstGeom>
          <a:solidFill>
            <a:srgbClr val="F9FAFB"/>
          </a:solidFill>
          <a:ln/>
        </p:spPr>
      </p:sp>
      <p:sp>
        <p:nvSpPr>
          <p:cNvPr id="5" name="Shape 3"/>
          <p:cNvSpPr/>
          <p:nvPr/>
        </p:nvSpPr>
        <p:spPr>
          <a:xfrm>
            <a:off x="609905" y="846734"/>
            <a:ext cx="629107" cy="228600"/>
          </a:xfrm>
          <a:prstGeom prst="roundRect">
            <a:avLst>
              <a:gd name="adj" fmla="val 66667"/>
            </a:avLst>
          </a:prstGeom>
          <a:solidFill>
            <a:srgbClr val="FF6B35"/>
          </a:solidFill>
          <a:ln/>
        </p:spPr>
      </p:sp>
      <p:sp>
        <p:nvSpPr>
          <p:cNvPr id="6" name="Text 4"/>
          <p:cNvSpPr txBox="1"/>
          <p:nvPr/>
        </p:nvSpPr>
        <p:spPr>
          <a:xfrm>
            <a:off x="685800" y="875995"/>
            <a:ext cx="562356"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PHASE 1</a:t>
            </a:r>
            <a:endParaRPr lang="en-US" sz="900" dirty="0"/>
          </a:p>
        </p:txBody>
      </p:sp>
      <p:sp>
        <p:nvSpPr>
          <p:cNvPr id="7" name="Text 5"/>
          <p:cNvSpPr txBox="1"/>
          <p:nvPr/>
        </p:nvSpPr>
        <p:spPr>
          <a:xfrm>
            <a:off x="1309421" y="790042"/>
            <a:ext cx="1914754"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新規集客の3本柱</a:t>
            </a:r>
            <a:endParaRPr lang="en-US" sz="1800" dirty="0"/>
          </a:p>
        </p:txBody>
      </p:sp>
      <p:sp>
        <p:nvSpPr>
          <p:cNvPr id="8" name="Text 6"/>
          <p:cNvSpPr txBox="1"/>
          <p:nvPr/>
        </p:nvSpPr>
        <p:spPr>
          <a:xfrm>
            <a:off x="609905" y="1189634"/>
            <a:ext cx="436808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ターゲット別の明確な入り口を用意し、取りこぼしを防ぐ最強の布陣。</a:t>
            </a:r>
            <a:endParaRPr lang="en-US" sz="1000" dirty="0"/>
          </a:p>
        </p:txBody>
      </p:sp>
      <p:sp>
        <p:nvSpPr>
          <p:cNvPr id="9" name="Shape 7"/>
          <p:cNvSpPr/>
          <p:nvPr/>
        </p:nvSpPr>
        <p:spPr>
          <a:xfrm>
            <a:off x="609905" y="1532534"/>
            <a:ext cx="6400800" cy="1438351"/>
          </a:xfrm>
          <a:prstGeom prst="roundRect">
            <a:avLst>
              <a:gd name="adj" fmla="val 5052"/>
            </a:avLst>
          </a:prstGeom>
          <a:solidFill>
            <a:srgbClr val="FFFFFF"/>
          </a:solidFill>
          <a:ln/>
          <a:effectLst>
            <a:outerShdw sx="100000" sy="100000" kx="0" ky="0" algn="bl" rotWithShape="0" blurRad="12700" dist="12700" dir="16200000">
              <a:srgbClr val="000000">
                <a:alpha val="75000"/>
              </a:srgbClr>
            </a:outerShdw>
          </a:effectLst>
        </p:spPr>
      </p:sp>
      <p:sp>
        <p:nvSpPr>
          <p:cNvPr id="10" name="Shape 8"/>
          <p:cNvSpPr/>
          <p:nvPr/>
        </p:nvSpPr>
        <p:spPr>
          <a:xfrm>
            <a:off x="609905" y="1532534"/>
            <a:ext cx="38405" cy="1438351"/>
          </a:xfrm>
          <a:prstGeom prst="rect">
            <a:avLst/>
          </a:prstGeom>
          <a:solidFill>
            <a:srgbClr val="FF6B35"/>
          </a:solidFill>
          <a:ln/>
        </p:spPr>
      </p:sp>
      <p:pic>
        <p:nvPicPr>
          <p:cNvPr id="11" name="Image 0" descr="preencoded.png">    </p:cNvPr>
          <p:cNvPicPr>
            <a:picLocks noChangeAspect="1"/>
          </p:cNvPicPr>
          <p:nvPr/>
        </p:nvPicPr>
        <p:blipFill>
          <a:blip r:embed="rId1"/>
          <a:srcRect l="0" r="0" t="-45" b="-45"/>
          <a:stretch/>
        </p:blipFill>
        <p:spPr>
          <a:xfrm>
            <a:off x="1014070" y="2042770"/>
            <a:ext cx="256946" cy="228600"/>
          </a:xfrm>
          <a:prstGeom prst="rect">
            <a:avLst/>
          </a:prstGeom>
        </p:spPr>
      </p:pic>
      <p:sp>
        <p:nvSpPr>
          <p:cNvPr id="12" name="Text 9"/>
          <p:cNvSpPr txBox="1"/>
          <p:nvPr/>
        </p:nvSpPr>
        <p:spPr>
          <a:xfrm>
            <a:off x="1028700" y="2299716"/>
            <a:ext cx="324612" cy="162763"/>
          </a:xfrm>
          <a:prstGeom prst="rect">
            <a:avLst/>
          </a:prstGeom>
          <a:noFill/>
          <a:ln/>
        </p:spPr>
        <p:txBody>
          <a:bodyPr wrap="square" lIns="0" tIns="0" rIns="0" bIns="0" rtlCol="0" anchor="ctr"/>
          <a:lstStyle/>
          <a:p>
            <a:pPr algn="l" indent="0" marL="0">
              <a:buNone/>
            </a:pPr>
            <a:r>
              <a:rPr lang="en-US" sz="900" b="1" dirty="0">
                <a:solidFill>
                  <a:srgbClr val="FF6B35"/>
                </a:solidFill>
                <a:latin typeface="Noto Sans JP" pitchFamily="34" charset="0"/>
                <a:ea typeface="Noto Sans JP" pitchFamily="34" charset="-122"/>
                <a:cs typeface="Noto Sans JP" pitchFamily="34" charset="-120"/>
              </a:rPr>
              <a:t>主力</a:t>
            </a:r>
            <a:endParaRPr lang="en-US" sz="900" dirty="0"/>
          </a:p>
        </p:txBody>
      </p:sp>
      <p:sp>
        <p:nvSpPr>
          <p:cNvPr id="13" name="Text 10"/>
          <p:cNvSpPr txBox="1"/>
          <p:nvPr/>
        </p:nvSpPr>
        <p:spPr>
          <a:xfrm>
            <a:off x="1600200" y="1732788"/>
            <a:ext cx="45866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【人気No.1】イルミナカラー＋最新3stepトリートメント</a:t>
            </a:r>
            <a:endParaRPr lang="en-US" sz="1300" dirty="0"/>
          </a:p>
        </p:txBody>
      </p:sp>
      <p:sp>
        <p:nvSpPr>
          <p:cNvPr id="14" name="Shape 11"/>
          <p:cNvSpPr/>
          <p:nvPr/>
        </p:nvSpPr>
        <p:spPr>
          <a:xfrm>
            <a:off x="6439205" y="1723644"/>
            <a:ext cx="390449" cy="228600"/>
          </a:xfrm>
          <a:prstGeom prst="roundRect">
            <a:avLst>
              <a:gd name="adj" fmla="val 66667"/>
            </a:avLst>
          </a:prstGeom>
          <a:solidFill>
            <a:srgbClr val="FEE2E2"/>
          </a:solidFill>
          <a:ln/>
        </p:spPr>
      </p:sp>
      <p:sp>
        <p:nvSpPr>
          <p:cNvPr id="15" name="Text 12"/>
          <p:cNvSpPr txBox="1"/>
          <p:nvPr/>
        </p:nvSpPr>
        <p:spPr>
          <a:xfrm>
            <a:off x="6515100" y="1751990"/>
            <a:ext cx="324612" cy="162763"/>
          </a:xfrm>
          <a:prstGeom prst="rect">
            <a:avLst/>
          </a:prstGeom>
          <a:noFill/>
          <a:ln/>
        </p:spPr>
        <p:txBody>
          <a:bodyPr wrap="square" lIns="0" tIns="0" rIns="0" bIns="0" rtlCol="0" anchor="ctr"/>
          <a:lstStyle/>
          <a:p>
            <a:pPr algn="l" indent="0" marL="0">
              <a:buNone/>
            </a:pPr>
            <a:r>
              <a:rPr lang="en-US" sz="900" b="1" dirty="0">
                <a:solidFill>
                  <a:srgbClr val="EF4444"/>
                </a:solidFill>
                <a:latin typeface="Noto Sans JP" pitchFamily="34" charset="0"/>
                <a:ea typeface="Noto Sans JP" pitchFamily="34" charset="-122"/>
                <a:cs typeface="Noto Sans JP" pitchFamily="34" charset="-120"/>
              </a:rPr>
              <a:t>注目</a:t>
            </a:r>
            <a:endParaRPr lang="en-US" sz="900" dirty="0"/>
          </a:p>
        </p:txBody>
      </p:sp>
      <p:sp>
        <p:nvSpPr>
          <p:cNvPr id="16" name="Text 13"/>
          <p:cNvSpPr txBox="1"/>
          <p:nvPr/>
        </p:nvSpPr>
        <p:spPr>
          <a:xfrm>
            <a:off x="1600200" y="2152498"/>
            <a:ext cx="505663"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¥10,500</a:t>
            </a:r>
            <a:endParaRPr lang="en-US" sz="900" dirty="0"/>
          </a:p>
        </p:txBody>
      </p:sp>
      <p:sp>
        <p:nvSpPr>
          <p:cNvPr id="17" name="Text 14"/>
          <p:cNvSpPr txBox="1"/>
          <p:nvPr/>
        </p:nvSpPr>
        <p:spPr>
          <a:xfrm>
            <a:off x="2088490" y="1961388"/>
            <a:ext cx="1157630"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¥6,400</a:t>
            </a:r>
            <a:endParaRPr lang="en-US" sz="2200" dirty="0"/>
          </a:p>
        </p:txBody>
      </p:sp>
      <p:sp>
        <p:nvSpPr>
          <p:cNvPr id="18" name="Shape 15"/>
          <p:cNvSpPr/>
          <p:nvPr/>
        </p:nvSpPr>
        <p:spPr>
          <a:xfrm>
            <a:off x="3100730" y="2085746"/>
            <a:ext cx="923544" cy="228600"/>
          </a:xfrm>
          <a:prstGeom prst="roundRect">
            <a:avLst>
              <a:gd name="adj" fmla="val 66667"/>
            </a:avLst>
          </a:prstGeom>
          <a:solidFill>
            <a:srgbClr val="F3F4F6"/>
          </a:solidFill>
          <a:ln/>
        </p:spPr>
      </p:sp>
      <p:sp>
        <p:nvSpPr>
          <p:cNvPr id="19" name="Text 16"/>
          <p:cNvSpPr txBox="1"/>
          <p:nvPr/>
        </p:nvSpPr>
        <p:spPr>
          <a:xfrm>
            <a:off x="3176626" y="2114093"/>
            <a:ext cx="857707"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Siena基準価格</a:t>
            </a:r>
            <a:endParaRPr lang="en-US" sz="900" dirty="0"/>
          </a:p>
        </p:txBody>
      </p:sp>
      <p:sp>
        <p:nvSpPr>
          <p:cNvPr id="20" name="Shape 17"/>
          <p:cNvSpPr/>
          <p:nvPr/>
        </p:nvSpPr>
        <p:spPr>
          <a:xfrm>
            <a:off x="1600200" y="2390242"/>
            <a:ext cx="5219395" cy="9144"/>
          </a:xfrm>
          <a:prstGeom prst="rect">
            <a:avLst/>
          </a:prstGeom>
          <a:solidFill>
            <a:srgbClr val="E5E7EB"/>
          </a:solidFill>
          <a:ln/>
        </p:spPr>
      </p:sp>
      <p:sp>
        <p:nvSpPr>
          <p:cNvPr id="21" name="Text 18"/>
          <p:cNvSpPr txBox="1"/>
          <p:nvPr/>
        </p:nvSpPr>
        <p:spPr>
          <a:xfrm>
            <a:off x="1600200" y="2466137"/>
            <a:ext cx="5296205"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狙い: 「透明感×ケア」を求めるトレンド層の最大母集団を獲得。競合価格帯（¥6,500〜）に対し、微差で優位性を作る戦略価格。</a:t>
            </a:r>
            <a:endParaRPr lang="en-US" sz="900" dirty="0"/>
          </a:p>
        </p:txBody>
      </p:sp>
      <p:sp>
        <p:nvSpPr>
          <p:cNvPr id="22" name="Shape 19"/>
          <p:cNvSpPr/>
          <p:nvPr/>
        </p:nvSpPr>
        <p:spPr>
          <a:xfrm>
            <a:off x="609905" y="3123590"/>
            <a:ext cx="6400800" cy="1438351"/>
          </a:xfrm>
          <a:prstGeom prst="roundRect">
            <a:avLst>
              <a:gd name="adj" fmla="val 5052"/>
            </a:avLst>
          </a:prstGeom>
          <a:solidFill>
            <a:srgbClr val="FFFFFF"/>
          </a:solidFill>
          <a:ln/>
          <a:effectLst>
            <a:outerShdw sx="100000" sy="100000" kx="0" ky="0" algn="bl" rotWithShape="0" blurRad="12700" dist="12700" dir="16200000">
              <a:srgbClr val="000000">
                <a:alpha val="75000"/>
              </a:srgbClr>
            </a:outerShdw>
          </a:effectLst>
        </p:spPr>
      </p:sp>
      <p:sp>
        <p:nvSpPr>
          <p:cNvPr id="23" name="Shape 20"/>
          <p:cNvSpPr/>
          <p:nvPr/>
        </p:nvSpPr>
        <p:spPr>
          <a:xfrm>
            <a:off x="609905" y="3123590"/>
            <a:ext cx="38405" cy="1438351"/>
          </a:xfrm>
          <a:prstGeom prst="rect">
            <a:avLst/>
          </a:prstGeom>
          <a:solidFill>
            <a:srgbClr val="10B981"/>
          </a:solidFill>
          <a:ln/>
        </p:spPr>
      </p:sp>
      <p:pic>
        <p:nvPicPr>
          <p:cNvPr id="24" name="Image 1" descr="preencoded.png">    </p:cNvPr>
          <p:cNvPicPr>
            <a:picLocks noChangeAspect="1"/>
          </p:cNvPicPr>
          <p:nvPr/>
        </p:nvPicPr>
        <p:blipFill>
          <a:blip r:embed="rId2"/>
          <a:srcRect l="-80" r="-80" t="0" b="0"/>
          <a:stretch/>
        </p:blipFill>
        <p:spPr>
          <a:xfrm>
            <a:off x="1000354" y="3632911"/>
            <a:ext cx="286207" cy="228600"/>
          </a:xfrm>
          <a:prstGeom prst="rect">
            <a:avLst/>
          </a:prstGeom>
        </p:spPr>
      </p:pic>
      <p:sp>
        <p:nvSpPr>
          <p:cNvPr id="25" name="Text 21"/>
          <p:cNvSpPr txBox="1"/>
          <p:nvPr/>
        </p:nvSpPr>
        <p:spPr>
          <a:xfrm>
            <a:off x="971093" y="3890772"/>
            <a:ext cx="438912"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若年層</a:t>
            </a:r>
            <a:endParaRPr lang="en-US" sz="900" dirty="0"/>
          </a:p>
        </p:txBody>
      </p:sp>
      <p:sp>
        <p:nvSpPr>
          <p:cNvPr id="26" name="Text 22"/>
          <p:cNvSpPr txBox="1"/>
          <p:nvPr/>
        </p:nvSpPr>
        <p:spPr>
          <a:xfrm>
            <a:off x="1600200" y="3323844"/>
            <a:ext cx="4234586"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【学割U24】カット＋透明感カラー＋トリートメント</a:t>
            </a:r>
            <a:endParaRPr lang="en-US" sz="1300" dirty="0"/>
          </a:p>
        </p:txBody>
      </p:sp>
      <p:sp>
        <p:nvSpPr>
          <p:cNvPr id="27" name="Shape 23"/>
          <p:cNvSpPr/>
          <p:nvPr/>
        </p:nvSpPr>
        <p:spPr>
          <a:xfrm>
            <a:off x="6210605" y="3313786"/>
            <a:ext cx="619049" cy="228600"/>
          </a:xfrm>
          <a:prstGeom prst="roundRect">
            <a:avLst>
              <a:gd name="adj" fmla="val 66667"/>
            </a:avLst>
          </a:prstGeom>
          <a:solidFill>
            <a:srgbClr val="D1FAE5"/>
          </a:solidFill>
          <a:ln/>
        </p:spPr>
      </p:sp>
      <p:sp>
        <p:nvSpPr>
          <p:cNvPr id="28" name="Text 24"/>
          <p:cNvSpPr txBox="1"/>
          <p:nvPr/>
        </p:nvSpPr>
        <p:spPr>
          <a:xfrm>
            <a:off x="6286500" y="3343046"/>
            <a:ext cx="553212" cy="162763"/>
          </a:xfrm>
          <a:prstGeom prst="rect">
            <a:avLst/>
          </a:prstGeom>
          <a:noFill/>
          <a:ln/>
        </p:spPr>
        <p:txBody>
          <a:bodyPr wrap="square" lIns="0" tIns="0" rIns="0" bIns="0" rtlCol="0" anchor="ctr"/>
          <a:lstStyle/>
          <a:p>
            <a:pPr algn="l" indent="0" marL="0">
              <a:buNone/>
            </a:pPr>
            <a:r>
              <a:rPr lang="en-US" sz="900" b="1" dirty="0">
                <a:solidFill>
                  <a:srgbClr val="059669"/>
                </a:solidFill>
                <a:latin typeface="Noto Sans JP" pitchFamily="34" charset="0"/>
                <a:ea typeface="Noto Sans JP" pitchFamily="34" charset="-122"/>
                <a:cs typeface="Noto Sans JP" pitchFamily="34" charset="-120"/>
              </a:rPr>
              <a:t>学生限定</a:t>
            </a:r>
            <a:endParaRPr lang="en-US" sz="900" dirty="0"/>
          </a:p>
        </p:txBody>
      </p:sp>
      <p:sp>
        <p:nvSpPr>
          <p:cNvPr id="29" name="Text 25"/>
          <p:cNvSpPr txBox="1"/>
          <p:nvPr/>
        </p:nvSpPr>
        <p:spPr>
          <a:xfrm>
            <a:off x="1600200" y="3742639"/>
            <a:ext cx="505663"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¥12,500</a:t>
            </a:r>
            <a:endParaRPr lang="en-US" sz="900" dirty="0"/>
          </a:p>
        </p:txBody>
      </p:sp>
      <p:sp>
        <p:nvSpPr>
          <p:cNvPr id="30" name="Text 26"/>
          <p:cNvSpPr txBox="1"/>
          <p:nvPr/>
        </p:nvSpPr>
        <p:spPr>
          <a:xfrm>
            <a:off x="2088490" y="3552444"/>
            <a:ext cx="1157630"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¥8,900</a:t>
            </a:r>
            <a:endParaRPr lang="en-US" sz="2200" dirty="0"/>
          </a:p>
        </p:txBody>
      </p:sp>
      <p:sp>
        <p:nvSpPr>
          <p:cNvPr id="31" name="Shape 27"/>
          <p:cNvSpPr/>
          <p:nvPr/>
        </p:nvSpPr>
        <p:spPr>
          <a:xfrm>
            <a:off x="1600200" y="3981298"/>
            <a:ext cx="5219395" cy="9144"/>
          </a:xfrm>
          <a:prstGeom prst="rect">
            <a:avLst/>
          </a:prstGeom>
          <a:solidFill>
            <a:srgbClr val="E5E7EB"/>
          </a:solidFill>
          <a:ln/>
        </p:spPr>
      </p:sp>
      <p:sp>
        <p:nvSpPr>
          <p:cNvPr id="32" name="Text 28"/>
          <p:cNvSpPr txBox="1"/>
          <p:nvPr/>
        </p:nvSpPr>
        <p:spPr>
          <a:xfrm>
            <a:off x="1600200" y="4057193"/>
            <a:ext cx="5277002"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狙い: 客単価は維持しつつ「学割」という名目で心理的ハードルを下げる。卒業後も通える関係性を構築。</a:t>
            </a:r>
            <a:endParaRPr lang="en-US" sz="900" dirty="0"/>
          </a:p>
        </p:txBody>
      </p:sp>
      <p:sp>
        <p:nvSpPr>
          <p:cNvPr id="33" name="Shape 29"/>
          <p:cNvSpPr/>
          <p:nvPr/>
        </p:nvSpPr>
        <p:spPr>
          <a:xfrm>
            <a:off x="609905" y="4714646"/>
            <a:ext cx="6400800" cy="1438351"/>
          </a:xfrm>
          <a:prstGeom prst="roundRect">
            <a:avLst>
              <a:gd name="adj" fmla="val 5052"/>
            </a:avLst>
          </a:prstGeom>
          <a:solidFill>
            <a:srgbClr val="FFFFFF"/>
          </a:solidFill>
          <a:ln/>
          <a:effectLst>
            <a:outerShdw sx="100000" sy="100000" kx="0" ky="0" algn="bl" rotWithShape="0" blurRad="12700" dist="12700" dir="16200000">
              <a:srgbClr val="000000">
                <a:alpha val="75000"/>
              </a:srgbClr>
            </a:outerShdw>
          </a:effectLst>
        </p:spPr>
      </p:sp>
      <p:sp>
        <p:nvSpPr>
          <p:cNvPr id="34" name="Shape 30"/>
          <p:cNvSpPr/>
          <p:nvPr/>
        </p:nvSpPr>
        <p:spPr>
          <a:xfrm>
            <a:off x="609905" y="4714646"/>
            <a:ext cx="38405" cy="1438351"/>
          </a:xfrm>
          <a:prstGeom prst="rect">
            <a:avLst/>
          </a:prstGeom>
          <a:solidFill>
            <a:srgbClr val="6366F1"/>
          </a:solidFill>
          <a:ln/>
        </p:spPr>
      </p:sp>
      <p:pic>
        <p:nvPicPr>
          <p:cNvPr id="35" name="Image 2" descr="preencoded.png">    </p:cNvPr>
          <p:cNvPicPr>
            <a:picLocks noChangeAspect="1"/>
          </p:cNvPicPr>
          <p:nvPr/>
        </p:nvPicPr>
        <p:blipFill>
          <a:blip r:embed="rId3"/>
          <a:srcRect l="0" r="0" t="0" b="0"/>
          <a:stretch/>
        </p:blipFill>
        <p:spPr>
          <a:xfrm>
            <a:off x="1028700" y="5223967"/>
            <a:ext cx="228600" cy="228600"/>
          </a:xfrm>
          <a:prstGeom prst="rect">
            <a:avLst/>
          </a:prstGeom>
        </p:spPr>
      </p:pic>
      <p:sp>
        <p:nvSpPr>
          <p:cNvPr id="36" name="Text 31"/>
          <p:cNvSpPr txBox="1"/>
          <p:nvPr/>
        </p:nvSpPr>
        <p:spPr>
          <a:xfrm>
            <a:off x="971093" y="5480914"/>
            <a:ext cx="438912" cy="162763"/>
          </a:xfrm>
          <a:prstGeom prst="rect">
            <a:avLst/>
          </a:prstGeom>
          <a:noFill/>
          <a:ln/>
        </p:spPr>
        <p:txBody>
          <a:bodyPr wrap="square" lIns="0" tIns="0" rIns="0" bIns="0" rtlCol="0" anchor="ctr"/>
          <a:lstStyle/>
          <a:p>
            <a:pPr algn="l" indent="0" marL="0">
              <a:buNone/>
            </a:pPr>
            <a:r>
              <a:rPr lang="en-US" sz="900" b="1" dirty="0">
                <a:solidFill>
                  <a:srgbClr val="6366F1"/>
                </a:solidFill>
                <a:latin typeface="Noto Sans JP" pitchFamily="34" charset="0"/>
                <a:ea typeface="Noto Sans JP" pitchFamily="34" charset="-122"/>
                <a:cs typeface="Noto Sans JP" pitchFamily="34" charset="-120"/>
              </a:rPr>
              <a:t>稼働率</a:t>
            </a:r>
            <a:endParaRPr lang="en-US" sz="900" dirty="0"/>
          </a:p>
        </p:txBody>
      </p:sp>
      <p:sp>
        <p:nvSpPr>
          <p:cNvPr id="37" name="Text 32"/>
          <p:cNvSpPr txBox="1"/>
          <p:nvPr/>
        </p:nvSpPr>
        <p:spPr>
          <a:xfrm>
            <a:off x="1600200" y="4913986"/>
            <a:ext cx="45866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【平日限定】フルカラー＋トリートメント（カットなし）</a:t>
            </a:r>
            <a:endParaRPr lang="en-US" sz="1300" dirty="0"/>
          </a:p>
        </p:txBody>
      </p:sp>
      <p:sp>
        <p:nvSpPr>
          <p:cNvPr id="38" name="Shape 33"/>
          <p:cNvSpPr/>
          <p:nvPr/>
        </p:nvSpPr>
        <p:spPr>
          <a:xfrm>
            <a:off x="6210605" y="4904842"/>
            <a:ext cx="619049" cy="228600"/>
          </a:xfrm>
          <a:prstGeom prst="roundRect">
            <a:avLst>
              <a:gd name="adj" fmla="val 66667"/>
            </a:avLst>
          </a:prstGeom>
          <a:solidFill>
            <a:srgbClr val="E0E7FF"/>
          </a:solidFill>
          <a:ln/>
        </p:spPr>
      </p:sp>
      <p:sp>
        <p:nvSpPr>
          <p:cNvPr id="39" name="Text 34"/>
          <p:cNvSpPr txBox="1"/>
          <p:nvPr/>
        </p:nvSpPr>
        <p:spPr>
          <a:xfrm>
            <a:off x="6286500" y="4933188"/>
            <a:ext cx="553212" cy="162763"/>
          </a:xfrm>
          <a:prstGeom prst="rect">
            <a:avLst/>
          </a:prstGeom>
          <a:noFill/>
          <a:ln/>
        </p:spPr>
        <p:txBody>
          <a:bodyPr wrap="square" lIns="0" tIns="0" rIns="0" bIns="0" rtlCol="0" anchor="ctr"/>
          <a:lstStyle/>
          <a:p>
            <a:pPr algn="l" indent="0" marL="0">
              <a:buNone/>
            </a:pPr>
            <a:r>
              <a:rPr lang="en-US" sz="900" b="1" dirty="0">
                <a:solidFill>
                  <a:srgbClr val="4F46E5"/>
                </a:solidFill>
                <a:latin typeface="Noto Sans JP" pitchFamily="34" charset="0"/>
                <a:ea typeface="Noto Sans JP" pitchFamily="34" charset="-122"/>
                <a:cs typeface="Noto Sans JP" pitchFamily="34" charset="-120"/>
              </a:rPr>
              <a:t>平日のみ</a:t>
            </a:r>
            <a:endParaRPr lang="en-US" sz="900" dirty="0"/>
          </a:p>
        </p:txBody>
      </p:sp>
      <p:sp>
        <p:nvSpPr>
          <p:cNvPr id="40" name="Text 35"/>
          <p:cNvSpPr txBox="1"/>
          <p:nvPr/>
        </p:nvSpPr>
        <p:spPr>
          <a:xfrm>
            <a:off x="1600200" y="5333695"/>
            <a:ext cx="438912" cy="162763"/>
          </a:xfrm>
          <a:prstGeom prst="rect">
            <a:avLst/>
          </a:prstGeom>
          <a:noFill/>
          <a:ln/>
        </p:spPr>
        <p:txBody>
          <a:bodyPr wrap="square" lIns="0" tIns="0" rIns="0" bIns="0" rtlCol="0" anchor="ctr"/>
          <a:lstStyle/>
          <a:p>
            <a:pPr algn="l" indent="0" marL="0">
              <a:buNone/>
            </a:pPr>
            <a:r>
              <a:rPr lang="en-US" sz="900" dirty="0">
                <a:solidFill>
                  <a:srgbClr val="9CA3AF"/>
                </a:solidFill>
                <a:latin typeface="Noto Sans JP" pitchFamily="34" charset="0"/>
                <a:ea typeface="Noto Sans JP" pitchFamily="34" charset="-122"/>
                <a:cs typeface="Noto Sans JP" pitchFamily="34" charset="-120"/>
              </a:rPr>
              <a:t>¥8,000</a:t>
            </a:r>
            <a:endParaRPr lang="en-US" sz="900" dirty="0"/>
          </a:p>
        </p:txBody>
      </p:sp>
      <p:sp>
        <p:nvSpPr>
          <p:cNvPr id="41" name="Text 36"/>
          <p:cNvSpPr txBox="1"/>
          <p:nvPr/>
        </p:nvSpPr>
        <p:spPr>
          <a:xfrm>
            <a:off x="2025396" y="5142586"/>
            <a:ext cx="1157630"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¥5,900</a:t>
            </a:r>
            <a:endParaRPr lang="en-US" sz="2200" dirty="0"/>
          </a:p>
        </p:txBody>
      </p:sp>
      <p:sp>
        <p:nvSpPr>
          <p:cNvPr id="42" name="Shape 37"/>
          <p:cNvSpPr/>
          <p:nvPr/>
        </p:nvSpPr>
        <p:spPr>
          <a:xfrm>
            <a:off x="1600200" y="5571439"/>
            <a:ext cx="5219395" cy="9144"/>
          </a:xfrm>
          <a:prstGeom prst="rect">
            <a:avLst/>
          </a:prstGeom>
          <a:solidFill>
            <a:srgbClr val="E5E7EB"/>
          </a:solidFill>
          <a:ln/>
        </p:spPr>
      </p:sp>
      <p:sp>
        <p:nvSpPr>
          <p:cNvPr id="43" name="Text 38"/>
          <p:cNvSpPr txBox="1"/>
          <p:nvPr/>
        </p:nvSpPr>
        <p:spPr>
          <a:xfrm>
            <a:off x="1600200" y="5647334"/>
            <a:ext cx="5287061" cy="314554"/>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狙い: 平日の空き枠を埋めるための戦略的フック商品。メンテナンス需要の取り込みで来店サイクルを短縮。</a:t>
            </a:r>
            <a:endParaRPr lang="en-US" sz="900" dirty="0"/>
          </a:p>
        </p:txBody>
      </p:sp>
      <p:pic>
        <p:nvPicPr>
          <p:cNvPr id="44" name="Image 3" descr="preencoded.png">    </p:cNvPr>
          <p:cNvPicPr>
            <a:picLocks noChangeAspect="1"/>
          </p:cNvPicPr>
          <p:nvPr/>
        </p:nvPicPr>
        <p:blipFill>
          <a:blip r:embed="rId4"/>
          <a:srcRect l="-1200" r="-1200" t="0" b="0"/>
          <a:stretch/>
        </p:blipFill>
        <p:spPr>
          <a:xfrm>
            <a:off x="6933895" y="3307385"/>
            <a:ext cx="219456" cy="342900"/>
          </a:xfrm>
          <a:prstGeom prst="rect">
            <a:avLst/>
          </a:prstGeom>
        </p:spPr>
      </p:pic>
      <p:sp>
        <p:nvSpPr>
          <p:cNvPr id="45" name="Shape 39"/>
          <p:cNvSpPr/>
          <p:nvPr/>
        </p:nvSpPr>
        <p:spPr>
          <a:xfrm>
            <a:off x="7315200" y="809244"/>
            <a:ext cx="9144" cy="761695"/>
          </a:xfrm>
          <a:prstGeom prst="rect">
            <a:avLst/>
          </a:prstGeom>
          <a:solidFill>
            <a:srgbClr val="E5E7EB"/>
          </a:solidFill>
          <a:ln/>
        </p:spPr>
      </p:sp>
      <p:sp>
        <p:nvSpPr>
          <p:cNvPr id="46" name="Shape 40"/>
          <p:cNvSpPr/>
          <p:nvPr/>
        </p:nvSpPr>
        <p:spPr>
          <a:xfrm>
            <a:off x="7477049" y="846734"/>
            <a:ext cx="629107" cy="228600"/>
          </a:xfrm>
          <a:prstGeom prst="roundRect">
            <a:avLst>
              <a:gd name="adj" fmla="val 66667"/>
            </a:avLst>
          </a:prstGeom>
          <a:solidFill>
            <a:srgbClr val="2563EB"/>
          </a:solidFill>
          <a:ln/>
        </p:spPr>
      </p:sp>
      <p:sp>
        <p:nvSpPr>
          <p:cNvPr id="47" name="Text 41"/>
          <p:cNvSpPr txBox="1"/>
          <p:nvPr/>
        </p:nvSpPr>
        <p:spPr>
          <a:xfrm>
            <a:off x="7552944" y="875995"/>
            <a:ext cx="562356"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PHASE 2</a:t>
            </a:r>
            <a:endParaRPr lang="en-US" sz="900" dirty="0"/>
          </a:p>
        </p:txBody>
      </p:sp>
      <p:sp>
        <p:nvSpPr>
          <p:cNvPr id="48" name="Text 42"/>
          <p:cNvSpPr txBox="1"/>
          <p:nvPr/>
        </p:nvSpPr>
        <p:spPr>
          <a:xfrm>
            <a:off x="8176565" y="790042"/>
            <a:ext cx="2143354"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定着化の2ステップ</a:t>
            </a:r>
            <a:endParaRPr lang="en-US" sz="1800" dirty="0"/>
          </a:p>
        </p:txBody>
      </p:sp>
      <p:sp>
        <p:nvSpPr>
          <p:cNvPr id="49" name="Text 43"/>
          <p:cNvSpPr txBox="1"/>
          <p:nvPr/>
        </p:nvSpPr>
        <p:spPr>
          <a:xfrm>
            <a:off x="7477049" y="1189634"/>
            <a:ext cx="4187038"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「3回安定」の法則に基づき、失客しやすい2回目・3回目の壁を超える設計。</a:t>
            </a:r>
            <a:endParaRPr lang="en-US" sz="1000" dirty="0"/>
          </a:p>
        </p:txBody>
      </p:sp>
      <p:sp>
        <p:nvSpPr>
          <p:cNvPr id="50" name="Shape 44"/>
          <p:cNvSpPr/>
          <p:nvPr/>
        </p:nvSpPr>
        <p:spPr>
          <a:xfrm>
            <a:off x="7315200" y="1723644"/>
            <a:ext cx="9144" cy="4429354"/>
          </a:xfrm>
          <a:prstGeom prst="rect">
            <a:avLst/>
          </a:prstGeom>
          <a:solidFill>
            <a:srgbClr val="E5E7EB"/>
          </a:solidFill>
          <a:ln/>
        </p:spPr>
      </p:sp>
      <p:sp>
        <p:nvSpPr>
          <p:cNvPr id="51" name="Shape 45"/>
          <p:cNvSpPr/>
          <p:nvPr/>
        </p:nvSpPr>
        <p:spPr>
          <a:xfrm>
            <a:off x="7477049" y="1909267"/>
            <a:ext cx="4105656" cy="1705356"/>
          </a:xfrm>
          <a:prstGeom prst="roundRect">
            <a:avLst>
              <a:gd name="adj" fmla="val 3595"/>
            </a:avLst>
          </a:prstGeom>
          <a:solidFill>
            <a:srgbClr val="EFF6FF"/>
          </a:solidFill>
          <a:ln w="25400">
            <a:solidFill>
              <a:srgbClr val="BFDBFE"/>
            </a:solidFill>
            <a:prstDash val="solid"/>
          </a:ln>
        </p:spPr>
      </p:sp>
      <p:sp>
        <p:nvSpPr>
          <p:cNvPr id="52" name="Shape 46"/>
          <p:cNvSpPr/>
          <p:nvPr/>
        </p:nvSpPr>
        <p:spPr>
          <a:xfrm>
            <a:off x="7381951" y="2647188"/>
            <a:ext cx="228600" cy="228600"/>
          </a:xfrm>
          <a:prstGeom prst="roundRect">
            <a:avLst>
              <a:gd name="adj" fmla="val 400000"/>
            </a:avLst>
          </a:prstGeom>
          <a:solidFill>
            <a:srgbClr val="2563EB"/>
          </a:solidFill>
          <a:ln w="25400">
            <a:solidFill>
              <a:srgbClr val="FFFFFF"/>
            </a:solidFill>
            <a:prstDash val="solid"/>
          </a:ln>
        </p:spPr>
      </p:sp>
      <p:sp>
        <p:nvSpPr>
          <p:cNvPr id="53" name="Text 47"/>
          <p:cNvSpPr txBox="1"/>
          <p:nvPr/>
        </p:nvSpPr>
        <p:spPr>
          <a:xfrm>
            <a:off x="7456932" y="2666390"/>
            <a:ext cx="186538"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2</a:t>
            </a:r>
            <a:endParaRPr lang="en-US" sz="1000" dirty="0"/>
          </a:p>
        </p:txBody>
      </p:sp>
      <p:sp>
        <p:nvSpPr>
          <p:cNvPr id="54" name="Text 48"/>
          <p:cNvSpPr txBox="1"/>
          <p:nvPr/>
        </p:nvSpPr>
        <p:spPr>
          <a:xfrm>
            <a:off x="7686446" y="2118665"/>
            <a:ext cx="1762963" cy="228600"/>
          </a:xfrm>
          <a:prstGeom prst="rect">
            <a:avLst/>
          </a:prstGeom>
          <a:noFill/>
          <a:ln/>
        </p:spPr>
        <p:txBody>
          <a:bodyPr wrap="square" lIns="0" tIns="0" rIns="0" bIns="0" rtlCol="0" anchor="ctr"/>
          <a:lstStyle/>
          <a:p>
            <a:pPr algn="l" indent="0" marL="0">
              <a:buNone/>
            </a:pPr>
            <a:r>
              <a:rPr lang="en-US" sz="1200" b="1" dirty="0">
                <a:solidFill>
                  <a:srgbClr val="1E40AF"/>
                </a:solidFill>
                <a:latin typeface="Noto Sans JP" pitchFamily="34" charset="0"/>
                <a:ea typeface="Noto Sans JP" pitchFamily="34" charset="-122"/>
                <a:cs typeface="Noto Sans JP" pitchFamily="34" charset="-120"/>
              </a:rPr>
              <a:t>2回目特典（45日以内）</a:t>
            </a:r>
            <a:endParaRPr lang="en-US" sz="1200" dirty="0"/>
          </a:p>
        </p:txBody>
      </p:sp>
      <p:sp>
        <p:nvSpPr>
          <p:cNvPr id="55" name="Shape 49"/>
          <p:cNvSpPr/>
          <p:nvPr/>
        </p:nvSpPr>
        <p:spPr>
          <a:xfrm>
            <a:off x="7686446" y="2423160"/>
            <a:ext cx="3685946" cy="590702"/>
          </a:xfrm>
          <a:prstGeom prst="roundRect">
            <a:avLst>
              <a:gd name="adj" fmla="val 19974"/>
            </a:avLst>
          </a:prstGeom>
          <a:solidFill>
            <a:srgbClr val="FFFFFF"/>
          </a:solidFill>
          <a:ln w="12700">
            <a:solidFill>
              <a:srgbClr val="DBEAFE"/>
            </a:solidFill>
            <a:prstDash val="solid"/>
          </a:ln>
        </p:spPr>
      </p:sp>
      <p:sp>
        <p:nvSpPr>
          <p:cNvPr id="56" name="Text 50"/>
          <p:cNvSpPr txBox="1"/>
          <p:nvPr/>
        </p:nvSpPr>
        <p:spPr>
          <a:xfrm>
            <a:off x="7810805" y="2547518"/>
            <a:ext cx="1567282"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初回と同じ価格でご案内</a:t>
            </a:r>
            <a:endParaRPr lang="en-US" sz="1000" dirty="0"/>
          </a:p>
        </p:txBody>
      </p:sp>
      <p:sp>
        <p:nvSpPr>
          <p:cNvPr id="57" name="Text 51"/>
          <p:cNvSpPr txBox="1"/>
          <p:nvPr/>
        </p:nvSpPr>
        <p:spPr>
          <a:xfrm>
            <a:off x="7810805" y="2728570"/>
            <a:ext cx="18105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※通常料金に戻るショックを緩和</a:t>
            </a:r>
            <a:endParaRPr lang="en-US" sz="900" dirty="0"/>
          </a:p>
        </p:txBody>
      </p:sp>
      <p:pic>
        <p:nvPicPr>
          <p:cNvPr id="58" name="Image 4" descr="preencoded.png">    </p:cNvPr>
          <p:cNvPicPr>
            <a:picLocks noChangeAspect="1"/>
          </p:cNvPicPr>
          <p:nvPr/>
        </p:nvPicPr>
        <p:blipFill>
          <a:blip r:embed="rId5"/>
          <a:srcRect l="-133" r="-133" t="0" b="0"/>
          <a:stretch/>
        </p:blipFill>
        <p:spPr>
          <a:xfrm>
            <a:off x="7686446" y="3114446"/>
            <a:ext cx="85954" cy="114300"/>
          </a:xfrm>
          <a:prstGeom prst="rect">
            <a:avLst/>
          </a:prstGeom>
        </p:spPr>
      </p:pic>
      <p:sp>
        <p:nvSpPr>
          <p:cNvPr id="59" name="Text 52"/>
          <p:cNvSpPr txBox="1"/>
          <p:nvPr/>
        </p:nvSpPr>
        <p:spPr>
          <a:xfrm>
            <a:off x="7686446" y="3080614"/>
            <a:ext cx="3753612" cy="324612"/>
          </a:xfrm>
          <a:prstGeom prst="rect">
            <a:avLst/>
          </a:prstGeom>
          <a:noFill/>
          <a:ln/>
        </p:spPr>
        <p:txBody>
          <a:bodyPr wrap="square" lIns="0" tIns="0" rIns="0" bIns="0" rtlCol="0" anchor="ctr"/>
          <a:lstStyle/>
          <a:p>
            <a:pPr algn="l" indent="0" marL="0">
              <a:buNone/>
            </a:pPr>
            <a:r>
              <a:rPr lang="en-US" sz="900" dirty="0">
                <a:solidFill>
                  <a:srgbClr val="2563EB"/>
                </a:solidFill>
                <a:latin typeface="Noto Sans JP" pitchFamily="34" charset="0"/>
                <a:ea typeface="Noto Sans JP" pitchFamily="34" charset="-122"/>
                <a:cs typeface="Noto Sans JP" pitchFamily="34" charset="-120"/>
              </a:rPr>
              <a:t>「初回クーポン荒らし」を防ぎつつ、本気で通いたい顧客を選別・優遇するフェーズ。</a:t>
            </a:r>
            <a:endParaRPr lang="en-US" sz="900" dirty="0"/>
          </a:p>
        </p:txBody>
      </p:sp>
      <p:pic>
        <p:nvPicPr>
          <p:cNvPr id="60" name="Image 5" descr="preencoded.png">    </p:cNvPr>
          <p:cNvPicPr>
            <a:picLocks noChangeAspect="1"/>
          </p:cNvPicPr>
          <p:nvPr/>
        </p:nvPicPr>
        <p:blipFill>
          <a:blip r:embed="rId6"/>
          <a:srcRect l="0" r="0" t="0" b="0"/>
          <a:stretch/>
        </p:blipFill>
        <p:spPr>
          <a:xfrm>
            <a:off x="9458554" y="3842309"/>
            <a:ext cx="142646" cy="190195"/>
          </a:xfrm>
          <a:prstGeom prst="rect">
            <a:avLst/>
          </a:prstGeom>
        </p:spPr>
      </p:pic>
      <p:sp>
        <p:nvSpPr>
          <p:cNvPr id="61" name="Shape 53"/>
          <p:cNvSpPr/>
          <p:nvPr/>
        </p:nvSpPr>
        <p:spPr>
          <a:xfrm>
            <a:off x="7477049" y="4262018"/>
            <a:ext cx="4105656" cy="1705356"/>
          </a:xfrm>
          <a:prstGeom prst="roundRect">
            <a:avLst>
              <a:gd name="adj" fmla="val 3595"/>
            </a:avLst>
          </a:prstGeom>
          <a:solidFill>
            <a:srgbClr val="FFFBEB"/>
          </a:solidFill>
          <a:ln w="25400">
            <a:solidFill>
              <a:srgbClr val="FDE68A"/>
            </a:solidFill>
            <a:prstDash val="solid"/>
          </a:ln>
        </p:spPr>
      </p:sp>
      <p:sp>
        <p:nvSpPr>
          <p:cNvPr id="62" name="Shape 54"/>
          <p:cNvSpPr/>
          <p:nvPr/>
        </p:nvSpPr>
        <p:spPr>
          <a:xfrm>
            <a:off x="7381951" y="4999939"/>
            <a:ext cx="228600" cy="228600"/>
          </a:xfrm>
          <a:prstGeom prst="roundRect">
            <a:avLst>
              <a:gd name="adj" fmla="val 400000"/>
            </a:avLst>
          </a:prstGeom>
          <a:solidFill>
            <a:srgbClr val="F59E0B"/>
          </a:solidFill>
          <a:ln w="25400">
            <a:solidFill>
              <a:srgbClr val="FFFFFF"/>
            </a:solidFill>
            <a:prstDash val="solid"/>
          </a:ln>
        </p:spPr>
      </p:sp>
      <p:sp>
        <p:nvSpPr>
          <p:cNvPr id="63" name="Text 55"/>
          <p:cNvSpPr txBox="1"/>
          <p:nvPr/>
        </p:nvSpPr>
        <p:spPr>
          <a:xfrm>
            <a:off x="7456932" y="5019142"/>
            <a:ext cx="186538"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3</a:t>
            </a:r>
            <a:endParaRPr lang="en-US" sz="1000" dirty="0"/>
          </a:p>
        </p:txBody>
      </p:sp>
      <p:sp>
        <p:nvSpPr>
          <p:cNvPr id="64" name="Text 56"/>
          <p:cNvSpPr txBox="1"/>
          <p:nvPr/>
        </p:nvSpPr>
        <p:spPr>
          <a:xfrm>
            <a:off x="7686446" y="4471416"/>
            <a:ext cx="2153412" cy="228600"/>
          </a:xfrm>
          <a:prstGeom prst="rect">
            <a:avLst/>
          </a:prstGeom>
          <a:noFill/>
          <a:ln/>
        </p:spPr>
        <p:txBody>
          <a:bodyPr wrap="square" lIns="0" tIns="0" rIns="0" bIns="0" rtlCol="0" anchor="ctr"/>
          <a:lstStyle/>
          <a:p>
            <a:pPr algn="l" indent="0" marL="0">
              <a:buNone/>
            </a:pPr>
            <a:r>
              <a:rPr lang="en-US" sz="1200" b="1" dirty="0">
                <a:solidFill>
                  <a:srgbClr val="92400E"/>
                </a:solidFill>
                <a:latin typeface="Noto Sans JP" pitchFamily="34" charset="0"/>
                <a:ea typeface="Noto Sans JP" pitchFamily="34" charset="-122"/>
                <a:cs typeface="Noto Sans JP" pitchFamily="34" charset="-120"/>
              </a:rPr>
              <a:t>3回目来店パス（Step Card）</a:t>
            </a:r>
            <a:endParaRPr lang="en-US" sz="1200" dirty="0"/>
          </a:p>
        </p:txBody>
      </p:sp>
      <p:sp>
        <p:nvSpPr>
          <p:cNvPr id="65" name="Shape 57"/>
          <p:cNvSpPr/>
          <p:nvPr/>
        </p:nvSpPr>
        <p:spPr>
          <a:xfrm>
            <a:off x="7686446" y="4775911"/>
            <a:ext cx="3685946" cy="590702"/>
          </a:xfrm>
          <a:prstGeom prst="roundRect">
            <a:avLst>
              <a:gd name="adj" fmla="val 19974"/>
            </a:avLst>
          </a:prstGeom>
          <a:solidFill>
            <a:srgbClr val="FFFFFF"/>
          </a:solidFill>
          <a:ln w="12700">
            <a:solidFill>
              <a:srgbClr val="FEF3C7"/>
            </a:solidFill>
            <a:prstDash val="solid"/>
          </a:ln>
        </p:spPr>
      </p:sp>
      <p:sp>
        <p:nvSpPr>
          <p:cNvPr id="66" name="Text 58"/>
          <p:cNvSpPr txBox="1"/>
          <p:nvPr/>
        </p:nvSpPr>
        <p:spPr>
          <a:xfrm>
            <a:off x="7810805" y="4900270"/>
            <a:ext cx="191932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3回目までトリートメント無料</a:t>
            </a:r>
            <a:endParaRPr lang="en-US" sz="1000" dirty="0"/>
          </a:p>
        </p:txBody>
      </p:sp>
      <p:sp>
        <p:nvSpPr>
          <p:cNvPr id="67" name="Text 59"/>
          <p:cNvSpPr txBox="1"/>
          <p:nvPr/>
        </p:nvSpPr>
        <p:spPr>
          <a:xfrm>
            <a:off x="7810805" y="5081321"/>
            <a:ext cx="1591056"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or 店販商品10%OFFチケット</a:t>
            </a:r>
            <a:endParaRPr lang="en-US" sz="900" dirty="0"/>
          </a:p>
        </p:txBody>
      </p:sp>
      <p:pic>
        <p:nvPicPr>
          <p:cNvPr id="68" name="Image 6" descr="preencoded.png">    </p:cNvPr>
          <p:cNvPicPr>
            <a:picLocks noChangeAspect="1"/>
          </p:cNvPicPr>
          <p:nvPr/>
        </p:nvPicPr>
        <p:blipFill>
          <a:blip r:embed="rId7"/>
          <a:srcRect l="-133" r="-133" t="0" b="0"/>
          <a:stretch/>
        </p:blipFill>
        <p:spPr>
          <a:xfrm>
            <a:off x="7686446" y="5467198"/>
            <a:ext cx="85954" cy="114300"/>
          </a:xfrm>
          <a:prstGeom prst="rect">
            <a:avLst/>
          </a:prstGeom>
        </p:spPr>
      </p:pic>
      <p:sp>
        <p:nvSpPr>
          <p:cNvPr id="69" name="Text 60"/>
          <p:cNvSpPr txBox="1"/>
          <p:nvPr/>
        </p:nvSpPr>
        <p:spPr>
          <a:xfrm>
            <a:off x="7686446" y="5433365"/>
            <a:ext cx="3706063" cy="324612"/>
          </a:xfrm>
          <a:prstGeom prst="rect">
            <a:avLst/>
          </a:prstGeom>
          <a:noFill/>
          <a:ln/>
        </p:spPr>
        <p:txBody>
          <a:bodyPr wrap="square" lIns="0" tIns="0" rIns="0" bIns="0" rtlCol="0" anchor="ctr"/>
          <a:lstStyle/>
          <a:p>
            <a:pPr algn="l" indent="0" marL="0">
              <a:buNone/>
            </a:pPr>
            <a:r>
              <a:rPr lang="en-US" sz="900" dirty="0">
                <a:solidFill>
                  <a:srgbClr val="B45309"/>
                </a:solidFill>
                <a:latin typeface="Noto Sans JP" pitchFamily="34" charset="0"/>
                <a:ea typeface="Noto Sans JP" pitchFamily="34" charset="-122"/>
                <a:cs typeface="Noto Sans JP" pitchFamily="34" charset="-120"/>
              </a:rPr>
              <a:t>3回目の来店で「行きつけ」化が完了。ここで高単価メニュー（髪質改善など）へ誘導。</a:t>
            </a:r>
            <a:endParaRPr lang="en-US" sz="900" dirty="0"/>
          </a:p>
        </p:txBody>
      </p:sp>
      <p:sp>
        <p:nvSpPr>
          <p:cNvPr id="70" name="Shape 61"/>
          <p:cNvSpPr/>
          <p:nvPr/>
        </p:nvSpPr>
        <p:spPr>
          <a:xfrm>
            <a:off x="0" y="0"/>
            <a:ext cx="12191695" cy="504749"/>
          </a:xfrm>
          <a:prstGeom prst="rect">
            <a:avLst/>
          </a:prstGeom>
          <a:solidFill>
            <a:srgbClr val="FFFFFF"/>
          </a:solidFill>
          <a:ln/>
        </p:spPr>
      </p:sp>
      <p:sp>
        <p:nvSpPr>
          <p:cNvPr id="71" name="Shape 62"/>
          <p:cNvSpPr/>
          <p:nvPr/>
        </p:nvSpPr>
        <p:spPr>
          <a:xfrm>
            <a:off x="0" y="495605"/>
            <a:ext cx="12191695" cy="9144"/>
          </a:xfrm>
          <a:prstGeom prst="rect">
            <a:avLst/>
          </a:prstGeom>
          <a:solidFill>
            <a:srgbClr val="F3F4F6"/>
          </a:solidFill>
          <a:ln/>
        </p:spPr>
      </p:sp>
      <p:sp>
        <p:nvSpPr>
          <p:cNvPr id="72" name="Shape 63"/>
          <p:cNvSpPr/>
          <p:nvPr/>
        </p:nvSpPr>
        <p:spPr>
          <a:xfrm>
            <a:off x="609905" y="95098"/>
            <a:ext cx="304495" cy="304495"/>
          </a:xfrm>
          <a:prstGeom prst="roundRect">
            <a:avLst>
              <a:gd name="adj" fmla="val 56306"/>
            </a:avLst>
          </a:prstGeom>
          <a:solidFill>
            <a:srgbClr val="FF6B35"/>
          </a:solidFill>
          <a:ln/>
        </p:spPr>
      </p:sp>
      <p:pic>
        <p:nvPicPr>
          <p:cNvPr id="73" name="Image 7" descr="preencoded.png">    </p:cNvPr>
          <p:cNvPicPr>
            <a:picLocks noChangeAspect="1"/>
          </p:cNvPicPr>
          <p:nvPr/>
        </p:nvPicPr>
        <p:blipFill>
          <a:blip r:embed="rId8"/>
          <a:srcRect l="-837" r="-837" t="0" b="0"/>
          <a:stretch/>
        </p:blipFill>
        <p:spPr>
          <a:xfrm>
            <a:off x="685800" y="181051"/>
            <a:ext cx="152705" cy="133502"/>
          </a:xfrm>
          <a:prstGeom prst="rect">
            <a:avLst/>
          </a:prstGeom>
        </p:spPr>
      </p:pic>
      <p:sp>
        <p:nvSpPr>
          <p:cNvPr id="74" name="Text 64"/>
          <p:cNvSpPr txBox="1"/>
          <p:nvPr/>
        </p:nvSpPr>
        <p:spPr>
          <a:xfrm>
            <a:off x="990295" y="151790"/>
            <a:ext cx="1690726" cy="191110"/>
          </a:xfrm>
          <a:prstGeom prst="rect">
            <a:avLst/>
          </a:prstGeom>
          <a:noFill/>
          <a:ln/>
        </p:spPr>
        <p:txBody>
          <a:bodyPr wrap="square" lIns="0" tIns="0" rIns="0" bIns="0" rtlCol="0" anchor="ctr"/>
          <a:lstStyle/>
          <a:p>
            <a:pPr algn="l" indent="0" marL="0">
              <a:buNone/>
            </a:pPr>
            <a:r>
              <a:rPr lang="en-US" sz="1000" b="1" dirty="0">
                <a:solidFill>
                  <a:srgbClr val="9CA3AF"/>
                </a:solidFill>
                <a:latin typeface="Noto Sans JP" pitchFamily="34" charset="0"/>
                <a:ea typeface="Noto Sans JP" pitchFamily="34" charset="-122"/>
                <a:cs typeface="Noto Sans JP" pitchFamily="34" charset="-120"/>
              </a:rPr>
              <a:t>STRATEGIC PROPOSAL</a:t>
            </a:r>
            <a:endParaRPr lang="en-US" sz="1000" dirty="0"/>
          </a:p>
        </p:txBody>
      </p:sp>
      <p:sp>
        <p:nvSpPr>
          <p:cNvPr id="75" name="Text 65"/>
          <p:cNvSpPr txBox="1"/>
          <p:nvPr/>
        </p:nvSpPr>
        <p:spPr>
          <a:xfrm>
            <a:off x="10515600" y="151790"/>
            <a:ext cx="11676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クーポン戦略設計</a:t>
            </a:r>
            <a:endParaRPr lang="en-US" sz="1000" dirty="0"/>
          </a:p>
        </p:txBody>
      </p:sp>
      <p:sp>
        <p:nvSpPr>
          <p:cNvPr id="76" name="Shape 66"/>
          <p:cNvSpPr/>
          <p:nvPr/>
        </p:nvSpPr>
        <p:spPr>
          <a:xfrm>
            <a:off x="0" y="6457493"/>
            <a:ext cx="12191695" cy="409651"/>
          </a:xfrm>
          <a:prstGeom prst="rect">
            <a:avLst/>
          </a:prstGeom>
          <a:solidFill>
            <a:srgbClr val="1F2937"/>
          </a:solidFill>
          <a:ln/>
        </p:spPr>
      </p:sp>
      <p:sp>
        <p:nvSpPr>
          <p:cNvPr id="77" name="Shape 67"/>
          <p:cNvSpPr/>
          <p:nvPr/>
        </p:nvSpPr>
        <p:spPr>
          <a:xfrm>
            <a:off x="609905" y="6485839"/>
            <a:ext cx="247802" cy="342900"/>
          </a:xfrm>
          <a:prstGeom prst="roundRect">
            <a:avLst>
              <a:gd name="adj" fmla="val 369004"/>
            </a:avLst>
          </a:prstGeom>
          <a:solidFill>
            <a:srgbClr val="FF6B35"/>
          </a:solidFill>
          <a:ln/>
        </p:spPr>
      </p:sp>
      <p:pic>
        <p:nvPicPr>
          <p:cNvPr id="78" name="Image 8" descr="preencoded.png">    </p:cNvPr>
          <p:cNvPicPr>
            <a:picLocks noChangeAspect="1"/>
          </p:cNvPicPr>
          <p:nvPr/>
        </p:nvPicPr>
        <p:blipFill>
          <a:blip r:embed="rId9"/>
          <a:srcRect l="0" r="0" t="0" b="0"/>
          <a:stretch/>
        </p:blipFill>
        <p:spPr>
          <a:xfrm>
            <a:off x="666598" y="6607454"/>
            <a:ext cx="133502" cy="133502"/>
          </a:xfrm>
          <a:prstGeom prst="rect">
            <a:avLst/>
          </a:prstGeom>
        </p:spPr>
      </p:pic>
      <p:sp>
        <p:nvSpPr>
          <p:cNvPr id="79" name="Text 68"/>
          <p:cNvSpPr txBox="1"/>
          <p:nvPr/>
        </p:nvSpPr>
        <p:spPr>
          <a:xfrm>
            <a:off x="1009498" y="6562649"/>
            <a:ext cx="8187538" cy="191110"/>
          </a:xfrm>
          <a:prstGeom prst="rect">
            <a:avLst/>
          </a:prstGeom>
          <a:noFill/>
          <a:ln/>
        </p:spPr>
        <p:txBody>
          <a:bodyPr wrap="square" lIns="0" tIns="0" rIns="0" bIns="0" rtlCol="0" anchor="ct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戦略ポイント： 安売り競争に巻き込まれないよう、「初回＝お試し」ではなく「初回＝関係性のスタート」と位置づける価格設計です。</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Shape 3"/>
          <p:cNvSpPr/>
          <p:nvPr/>
        </p:nvSpPr>
        <p:spPr>
          <a:xfrm>
            <a:off x="609905" y="1067105"/>
            <a:ext cx="3552444" cy="4248302"/>
          </a:xfrm>
          <a:prstGeom prst="roundRect">
            <a:avLst>
              <a:gd name="adj" fmla="val 828"/>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pic>
        <p:nvPicPr>
          <p:cNvPr id="6" name="Image 0" descr="preencoded.png">    </p:cNvPr>
          <p:cNvPicPr>
            <a:picLocks noChangeAspect="1"/>
          </p:cNvPicPr>
          <p:nvPr/>
        </p:nvPicPr>
        <p:blipFill>
          <a:blip r:embed="rId1"/>
          <a:srcRect l="0" r="0" t="0" b="0"/>
          <a:stretch/>
        </p:blipFill>
        <p:spPr>
          <a:xfrm>
            <a:off x="809244" y="1295705"/>
            <a:ext cx="133502" cy="133502"/>
          </a:xfrm>
          <a:prstGeom prst="rect">
            <a:avLst/>
          </a:prstGeom>
        </p:spPr>
      </p:pic>
      <p:sp>
        <p:nvSpPr>
          <p:cNvPr id="7" name="Text 4"/>
          <p:cNvSpPr txBox="1"/>
          <p:nvPr/>
        </p:nvSpPr>
        <p:spPr>
          <a:xfrm>
            <a:off x="1019556" y="1266444"/>
            <a:ext cx="1729130"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改善KPI目標（Standard）</a:t>
            </a:r>
            <a:endParaRPr lang="en-US" sz="1000" dirty="0"/>
          </a:p>
        </p:txBody>
      </p:sp>
      <p:sp>
        <p:nvSpPr>
          <p:cNvPr id="8" name="Shape 5"/>
          <p:cNvSpPr/>
          <p:nvPr/>
        </p:nvSpPr>
        <p:spPr>
          <a:xfrm>
            <a:off x="809244" y="1609344"/>
            <a:ext cx="3152851" cy="1218895"/>
          </a:xfrm>
          <a:prstGeom prst="rect">
            <a:avLst/>
          </a:prstGeom>
          <a:solidFill>
            <a:srgbClr val="F9FAFB"/>
          </a:solidFill>
          <a:ln/>
        </p:spPr>
      </p:sp>
      <p:sp>
        <p:nvSpPr>
          <p:cNvPr id="9" name="Shape 6"/>
          <p:cNvSpPr/>
          <p:nvPr/>
        </p:nvSpPr>
        <p:spPr>
          <a:xfrm>
            <a:off x="809244" y="1609344"/>
            <a:ext cx="38405" cy="1218895"/>
          </a:xfrm>
          <a:prstGeom prst="rect">
            <a:avLst/>
          </a:prstGeom>
          <a:solidFill>
            <a:srgbClr val="E5E7EB"/>
          </a:solidFill>
          <a:ln/>
        </p:spPr>
      </p:sp>
      <p:sp>
        <p:nvSpPr>
          <p:cNvPr id="10" name="Text 7"/>
          <p:cNvSpPr txBox="1"/>
          <p:nvPr/>
        </p:nvSpPr>
        <p:spPr>
          <a:xfrm>
            <a:off x="961949" y="1714500"/>
            <a:ext cx="810158"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クーポンCV率</a:t>
            </a:r>
            <a:endParaRPr lang="en-US" sz="900" dirty="0"/>
          </a:p>
        </p:txBody>
      </p:sp>
      <p:pic>
        <p:nvPicPr>
          <p:cNvPr id="11" name="Image 1" descr="preencoded.png">    </p:cNvPr>
          <p:cNvPicPr>
            <a:picLocks noChangeAspect="1"/>
          </p:cNvPicPr>
          <p:nvPr/>
        </p:nvPicPr>
        <p:blipFill>
          <a:blip r:embed="rId2"/>
          <a:srcRect l="-133" r="-133" t="0" b="0"/>
          <a:stretch/>
        </p:blipFill>
        <p:spPr>
          <a:xfrm>
            <a:off x="3364992" y="1747418"/>
            <a:ext cx="85954" cy="114300"/>
          </a:xfrm>
          <a:prstGeom prst="rect">
            <a:avLst/>
          </a:prstGeom>
        </p:spPr>
      </p:pic>
      <p:sp>
        <p:nvSpPr>
          <p:cNvPr id="12" name="Text 8"/>
          <p:cNvSpPr txBox="1"/>
          <p:nvPr/>
        </p:nvSpPr>
        <p:spPr>
          <a:xfrm>
            <a:off x="3488436" y="1714500"/>
            <a:ext cx="448056"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+1.2pt</a:t>
            </a:r>
            <a:endParaRPr lang="en-US" sz="900" dirty="0"/>
          </a:p>
        </p:txBody>
      </p:sp>
      <p:sp>
        <p:nvSpPr>
          <p:cNvPr id="13" name="Text 9"/>
          <p:cNvSpPr txBox="1"/>
          <p:nvPr/>
        </p:nvSpPr>
        <p:spPr>
          <a:xfrm>
            <a:off x="961949" y="2029054"/>
            <a:ext cx="424282"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0.8%</a:t>
            </a:r>
            <a:endParaRPr lang="en-US" sz="1000" dirty="0"/>
          </a:p>
        </p:txBody>
      </p:sp>
      <p:pic>
        <p:nvPicPr>
          <p:cNvPr id="14" name="Image 2" descr="preencoded.png">    </p:cNvPr>
          <p:cNvPicPr>
            <a:picLocks noChangeAspect="1"/>
          </p:cNvPicPr>
          <p:nvPr/>
        </p:nvPicPr>
        <p:blipFill>
          <a:blip r:embed="rId3"/>
          <a:srcRect l="-2571" r="-2571" t="0" b="0"/>
          <a:stretch/>
        </p:blipFill>
        <p:spPr>
          <a:xfrm>
            <a:off x="1431036" y="2066544"/>
            <a:ext cx="105156" cy="114300"/>
          </a:xfrm>
          <a:prstGeom prst="rect">
            <a:avLst/>
          </a:prstGeom>
        </p:spPr>
      </p:pic>
      <p:sp>
        <p:nvSpPr>
          <p:cNvPr id="15" name="Text 10"/>
          <p:cNvSpPr txBox="1"/>
          <p:nvPr/>
        </p:nvSpPr>
        <p:spPr>
          <a:xfrm>
            <a:off x="1612087" y="1895551"/>
            <a:ext cx="7434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2.0%</a:t>
            </a:r>
            <a:endParaRPr lang="en-US" sz="1800" dirty="0"/>
          </a:p>
        </p:txBody>
      </p:sp>
      <p:sp>
        <p:nvSpPr>
          <p:cNvPr id="16" name="Text 11"/>
          <p:cNvSpPr txBox="1"/>
          <p:nvPr/>
        </p:nvSpPr>
        <p:spPr>
          <a:xfrm>
            <a:off x="961949" y="2257654"/>
            <a:ext cx="2857500" cy="457200"/>
          </a:xfrm>
          <a:prstGeom prst="rect">
            <a:avLst/>
          </a:prstGeom>
          <a:noFill/>
          <a:ln/>
        </p:spPr>
        <p:txBody>
          <a:bodyPr wrap="square" lIns="0" tIns="0" rIns="0" bIns="0" rtlCol="0" anchor="ctr"/>
          <a:lstStyle/>
          <a:p>
            <a:pPr algn="l" indent="0" marL="0">
              <a:buNone/>
            </a:pPr>
            <a:r>
              <a:rPr lang="en-US" sz="1200" dirty="0">
                <a:solidFill>
                  <a:srgbClr val="9CA3AF"/>
                </a:solidFill>
                <a:latin typeface="Noto Sans JP" pitchFamily="34" charset="0"/>
                <a:ea typeface="Noto Sans JP" pitchFamily="34" charset="-122"/>
                <a:cs typeface="Noto Sans JP" pitchFamily="34" charset="-120"/>
              </a:rPr>
              <a:t>※ターゲット明確化と写真改善による効果</a:t>
            </a:r>
            <a:endParaRPr lang="en-US" sz="1200" dirty="0"/>
          </a:p>
        </p:txBody>
      </p:sp>
      <p:sp>
        <p:nvSpPr>
          <p:cNvPr id="17" name="Shape 12"/>
          <p:cNvSpPr/>
          <p:nvPr/>
        </p:nvSpPr>
        <p:spPr>
          <a:xfrm>
            <a:off x="809244" y="2980944"/>
            <a:ext cx="3152851" cy="990295"/>
          </a:xfrm>
          <a:prstGeom prst="rect">
            <a:avLst/>
          </a:prstGeom>
          <a:solidFill>
            <a:srgbClr val="F9FAFB"/>
          </a:solidFill>
          <a:ln/>
        </p:spPr>
      </p:sp>
      <p:sp>
        <p:nvSpPr>
          <p:cNvPr id="18" name="Shape 13"/>
          <p:cNvSpPr/>
          <p:nvPr/>
        </p:nvSpPr>
        <p:spPr>
          <a:xfrm>
            <a:off x="809244" y="2980944"/>
            <a:ext cx="38405" cy="990295"/>
          </a:xfrm>
          <a:prstGeom prst="rect">
            <a:avLst/>
          </a:prstGeom>
          <a:solidFill>
            <a:srgbClr val="E5E7EB"/>
          </a:solidFill>
          <a:ln/>
        </p:spPr>
      </p:sp>
      <p:sp>
        <p:nvSpPr>
          <p:cNvPr id="19" name="Text 14"/>
          <p:cNvSpPr txBox="1"/>
          <p:nvPr/>
        </p:nvSpPr>
        <p:spPr>
          <a:xfrm>
            <a:off x="961949" y="3086100"/>
            <a:ext cx="667512"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平均客単価</a:t>
            </a:r>
            <a:endParaRPr lang="en-US" sz="900" dirty="0"/>
          </a:p>
        </p:txBody>
      </p:sp>
      <p:pic>
        <p:nvPicPr>
          <p:cNvPr id="20" name="Image 3" descr="preencoded.png">    </p:cNvPr>
          <p:cNvPicPr>
            <a:picLocks noChangeAspect="1"/>
          </p:cNvPicPr>
          <p:nvPr/>
        </p:nvPicPr>
        <p:blipFill>
          <a:blip r:embed="rId4"/>
          <a:srcRect l="-133" r="-133" t="0" b="0"/>
          <a:stretch/>
        </p:blipFill>
        <p:spPr>
          <a:xfrm>
            <a:off x="3280867" y="3119018"/>
            <a:ext cx="85954" cy="114300"/>
          </a:xfrm>
          <a:prstGeom prst="rect">
            <a:avLst/>
          </a:prstGeom>
        </p:spPr>
      </p:pic>
      <p:sp>
        <p:nvSpPr>
          <p:cNvPr id="21" name="Text 15"/>
          <p:cNvSpPr txBox="1"/>
          <p:nvPr/>
        </p:nvSpPr>
        <p:spPr>
          <a:xfrm>
            <a:off x="3404311" y="3086100"/>
            <a:ext cx="534010"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+¥1,100</a:t>
            </a:r>
            <a:endParaRPr lang="en-US" sz="900" dirty="0"/>
          </a:p>
        </p:txBody>
      </p:sp>
      <p:sp>
        <p:nvSpPr>
          <p:cNvPr id="22" name="Text 16"/>
          <p:cNvSpPr txBox="1"/>
          <p:nvPr/>
        </p:nvSpPr>
        <p:spPr>
          <a:xfrm>
            <a:off x="961949" y="3400654"/>
            <a:ext cx="529438"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¥6,100</a:t>
            </a:r>
            <a:endParaRPr lang="en-US" sz="1000" dirty="0"/>
          </a:p>
        </p:txBody>
      </p:sp>
      <p:pic>
        <p:nvPicPr>
          <p:cNvPr id="23" name="Image 4" descr="preencoded.png">    </p:cNvPr>
          <p:cNvPicPr>
            <a:picLocks noChangeAspect="1"/>
          </p:cNvPicPr>
          <p:nvPr/>
        </p:nvPicPr>
        <p:blipFill>
          <a:blip r:embed="rId5"/>
          <a:srcRect l="-2571" r="-2571" t="0" b="0"/>
          <a:stretch/>
        </p:blipFill>
        <p:spPr>
          <a:xfrm>
            <a:off x="1534363" y="3438144"/>
            <a:ext cx="105156" cy="114300"/>
          </a:xfrm>
          <a:prstGeom prst="rect">
            <a:avLst/>
          </a:prstGeom>
        </p:spPr>
      </p:pic>
      <p:sp>
        <p:nvSpPr>
          <p:cNvPr id="24" name="Text 17"/>
          <p:cNvSpPr txBox="1"/>
          <p:nvPr/>
        </p:nvSpPr>
        <p:spPr>
          <a:xfrm>
            <a:off x="1715414" y="3267151"/>
            <a:ext cx="924458"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¥7,200</a:t>
            </a:r>
            <a:endParaRPr lang="en-US" sz="1800" dirty="0"/>
          </a:p>
        </p:txBody>
      </p:sp>
      <p:sp>
        <p:nvSpPr>
          <p:cNvPr id="25" name="Text 18"/>
          <p:cNvSpPr txBox="1"/>
          <p:nvPr/>
        </p:nvSpPr>
        <p:spPr>
          <a:xfrm>
            <a:off x="961949" y="3629254"/>
            <a:ext cx="2563063" cy="228600"/>
          </a:xfrm>
          <a:prstGeom prst="rect">
            <a:avLst/>
          </a:prstGeom>
          <a:noFill/>
          <a:ln/>
        </p:spPr>
        <p:txBody>
          <a:bodyPr wrap="square" lIns="0" tIns="0" rIns="0" bIns="0" rtlCol="0" anchor="ctr"/>
          <a:lstStyle/>
          <a:p>
            <a:pPr algn="l" indent="0" marL="0">
              <a:buNone/>
            </a:pPr>
            <a:r>
              <a:rPr lang="en-US" sz="1200" dirty="0">
                <a:solidFill>
                  <a:srgbClr val="9CA3AF"/>
                </a:solidFill>
                <a:latin typeface="Noto Sans JP" pitchFamily="34" charset="0"/>
                <a:ea typeface="Noto Sans JP" pitchFamily="34" charset="-122"/>
                <a:cs typeface="Noto Sans JP" pitchFamily="34" charset="-120"/>
              </a:rPr>
              <a:t>※セットメニュー・髪質改善の導入</a:t>
            </a:r>
            <a:endParaRPr lang="en-US" sz="1200" dirty="0"/>
          </a:p>
        </p:txBody>
      </p:sp>
      <p:sp>
        <p:nvSpPr>
          <p:cNvPr id="26" name="Shape 19"/>
          <p:cNvSpPr/>
          <p:nvPr/>
        </p:nvSpPr>
        <p:spPr>
          <a:xfrm>
            <a:off x="809244" y="4123944"/>
            <a:ext cx="3152851" cy="990295"/>
          </a:xfrm>
          <a:prstGeom prst="rect">
            <a:avLst/>
          </a:prstGeom>
          <a:solidFill>
            <a:srgbClr val="F9FAFB"/>
          </a:solidFill>
          <a:ln/>
        </p:spPr>
      </p:sp>
      <p:sp>
        <p:nvSpPr>
          <p:cNvPr id="27" name="Shape 20"/>
          <p:cNvSpPr/>
          <p:nvPr/>
        </p:nvSpPr>
        <p:spPr>
          <a:xfrm>
            <a:off x="809244" y="4123944"/>
            <a:ext cx="38405" cy="990295"/>
          </a:xfrm>
          <a:prstGeom prst="rect">
            <a:avLst/>
          </a:prstGeom>
          <a:solidFill>
            <a:srgbClr val="E5E7EB"/>
          </a:solidFill>
          <a:ln/>
        </p:spPr>
      </p:sp>
      <p:sp>
        <p:nvSpPr>
          <p:cNvPr id="28" name="Text 21"/>
          <p:cNvSpPr txBox="1"/>
          <p:nvPr/>
        </p:nvSpPr>
        <p:spPr>
          <a:xfrm>
            <a:off x="961949" y="4229100"/>
            <a:ext cx="1191463"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再来率（3ヶ月以内）</a:t>
            </a:r>
            <a:endParaRPr lang="en-US" sz="900" dirty="0"/>
          </a:p>
        </p:txBody>
      </p:sp>
      <p:pic>
        <p:nvPicPr>
          <p:cNvPr id="29" name="Image 5" descr="preencoded.png">    </p:cNvPr>
          <p:cNvPicPr>
            <a:picLocks noChangeAspect="1"/>
          </p:cNvPicPr>
          <p:nvPr/>
        </p:nvPicPr>
        <p:blipFill>
          <a:blip r:embed="rId6"/>
          <a:srcRect l="-133" r="-133" t="0" b="0"/>
          <a:stretch/>
        </p:blipFill>
        <p:spPr>
          <a:xfrm>
            <a:off x="3402482" y="4262018"/>
            <a:ext cx="85954" cy="114300"/>
          </a:xfrm>
          <a:prstGeom prst="rect">
            <a:avLst/>
          </a:prstGeom>
        </p:spPr>
      </p:pic>
      <p:sp>
        <p:nvSpPr>
          <p:cNvPr id="30" name="Text 22"/>
          <p:cNvSpPr txBox="1"/>
          <p:nvPr/>
        </p:nvSpPr>
        <p:spPr>
          <a:xfrm>
            <a:off x="3525926" y="4229100"/>
            <a:ext cx="409651"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+15pt</a:t>
            </a:r>
            <a:endParaRPr lang="en-US" sz="900" dirty="0"/>
          </a:p>
        </p:txBody>
      </p:sp>
      <p:sp>
        <p:nvSpPr>
          <p:cNvPr id="31" name="Text 23"/>
          <p:cNvSpPr txBox="1"/>
          <p:nvPr/>
        </p:nvSpPr>
        <p:spPr>
          <a:xfrm>
            <a:off x="961949" y="4543654"/>
            <a:ext cx="385877"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30%</a:t>
            </a:r>
            <a:endParaRPr lang="en-US" sz="1000" dirty="0"/>
          </a:p>
        </p:txBody>
      </p:sp>
      <p:pic>
        <p:nvPicPr>
          <p:cNvPr id="32" name="Image 6" descr="preencoded.png">    </p:cNvPr>
          <p:cNvPicPr>
            <a:picLocks noChangeAspect="1"/>
          </p:cNvPicPr>
          <p:nvPr/>
        </p:nvPicPr>
        <p:blipFill>
          <a:blip r:embed="rId7"/>
          <a:srcRect l="-2571" r="-2571" t="0" b="0"/>
          <a:stretch/>
        </p:blipFill>
        <p:spPr>
          <a:xfrm>
            <a:off x="1391717" y="4581144"/>
            <a:ext cx="105156" cy="114300"/>
          </a:xfrm>
          <a:prstGeom prst="rect">
            <a:avLst/>
          </a:prstGeom>
        </p:spPr>
      </p:pic>
      <p:sp>
        <p:nvSpPr>
          <p:cNvPr id="33" name="Text 24"/>
          <p:cNvSpPr txBox="1"/>
          <p:nvPr/>
        </p:nvSpPr>
        <p:spPr>
          <a:xfrm>
            <a:off x="1572768" y="4410151"/>
            <a:ext cx="667512"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45%</a:t>
            </a:r>
            <a:endParaRPr lang="en-US" sz="1800" dirty="0"/>
          </a:p>
        </p:txBody>
      </p:sp>
      <p:sp>
        <p:nvSpPr>
          <p:cNvPr id="34" name="Text 25"/>
          <p:cNvSpPr txBox="1"/>
          <p:nvPr/>
        </p:nvSpPr>
        <p:spPr>
          <a:xfrm>
            <a:off x="961949" y="4772254"/>
            <a:ext cx="2572207" cy="228600"/>
          </a:xfrm>
          <a:prstGeom prst="rect">
            <a:avLst/>
          </a:prstGeom>
          <a:noFill/>
          <a:ln/>
        </p:spPr>
        <p:txBody>
          <a:bodyPr wrap="square" lIns="0" tIns="0" rIns="0" bIns="0" rtlCol="0" anchor="ctr"/>
          <a:lstStyle/>
          <a:p>
            <a:pPr algn="l" indent="0" marL="0">
              <a:buNone/>
            </a:pPr>
            <a:r>
              <a:rPr lang="en-US" sz="1200" dirty="0">
                <a:solidFill>
                  <a:srgbClr val="9CA3AF"/>
                </a:solidFill>
                <a:latin typeface="Noto Sans JP" pitchFamily="34" charset="0"/>
                <a:ea typeface="Noto Sans JP" pitchFamily="34" charset="-122"/>
                <a:cs typeface="Noto Sans JP" pitchFamily="34" charset="-120"/>
              </a:rPr>
              <a:t>※2回目・3回目特典のステップ設計</a:t>
            </a:r>
            <a:endParaRPr lang="en-US" sz="1200" dirty="0"/>
          </a:p>
        </p:txBody>
      </p:sp>
      <p:sp>
        <p:nvSpPr>
          <p:cNvPr id="35" name="Shape 26"/>
          <p:cNvSpPr/>
          <p:nvPr/>
        </p:nvSpPr>
        <p:spPr>
          <a:xfrm>
            <a:off x="609905" y="5544007"/>
            <a:ext cx="3552444" cy="1657807"/>
          </a:xfrm>
          <a:prstGeom prst="roundRect">
            <a:avLst>
              <a:gd name="adj" fmla="val 3804"/>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36" name="Text 27"/>
          <p:cNvSpPr txBox="1"/>
          <p:nvPr/>
        </p:nvSpPr>
        <p:spPr>
          <a:xfrm>
            <a:off x="771754" y="5695798"/>
            <a:ext cx="1228954"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シミュレーション条件</a:t>
            </a:r>
            <a:endParaRPr lang="en-US" sz="900" dirty="0"/>
          </a:p>
        </p:txBody>
      </p:sp>
      <p:sp>
        <p:nvSpPr>
          <p:cNvPr id="37" name="Text 28"/>
          <p:cNvSpPr txBox="1"/>
          <p:nvPr/>
        </p:nvSpPr>
        <p:spPr>
          <a:xfrm>
            <a:off x="771754" y="5971946"/>
            <a:ext cx="3314700" cy="305410"/>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保守的 (Conservative): 写真・クーポン変更のみ。単価増なし。</a:t>
            </a:r>
            <a:endParaRPr lang="en-US" sz="900" dirty="0"/>
          </a:p>
        </p:txBody>
      </p:sp>
      <p:sp>
        <p:nvSpPr>
          <p:cNvPr id="38" name="Text 29"/>
          <p:cNvSpPr txBox="1"/>
          <p:nvPr/>
        </p:nvSpPr>
        <p:spPr>
          <a:xfrm>
            <a:off x="771754" y="6353251"/>
            <a:ext cx="3314700" cy="305410"/>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標準的 (Standard): 全施策実行。単価+¥1,100、CV率2.0%達成。</a:t>
            </a:r>
            <a:endParaRPr lang="en-US" sz="900" dirty="0"/>
          </a:p>
        </p:txBody>
      </p:sp>
      <p:sp>
        <p:nvSpPr>
          <p:cNvPr id="39" name="Text 30"/>
          <p:cNvSpPr txBox="1"/>
          <p:nvPr/>
        </p:nvSpPr>
        <p:spPr>
          <a:xfrm>
            <a:off x="771754" y="6734556"/>
            <a:ext cx="3314700" cy="305410"/>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高位 (Aggressive): SNS連携成功。CV率2.5%、単価+¥1,500達成。</a:t>
            </a:r>
            <a:endParaRPr lang="en-US" sz="900" dirty="0"/>
          </a:p>
        </p:txBody>
      </p:sp>
      <p:sp>
        <p:nvSpPr>
          <p:cNvPr id="40" name="Shape 31"/>
          <p:cNvSpPr/>
          <p:nvPr/>
        </p:nvSpPr>
        <p:spPr>
          <a:xfrm>
            <a:off x="4465015" y="1067105"/>
            <a:ext cx="7125005" cy="5486400"/>
          </a:xfrm>
          <a:prstGeom prst="roundRect">
            <a:avLst>
              <a:gd name="adj" fmla="val 347"/>
            </a:avLst>
          </a:prstGeom>
          <a:solidFill>
            <a:srgbClr val="FFFFFF"/>
          </a:solidFill>
          <a:ln w="12700">
            <a:solidFill>
              <a:srgbClr val="F3F4F6"/>
            </a:solidFill>
            <a:prstDash val="solid"/>
          </a:ln>
          <a:effectLst>
            <a:outerShdw sx="100000" sy="100000" kx="0" ky="0" algn="bl" rotWithShape="0" blurRad="12700" dist="12700" dir="16200000">
              <a:srgbClr val="000000">
                <a:alpha val="75000"/>
              </a:srgbClr>
            </a:outerShdw>
          </a:effectLst>
        </p:spPr>
      </p:sp>
      <p:sp>
        <p:nvSpPr>
          <p:cNvPr id="41" name="Text 32"/>
          <p:cNvSpPr txBox="1"/>
          <p:nvPr/>
        </p:nvSpPr>
        <p:spPr>
          <a:xfrm>
            <a:off x="4703674" y="1295705"/>
            <a:ext cx="2343607" cy="277063"/>
          </a:xfrm>
          <a:prstGeom prst="rect">
            <a:avLst/>
          </a:prstGeom>
          <a:noFill/>
          <a:ln/>
        </p:spPr>
        <p:txBody>
          <a:bodyPr wrap="square" lIns="0" tIns="0" rIns="0" bIns="0" rtlCol="0" anchor="ctr"/>
          <a:lstStyle/>
          <a:p>
            <a:pPr algn="l" indent="0" marL="0">
              <a:buNone/>
            </a:pPr>
            <a:r>
              <a:rPr lang="en-US" sz="1500" b="1" dirty="0">
                <a:solidFill>
                  <a:srgbClr val="1F2937"/>
                </a:solidFill>
                <a:latin typeface="Noto Sans JP" pitchFamily="34" charset="0"/>
                <a:ea typeface="Noto Sans JP" pitchFamily="34" charset="-122"/>
                <a:cs typeface="Noto Sans JP" pitchFamily="34" charset="-120"/>
              </a:rPr>
              <a:t>売上推移予測 (単位: 万円)</a:t>
            </a:r>
            <a:endParaRPr lang="en-US" sz="1500" dirty="0"/>
          </a:p>
        </p:txBody>
      </p:sp>
      <p:sp>
        <p:nvSpPr>
          <p:cNvPr id="42" name="Shape 33"/>
          <p:cNvSpPr/>
          <p:nvPr/>
        </p:nvSpPr>
        <p:spPr>
          <a:xfrm>
            <a:off x="7851038" y="1380744"/>
            <a:ext cx="114300" cy="114300"/>
          </a:xfrm>
          <a:prstGeom prst="roundRect">
            <a:avLst>
              <a:gd name="adj" fmla="val 133333"/>
            </a:avLst>
          </a:prstGeom>
          <a:solidFill>
            <a:srgbClr val="D1D5DB"/>
          </a:solidFill>
          <a:ln/>
        </p:spPr>
      </p:sp>
      <p:sp>
        <p:nvSpPr>
          <p:cNvPr id="43" name="Text 34"/>
          <p:cNvSpPr txBox="1"/>
          <p:nvPr/>
        </p:nvSpPr>
        <p:spPr>
          <a:xfrm>
            <a:off x="8022031" y="1352398"/>
            <a:ext cx="543154" cy="171907"/>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Baseline</a:t>
            </a:r>
            <a:endParaRPr lang="en-US" sz="900" dirty="0"/>
          </a:p>
        </p:txBody>
      </p:sp>
      <p:sp>
        <p:nvSpPr>
          <p:cNvPr id="44" name="Shape 35"/>
          <p:cNvSpPr/>
          <p:nvPr/>
        </p:nvSpPr>
        <p:spPr>
          <a:xfrm>
            <a:off x="8628278" y="1380744"/>
            <a:ext cx="114300" cy="114300"/>
          </a:xfrm>
          <a:prstGeom prst="roundRect">
            <a:avLst>
              <a:gd name="adj" fmla="val 133333"/>
            </a:avLst>
          </a:prstGeom>
          <a:solidFill>
            <a:srgbClr val="60A5FA"/>
          </a:solidFill>
          <a:ln/>
        </p:spPr>
      </p:sp>
      <p:sp>
        <p:nvSpPr>
          <p:cNvPr id="45" name="Text 36"/>
          <p:cNvSpPr txBox="1"/>
          <p:nvPr/>
        </p:nvSpPr>
        <p:spPr>
          <a:xfrm>
            <a:off x="8799271" y="1352398"/>
            <a:ext cx="781812" cy="171907"/>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Conservative</a:t>
            </a:r>
            <a:endParaRPr lang="en-US" sz="900" dirty="0"/>
          </a:p>
        </p:txBody>
      </p:sp>
      <p:sp>
        <p:nvSpPr>
          <p:cNvPr id="46" name="Shape 37"/>
          <p:cNvSpPr/>
          <p:nvPr/>
        </p:nvSpPr>
        <p:spPr>
          <a:xfrm>
            <a:off x="9643262" y="1380744"/>
            <a:ext cx="114300" cy="114300"/>
          </a:xfrm>
          <a:prstGeom prst="roundRect">
            <a:avLst>
              <a:gd name="adj" fmla="val 133333"/>
            </a:avLst>
          </a:prstGeom>
          <a:solidFill>
            <a:srgbClr val="FF6B35"/>
          </a:solidFill>
          <a:ln/>
        </p:spPr>
      </p:sp>
      <p:sp>
        <p:nvSpPr>
          <p:cNvPr id="47" name="Text 38"/>
          <p:cNvSpPr txBox="1"/>
          <p:nvPr/>
        </p:nvSpPr>
        <p:spPr>
          <a:xfrm>
            <a:off x="9815170" y="1352398"/>
            <a:ext cx="581558" cy="171907"/>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Standard</a:t>
            </a:r>
            <a:endParaRPr lang="en-US" sz="900" dirty="0"/>
          </a:p>
        </p:txBody>
      </p:sp>
      <p:sp>
        <p:nvSpPr>
          <p:cNvPr id="48" name="Shape 39"/>
          <p:cNvSpPr/>
          <p:nvPr/>
        </p:nvSpPr>
        <p:spPr>
          <a:xfrm>
            <a:off x="10455250" y="1380744"/>
            <a:ext cx="114300" cy="114300"/>
          </a:xfrm>
          <a:prstGeom prst="roundRect">
            <a:avLst>
              <a:gd name="adj" fmla="val 133333"/>
            </a:avLst>
          </a:prstGeom>
          <a:solidFill>
            <a:srgbClr val="10B981"/>
          </a:solidFill>
          <a:ln/>
        </p:spPr>
      </p:sp>
      <p:sp>
        <p:nvSpPr>
          <p:cNvPr id="49" name="Text 40"/>
          <p:cNvSpPr txBox="1"/>
          <p:nvPr/>
        </p:nvSpPr>
        <p:spPr>
          <a:xfrm>
            <a:off x="10627157" y="1352398"/>
            <a:ext cx="657454" cy="171907"/>
          </a:xfrm>
          <a:prstGeom prst="rect">
            <a:avLst/>
          </a:prstGeom>
          <a:noFill/>
          <a:ln/>
        </p:spPr>
        <p:txBody>
          <a:bodyPr wrap="square" lIns="0" tIns="0" rIns="0" bIns="0" rtlCol="0" anchor="ctr"/>
          <a:lstStyle/>
          <a:p>
            <a:pPr algn="l" indent="0" marL="0">
              <a:buNone/>
            </a:pPr>
            <a:r>
              <a:rPr lang="en-US" sz="900" dirty="0">
                <a:solidFill>
                  <a:srgbClr val="4B5563"/>
                </a:solidFill>
                <a:latin typeface="Noto Sans JP" pitchFamily="34" charset="0"/>
                <a:ea typeface="Noto Sans JP" pitchFamily="34" charset="-122"/>
                <a:cs typeface="Noto Sans JP" pitchFamily="34" charset="-120"/>
              </a:rPr>
              <a:t>Aggressive</a:t>
            </a:r>
            <a:endParaRPr lang="en-US" sz="900" dirty="0"/>
          </a:p>
        </p:txBody>
      </p:sp>
      <p:pic>
        <p:nvPicPr>
          <p:cNvPr id="50" name="Image 7" descr="preencoded.png">    </p:cNvPr>
          <p:cNvPicPr>
            <a:picLocks noChangeAspect="1"/>
          </p:cNvPicPr>
          <p:nvPr/>
        </p:nvPicPr>
        <p:blipFill>
          <a:blip r:embed="rId8"/>
          <a:srcRect l="-74" r="-74" t="0" b="0"/>
          <a:stretch/>
        </p:blipFill>
        <p:spPr>
          <a:xfrm>
            <a:off x="4703674" y="1723644"/>
            <a:ext cx="6648602" cy="3590849"/>
          </a:xfrm>
          <a:prstGeom prst="rect">
            <a:avLst/>
          </a:prstGeom>
        </p:spPr>
      </p:pic>
      <p:sp>
        <p:nvSpPr>
          <p:cNvPr id="51" name="Shape 41"/>
          <p:cNvSpPr/>
          <p:nvPr/>
        </p:nvSpPr>
        <p:spPr>
          <a:xfrm>
            <a:off x="4703674" y="5467198"/>
            <a:ext cx="6648602" cy="847649"/>
          </a:xfrm>
          <a:prstGeom prst="roundRect">
            <a:avLst>
              <a:gd name="adj" fmla="val 9697"/>
            </a:avLst>
          </a:prstGeom>
          <a:solidFill>
            <a:srgbClr val="FFF0E9"/>
          </a:solidFill>
          <a:ln w="12700">
            <a:solidFill>
              <a:srgbClr val="E5E7EB"/>
            </a:solidFill>
            <a:prstDash val="solid"/>
          </a:ln>
        </p:spPr>
      </p:sp>
      <p:pic>
        <p:nvPicPr>
          <p:cNvPr id="52" name="Image 8" descr="preencoded.png">    </p:cNvPr>
          <p:cNvPicPr>
            <a:picLocks noChangeAspect="1"/>
          </p:cNvPicPr>
          <p:nvPr/>
        </p:nvPicPr>
        <p:blipFill>
          <a:blip r:embed="rId9"/>
          <a:srcRect l="-1773" r="-1773" t="0" b="0"/>
          <a:stretch/>
        </p:blipFill>
        <p:spPr>
          <a:xfrm>
            <a:off x="4827118" y="5629046"/>
            <a:ext cx="133502" cy="171907"/>
          </a:xfrm>
          <a:prstGeom prst="rect">
            <a:avLst/>
          </a:prstGeom>
        </p:spPr>
      </p:pic>
      <p:sp>
        <p:nvSpPr>
          <p:cNvPr id="53" name="Text 42"/>
          <p:cNvSpPr txBox="1"/>
          <p:nvPr/>
        </p:nvSpPr>
        <p:spPr>
          <a:xfrm>
            <a:off x="5074920" y="5591556"/>
            <a:ext cx="2177186" cy="191110"/>
          </a:xfrm>
          <a:prstGeom prst="rect">
            <a:avLst/>
          </a:prstGeom>
          <a:noFill/>
          <a:ln/>
        </p:spPr>
        <p:txBody>
          <a:bodyPr wrap="square" lIns="0" tIns="0" rIns="0" bIns="0" rtlCol="0" anchor="ctr"/>
          <a:lstStyle/>
          <a:p>
            <a:pPr algn="l" indent="0" marL="0">
              <a:buNone/>
            </a:pPr>
            <a:r>
              <a:rPr lang="en-US" sz="1000" b="1" dirty="0">
                <a:solidFill>
                  <a:srgbClr val="FF6B35"/>
                </a:solidFill>
                <a:latin typeface="Noto Sans JP" pitchFamily="34" charset="0"/>
                <a:ea typeface="Noto Sans JP" pitchFamily="34" charset="-122"/>
                <a:cs typeface="Noto Sans JP" pitchFamily="34" charset="-120"/>
              </a:rPr>
              <a:t>Standardシナリオでの着地見込み</a:t>
            </a:r>
            <a:endParaRPr lang="en-US" sz="1000" dirty="0"/>
          </a:p>
        </p:txBody>
      </p:sp>
      <p:sp>
        <p:nvSpPr>
          <p:cNvPr id="54" name="Text 43"/>
          <p:cNvSpPr txBox="1"/>
          <p:nvPr/>
        </p:nvSpPr>
        <p:spPr>
          <a:xfrm>
            <a:off x="5074920" y="5829300"/>
            <a:ext cx="6191402" cy="352958"/>
          </a:xfrm>
          <a:prstGeom prst="rect">
            <a:avLst/>
          </a:prstGeom>
          <a:noFill/>
          <a:ln/>
        </p:spPr>
        <p:txBody>
          <a:bodyPr wrap="square" lIns="0" tIns="0" rIns="0" bIns="0" rtlCol="0" anchor="ctr"/>
          <a:lstStyle/>
          <a:p>
            <a:pPr algn="l" indent="0" marL="0">
              <a:buNone/>
            </a:pPr>
            <a:r>
              <a:rPr lang="en-US" sz="900" dirty="0">
                <a:solidFill>
                  <a:srgbClr val="374151"/>
                </a:solidFill>
                <a:latin typeface="Noto Sans JP" pitchFamily="34" charset="0"/>
                <a:ea typeface="Noto Sans JP" pitchFamily="34" charset="-122"/>
                <a:cs typeface="Noto Sans JP" pitchFamily="34" charset="-120"/>
              </a:rPr>
              <a:t>掲載プラン変更と推奨施策の実施により、開始3ヶ月目で月商200万円ラインを突破。半年後には現状比145%成長（+72万円/月）が見込まれます。</a:t>
            </a:r>
            <a:endParaRPr lang="en-US" sz="900" dirty="0"/>
          </a:p>
        </p:txBody>
      </p:sp>
      <p:sp>
        <p:nvSpPr>
          <p:cNvPr id="55" name="Shape 44"/>
          <p:cNvSpPr/>
          <p:nvPr/>
        </p:nvSpPr>
        <p:spPr>
          <a:xfrm>
            <a:off x="0" y="0"/>
            <a:ext cx="12191695" cy="761695"/>
          </a:xfrm>
          <a:prstGeom prst="rect">
            <a:avLst/>
          </a:prstGeom>
          <a:solidFill>
            <a:srgbClr val="FFFFFF"/>
          </a:solidFill>
          <a:ln/>
        </p:spPr>
      </p:sp>
      <p:sp>
        <p:nvSpPr>
          <p:cNvPr id="56" name="Shape 45"/>
          <p:cNvSpPr/>
          <p:nvPr/>
        </p:nvSpPr>
        <p:spPr>
          <a:xfrm>
            <a:off x="0" y="752551"/>
            <a:ext cx="12191695" cy="9144"/>
          </a:xfrm>
          <a:prstGeom prst="rect">
            <a:avLst/>
          </a:prstGeom>
          <a:solidFill>
            <a:srgbClr val="F3F4F6"/>
          </a:solidFill>
          <a:ln/>
        </p:spPr>
      </p:sp>
      <p:sp>
        <p:nvSpPr>
          <p:cNvPr id="57" name="Shape 46"/>
          <p:cNvSpPr/>
          <p:nvPr/>
        </p:nvSpPr>
        <p:spPr>
          <a:xfrm>
            <a:off x="609905" y="224028"/>
            <a:ext cx="304495" cy="304495"/>
          </a:xfrm>
          <a:prstGeom prst="roundRect">
            <a:avLst>
              <a:gd name="adj" fmla="val 56306"/>
            </a:avLst>
          </a:prstGeom>
          <a:solidFill>
            <a:srgbClr val="1F2937"/>
          </a:solidFill>
          <a:ln/>
        </p:spPr>
      </p:sp>
      <p:pic>
        <p:nvPicPr>
          <p:cNvPr id="58" name="Image 9" descr="preencoded.png">    </p:cNvPr>
          <p:cNvPicPr>
            <a:picLocks noChangeAspect="1"/>
          </p:cNvPicPr>
          <p:nvPr/>
        </p:nvPicPr>
        <p:blipFill>
          <a:blip r:embed="rId10"/>
          <a:srcRect l="0" r="0" t="0" b="0"/>
          <a:stretch/>
        </p:blipFill>
        <p:spPr>
          <a:xfrm>
            <a:off x="694944" y="309982"/>
            <a:ext cx="133502" cy="133502"/>
          </a:xfrm>
          <a:prstGeom prst="rect">
            <a:avLst/>
          </a:prstGeom>
        </p:spPr>
      </p:pic>
      <p:sp>
        <p:nvSpPr>
          <p:cNvPr id="59" name="Shape 47"/>
          <p:cNvSpPr/>
          <p:nvPr/>
        </p:nvSpPr>
        <p:spPr>
          <a:xfrm>
            <a:off x="9649663" y="261518"/>
            <a:ext cx="676656" cy="228600"/>
          </a:xfrm>
          <a:prstGeom prst="roundRect">
            <a:avLst>
              <a:gd name="adj" fmla="val 66667"/>
            </a:avLst>
          </a:prstGeom>
          <a:solidFill>
            <a:srgbClr val="FF6B35"/>
          </a:solidFill>
          <a:ln/>
        </p:spPr>
      </p:sp>
      <p:sp>
        <p:nvSpPr>
          <p:cNvPr id="60" name="Text 48"/>
          <p:cNvSpPr txBox="1"/>
          <p:nvPr/>
        </p:nvSpPr>
        <p:spPr>
          <a:xfrm>
            <a:off x="1028700" y="204826"/>
            <a:ext cx="133411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EFFECT SIMULATION</a:t>
            </a:r>
            <a:endParaRPr lang="en-US" sz="900" dirty="0"/>
          </a:p>
        </p:txBody>
      </p:sp>
      <p:sp>
        <p:nvSpPr>
          <p:cNvPr id="61" name="Text 49"/>
          <p:cNvSpPr txBox="1"/>
          <p:nvPr/>
        </p:nvSpPr>
        <p:spPr>
          <a:xfrm>
            <a:off x="1028700" y="328270"/>
            <a:ext cx="2186330"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期待効果シミュレーション</a:t>
            </a:r>
            <a:endParaRPr lang="en-US" sz="1300" dirty="0"/>
          </a:p>
        </p:txBody>
      </p:sp>
      <p:sp>
        <p:nvSpPr>
          <p:cNvPr id="62" name="Text 50"/>
          <p:cNvSpPr txBox="1"/>
          <p:nvPr/>
        </p:nvSpPr>
        <p:spPr>
          <a:xfrm>
            <a:off x="9763963" y="290779"/>
            <a:ext cx="534010"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STEP 04</a:t>
            </a:r>
            <a:endParaRPr lang="en-US" sz="900" dirty="0"/>
          </a:p>
        </p:txBody>
      </p:sp>
      <p:sp>
        <p:nvSpPr>
          <p:cNvPr id="63" name="Text 51"/>
          <p:cNvSpPr txBox="1"/>
          <p:nvPr/>
        </p:nvSpPr>
        <p:spPr>
          <a:xfrm>
            <a:off x="10439705" y="280721"/>
            <a:ext cx="1252728"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KPI予測・売上推移</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28700"/>
            <a:ext cx="4272077" cy="419710"/>
          </a:xfrm>
          <a:prstGeom prst="rect">
            <a:avLst/>
          </a:prstGeom>
          <a:noFill/>
          <a:ln/>
        </p:spPr>
        <p:txBody>
          <a:bodyPr wrap="square" lIns="0" tIns="0" rIns="0" bIns="0" rtlCol="0" anchor="ctr"/>
          <a:lstStyle/>
          <a:p>
            <a:pPr algn="l" indent="0" marL="0">
              <a:buNone/>
            </a:pPr>
            <a:r>
              <a:rPr lang="en-US" sz="2200" b="1" dirty="0">
                <a:solidFill>
                  <a:srgbClr val="1F2937"/>
                </a:solidFill>
                <a:latin typeface="Noto Sans JP" pitchFamily="34" charset="0"/>
                <a:ea typeface="Noto Sans JP" pitchFamily="34" charset="-122"/>
                <a:cs typeface="Noto Sans JP" pitchFamily="34" charset="-120"/>
              </a:rPr>
              <a:t>90日間の最短成長ロードマップ</a:t>
            </a:r>
            <a:endParaRPr lang="en-US" sz="2200" dirty="0"/>
          </a:p>
        </p:txBody>
      </p:sp>
      <p:sp>
        <p:nvSpPr>
          <p:cNvPr id="6" name="Text 4"/>
          <p:cNvSpPr txBox="1"/>
          <p:nvPr/>
        </p:nvSpPr>
        <p:spPr>
          <a:xfrm>
            <a:off x="609905" y="1485900"/>
            <a:ext cx="66915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掲載開始から3ヶ月間で「集客の仕組み」を完成させます。各フェーズのタスクと責任範囲を明確化しました。</a:t>
            </a:r>
            <a:endParaRPr lang="en-US" sz="1000" dirty="0"/>
          </a:p>
        </p:txBody>
      </p:sp>
      <p:sp>
        <p:nvSpPr>
          <p:cNvPr id="7" name="Shape 5"/>
          <p:cNvSpPr/>
          <p:nvPr/>
        </p:nvSpPr>
        <p:spPr>
          <a:xfrm>
            <a:off x="9752990" y="1752905"/>
            <a:ext cx="228600" cy="228600"/>
          </a:xfrm>
          <a:prstGeom prst="ellipse">
            <a:avLst/>
          </a:prstGeom>
          <a:solidFill>
            <a:srgbClr val="8B5CF6"/>
          </a:solidFill>
          <a:ln/>
        </p:spPr>
      </p:sp>
      <p:pic>
        <p:nvPicPr>
          <p:cNvPr id="8" name="Image 0" descr="preencoded.png">    </p:cNvPr>
          <p:cNvPicPr>
            <a:picLocks noChangeAspect="1"/>
          </p:cNvPicPr>
          <p:nvPr/>
        </p:nvPicPr>
        <p:blipFill>
          <a:blip r:embed="rId1"/>
          <a:srcRect l="-2174" r="-2174" t="0" b="0"/>
          <a:stretch/>
        </p:blipFill>
        <p:spPr>
          <a:xfrm>
            <a:off x="9806026" y="1814170"/>
            <a:ext cx="123444" cy="105156"/>
          </a:xfrm>
          <a:prstGeom prst="rect">
            <a:avLst/>
          </a:prstGeom>
        </p:spPr>
      </p:pic>
      <p:sp>
        <p:nvSpPr>
          <p:cNvPr id="9" name="Text 6"/>
          <p:cNvSpPr txBox="1"/>
          <p:nvPr/>
        </p:nvSpPr>
        <p:spPr>
          <a:xfrm>
            <a:off x="10019995" y="1781251"/>
            <a:ext cx="7818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サロン様担当</a:t>
            </a:r>
            <a:endParaRPr lang="en-US" sz="900" dirty="0"/>
          </a:p>
        </p:txBody>
      </p:sp>
      <p:sp>
        <p:nvSpPr>
          <p:cNvPr id="10" name="Shape 7"/>
          <p:cNvSpPr/>
          <p:nvPr/>
        </p:nvSpPr>
        <p:spPr>
          <a:xfrm>
            <a:off x="10858500" y="1752905"/>
            <a:ext cx="228600" cy="228600"/>
          </a:xfrm>
          <a:prstGeom prst="ellipse">
            <a:avLst/>
          </a:prstGeom>
          <a:solidFill>
            <a:srgbClr val="F59E0B"/>
          </a:solidFill>
          <a:ln/>
        </p:spPr>
      </p:sp>
      <p:pic>
        <p:nvPicPr>
          <p:cNvPr id="11" name="Image 1" descr="preencoded.png">    </p:cNvPr>
          <p:cNvPicPr>
            <a:picLocks noChangeAspect="1"/>
          </p:cNvPicPr>
          <p:nvPr/>
        </p:nvPicPr>
        <p:blipFill>
          <a:blip r:embed="rId2"/>
          <a:srcRect l="-1677" r="-1677" t="0" b="0"/>
          <a:stretch/>
        </p:blipFill>
        <p:spPr>
          <a:xfrm>
            <a:off x="10925251" y="1814170"/>
            <a:ext cx="95098" cy="105156"/>
          </a:xfrm>
          <a:prstGeom prst="rect">
            <a:avLst/>
          </a:prstGeom>
        </p:spPr>
      </p:pic>
      <p:sp>
        <p:nvSpPr>
          <p:cNvPr id="12" name="Text 8"/>
          <p:cNvSpPr txBox="1"/>
          <p:nvPr/>
        </p:nvSpPr>
        <p:spPr>
          <a:xfrm>
            <a:off x="11125505" y="1781251"/>
            <a:ext cx="55321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営業担当</a:t>
            </a:r>
            <a:endParaRPr lang="en-US" sz="900" dirty="0"/>
          </a:p>
        </p:txBody>
      </p:sp>
      <p:sp>
        <p:nvSpPr>
          <p:cNvPr id="13" name="Shape 9"/>
          <p:cNvSpPr/>
          <p:nvPr/>
        </p:nvSpPr>
        <p:spPr>
          <a:xfrm>
            <a:off x="1086307" y="2704795"/>
            <a:ext cx="10019995" cy="38405"/>
          </a:xfrm>
          <a:prstGeom prst="rect">
            <a:avLst/>
          </a:prstGeom>
          <a:solidFill>
            <a:srgbClr val="E5E7EB"/>
          </a:solidFill>
          <a:ln/>
        </p:spPr>
      </p:sp>
      <p:sp>
        <p:nvSpPr>
          <p:cNvPr id="14" name="Shape 10"/>
          <p:cNvSpPr/>
          <p:nvPr/>
        </p:nvSpPr>
        <p:spPr>
          <a:xfrm>
            <a:off x="609905" y="5820156"/>
            <a:ext cx="10972800" cy="800100"/>
          </a:xfrm>
          <a:prstGeom prst="roundRect">
            <a:avLst>
              <a:gd name="adj" fmla="val 10884"/>
            </a:avLst>
          </a:prstGeom>
          <a:solidFill>
            <a:srgbClr val="FFF0E9"/>
          </a:solidFill>
          <a:ln w="12700">
            <a:solidFill>
              <a:srgbClr val="FF6B35"/>
            </a:solidFill>
            <a:prstDash val="solid"/>
          </a:ln>
        </p:spPr>
      </p:sp>
      <p:pic>
        <p:nvPicPr>
          <p:cNvPr id="15" name="Image 2" descr="preencoded.png">    </p:cNvPr>
          <p:cNvPicPr>
            <a:picLocks noChangeAspect="1"/>
          </p:cNvPicPr>
          <p:nvPr/>
        </p:nvPicPr>
        <p:blipFill>
          <a:blip r:embed="rId3"/>
          <a:srcRect l="-57" r="-57" t="0" b="0"/>
          <a:stretch/>
        </p:blipFill>
        <p:spPr>
          <a:xfrm>
            <a:off x="771754" y="6105449"/>
            <a:ext cx="200254" cy="228600"/>
          </a:xfrm>
          <a:prstGeom prst="rect">
            <a:avLst/>
          </a:prstGeom>
        </p:spPr>
      </p:pic>
      <p:sp>
        <p:nvSpPr>
          <p:cNvPr id="16" name="Text 11"/>
          <p:cNvSpPr txBox="1"/>
          <p:nvPr/>
        </p:nvSpPr>
        <p:spPr>
          <a:xfrm>
            <a:off x="1123798" y="6001207"/>
            <a:ext cx="91440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90日後のゴール</a:t>
            </a:r>
            <a:endParaRPr lang="en-US" sz="900" dirty="0"/>
          </a:p>
        </p:txBody>
      </p:sp>
      <p:sp>
        <p:nvSpPr>
          <p:cNvPr id="17" name="Text 12"/>
          <p:cNvSpPr txBox="1"/>
          <p:nvPr/>
        </p:nvSpPr>
        <p:spPr>
          <a:xfrm>
            <a:off x="1123798" y="6172200"/>
            <a:ext cx="4415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エリア内PV数 TOP 20% 入り &amp; 新規客数 月30名 安定化</a:t>
            </a:r>
            <a:endParaRPr lang="en-US" sz="1300" dirty="0"/>
          </a:p>
        </p:txBody>
      </p:sp>
      <p:sp>
        <p:nvSpPr>
          <p:cNvPr id="18" name="Text 13"/>
          <p:cNvSpPr txBox="1"/>
          <p:nvPr/>
        </p:nvSpPr>
        <p:spPr>
          <a:xfrm>
            <a:off x="10276942" y="5971946"/>
            <a:ext cx="1239012" cy="162763"/>
          </a:xfrm>
          <a:prstGeom prst="rect">
            <a:avLst/>
          </a:prstGeom>
          <a:noFill/>
          <a:ln/>
        </p:spPr>
        <p:txBody>
          <a:bodyPr wrap="square" lIns="0" tIns="0" rIns="0" bIns="0" rtlCol="0" anchor="ctr"/>
          <a:lstStyle/>
          <a:p>
            <a:pPr algn="r" indent="0" marL="0">
              <a:buNone/>
            </a:pPr>
            <a:r>
              <a:rPr lang="en-US" sz="900" dirty="0">
                <a:solidFill>
                  <a:srgbClr val="6B7280"/>
                </a:solidFill>
                <a:latin typeface="Noto Sans JP" pitchFamily="34" charset="0"/>
                <a:ea typeface="Noto Sans JP" pitchFamily="34" charset="-122"/>
                <a:cs typeface="Noto Sans JP" pitchFamily="34" charset="-120"/>
              </a:rPr>
              <a:t>次回の振り返り予定日</a:t>
            </a:r>
            <a:endParaRPr lang="en-US" sz="900" dirty="0"/>
          </a:p>
        </p:txBody>
      </p:sp>
      <p:sp>
        <p:nvSpPr>
          <p:cNvPr id="19" name="Shape 14"/>
          <p:cNvSpPr/>
          <p:nvPr/>
        </p:nvSpPr>
        <p:spPr>
          <a:xfrm>
            <a:off x="9845345" y="6172200"/>
            <a:ext cx="1580998" cy="286207"/>
          </a:xfrm>
          <a:prstGeom prst="roundRect">
            <a:avLst>
              <a:gd name="adj" fmla="val 42599"/>
            </a:avLst>
          </a:prstGeom>
          <a:solidFill>
            <a:srgbClr val="FFFFFF"/>
          </a:solidFill>
          <a:ln w="12700">
            <a:solidFill>
              <a:srgbClr val="E5E7EB"/>
            </a:solidFill>
            <a:prstDash val="solid"/>
          </a:ln>
        </p:spPr>
      </p:sp>
      <p:pic>
        <p:nvPicPr>
          <p:cNvPr id="20" name="Image 3" descr="preencoded.png">    </p:cNvPr>
          <p:cNvPicPr>
            <a:picLocks noChangeAspect="1"/>
          </p:cNvPicPr>
          <p:nvPr/>
        </p:nvPicPr>
        <p:blipFill>
          <a:blip r:embed="rId4"/>
          <a:srcRect l="0" r="0" t="-1100" b="-1100"/>
          <a:stretch/>
        </p:blipFill>
        <p:spPr>
          <a:xfrm>
            <a:off x="9969703" y="6255410"/>
            <a:ext cx="114300" cy="133502"/>
          </a:xfrm>
          <a:prstGeom prst="rect">
            <a:avLst/>
          </a:prstGeom>
        </p:spPr>
      </p:pic>
      <p:sp>
        <p:nvSpPr>
          <p:cNvPr id="21" name="Text 15"/>
          <p:cNvSpPr txBox="1"/>
          <p:nvPr/>
        </p:nvSpPr>
        <p:spPr>
          <a:xfrm>
            <a:off x="10159898" y="6219749"/>
            <a:ext cx="1243584" cy="191110"/>
          </a:xfrm>
          <a:prstGeom prst="rect">
            <a:avLst/>
          </a:prstGeom>
          <a:noFill/>
          <a:ln/>
        </p:spPr>
        <p:txBody>
          <a:bodyPr wrap="square" lIns="0" tIns="0" rIns="0" bIns="0" rtlCol="0" anchor="ctr"/>
          <a:lstStyle/>
          <a:p>
            <a:pPr algn="r" indent="0" marL="0">
              <a:buNone/>
            </a:pPr>
            <a:r>
              <a:rPr lang="en-US" sz="1000" b="1" dirty="0">
                <a:solidFill>
                  <a:srgbClr val="1F2937"/>
                </a:solidFill>
                <a:latin typeface="Noto Sans JP" pitchFamily="34" charset="0"/>
                <a:ea typeface="Noto Sans JP" pitchFamily="34" charset="-122"/>
                <a:cs typeface="Noto Sans JP" pitchFamily="34" charset="-120"/>
              </a:rPr>
              <a:t>2026年4月3日 (金)</a:t>
            </a:r>
            <a:endParaRPr lang="en-US" sz="1000" dirty="0"/>
          </a:p>
        </p:txBody>
      </p:sp>
      <p:sp>
        <p:nvSpPr>
          <p:cNvPr id="22" name="Shape 16"/>
          <p:cNvSpPr/>
          <p:nvPr/>
        </p:nvSpPr>
        <p:spPr>
          <a:xfrm>
            <a:off x="609905" y="2800807"/>
            <a:ext cx="2572207" cy="2790749"/>
          </a:xfrm>
          <a:prstGeom prst="roundRect">
            <a:avLst>
              <a:gd name="adj" fmla="val 1580"/>
            </a:avLst>
          </a:prstGeom>
          <a:solidFill>
            <a:srgbClr val="FFFFFF"/>
          </a:solidFill>
          <a:ln/>
          <a:effectLst>
            <a:outerShdw sx="100000" sy="100000" kx="0" ky="0" algn="bl" rotWithShape="0" blurRad="63500" dist="38100" dir="5400000">
              <a:srgbClr val="000000">
                <a:alpha val="10000"/>
              </a:srgbClr>
            </a:outerShdw>
          </a:effectLst>
        </p:spPr>
      </p:sp>
      <p:sp>
        <p:nvSpPr>
          <p:cNvPr id="23" name="Shape 17"/>
          <p:cNvSpPr/>
          <p:nvPr/>
        </p:nvSpPr>
        <p:spPr>
          <a:xfrm>
            <a:off x="609905" y="2800807"/>
            <a:ext cx="2572207" cy="38405"/>
          </a:xfrm>
          <a:prstGeom prst="rect">
            <a:avLst/>
          </a:prstGeom>
          <a:solidFill>
            <a:srgbClr val="6B7280"/>
          </a:solidFill>
          <a:ln/>
        </p:spPr>
      </p:sp>
      <p:sp>
        <p:nvSpPr>
          <p:cNvPr id="24" name="Shape 18"/>
          <p:cNvSpPr/>
          <p:nvPr/>
        </p:nvSpPr>
        <p:spPr>
          <a:xfrm>
            <a:off x="1895551" y="2476195"/>
            <a:ext cx="19202" cy="286207"/>
          </a:xfrm>
          <a:prstGeom prst="rect">
            <a:avLst/>
          </a:prstGeom>
          <a:solidFill>
            <a:srgbClr val="E5E7EB"/>
          </a:solidFill>
          <a:ln/>
        </p:spPr>
      </p:sp>
      <p:sp>
        <p:nvSpPr>
          <p:cNvPr id="25" name="Shape 19"/>
          <p:cNvSpPr/>
          <p:nvPr/>
        </p:nvSpPr>
        <p:spPr>
          <a:xfrm>
            <a:off x="2328977" y="3029407"/>
            <a:ext cx="666598" cy="228600"/>
          </a:xfrm>
          <a:prstGeom prst="roundRect">
            <a:avLst>
              <a:gd name="adj" fmla="val 66667"/>
            </a:avLst>
          </a:prstGeom>
          <a:solidFill>
            <a:srgbClr val="F3F4F6"/>
          </a:solidFill>
          <a:ln/>
        </p:spPr>
      </p:sp>
      <p:pic>
        <p:nvPicPr>
          <p:cNvPr id="26" name="Image 4" descr="preencoded.png">    </p:cNvPr>
          <p:cNvPicPr>
            <a:picLocks noChangeAspect="1"/>
          </p:cNvPicPr>
          <p:nvPr/>
        </p:nvPicPr>
        <p:blipFill>
          <a:blip r:embed="rId5"/>
          <a:srcRect l="0" r="0" t="0" b="0"/>
          <a:stretch/>
        </p:blipFill>
        <p:spPr>
          <a:xfrm>
            <a:off x="800100" y="3676802"/>
            <a:ext cx="114300" cy="114300"/>
          </a:xfrm>
          <a:prstGeom prst="rect">
            <a:avLst/>
          </a:prstGeom>
        </p:spPr>
      </p:pic>
      <p:pic>
        <p:nvPicPr>
          <p:cNvPr id="27" name="Image 5" descr="preencoded.png">    </p:cNvPr>
          <p:cNvPicPr>
            <a:picLocks noChangeAspect="1"/>
          </p:cNvPicPr>
          <p:nvPr/>
        </p:nvPicPr>
        <p:blipFill>
          <a:blip r:embed="rId6"/>
          <a:srcRect l="0" r="0" t="0" b="0"/>
          <a:stretch/>
        </p:blipFill>
        <p:spPr>
          <a:xfrm>
            <a:off x="800100" y="4172407"/>
            <a:ext cx="114300" cy="114300"/>
          </a:xfrm>
          <a:prstGeom prst="rect">
            <a:avLst/>
          </a:prstGeom>
        </p:spPr>
      </p:pic>
      <p:sp>
        <p:nvSpPr>
          <p:cNvPr id="28" name="Shape 20"/>
          <p:cNvSpPr/>
          <p:nvPr/>
        </p:nvSpPr>
        <p:spPr>
          <a:xfrm>
            <a:off x="800100" y="4667098"/>
            <a:ext cx="2190902" cy="9144"/>
          </a:xfrm>
          <a:prstGeom prst="rect">
            <a:avLst/>
          </a:prstGeom>
          <a:solidFill>
            <a:srgbClr val="F3F4F6"/>
          </a:solidFill>
          <a:ln/>
        </p:spPr>
      </p:sp>
      <p:sp>
        <p:nvSpPr>
          <p:cNvPr id="29" name="Shape 21"/>
          <p:cNvSpPr/>
          <p:nvPr/>
        </p:nvSpPr>
        <p:spPr>
          <a:xfrm>
            <a:off x="2533802" y="4791456"/>
            <a:ext cx="228600" cy="228600"/>
          </a:xfrm>
          <a:prstGeom prst="ellipse">
            <a:avLst/>
          </a:prstGeom>
          <a:solidFill>
            <a:srgbClr val="8B5CF6"/>
          </a:solidFill>
          <a:ln/>
          <a:effectLst>
            <a:outerShdw sx="100000" sy="100000" kx="0" ky="0" algn="bl" rotWithShape="0" blurRad="12700" dist="12700" dir="16200000">
              <a:srgbClr val="ffffff">
                <a:alpha val="100000"/>
              </a:srgbClr>
            </a:outerShdw>
          </a:effectLst>
        </p:spPr>
      </p:sp>
      <p:sp>
        <p:nvSpPr>
          <p:cNvPr id="30" name="Text 22"/>
          <p:cNvSpPr txBox="1"/>
          <p:nvPr/>
        </p:nvSpPr>
        <p:spPr>
          <a:xfrm>
            <a:off x="2616098" y="4825289"/>
            <a:ext cx="147218" cy="162763"/>
          </a:xfrm>
          <a:prstGeom prst="rect">
            <a:avLst/>
          </a:prstGeom>
          <a:noFill/>
          <a:ln/>
        </p:spPr>
        <p:txBody>
          <a:bodyPr wrap="square" lIns="0" tIns="0" rIns="0" bIns="0" rtlCol="0" anchor="ctr"/>
          <a:lstStyle/>
          <a:p>
            <a:pPr algn="l" indent="0" marL="0">
              <a:buNone/>
            </a:pPr>
            <a:r>
              <a:rPr lang="en-US" sz="800" dirty="0">
                <a:solidFill>
                  <a:srgbClr val="FFFFFF"/>
                </a:solidFill>
                <a:latin typeface="Noto Sans JP" pitchFamily="34" charset="0"/>
                <a:ea typeface="Noto Sans JP" pitchFamily="34" charset="-122"/>
                <a:cs typeface="Noto Sans JP" pitchFamily="34" charset="-120"/>
              </a:rPr>
              <a:t>S</a:t>
            </a:r>
            <a:endParaRPr lang="en-US" sz="800" dirty="0"/>
          </a:p>
        </p:txBody>
      </p:sp>
      <p:sp>
        <p:nvSpPr>
          <p:cNvPr id="31" name="Shape 23"/>
          <p:cNvSpPr/>
          <p:nvPr/>
        </p:nvSpPr>
        <p:spPr>
          <a:xfrm>
            <a:off x="2762402" y="4791456"/>
            <a:ext cx="228600" cy="228600"/>
          </a:xfrm>
          <a:prstGeom prst="ellipse">
            <a:avLst/>
          </a:prstGeom>
          <a:solidFill>
            <a:srgbClr val="F59E0B"/>
          </a:solidFill>
          <a:ln/>
          <a:effectLst>
            <a:outerShdw sx="100000" sy="100000" kx="0" ky="0" algn="bl" rotWithShape="0" blurRad="12700" dist="12700" dir="16200000">
              <a:srgbClr val="ffffff">
                <a:alpha val="100000"/>
              </a:srgbClr>
            </a:outerShdw>
          </a:effectLst>
        </p:spPr>
      </p:sp>
      <p:sp>
        <p:nvSpPr>
          <p:cNvPr id="32" name="Text 24"/>
          <p:cNvSpPr txBox="1"/>
          <p:nvPr/>
        </p:nvSpPr>
        <p:spPr>
          <a:xfrm>
            <a:off x="2844698" y="4825289"/>
            <a:ext cx="147218" cy="162763"/>
          </a:xfrm>
          <a:prstGeom prst="rect">
            <a:avLst/>
          </a:prstGeom>
          <a:noFill/>
          <a:ln/>
        </p:spPr>
        <p:txBody>
          <a:bodyPr wrap="square" lIns="0" tIns="0" rIns="0" bIns="0" rtlCol="0" anchor="ctr"/>
          <a:lstStyle/>
          <a:p>
            <a:pPr algn="l" indent="0" marL="0">
              <a:buNone/>
            </a:pPr>
            <a:r>
              <a:rPr lang="en-US" sz="800" dirty="0">
                <a:solidFill>
                  <a:srgbClr val="FFFFFF"/>
                </a:solidFill>
                <a:latin typeface="Noto Sans JP" pitchFamily="34" charset="0"/>
                <a:ea typeface="Noto Sans JP" pitchFamily="34" charset="-122"/>
                <a:cs typeface="Noto Sans JP" pitchFamily="34" charset="-120"/>
              </a:rPr>
              <a:t>E</a:t>
            </a:r>
            <a:endParaRPr lang="en-US" sz="800" dirty="0"/>
          </a:p>
        </p:txBody>
      </p:sp>
      <p:sp>
        <p:nvSpPr>
          <p:cNvPr id="33" name="Shape 25"/>
          <p:cNvSpPr/>
          <p:nvPr/>
        </p:nvSpPr>
        <p:spPr>
          <a:xfrm>
            <a:off x="800100" y="5095951"/>
            <a:ext cx="2190902" cy="304495"/>
          </a:xfrm>
          <a:prstGeom prst="roundRect">
            <a:avLst>
              <a:gd name="adj" fmla="val 37538"/>
            </a:avLst>
          </a:prstGeom>
          <a:solidFill>
            <a:srgbClr val="F9FAFB"/>
          </a:solidFill>
          <a:ln/>
        </p:spPr>
      </p:sp>
      <p:sp>
        <p:nvSpPr>
          <p:cNvPr id="34" name="Text 26"/>
          <p:cNvSpPr txBox="1"/>
          <p:nvPr/>
        </p:nvSpPr>
        <p:spPr>
          <a:xfrm>
            <a:off x="800100" y="3076956"/>
            <a:ext cx="600761"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PHASE 1</a:t>
            </a:r>
            <a:endParaRPr lang="en-US" sz="900" dirty="0"/>
          </a:p>
        </p:txBody>
      </p:sp>
      <p:sp>
        <p:nvSpPr>
          <p:cNvPr id="35" name="Text 27"/>
          <p:cNvSpPr txBox="1"/>
          <p:nvPr/>
        </p:nvSpPr>
        <p:spPr>
          <a:xfrm>
            <a:off x="800100" y="3267151"/>
            <a:ext cx="986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準備・制作</a:t>
            </a:r>
            <a:endParaRPr lang="en-US" sz="1300" dirty="0"/>
          </a:p>
        </p:txBody>
      </p:sp>
      <p:sp>
        <p:nvSpPr>
          <p:cNvPr id="36" name="Text 28"/>
          <p:cNvSpPr txBox="1"/>
          <p:nvPr/>
        </p:nvSpPr>
        <p:spPr>
          <a:xfrm>
            <a:off x="2404872" y="3057754"/>
            <a:ext cx="600761"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Week 1-2</a:t>
            </a:r>
            <a:endParaRPr lang="en-US" sz="900" dirty="0"/>
          </a:p>
        </p:txBody>
      </p:sp>
      <p:sp>
        <p:nvSpPr>
          <p:cNvPr id="37" name="Text 29"/>
          <p:cNvSpPr txBox="1"/>
          <p:nvPr/>
        </p:nvSpPr>
        <p:spPr>
          <a:xfrm>
            <a:off x="990295" y="3638398"/>
            <a:ext cx="21003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ベンチマーク撮影トレンドスタイル3〜5枚</a:t>
            </a:r>
            <a:endParaRPr lang="en-US" sz="1000" dirty="0"/>
          </a:p>
        </p:txBody>
      </p:sp>
      <p:sp>
        <p:nvSpPr>
          <p:cNvPr id="38" name="Text 30"/>
          <p:cNvSpPr txBox="1"/>
          <p:nvPr/>
        </p:nvSpPr>
        <p:spPr>
          <a:xfrm>
            <a:off x="990295" y="4134002"/>
            <a:ext cx="21003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原稿作成キャッチコピー・クーポン</a:t>
            </a:r>
            <a:endParaRPr lang="en-US" sz="1000" dirty="0"/>
          </a:p>
        </p:txBody>
      </p:sp>
      <p:sp>
        <p:nvSpPr>
          <p:cNvPr id="39" name="Text 31"/>
          <p:cNvSpPr txBox="1"/>
          <p:nvPr/>
        </p:nvSpPr>
        <p:spPr>
          <a:xfrm>
            <a:off x="800100" y="4819802"/>
            <a:ext cx="3246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担当</a:t>
            </a:r>
            <a:endParaRPr lang="en-US" sz="900" dirty="0"/>
          </a:p>
        </p:txBody>
      </p:sp>
      <p:sp>
        <p:nvSpPr>
          <p:cNvPr id="40" name="Text 32"/>
          <p:cNvSpPr txBox="1"/>
          <p:nvPr/>
        </p:nvSpPr>
        <p:spPr>
          <a:xfrm>
            <a:off x="875995" y="5162702"/>
            <a:ext cx="286207"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KPI</a:t>
            </a:r>
            <a:endParaRPr lang="en-US" sz="900" dirty="0"/>
          </a:p>
        </p:txBody>
      </p:sp>
      <p:sp>
        <p:nvSpPr>
          <p:cNvPr id="41" name="Text 33"/>
          <p:cNvSpPr txBox="1"/>
          <p:nvPr/>
        </p:nvSpPr>
        <p:spPr>
          <a:xfrm>
            <a:off x="1885493" y="5162702"/>
            <a:ext cx="1124712"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入稿完了・審査通過</a:t>
            </a:r>
            <a:endParaRPr lang="en-US" sz="900" dirty="0"/>
          </a:p>
        </p:txBody>
      </p:sp>
      <p:sp>
        <p:nvSpPr>
          <p:cNvPr id="42" name="Shape 34"/>
          <p:cNvSpPr/>
          <p:nvPr/>
        </p:nvSpPr>
        <p:spPr>
          <a:xfrm>
            <a:off x="3409798" y="2800807"/>
            <a:ext cx="2572207" cy="2790749"/>
          </a:xfrm>
          <a:prstGeom prst="roundRect">
            <a:avLst>
              <a:gd name="adj" fmla="val 1580"/>
            </a:avLst>
          </a:prstGeom>
          <a:solidFill>
            <a:srgbClr val="FFFFFF"/>
          </a:solidFill>
          <a:ln/>
          <a:effectLst>
            <a:outerShdw sx="100000" sy="100000" kx="0" ky="0" algn="bl" rotWithShape="0" blurRad="63500" dist="38100" dir="5400000">
              <a:srgbClr val="000000">
                <a:alpha val="10000"/>
              </a:srgbClr>
            </a:outerShdw>
          </a:effectLst>
        </p:spPr>
      </p:sp>
      <p:sp>
        <p:nvSpPr>
          <p:cNvPr id="43" name="Shape 35"/>
          <p:cNvSpPr/>
          <p:nvPr/>
        </p:nvSpPr>
        <p:spPr>
          <a:xfrm>
            <a:off x="3409798" y="2800807"/>
            <a:ext cx="2572207" cy="38405"/>
          </a:xfrm>
          <a:prstGeom prst="rect">
            <a:avLst/>
          </a:prstGeom>
          <a:solidFill>
            <a:srgbClr val="EF4444"/>
          </a:solidFill>
          <a:ln/>
        </p:spPr>
      </p:sp>
      <p:sp>
        <p:nvSpPr>
          <p:cNvPr id="44" name="Shape 36"/>
          <p:cNvSpPr/>
          <p:nvPr/>
        </p:nvSpPr>
        <p:spPr>
          <a:xfrm>
            <a:off x="4695444" y="2476195"/>
            <a:ext cx="19202" cy="286207"/>
          </a:xfrm>
          <a:prstGeom prst="rect">
            <a:avLst/>
          </a:prstGeom>
          <a:solidFill>
            <a:srgbClr val="E5E7EB"/>
          </a:solidFill>
          <a:ln/>
        </p:spPr>
      </p:sp>
      <p:sp>
        <p:nvSpPr>
          <p:cNvPr id="45" name="Shape 37"/>
          <p:cNvSpPr/>
          <p:nvPr/>
        </p:nvSpPr>
        <p:spPr>
          <a:xfrm>
            <a:off x="5171846" y="3029407"/>
            <a:ext cx="629107" cy="228600"/>
          </a:xfrm>
          <a:prstGeom prst="roundRect">
            <a:avLst>
              <a:gd name="adj" fmla="val 66667"/>
            </a:avLst>
          </a:prstGeom>
          <a:solidFill>
            <a:srgbClr val="FEF2F2"/>
          </a:solidFill>
          <a:ln/>
        </p:spPr>
      </p:sp>
      <p:pic>
        <p:nvPicPr>
          <p:cNvPr id="46" name="Image 6" descr="preencoded.png">    </p:cNvPr>
          <p:cNvPicPr>
            <a:picLocks noChangeAspect="1"/>
          </p:cNvPicPr>
          <p:nvPr/>
        </p:nvPicPr>
        <p:blipFill>
          <a:blip r:embed="rId7"/>
          <a:srcRect l="0" r="0" t="0" b="0"/>
          <a:stretch/>
        </p:blipFill>
        <p:spPr>
          <a:xfrm>
            <a:off x="3600907" y="3676802"/>
            <a:ext cx="114300" cy="114300"/>
          </a:xfrm>
          <a:prstGeom prst="rect">
            <a:avLst/>
          </a:prstGeom>
        </p:spPr>
      </p:pic>
      <p:pic>
        <p:nvPicPr>
          <p:cNvPr id="47" name="Image 7" descr="preencoded.png">    </p:cNvPr>
          <p:cNvPicPr>
            <a:picLocks noChangeAspect="1"/>
          </p:cNvPicPr>
          <p:nvPr/>
        </p:nvPicPr>
        <p:blipFill>
          <a:blip r:embed="rId8"/>
          <a:srcRect l="0" r="0" t="0" b="0"/>
          <a:stretch/>
        </p:blipFill>
        <p:spPr>
          <a:xfrm>
            <a:off x="3600907" y="4172407"/>
            <a:ext cx="114300" cy="114300"/>
          </a:xfrm>
          <a:prstGeom prst="rect">
            <a:avLst/>
          </a:prstGeom>
        </p:spPr>
      </p:pic>
      <p:sp>
        <p:nvSpPr>
          <p:cNvPr id="48" name="Shape 38"/>
          <p:cNvSpPr/>
          <p:nvPr/>
        </p:nvSpPr>
        <p:spPr>
          <a:xfrm>
            <a:off x="3600907" y="4667098"/>
            <a:ext cx="2190902" cy="9144"/>
          </a:xfrm>
          <a:prstGeom prst="rect">
            <a:avLst/>
          </a:prstGeom>
          <a:solidFill>
            <a:srgbClr val="F3F4F6"/>
          </a:solidFill>
          <a:ln/>
        </p:spPr>
      </p:sp>
      <p:sp>
        <p:nvSpPr>
          <p:cNvPr id="49" name="Shape 39"/>
          <p:cNvSpPr/>
          <p:nvPr/>
        </p:nvSpPr>
        <p:spPr>
          <a:xfrm>
            <a:off x="5524805" y="4791456"/>
            <a:ext cx="228600" cy="228600"/>
          </a:xfrm>
          <a:prstGeom prst="ellipse">
            <a:avLst/>
          </a:prstGeom>
          <a:solidFill>
            <a:srgbClr val="8B5CF6"/>
          </a:solidFill>
          <a:ln/>
          <a:effectLst>
            <a:outerShdw sx="100000" sy="100000" kx="0" ky="0" algn="bl" rotWithShape="0" blurRad="12700" dist="12700" dir="16200000">
              <a:srgbClr val="ffffff">
                <a:alpha val="100000"/>
              </a:srgbClr>
            </a:outerShdw>
          </a:effectLst>
        </p:spPr>
      </p:sp>
      <p:sp>
        <p:nvSpPr>
          <p:cNvPr id="50" name="Text 40"/>
          <p:cNvSpPr txBox="1"/>
          <p:nvPr/>
        </p:nvSpPr>
        <p:spPr>
          <a:xfrm>
            <a:off x="5607101" y="4825289"/>
            <a:ext cx="147218" cy="162763"/>
          </a:xfrm>
          <a:prstGeom prst="rect">
            <a:avLst/>
          </a:prstGeom>
          <a:noFill/>
          <a:ln/>
        </p:spPr>
        <p:txBody>
          <a:bodyPr wrap="square" lIns="0" tIns="0" rIns="0" bIns="0" rtlCol="0" anchor="ctr"/>
          <a:lstStyle/>
          <a:p>
            <a:pPr algn="l" indent="0" marL="0">
              <a:buNone/>
            </a:pPr>
            <a:r>
              <a:rPr lang="en-US" sz="800" dirty="0">
                <a:solidFill>
                  <a:srgbClr val="FFFFFF"/>
                </a:solidFill>
                <a:latin typeface="Noto Sans JP" pitchFamily="34" charset="0"/>
                <a:ea typeface="Noto Sans JP" pitchFamily="34" charset="-122"/>
                <a:cs typeface="Noto Sans JP" pitchFamily="34" charset="-120"/>
              </a:rPr>
              <a:t>S</a:t>
            </a:r>
            <a:endParaRPr lang="en-US" sz="800" dirty="0"/>
          </a:p>
        </p:txBody>
      </p:sp>
      <p:sp>
        <p:nvSpPr>
          <p:cNvPr id="51" name="Shape 41"/>
          <p:cNvSpPr/>
          <p:nvPr/>
        </p:nvSpPr>
        <p:spPr>
          <a:xfrm>
            <a:off x="3600907" y="5095951"/>
            <a:ext cx="2190902" cy="304495"/>
          </a:xfrm>
          <a:prstGeom prst="roundRect">
            <a:avLst>
              <a:gd name="adj" fmla="val 37538"/>
            </a:avLst>
          </a:prstGeom>
          <a:solidFill>
            <a:srgbClr val="FEF2F2"/>
          </a:solidFill>
          <a:ln/>
        </p:spPr>
      </p:sp>
      <p:sp>
        <p:nvSpPr>
          <p:cNvPr id="52" name="Text 42"/>
          <p:cNvSpPr txBox="1"/>
          <p:nvPr/>
        </p:nvSpPr>
        <p:spPr>
          <a:xfrm>
            <a:off x="3600907" y="3076956"/>
            <a:ext cx="600761" cy="162763"/>
          </a:xfrm>
          <a:prstGeom prst="rect">
            <a:avLst/>
          </a:prstGeom>
          <a:noFill/>
          <a:ln/>
        </p:spPr>
        <p:txBody>
          <a:bodyPr wrap="square" lIns="0" tIns="0" rIns="0" bIns="0" rtlCol="0" anchor="ctr"/>
          <a:lstStyle/>
          <a:p>
            <a:pPr algn="l" indent="0" marL="0">
              <a:buNone/>
            </a:pPr>
            <a:r>
              <a:rPr lang="en-US" sz="900" b="1" dirty="0">
                <a:solidFill>
                  <a:srgbClr val="F87171"/>
                </a:solidFill>
                <a:latin typeface="Noto Sans JP" pitchFamily="34" charset="0"/>
                <a:ea typeface="Noto Sans JP" pitchFamily="34" charset="-122"/>
                <a:cs typeface="Noto Sans JP" pitchFamily="34" charset="-120"/>
              </a:rPr>
              <a:t>PHASE 2</a:t>
            </a:r>
            <a:endParaRPr lang="en-US" sz="900" dirty="0"/>
          </a:p>
        </p:txBody>
      </p:sp>
      <p:sp>
        <p:nvSpPr>
          <p:cNvPr id="53" name="Text 43"/>
          <p:cNvSpPr txBox="1"/>
          <p:nvPr/>
        </p:nvSpPr>
        <p:spPr>
          <a:xfrm>
            <a:off x="3600907" y="3267151"/>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掲載開始・検証</a:t>
            </a:r>
            <a:endParaRPr lang="en-US" sz="1300" dirty="0"/>
          </a:p>
        </p:txBody>
      </p:sp>
      <p:sp>
        <p:nvSpPr>
          <p:cNvPr id="54" name="Text 44"/>
          <p:cNvSpPr txBox="1"/>
          <p:nvPr/>
        </p:nvSpPr>
        <p:spPr>
          <a:xfrm>
            <a:off x="5247742" y="3057754"/>
            <a:ext cx="562356" cy="162763"/>
          </a:xfrm>
          <a:prstGeom prst="rect">
            <a:avLst/>
          </a:prstGeom>
          <a:noFill/>
          <a:ln/>
        </p:spPr>
        <p:txBody>
          <a:bodyPr wrap="square" lIns="0" tIns="0" rIns="0" bIns="0" rtlCol="0" anchor="ctr"/>
          <a:lstStyle/>
          <a:p>
            <a:pPr algn="l" indent="0" marL="0">
              <a:buNone/>
            </a:pPr>
            <a:r>
              <a:rPr lang="en-US" sz="900" b="1" dirty="0">
                <a:solidFill>
                  <a:srgbClr val="DC2626"/>
                </a:solidFill>
                <a:latin typeface="Noto Sans JP" pitchFamily="34" charset="0"/>
                <a:ea typeface="Noto Sans JP" pitchFamily="34" charset="-122"/>
                <a:cs typeface="Noto Sans JP" pitchFamily="34" charset="-120"/>
              </a:rPr>
              <a:t>Week 3~</a:t>
            </a:r>
            <a:endParaRPr lang="en-US" sz="900" dirty="0"/>
          </a:p>
        </p:txBody>
      </p:sp>
      <p:sp>
        <p:nvSpPr>
          <p:cNvPr id="55" name="Text 45"/>
          <p:cNvSpPr txBox="1"/>
          <p:nvPr/>
        </p:nvSpPr>
        <p:spPr>
          <a:xfrm>
            <a:off x="3791102" y="3638398"/>
            <a:ext cx="21003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掲載スタート予約枠開放・ブログ投稿</a:t>
            </a:r>
            <a:endParaRPr lang="en-US" sz="1000" dirty="0"/>
          </a:p>
        </p:txBody>
      </p:sp>
      <p:sp>
        <p:nvSpPr>
          <p:cNvPr id="56" name="Text 46"/>
          <p:cNvSpPr txBox="1"/>
          <p:nvPr/>
        </p:nvSpPr>
        <p:spPr>
          <a:xfrm>
            <a:off x="3791102" y="4134002"/>
            <a:ext cx="1996135"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A/Bテスト開始トップ画像2パターンの反応比較</a:t>
            </a:r>
            <a:endParaRPr lang="en-US" sz="1000" dirty="0"/>
          </a:p>
        </p:txBody>
      </p:sp>
      <p:sp>
        <p:nvSpPr>
          <p:cNvPr id="57" name="Text 47"/>
          <p:cNvSpPr txBox="1"/>
          <p:nvPr/>
        </p:nvSpPr>
        <p:spPr>
          <a:xfrm>
            <a:off x="3600907" y="4819802"/>
            <a:ext cx="3246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担当</a:t>
            </a:r>
            <a:endParaRPr lang="en-US" sz="900" dirty="0"/>
          </a:p>
        </p:txBody>
      </p:sp>
      <p:sp>
        <p:nvSpPr>
          <p:cNvPr id="58" name="Text 48"/>
          <p:cNvSpPr txBox="1"/>
          <p:nvPr/>
        </p:nvSpPr>
        <p:spPr>
          <a:xfrm>
            <a:off x="3676802" y="5162702"/>
            <a:ext cx="286207" cy="162763"/>
          </a:xfrm>
          <a:prstGeom prst="rect">
            <a:avLst/>
          </a:prstGeom>
          <a:noFill/>
          <a:ln/>
        </p:spPr>
        <p:txBody>
          <a:bodyPr wrap="square" lIns="0" tIns="0" rIns="0" bIns="0" rtlCol="0" anchor="ctr"/>
          <a:lstStyle/>
          <a:p>
            <a:pPr algn="l" indent="0" marL="0">
              <a:buNone/>
            </a:pPr>
            <a:r>
              <a:rPr lang="en-US" sz="900" b="1" dirty="0">
                <a:solidFill>
                  <a:srgbClr val="EF4444"/>
                </a:solidFill>
                <a:latin typeface="Noto Sans JP" pitchFamily="34" charset="0"/>
                <a:ea typeface="Noto Sans JP" pitchFamily="34" charset="-122"/>
                <a:cs typeface="Noto Sans JP" pitchFamily="34" charset="-120"/>
              </a:rPr>
              <a:t>KPI</a:t>
            </a:r>
            <a:endParaRPr lang="en-US" sz="900" dirty="0"/>
          </a:p>
        </p:txBody>
      </p:sp>
      <p:sp>
        <p:nvSpPr>
          <p:cNvPr id="59" name="Text 49"/>
          <p:cNvSpPr txBox="1"/>
          <p:nvPr/>
        </p:nvSpPr>
        <p:spPr>
          <a:xfrm>
            <a:off x="4539082" y="5162702"/>
            <a:ext cx="1267358"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PV数（エリア平均比）</a:t>
            </a:r>
            <a:endParaRPr lang="en-US" sz="900" dirty="0"/>
          </a:p>
        </p:txBody>
      </p:sp>
      <p:sp>
        <p:nvSpPr>
          <p:cNvPr id="60" name="Shape 50"/>
          <p:cNvSpPr/>
          <p:nvPr/>
        </p:nvSpPr>
        <p:spPr>
          <a:xfrm>
            <a:off x="6210605" y="2800807"/>
            <a:ext cx="2572207" cy="2790749"/>
          </a:xfrm>
          <a:prstGeom prst="roundRect">
            <a:avLst>
              <a:gd name="adj" fmla="val 1580"/>
            </a:avLst>
          </a:prstGeom>
          <a:solidFill>
            <a:srgbClr val="FFFFFF"/>
          </a:solidFill>
          <a:ln/>
          <a:effectLst>
            <a:outerShdw sx="100000" sy="100000" kx="0" ky="0" algn="bl" rotWithShape="0" blurRad="63500" dist="38100" dir="5400000">
              <a:srgbClr val="000000">
                <a:alpha val="10000"/>
              </a:srgbClr>
            </a:outerShdw>
          </a:effectLst>
        </p:spPr>
      </p:sp>
      <p:sp>
        <p:nvSpPr>
          <p:cNvPr id="61" name="Shape 51"/>
          <p:cNvSpPr/>
          <p:nvPr/>
        </p:nvSpPr>
        <p:spPr>
          <a:xfrm>
            <a:off x="6210605" y="2800807"/>
            <a:ext cx="2572207" cy="38405"/>
          </a:xfrm>
          <a:prstGeom prst="rect">
            <a:avLst/>
          </a:prstGeom>
          <a:solidFill>
            <a:srgbClr val="3B82F6"/>
          </a:solidFill>
          <a:ln/>
        </p:spPr>
      </p:sp>
      <p:sp>
        <p:nvSpPr>
          <p:cNvPr id="62" name="Shape 52"/>
          <p:cNvSpPr/>
          <p:nvPr/>
        </p:nvSpPr>
        <p:spPr>
          <a:xfrm>
            <a:off x="7496251" y="2476195"/>
            <a:ext cx="19202" cy="286207"/>
          </a:xfrm>
          <a:prstGeom prst="rect">
            <a:avLst/>
          </a:prstGeom>
          <a:solidFill>
            <a:srgbClr val="E5E7EB"/>
          </a:solidFill>
          <a:ln/>
        </p:spPr>
      </p:sp>
      <p:sp>
        <p:nvSpPr>
          <p:cNvPr id="63" name="Shape 53"/>
          <p:cNvSpPr/>
          <p:nvPr/>
        </p:nvSpPr>
        <p:spPr>
          <a:xfrm>
            <a:off x="7886700" y="3029407"/>
            <a:ext cx="714146" cy="228600"/>
          </a:xfrm>
          <a:prstGeom prst="roundRect">
            <a:avLst>
              <a:gd name="adj" fmla="val 66667"/>
            </a:avLst>
          </a:prstGeom>
          <a:solidFill>
            <a:srgbClr val="EFF6FF"/>
          </a:solidFill>
          <a:ln/>
        </p:spPr>
      </p:sp>
      <p:pic>
        <p:nvPicPr>
          <p:cNvPr id="64" name="Image 8" descr="preencoded.png">    </p:cNvPr>
          <p:cNvPicPr>
            <a:picLocks noChangeAspect="1"/>
          </p:cNvPicPr>
          <p:nvPr/>
        </p:nvPicPr>
        <p:blipFill>
          <a:blip r:embed="rId9"/>
          <a:srcRect l="-1911" r="-1911" t="0" b="0"/>
          <a:stretch/>
        </p:blipFill>
        <p:spPr>
          <a:xfrm>
            <a:off x="6400800" y="3676802"/>
            <a:ext cx="133502" cy="114300"/>
          </a:xfrm>
          <a:prstGeom prst="rect">
            <a:avLst/>
          </a:prstGeom>
        </p:spPr>
      </p:pic>
      <p:pic>
        <p:nvPicPr>
          <p:cNvPr id="65" name="Image 9" descr="preencoded.png">    </p:cNvPr>
          <p:cNvPicPr>
            <a:picLocks noChangeAspect="1"/>
          </p:cNvPicPr>
          <p:nvPr/>
        </p:nvPicPr>
        <p:blipFill>
          <a:blip r:embed="rId10"/>
          <a:srcRect l="0" r="0" t="0" b="0"/>
          <a:stretch/>
        </p:blipFill>
        <p:spPr>
          <a:xfrm>
            <a:off x="6400800" y="4172407"/>
            <a:ext cx="114300" cy="114300"/>
          </a:xfrm>
          <a:prstGeom prst="rect">
            <a:avLst/>
          </a:prstGeom>
        </p:spPr>
      </p:pic>
      <p:sp>
        <p:nvSpPr>
          <p:cNvPr id="66" name="Shape 54"/>
          <p:cNvSpPr/>
          <p:nvPr/>
        </p:nvSpPr>
        <p:spPr>
          <a:xfrm>
            <a:off x="6400800" y="4667098"/>
            <a:ext cx="2190902" cy="9144"/>
          </a:xfrm>
          <a:prstGeom prst="rect">
            <a:avLst/>
          </a:prstGeom>
          <a:solidFill>
            <a:srgbClr val="F3F4F6"/>
          </a:solidFill>
          <a:ln/>
        </p:spPr>
      </p:sp>
      <p:sp>
        <p:nvSpPr>
          <p:cNvPr id="67" name="Shape 55"/>
          <p:cNvSpPr/>
          <p:nvPr/>
        </p:nvSpPr>
        <p:spPr>
          <a:xfrm>
            <a:off x="8324698" y="4791456"/>
            <a:ext cx="228600" cy="228600"/>
          </a:xfrm>
          <a:prstGeom prst="ellipse">
            <a:avLst/>
          </a:prstGeom>
          <a:solidFill>
            <a:srgbClr val="F59E0B"/>
          </a:solidFill>
          <a:ln/>
          <a:effectLst>
            <a:outerShdw sx="100000" sy="100000" kx="0" ky="0" algn="bl" rotWithShape="0" blurRad="12700" dist="12700" dir="16200000">
              <a:srgbClr val="ffffff">
                <a:alpha val="100000"/>
              </a:srgbClr>
            </a:outerShdw>
          </a:effectLst>
        </p:spPr>
      </p:sp>
      <p:sp>
        <p:nvSpPr>
          <p:cNvPr id="68" name="Text 56"/>
          <p:cNvSpPr txBox="1"/>
          <p:nvPr/>
        </p:nvSpPr>
        <p:spPr>
          <a:xfrm>
            <a:off x="8407908" y="4825289"/>
            <a:ext cx="147218" cy="162763"/>
          </a:xfrm>
          <a:prstGeom prst="rect">
            <a:avLst/>
          </a:prstGeom>
          <a:noFill/>
          <a:ln/>
        </p:spPr>
        <p:txBody>
          <a:bodyPr wrap="square" lIns="0" tIns="0" rIns="0" bIns="0" rtlCol="0" anchor="ctr"/>
          <a:lstStyle/>
          <a:p>
            <a:pPr algn="l" indent="0" marL="0">
              <a:buNone/>
            </a:pPr>
            <a:r>
              <a:rPr lang="en-US" sz="800" dirty="0">
                <a:solidFill>
                  <a:srgbClr val="FFFFFF"/>
                </a:solidFill>
                <a:latin typeface="Noto Sans JP" pitchFamily="34" charset="0"/>
                <a:ea typeface="Noto Sans JP" pitchFamily="34" charset="-122"/>
                <a:cs typeface="Noto Sans JP" pitchFamily="34" charset="-120"/>
              </a:rPr>
              <a:t>E</a:t>
            </a:r>
            <a:endParaRPr lang="en-US" sz="800" dirty="0"/>
          </a:p>
        </p:txBody>
      </p:sp>
      <p:sp>
        <p:nvSpPr>
          <p:cNvPr id="69" name="Shape 57"/>
          <p:cNvSpPr/>
          <p:nvPr/>
        </p:nvSpPr>
        <p:spPr>
          <a:xfrm>
            <a:off x="6400800" y="5095951"/>
            <a:ext cx="2190902" cy="304495"/>
          </a:xfrm>
          <a:prstGeom prst="roundRect">
            <a:avLst>
              <a:gd name="adj" fmla="val 37538"/>
            </a:avLst>
          </a:prstGeom>
          <a:solidFill>
            <a:srgbClr val="EFF6FF"/>
          </a:solidFill>
          <a:ln/>
        </p:spPr>
      </p:sp>
      <p:sp>
        <p:nvSpPr>
          <p:cNvPr id="70" name="Text 58"/>
          <p:cNvSpPr txBox="1"/>
          <p:nvPr/>
        </p:nvSpPr>
        <p:spPr>
          <a:xfrm>
            <a:off x="6400800" y="3076956"/>
            <a:ext cx="600761" cy="162763"/>
          </a:xfrm>
          <a:prstGeom prst="rect">
            <a:avLst/>
          </a:prstGeom>
          <a:noFill/>
          <a:ln/>
        </p:spPr>
        <p:txBody>
          <a:bodyPr wrap="square" lIns="0" tIns="0" rIns="0" bIns="0" rtlCol="0" anchor="ctr"/>
          <a:lstStyle/>
          <a:p>
            <a:pPr algn="l" indent="0" marL="0">
              <a:buNone/>
            </a:pPr>
            <a:r>
              <a:rPr lang="en-US" sz="900" b="1" dirty="0">
                <a:solidFill>
                  <a:srgbClr val="60A5FA"/>
                </a:solidFill>
                <a:latin typeface="Noto Sans JP" pitchFamily="34" charset="0"/>
                <a:ea typeface="Noto Sans JP" pitchFamily="34" charset="-122"/>
                <a:cs typeface="Noto Sans JP" pitchFamily="34" charset="-120"/>
              </a:rPr>
              <a:t>PHASE 3</a:t>
            </a:r>
            <a:endParaRPr lang="en-US" sz="900" dirty="0"/>
          </a:p>
        </p:txBody>
      </p:sp>
      <p:sp>
        <p:nvSpPr>
          <p:cNvPr id="71" name="Text 59"/>
          <p:cNvSpPr txBox="1"/>
          <p:nvPr/>
        </p:nvSpPr>
        <p:spPr>
          <a:xfrm>
            <a:off x="6400800" y="3267151"/>
            <a:ext cx="9866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分析・改善</a:t>
            </a:r>
            <a:endParaRPr lang="en-US" sz="1300" dirty="0"/>
          </a:p>
        </p:txBody>
      </p:sp>
      <p:sp>
        <p:nvSpPr>
          <p:cNvPr id="72" name="Text 60"/>
          <p:cNvSpPr txBox="1"/>
          <p:nvPr/>
        </p:nvSpPr>
        <p:spPr>
          <a:xfrm>
            <a:off x="7962595" y="3057754"/>
            <a:ext cx="648310" cy="162763"/>
          </a:xfrm>
          <a:prstGeom prst="rect">
            <a:avLst/>
          </a:prstGeom>
          <a:noFill/>
          <a:ln/>
        </p:spPr>
        <p:txBody>
          <a:bodyPr wrap="square" lIns="0" tIns="0" rIns="0" bIns="0" rtlCol="0" anchor="ctr"/>
          <a:lstStyle/>
          <a:p>
            <a:pPr algn="l" indent="0" marL="0">
              <a:buNone/>
            </a:pPr>
            <a:r>
              <a:rPr lang="en-US" sz="900" b="1" dirty="0">
                <a:solidFill>
                  <a:srgbClr val="2563EB"/>
                </a:solidFill>
                <a:latin typeface="Noto Sans JP" pitchFamily="34" charset="0"/>
                <a:ea typeface="Noto Sans JP" pitchFamily="34" charset="-122"/>
                <a:cs typeface="Noto Sans JP" pitchFamily="34" charset="-120"/>
              </a:rPr>
              <a:t>Day 30-60</a:t>
            </a:r>
            <a:endParaRPr lang="en-US" sz="900" dirty="0"/>
          </a:p>
        </p:txBody>
      </p:sp>
      <p:sp>
        <p:nvSpPr>
          <p:cNvPr id="73" name="Text 61"/>
          <p:cNvSpPr txBox="1"/>
          <p:nvPr/>
        </p:nvSpPr>
        <p:spPr>
          <a:xfrm>
            <a:off x="6610198" y="3638398"/>
            <a:ext cx="2024482"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PV/CVR分析閲覧数に対する予約率の確認</a:t>
            </a:r>
            <a:endParaRPr lang="en-US" sz="1000" dirty="0"/>
          </a:p>
        </p:txBody>
      </p:sp>
      <p:sp>
        <p:nvSpPr>
          <p:cNvPr id="74" name="Text 62"/>
          <p:cNvSpPr txBox="1"/>
          <p:nvPr/>
        </p:nvSpPr>
        <p:spPr>
          <a:xfrm>
            <a:off x="6590995" y="4134002"/>
            <a:ext cx="21003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クーポン最適化不人気クーポンの入れ替え</a:t>
            </a:r>
            <a:endParaRPr lang="en-US" sz="1000" dirty="0"/>
          </a:p>
        </p:txBody>
      </p:sp>
      <p:sp>
        <p:nvSpPr>
          <p:cNvPr id="75" name="Text 63"/>
          <p:cNvSpPr txBox="1"/>
          <p:nvPr/>
        </p:nvSpPr>
        <p:spPr>
          <a:xfrm>
            <a:off x="6400800" y="4819802"/>
            <a:ext cx="3246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担当</a:t>
            </a:r>
            <a:endParaRPr lang="en-US" sz="900" dirty="0"/>
          </a:p>
        </p:txBody>
      </p:sp>
      <p:sp>
        <p:nvSpPr>
          <p:cNvPr id="76" name="Text 64"/>
          <p:cNvSpPr txBox="1"/>
          <p:nvPr/>
        </p:nvSpPr>
        <p:spPr>
          <a:xfrm>
            <a:off x="6476695" y="5162702"/>
            <a:ext cx="286207" cy="162763"/>
          </a:xfrm>
          <a:prstGeom prst="rect">
            <a:avLst/>
          </a:prstGeom>
          <a:noFill/>
          <a:ln/>
        </p:spPr>
        <p:txBody>
          <a:bodyPr wrap="square" lIns="0" tIns="0" rIns="0" bIns="0" rtlCol="0" anchor="ctr"/>
          <a:lstStyle/>
          <a:p>
            <a:pPr algn="l" indent="0" marL="0">
              <a:buNone/>
            </a:pPr>
            <a:r>
              <a:rPr lang="en-US" sz="900" b="1" dirty="0">
                <a:solidFill>
                  <a:srgbClr val="3B82F6"/>
                </a:solidFill>
                <a:latin typeface="Noto Sans JP" pitchFamily="34" charset="0"/>
                <a:ea typeface="Noto Sans JP" pitchFamily="34" charset="-122"/>
                <a:cs typeface="Noto Sans JP" pitchFamily="34" charset="-120"/>
              </a:rPr>
              <a:t>KPI</a:t>
            </a:r>
            <a:endParaRPr lang="en-US" sz="900" dirty="0"/>
          </a:p>
        </p:txBody>
      </p:sp>
      <p:sp>
        <p:nvSpPr>
          <p:cNvPr id="77" name="Text 65"/>
          <p:cNvSpPr txBox="1"/>
          <p:nvPr/>
        </p:nvSpPr>
        <p:spPr>
          <a:xfrm>
            <a:off x="7756855" y="5162702"/>
            <a:ext cx="848563"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CVR 1.5%達成</a:t>
            </a:r>
            <a:endParaRPr lang="en-US" sz="900" dirty="0"/>
          </a:p>
        </p:txBody>
      </p:sp>
      <p:sp>
        <p:nvSpPr>
          <p:cNvPr id="78" name="Shape 66"/>
          <p:cNvSpPr/>
          <p:nvPr/>
        </p:nvSpPr>
        <p:spPr>
          <a:xfrm>
            <a:off x="9010498" y="2800807"/>
            <a:ext cx="2572207" cy="2790749"/>
          </a:xfrm>
          <a:prstGeom prst="roundRect">
            <a:avLst>
              <a:gd name="adj" fmla="val 1580"/>
            </a:avLst>
          </a:prstGeom>
          <a:solidFill>
            <a:srgbClr val="FFFFFF"/>
          </a:solidFill>
          <a:ln/>
          <a:effectLst>
            <a:outerShdw sx="100000" sy="100000" kx="0" ky="0" algn="bl" rotWithShape="0" blurRad="63500" dist="38100" dir="5400000">
              <a:srgbClr val="000000">
                <a:alpha val="10000"/>
              </a:srgbClr>
            </a:outerShdw>
          </a:effectLst>
        </p:spPr>
      </p:sp>
      <p:sp>
        <p:nvSpPr>
          <p:cNvPr id="79" name="Shape 67"/>
          <p:cNvSpPr/>
          <p:nvPr/>
        </p:nvSpPr>
        <p:spPr>
          <a:xfrm>
            <a:off x="9010498" y="2800807"/>
            <a:ext cx="2572207" cy="38405"/>
          </a:xfrm>
          <a:prstGeom prst="rect">
            <a:avLst/>
          </a:prstGeom>
          <a:solidFill>
            <a:srgbClr val="10B981"/>
          </a:solidFill>
          <a:ln/>
        </p:spPr>
      </p:sp>
      <p:sp>
        <p:nvSpPr>
          <p:cNvPr id="80" name="Shape 68"/>
          <p:cNvSpPr/>
          <p:nvPr/>
        </p:nvSpPr>
        <p:spPr>
          <a:xfrm>
            <a:off x="10296144" y="2476195"/>
            <a:ext cx="19202" cy="286207"/>
          </a:xfrm>
          <a:prstGeom prst="rect">
            <a:avLst/>
          </a:prstGeom>
          <a:solidFill>
            <a:srgbClr val="E5E7EB"/>
          </a:solidFill>
          <a:ln/>
        </p:spPr>
      </p:sp>
      <p:sp>
        <p:nvSpPr>
          <p:cNvPr id="81" name="Shape 69"/>
          <p:cNvSpPr/>
          <p:nvPr/>
        </p:nvSpPr>
        <p:spPr>
          <a:xfrm>
            <a:off x="10863986" y="3029407"/>
            <a:ext cx="533095" cy="228600"/>
          </a:xfrm>
          <a:prstGeom prst="roundRect">
            <a:avLst>
              <a:gd name="adj" fmla="val 66667"/>
            </a:avLst>
          </a:prstGeom>
          <a:solidFill>
            <a:srgbClr val="ECFDF5"/>
          </a:solidFill>
          <a:ln/>
        </p:spPr>
      </p:sp>
      <p:pic>
        <p:nvPicPr>
          <p:cNvPr id="82" name="Image 10" descr="preencoded.png">    </p:cNvPr>
          <p:cNvPicPr>
            <a:picLocks noChangeAspect="1"/>
          </p:cNvPicPr>
          <p:nvPr/>
        </p:nvPicPr>
        <p:blipFill>
          <a:blip r:embed="rId11"/>
          <a:srcRect l="0" r="0" t="0" b="0"/>
          <a:stretch/>
        </p:blipFill>
        <p:spPr>
          <a:xfrm>
            <a:off x="9201607" y="3676802"/>
            <a:ext cx="114300" cy="114300"/>
          </a:xfrm>
          <a:prstGeom prst="rect">
            <a:avLst/>
          </a:prstGeom>
        </p:spPr>
      </p:pic>
      <p:pic>
        <p:nvPicPr>
          <p:cNvPr id="83" name="Image 11" descr="preencoded.png">    </p:cNvPr>
          <p:cNvPicPr>
            <a:picLocks noChangeAspect="1"/>
          </p:cNvPicPr>
          <p:nvPr/>
        </p:nvPicPr>
        <p:blipFill>
          <a:blip r:embed="rId12"/>
          <a:srcRect l="0" r="0" t="-80" b="-80"/>
          <a:stretch/>
        </p:blipFill>
        <p:spPr>
          <a:xfrm>
            <a:off x="9201607" y="4172407"/>
            <a:ext cx="142646" cy="114300"/>
          </a:xfrm>
          <a:prstGeom prst="rect">
            <a:avLst/>
          </a:prstGeom>
        </p:spPr>
      </p:pic>
      <p:sp>
        <p:nvSpPr>
          <p:cNvPr id="84" name="Shape 70"/>
          <p:cNvSpPr/>
          <p:nvPr/>
        </p:nvSpPr>
        <p:spPr>
          <a:xfrm>
            <a:off x="9201607" y="4667098"/>
            <a:ext cx="2190902" cy="9144"/>
          </a:xfrm>
          <a:prstGeom prst="rect">
            <a:avLst/>
          </a:prstGeom>
          <a:solidFill>
            <a:srgbClr val="F3F4F6"/>
          </a:solidFill>
          <a:ln/>
        </p:spPr>
      </p:sp>
      <p:sp>
        <p:nvSpPr>
          <p:cNvPr id="85" name="Shape 71"/>
          <p:cNvSpPr/>
          <p:nvPr/>
        </p:nvSpPr>
        <p:spPr>
          <a:xfrm>
            <a:off x="11125505" y="4791456"/>
            <a:ext cx="228600" cy="228600"/>
          </a:xfrm>
          <a:prstGeom prst="ellipse">
            <a:avLst/>
          </a:prstGeom>
          <a:solidFill>
            <a:srgbClr val="8B5CF6"/>
          </a:solidFill>
          <a:ln/>
          <a:effectLst>
            <a:outerShdw sx="100000" sy="100000" kx="0" ky="0" algn="bl" rotWithShape="0" blurRad="12700" dist="12700" dir="16200000">
              <a:srgbClr val="ffffff">
                <a:alpha val="100000"/>
              </a:srgbClr>
            </a:outerShdw>
          </a:effectLst>
        </p:spPr>
      </p:sp>
      <p:sp>
        <p:nvSpPr>
          <p:cNvPr id="86" name="Text 72"/>
          <p:cNvSpPr txBox="1"/>
          <p:nvPr/>
        </p:nvSpPr>
        <p:spPr>
          <a:xfrm>
            <a:off x="11207801" y="4825289"/>
            <a:ext cx="147218" cy="162763"/>
          </a:xfrm>
          <a:prstGeom prst="rect">
            <a:avLst/>
          </a:prstGeom>
          <a:noFill/>
          <a:ln/>
        </p:spPr>
        <p:txBody>
          <a:bodyPr wrap="square" lIns="0" tIns="0" rIns="0" bIns="0" rtlCol="0" anchor="ctr"/>
          <a:lstStyle/>
          <a:p>
            <a:pPr algn="l" indent="0" marL="0">
              <a:buNone/>
            </a:pPr>
            <a:r>
              <a:rPr lang="en-US" sz="800" dirty="0">
                <a:solidFill>
                  <a:srgbClr val="FFFFFF"/>
                </a:solidFill>
                <a:latin typeface="Noto Sans JP" pitchFamily="34" charset="0"/>
                <a:ea typeface="Noto Sans JP" pitchFamily="34" charset="-122"/>
                <a:cs typeface="Noto Sans JP" pitchFamily="34" charset="-120"/>
              </a:rPr>
              <a:t>S</a:t>
            </a:r>
            <a:endParaRPr lang="en-US" sz="800" dirty="0"/>
          </a:p>
        </p:txBody>
      </p:sp>
      <p:sp>
        <p:nvSpPr>
          <p:cNvPr id="87" name="Shape 73"/>
          <p:cNvSpPr/>
          <p:nvPr/>
        </p:nvSpPr>
        <p:spPr>
          <a:xfrm>
            <a:off x="9201607" y="5095951"/>
            <a:ext cx="2190902" cy="304495"/>
          </a:xfrm>
          <a:prstGeom prst="roundRect">
            <a:avLst>
              <a:gd name="adj" fmla="val 37538"/>
            </a:avLst>
          </a:prstGeom>
          <a:solidFill>
            <a:srgbClr val="ECFDF5"/>
          </a:solidFill>
          <a:ln/>
        </p:spPr>
      </p:sp>
      <p:sp>
        <p:nvSpPr>
          <p:cNvPr id="88" name="Text 74"/>
          <p:cNvSpPr txBox="1"/>
          <p:nvPr/>
        </p:nvSpPr>
        <p:spPr>
          <a:xfrm>
            <a:off x="9201607" y="3076956"/>
            <a:ext cx="600761" cy="162763"/>
          </a:xfrm>
          <a:prstGeom prst="rect">
            <a:avLst/>
          </a:prstGeom>
          <a:noFill/>
          <a:ln/>
        </p:spPr>
        <p:txBody>
          <a:bodyPr wrap="square" lIns="0" tIns="0" rIns="0" bIns="0" rtlCol="0" anchor="ctr"/>
          <a:lstStyle/>
          <a:p>
            <a:pPr algn="l" indent="0" marL="0">
              <a:buNone/>
            </a:pPr>
            <a:r>
              <a:rPr lang="en-US" sz="900" b="1" dirty="0">
                <a:solidFill>
                  <a:srgbClr val="34D399"/>
                </a:solidFill>
                <a:latin typeface="Noto Sans JP" pitchFamily="34" charset="0"/>
                <a:ea typeface="Noto Sans JP" pitchFamily="34" charset="-122"/>
                <a:cs typeface="Noto Sans JP" pitchFamily="34" charset="-120"/>
              </a:rPr>
              <a:t>PHASE 4</a:t>
            </a:r>
            <a:endParaRPr lang="en-US" sz="900" dirty="0"/>
          </a:p>
        </p:txBody>
      </p:sp>
      <p:sp>
        <p:nvSpPr>
          <p:cNvPr id="89" name="Text 75"/>
          <p:cNvSpPr txBox="1"/>
          <p:nvPr/>
        </p:nvSpPr>
        <p:spPr>
          <a:xfrm>
            <a:off x="9201607" y="3267151"/>
            <a:ext cx="1329538" cy="247802"/>
          </a:xfrm>
          <a:prstGeom prst="rect">
            <a:avLst/>
          </a:prstGeom>
          <a:noFill/>
          <a:ln/>
        </p:spPr>
        <p:txBody>
          <a:bodyPr wrap="square" lIns="0" tIns="0" rIns="0" bIns="0" rtlCol="0" anchor="ctr"/>
          <a:lstStyle/>
          <a:p>
            <a:pPr algn="l" indent="0" marL="0">
              <a:buNone/>
            </a:pPr>
            <a:r>
              <a:rPr lang="en-US" sz="1300" b="1" dirty="0">
                <a:solidFill>
                  <a:srgbClr val="1F2937"/>
                </a:solidFill>
                <a:latin typeface="Noto Sans JP" pitchFamily="34" charset="0"/>
                <a:ea typeface="Noto Sans JP" pitchFamily="34" charset="-122"/>
                <a:cs typeface="Noto Sans JP" pitchFamily="34" charset="-120"/>
              </a:rPr>
              <a:t>定常運用・再来</a:t>
            </a:r>
            <a:endParaRPr lang="en-US" sz="1300" dirty="0"/>
          </a:p>
        </p:txBody>
      </p:sp>
      <p:sp>
        <p:nvSpPr>
          <p:cNvPr id="90" name="Text 76"/>
          <p:cNvSpPr txBox="1"/>
          <p:nvPr/>
        </p:nvSpPr>
        <p:spPr>
          <a:xfrm>
            <a:off x="10939882" y="3057754"/>
            <a:ext cx="467258" cy="162763"/>
          </a:xfrm>
          <a:prstGeom prst="rect">
            <a:avLst/>
          </a:prstGeom>
          <a:noFill/>
          <a:ln/>
        </p:spPr>
        <p:txBody>
          <a:bodyPr wrap="square" lIns="0" tIns="0" rIns="0" bIns="0" rtlCol="0" anchor="ctr"/>
          <a:lstStyle/>
          <a:p>
            <a:pPr algn="l" indent="0" marL="0">
              <a:buNone/>
            </a:pPr>
            <a:r>
              <a:rPr lang="en-US" sz="900" b="1" dirty="0">
                <a:solidFill>
                  <a:srgbClr val="059669"/>
                </a:solidFill>
                <a:latin typeface="Noto Sans JP" pitchFamily="34" charset="0"/>
                <a:ea typeface="Noto Sans JP" pitchFamily="34" charset="-122"/>
                <a:cs typeface="Noto Sans JP" pitchFamily="34" charset="-120"/>
              </a:rPr>
              <a:t>Day 90</a:t>
            </a:r>
            <a:endParaRPr lang="en-US" sz="900" dirty="0"/>
          </a:p>
        </p:txBody>
      </p:sp>
      <p:sp>
        <p:nvSpPr>
          <p:cNvPr id="91" name="Text 77"/>
          <p:cNvSpPr txBox="1"/>
          <p:nvPr/>
        </p:nvSpPr>
        <p:spPr>
          <a:xfrm>
            <a:off x="9391802" y="3638398"/>
            <a:ext cx="21003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成功パターンの固定効果の良い写真をトップ固定</a:t>
            </a:r>
            <a:endParaRPr lang="en-US" sz="1000" dirty="0"/>
          </a:p>
        </p:txBody>
      </p:sp>
      <p:sp>
        <p:nvSpPr>
          <p:cNvPr id="92" name="Text 78"/>
          <p:cNvSpPr txBox="1"/>
          <p:nvPr/>
        </p:nvSpPr>
        <p:spPr>
          <a:xfrm>
            <a:off x="9420149" y="4134002"/>
            <a:ext cx="1967789"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再来施策の強化口コミ返信・ブログのルーチン化</a:t>
            </a:r>
            <a:endParaRPr lang="en-US" sz="1000" dirty="0"/>
          </a:p>
        </p:txBody>
      </p:sp>
      <p:sp>
        <p:nvSpPr>
          <p:cNvPr id="93" name="Text 79"/>
          <p:cNvSpPr txBox="1"/>
          <p:nvPr/>
        </p:nvSpPr>
        <p:spPr>
          <a:xfrm>
            <a:off x="9201607" y="4819802"/>
            <a:ext cx="3246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担当</a:t>
            </a:r>
            <a:endParaRPr lang="en-US" sz="900" dirty="0"/>
          </a:p>
        </p:txBody>
      </p:sp>
      <p:sp>
        <p:nvSpPr>
          <p:cNvPr id="94" name="Text 80"/>
          <p:cNvSpPr txBox="1"/>
          <p:nvPr/>
        </p:nvSpPr>
        <p:spPr>
          <a:xfrm>
            <a:off x="9277502" y="5162702"/>
            <a:ext cx="286207" cy="162763"/>
          </a:xfrm>
          <a:prstGeom prst="rect">
            <a:avLst/>
          </a:prstGeom>
          <a:noFill/>
          <a:ln/>
        </p:spPr>
        <p:txBody>
          <a:bodyPr wrap="square" lIns="0" tIns="0" rIns="0" bIns="0" rtlCol="0" anchor="ctr"/>
          <a:lstStyle/>
          <a:p>
            <a:pPr algn="l" indent="0" marL="0">
              <a:buNone/>
            </a:pPr>
            <a:r>
              <a:rPr lang="en-US" sz="900" b="1" dirty="0">
                <a:solidFill>
                  <a:srgbClr val="10B981"/>
                </a:solidFill>
                <a:latin typeface="Noto Sans JP" pitchFamily="34" charset="0"/>
                <a:ea typeface="Noto Sans JP" pitchFamily="34" charset="-122"/>
                <a:cs typeface="Noto Sans JP" pitchFamily="34" charset="-120"/>
              </a:rPr>
              <a:t>KPI</a:t>
            </a:r>
            <a:endParaRPr lang="en-US" sz="900" dirty="0"/>
          </a:p>
        </p:txBody>
      </p:sp>
      <p:sp>
        <p:nvSpPr>
          <p:cNvPr id="95" name="Text 81"/>
          <p:cNvSpPr txBox="1"/>
          <p:nvPr/>
        </p:nvSpPr>
        <p:spPr>
          <a:xfrm>
            <a:off x="10239451" y="5162702"/>
            <a:ext cx="1162202" cy="162763"/>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安定集客・再来率UP</a:t>
            </a:r>
            <a:endParaRPr lang="en-US" sz="900" dirty="0"/>
          </a:p>
        </p:txBody>
      </p:sp>
      <p:sp>
        <p:nvSpPr>
          <p:cNvPr id="96" name="Shape 82"/>
          <p:cNvSpPr/>
          <p:nvPr/>
        </p:nvSpPr>
        <p:spPr>
          <a:xfrm>
            <a:off x="0" y="0"/>
            <a:ext cx="12191695" cy="761695"/>
          </a:xfrm>
          <a:prstGeom prst="rect">
            <a:avLst/>
          </a:prstGeom>
          <a:solidFill>
            <a:srgbClr val="FFFFFF"/>
          </a:solidFill>
          <a:ln/>
        </p:spPr>
      </p:sp>
      <p:sp>
        <p:nvSpPr>
          <p:cNvPr id="97" name="Shape 83"/>
          <p:cNvSpPr/>
          <p:nvPr/>
        </p:nvSpPr>
        <p:spPr>
          <a:xfrm>
            <a:off x="0" y="752551"/>
            <a:ext cx="12191695" cy="9144"/>
          </a:xfrm>
          <a:prstGeom prst="rect">
            <a:avLst/>
          </a:prstGeom>
          <a:solidFill>
            <a:srgbClr val="F3F4F6"/>
          </a:solidFill>
          <a:ln/>
        </p:spPr>
      </p:sp>
      <p:sp>
        <p:nvSpPr>
          <p:cNvPr id="98" name="Shape 84"/>
          <p:cNvSpPr/>
          <p:nvPr/>
        </p:nvSpPr>
        <p:spPr>
          <a:xfrm>
            <a:off x="609905" y="224028"/>
            <a:ext cx="304495" cy="304495"/>
          </a:xfrm>
          <a:prstGeom prst="roundRect">
            <a:avLst>
              <a:gd name="adj" fmla="val 56306"/>
            </a:avLst>
          </a:prstGeom>
          <a:solidFill>
            <a:srgbClr val="1F2937"/>
          </a:solidFill>
          <a:ln/>
        </p:spPr>
      </p:sp>
      <p:pic>
        <p:nvPicPr>
          <p:cNvPr id="99" name="Image 12" descr="preencoded.png">    </p:cNvPr>
          <p:cNvPicPr>
            <a:picLocks noChangeAspect="1"/>
          </p:cNvPicPr>
          <p:nvPr/>
        </p:nvPicPr>
        <p:blipFill>
          <a:blip r:embed="rId13"/>
          <a:srcRect l="0" r="0" t="0" b="0"/>
          <a:stretch/>
        </p:blipFill>
        <p:spPr>
          <a:xfrm>
            <a:off x="694944" y="309982"/>
            <a:ext cx="133502" cy="133502"/>
          </a:xfrm>
          <a:prstGeom prst="rect">
            <a:avLst/>
          </a:prstGeom>
        </p:spPr>
      </p:pic>
      <p:sp>
        <p:nvSpPr>
          <p:cNvPr id="100" name="Shape 85"/>
          <p:cNvSpPr/>
          <p:nvPr/>
        </p:nvSpPr>
        <p:spPr>
          <a:xfrm>
            <a:off x="9727387" y="261518"/>
            <a:ext cx="676656" cy="228600"/>
          </a:xfrm>
          <a:prstGeom prst="roundRect">
            <a:avLst>
              <a:gd name="adj" fmla="val 66667"/>
            </a:avLst>
          </a:prstGeom>
          <a:solidFill>
            <a:srgbClr val="F3F4F6"/>
          </a:solidFill>
          <a:ln/>
        </p:spPr>
      </p:sp>
      <p:sp>
        <p:nvSpPr>
          <p:cNvPr id="101" name="Text 86"/>
          <p:cNvSpPr txBox="1"/>
          <p:nvPr/>
        </p:nvSpPr>
        <p:spPr>
          <a:xfrm>
            <a:off x="990295" y="280721"/>
            <a:ext cx="1053389"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ACTION PLAN</a:t>
            </a:r>
            <a:endParaRPr lang="en-US" sz="1000" dirty="0"/>
          </a:p>
        </p:txBody>
      </p:sp>
      <p:sp>
        <p:nvSpPr>
          <p:cNvPr id="102" name="Text 87"/>
          <p:cNvSpPr txBox="1"/>
          <p:nvPr/>
        </p:nvSpPr>
        <p:spPr>
          <a:xfrm>
            <a:off x="9841687" y="290779"/>
            <a:ext cx="534010"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90 DAYS</a:t>
            </a:r>
            <a:endParaRPr lang="en-US" sz="900" dirty="0"/>
          </a:p>
        </p:txBody>
      </p:sp>
      <p:sp>
        <p:nvSpPr>
          <p:cNvPr id="103" name="Text 88"/>
          <p:cNvSpPr txBox="1"/>
          <p:nvPr/>
        </p:nvSpPr>
        <p:spPr>
          <a:xfrm>
            <a:off x="10515600" y="280721"/>
            <a:ext cx="11676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実行ロードマップ</a:t>
            </a:r>
            <a:endParaRPr lang="en-US" sz="1000" dirty="0"/>
          </a:p>
        </p:txBody>
      </p:sp>
      <p:sp>
        <p:nvSpPr>
          <p:cNvPr id="104" name="Shape 89"/>
          <p:cNvSpPr/>
          <p:nvPr/>
        </p:nvSpPr>
        <p:spPr>
          <a:xfrm>
            <a:off x="1800454" y="2438705"/>
            <a:ext cx="190195" cy="190195"/>
          </a:xfrm>
          <a:prstGeom prst="ellipse">
            <a:avLst/>
          </a:prstGeom>
          <a:solidFill>
            <a:srgbClr val="FFFFFF"/>
          </a:solidFill>
          <a:ln w="50800">
            <a:solidFill>
              <a:srgbClr val="6B7280"/>
            </a:solidFill>
            <a:prstDash val="solid"/>
          </a:ln>
          <a:effectLst>
            <a:outerShdw sx="100000" sy="100000" kx="0" ky="0" algn="bl" rotWithShape="0" blurRad="12700" dist="12700" dir="16200000">
              <a:srgbClr val="f3f4f6">
                <a:alpha val="100000"/>
              </a:srgbClr>
            </a:outerShdw>
          </a:effectLst>
        </p:spPr>
      </p:sp>
      <p:sp>
        <p:nvSpPr>
          <p:cNvPr id="105" name="Shape 90"/>
          <p:cNvSpPr/>
          <p:nvPr/>
        </p:nvSpPr>
        <p:spPr>
          <a:xfrm>
            <a:off x="4600346" y="2438705"/>
            <a:ext cx="190195" cy="190195"/>
          </a:xfrm>
          <a:prstGeom prst="ellipse">
            <a:avLst/>
          </a:prstGeom>
          <a:solidFill>
            <a:srgbClr val="FFFFFF"/>
          </a:solidFill>
          <a:ln w="50800">
            <a:solidFill>
              <a:srgbClr val="EF4444"/>
            </a:solidFill>
            <a:prstDash val="solid"/>
          </a:ln>
          <a:effectLst>
            <a:outerShdw sx="100000" sy="100000" kx="0" ky="0" algn="bl" rotWithShape="0" blurRad="12700" dist="12700" dir="16200000">
              <a:srgbClr val="fef2f2">
                <a:alpha val="100000"/>
              </a:srgbClr>
            </a:outerShdw>
          </a:effectLst>
        </p:spPr>
      </p:sp>
      <p:sp>
        <p:nvSpPr>
          <p:cNvPr id="106" name="Shape 91"/>
          <p:cNvSpPr/>
          <p:nvPr/>
        </p:nvSpPr>
        <p:spPr>
          <a:xfrm>
            <a:off x="7401154" y="2438705"/>
            <a:ext cx="190195" cy="190195"/>
          </a:xfrm>
          <a:prstGeom prst="ellipse">
            <a:avLst/>
          </a:prstGeom>
          <a:solidFill>
            <a:srgbClr val="FFFFFF"/>
          </a:solidFill>
          <a:ln w="50800">
            <a:solidFill>
              <a:srgbClr val="3B82F6"/>
            </a:solidFill>
            <a:prstDash val="solid"/>
          </a:ln>
          <a:effectLst>
            <a:outerShdw sx="100000" sy="100000" kx="0" ky="0" algn="bl" rotWithShape="0" blurRad="12700" dist="12700" dir="16200000">
              <a:srgbClr val="eff6ff">
                <a:alpha val="100000"/>
              </a:srgbClr>
            </a:outerShdw>
          </a:effectLst>
        </p:spPr>
      </p:sp>
      <p:sp>
        <p:nvSpPr>
          <p:cNvPr id="107" name="Shape 92"/>
          <p:cNvSpPr/>
          <p:nvPr/>
        </p:nvSpPr>
        <p:spPr>
          <a:xfrm>
            <a:off x="10201046" y="2438705"/>
            <a:ext cx="190195" cy="190195"/>
          </a:xfrm>
          <a:prstGeom prst="ellipse">
            <a:avLst/>
          </a:prstGeom>
          <a:solidFill>
            <a:srgbClr val="FFFFFF"/>
          </a:solidFill>
          <a:ln w="50800">
            <a:solidFill>
              <a:srgbClr val="10B981"/>
            </a:solidFill>
            <a:prstDash val="solid"/>
          </a:ln>
          <a:effectLst>
            <a:outerShdw sx="100000" sy="100000" kx="0" ky="0" algn="bl" rotWithShape="0" blurRad="12700" dist="12700" dir="16200000">
              <a:srgbClr val="ecfdf5">
                <a:alpha val="100000"/>
              </a:srgbClr>
            </a:outerShdw>
          </a:effectLst>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609905"/>
            <a:ext cx="12191695" cy="6248095"/>
          </a:xfrm>
          <a:prstGeom prst="rect">
            <a:avLst/>
          </a:prstGeom>
          <a:solidFill>
            <a:srgbClr val="F9FAFB"/>
          </a:solidFill>
          <a:ln/>
        </p:spPr>
      </p:sp>
      <p:sp>
        <p:nvSpPr>
          <p:cNvPr id="5" name="Shape 3"/>
          <p:cNvSpPr/>
          <p:nvPr/>
        </p:nvSpPr>
        <p:spPr>
          <a:xfrm>
            <a:off x="609905" y="838505"/>
            <a:ext cx="2628900" cy="437998"/>
          </a:xfrm>
          <a:prstGeom prst="roundRect">
            <a:avLst>
              <a:gd name="adj" fmla="val 36307"/>
            </a:avLst>
          </a:prstGeom>
          <a:solidFill>
            <a:srgbClr val="FF6B35"/>
          </a:solidFill>
          <a:ln w="12700">
            <a:solidFill>
              <a:srgbClr val="FF6B35"/>
            </a:solidFill>
            <a:prstDash val="solid"/>
          </a:ln>
          <a:effectLst>
            <a:outerShdw sx="100000" sy="100000" kx="0" ky="0" algn="bl" rotWithShape="0" blurRad="12700" dist="12700" dir="16200000">
              <a:srgbClr val="000000">
                <a:alpha val="75000"/>
              </a:srgbClr>
            </a:outerShdw>
          </a:effectLst>
        </p:spPr>
      </p:sp>
      <p:pic>
        <p:nvPicPr>
          <p:cNvPr id="6" name="Image 0" descr="preencoded.png">    </p:cNvPr>
          <p:cNvPicPr>
            <a:picLocks noChangeAspect="1"/>
          </p:cNvPicPr>
          <p:nvPr/>
        </p:nvPicPr>
        <p:blipFill>
          <a:blip r:embed="rId1"/>
          <a:srcRect l="-1507" r="-1507" t="0" b="0"/>
          <a:stretch/>
        </p:blipFill>
        <p:spPr>
          <a:xfrm>
            <a:off x="1387145" y="997610"/>
            <a:ext cx="171907" cy="133502"/>
          </a:xfrm>
          <a:prstGeom prst="rect">
            <a:avLst/>
          </a:prstGeom>
        </p:spPr>
      </p:pic>
      <p:sp>
        <p:nvSpPr>
          <p:cNvPr id="7" name="Text 4"/>
          <p:cNvSpPr txBox="1"/>
          <p:nvPr/>
        </p:nvSpPr>
        <p:spPr>
          <a:xfrm>
            <a:off x="1634947" y="961949"/>
            <a:ext cx="929030" cy="191110"/>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A. 初回接触型</a:t>
            </a:r>
            <a:endParaRPr lang="en-US" sz="1000" dirty="0"/>
          </a:p>
        </p:txBody>
      </p:sp>
      <p:sp>
        <p:nvSpPr>
          <p:cNvPr id="8" name="Shape 5"/>
          <p:cNvSpPr/>
          <p:nvPr/>
        </p:nvSpPr>
        <p:spPr>
          <a:xfrm>
            <a:off x="3390595" y="838505"/>
            <a:ext cx="2628900" cy="437998"/>
          </a:xfrm>
          <a:prstGeom prst="roundRect">
            <a:avLst>
              <a:gd name="adj" fmla="val 36307"/>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9" name="Image 1" descr="preencoded.png">    </p:cNvPr>
          <p:cNvPicPr>
            <a:picLocks noChangeAspect="1"/>
          </p:cNvPicPr>
          <p:nvPr/>
        </p:nvPicPr>
        <p:blipFill>
          <a:blip r:embed="rId2"/>
          <a:srcRect l="-837" r="-837" t="0" b="0"/>
          <a:stretch/>
        </p:blipFill>
        <p:spPr>
          <a:xfrm>
            <a:off x="4113886" y="997610"/>
            <a:ext cx="152705" cy="133502"/>
          </a:xfrm>
          <a:prstGeom prst="rect">
            <a:avLst/>
          </a:prstGeom>
        </p:spPr>
      </p:pic>
      <p:sp>
        <p:nvSpPr>
          <p:cNvPr id="10" name="Text 6"/>
          <p:cNvSpPr txBox="1"/>
          <p:nvPr/>
        </p:nvSpPr>
        <p:spPr>
          <a:xfrm>
            <a:off x="4342486" y="961949"/>
            <a:ext cx="1062533"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 市場機会共有</a:t>
            </a:r>
            <a:endParaRPr lang="en-US" sz="1000" dirty="0"/>
          </a:p>
        </p:txBody>
      </p:sp>
      <p:sp>
        <p:nvSpPr>
          <p:cNvPr id="11" name="Shape 7"/>
          <p:cNvSpPr/>
          <p:nvPr/>
        </p:nvSpPr>
        <p:spPr>
          <a:xfrm>
            <a:off x="6172200" y="838505"/>
            <a:ext cx="2628900" cy="437998"/>
          </a:xfrm>
          <a:prstGeom prst="roundRect">
            <a:avLst>
              <a:gd name="adj" fmla="val 36307"/>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12" name="Image 2" descr="preencoded.png">    </p:cNvPr>
          <p:cNvPicPr>
            <a:picLocks noChangeAspect="1"/>
          </p:cNvPicPr>
          <p:nvPr/>
        </p:nvPicPr>
        <p:blipFill>
          <a:blip r:embed="rId3"/>
          <a:srcRect l="-2512" r="-2512" t="0" b="0"/>
          <a:stretch/>
        </p:blipFill>
        <p:spPr>
          <a:xfrm>
            <a:off x="6786677" y="997610"/>
            <a:ext cx="105156" cy="133502"/>
          </a:xfrm>
          <a:prstGeom prst="rect">
            <a:avLst/>
          </a:prstGeom>
        </p:spPr>
      </p:pic>
      <p:sp>
        <p:nvSpPr>
          <p:cNvPr id="13" name="Text 8"/>
          <p:cNvSpPr txBox="1"/>
          <p:nvPr/>
        </p:nvSpPr>
        <p:spPr>
          <a:xfrm>
            <a:off x="6967728" y="961949"/>
            <a:ext cx="13194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C. 具体提案フォロー</a:t>
            </a:r>
            <a:endParaRPr lang="en-US" sz="1000" dirty="0"/>
          </a:p>
        </p:txBody>
      </p:sp>
      <p:sp>
        <p:nvSpPr>
          <p:cNvPr id="14" name="Shape 9"/>
          <p:cNvSpPr/>
          <p:nvPr/>
        </p:nvSpPr>
        <p:spPr>
          <a:xfrm>
            <a:off x="8953805" y="838505"/>
            <a:ext cx="2628900" cy="437998"/>
          </a:xfrm>
          <a:prstGeom prst="roundRect">
            <a:avLst>
              <a:gd name="adj" fmla="val 36307"/>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15" name="Image 3" descr="preencoded.png">    </p:cNvPr>
          <p:cNvPicPr>
            <a:picLocks noChangeAspect="1"/>
          </p:cNvPicPr>
          <p:nvPr/>
        </p:nvPicPr>
        <p:blipFill>
          <a:blip r:embed="rId4"/>
          <a:srcRect l="0" r="0" t="-1100" b="-1100"/>
          <a:stretch/>
        </p:blipFill>
        <p:spPr>
          <a:xfrm>
            <a:off x="9693554" y="997610"/>
            <a:ext cx="114300" cy="133502"/>
          </a:xfrm>
          <a:prstGeom prst="rect">
            <a:avLst/>
          </a:prstGeom>
        </p:spPr>
      </p:pic>
      <p:sp>
        <p:nvSpPr>
          <p:cNvPr id="16" name="Text 10"/>
          <p:cNvSpPr txBox="1"/>
          <p:nvPr/>
        </p:nvSpPr>
        <p:spPr>
          <a:xfrm>
            <a:off x="9883750" y="961949"/>
            <a:ext cx="1062533"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D. データ訴求型</a:t>
            </a:r>
            <a:endParaRPr lang="en-US" sz="1000" dirty="0"/>
          </a:p>
        </p:txBody>
      </p:sp>
      <p:sp>
        <p:nvSpPr>
          <p:cNvPr id="17" name="Shape 11"/>
          <p:cNvSpPr/>
          <p:nvPr/>
        </p:nvSpPr>
        <p:spPr>
          <a:xfrm>
            <a:off x="609905" y="1505102"/>
            <a:ext cx="7172554" cy="5124298"/>
          </a:xfrm>
          <a:prstGeom prst="roundRect">
            <a:avLst>
              <a:gd name="adj" fmla="val 398"/>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8" name="Shape 12"/>
          <p:cNvSpPr/>
          <p:nvPr/>
        </p:nvSpPr>
        <p:spPr>
          <a:xfrm>
            <a:off x="619049" y="1514246"/>
            <a:ext cx="7153351" cy="485546"/>
          </a:xfrm>
          <a:prstGeom prst="rect">
            <a:avLst/>
          </a:prstGeom>
          <a:solidFill>
            <a:srgbClr val="F9FAFB"/>
          </a:solidFill>
          <a:ln/>
        </p:spPr>
      </p:sp>
      <p:sp>
        <p:nvSpPr>
          <p:cNvPr id="19" name="Shape 13"/>
          <p:cNvSpPr/>
          <p:nvPr/>
        </p:nvSpPr>
        <p:spPr>
          <a:xfrm>
            <a:off x="619049" y="1990649"/>
            <a:ext cx="7153351" cy="9144"/>
          </a:xfrm>
          <a:prstGeom prst="rect">
            <a:avLst/>
          </a:prstGeom>
          <a:solidFill>
            <a:srgbClr val="F3F4F6"/>
          </a:solidFill>
          <a:ln/>
        </p:spPr>
      </p:sp>
      <p:pic>
        <p:nvPicPr>
          <p:cNvPr id="20" name="Image 4" descr="preencoded.png">    </p:cNvPr>
          <p:cNvPicPr>
            <a:picLocks noChangeAspect="1"/>
          </p:cNvPicPr>
          <p:nvPr/>
        </p:nvPicPr>
        <p:blipFill>
          <a:blip r:embed="rId5"/>
          <a:srcRect l="0" r="0" t="0" b="0"/>
          <a:stretch/>
        </p:blipFill>
        <p:spPr>
          <a:xfrm>
            <a:off x="847649" y="1686154"/>
            <a:ext cx="133502" cy="133502"/>
          </a:xfrm>
          <a:prstGeom prst="rect">
            <a:avLst/>
          </a:prstGeom>
        </p:spPr>
      </p:pic>
      <p:sp>
        <p:nvSpPr>
          <p:cNvPr id="21" name="Text 14"/>
          <p:cNvSpPr txBox="1"/>
          <p:nvPr/>
        </p:nvSpPr>
        <p:spPr>
          <a:xfrm>
            <a:off x="1057046" y="1657807"/>
            <a:ext cx="1004926" cy="191110"/>
          </a:xfrm>
          <a:prstGeom prst="rect">
            <a:avLst/>
          </a:prstGeom>
          <a:noFill/>
          <a:ln/>
        </p:spPr>
        <p:txBody>
          <a:bodyPr wrap="square" lIns="0" tIns="0" rIns="0" bIns="0" rtlCol="0" anchor="ctr"/>
          <a:lstStyle/>
          <a:p>
            <a:pPr algn="l" indent="0" marL="0">
              <a:buNone/>
            </a:pPr>
            <a:r>
              <a:rPr lang="en-US" sz="1000" b="1" dirty="0">
                <a:solidFill>
                  <a:srgbClr val="4B5563"/>
                </a:solidFill>
                <a:latin typeface="Noto Sans JP" pitchFamily="34" charset="0"/>
                <a:ea typeface="Noto Sans JP" pitchFamily="34" charset="-122"/>
                <a:cs typeface="Noto Sans JP" pitchFamily="34" charset="-120"/>
              </a:rPr>
              <a:t>PCメール / DM</a:t>
            </a:r>
            <a:endParaRPr lang="en-US" sz="1000" dirty="0"/>
          </a:p>
        </p:txBody>
      </p:sp>
      <p:sp>
        <p:nvSpPr>
          <p:cNvPr id="22" name="Shape 15"/>
          <p:cNvSpPr/>
          <p:nvPr/>
        </p:nvSpPr>
        <p:spPr>
          <a:xfrm>
            <a:off x="6448349" y="1628546"/>
            <a:ext cx="1095451" cy="247802"/>
          </a:xfrm>
          <a:prstGeom prst="roundRect">
            <a:avLst>
              <a:gd name="adj" fmla="val 56770"/>
            </a:avLst>
          </a:prstGeom>
          <a:solidFill>
            <a:srgbClr val="FFFFFF"/>
          </a:solidFill>
          <a:ln w="12700">
            <a:solidFill>
              <a:srgbClr val="D1D5DB"/>
            </a:solidFill>
            <a:prstDash val="solid"/>
          </a:ln>
        </p:spPr>
      </p:sp>
      <p:pic>
        <p:nvPicPr>
          <p:cNvPr id="23" name="Image 5" descr="preencoded.png">    </p:cNvPr>
          <p:cNvPicPr>
            <a:picLocks noChangeAspect="1"/>
          </p:cNvPicPr>
          <p:nvPr/>
        </p:nvPicPr>
        <p:blipFill>
          <a:blip r:embed="rId6"/>
          <a:srcRect l="-7143" r="-7143" t="0" b="0"/>
          <a:stretch/>
        </p:blipFill>
        <p:spPr>
          <a:xfrm>
            <a:off x="6572707" y="1699870"/>
            <a:ext cx="114300" cy="114300"/>
          </a:xfrm>
          <a:prstGeom prst="rect">
            <a:avLst/>
          </a:prstGeom>
        </p:spPr>
      </p:pic>
      <p:sp>
        <p:nvSpPr>
          <p:cNvPr id="24" name="Text 16"/>
          <p:cNvSpPr txBox="1"/>
          <p:nvPr/>
        </p:nvSpPr>
        <p:spPr>
          <a:xfrm>
            <a:off x="6724498" y="1666951"/>
            <a:ext cx="781812" cy="162763"/>
          </a:xfrm>
          <a:prstGeom prst="rect">
            <a:avLst/>
          </a:prstGeom>
          <a:noFill/>
          <a:ln/>
        </p:spPr>
        <p:txBody>
          <a:bodyPr wrap="square" lIns="0" tIns="0" rIns="0" bIns="0" rtlCol="0" anchor="ctr"/>
          <a:lstStyle/>
          <a:p>
            <a:pPr algn="ctr" indent="0" marL="0">
              <a:buNone/>
            </a:pPr>
            <a:r>
              <a:rPr lang="en-US" sz="900" b="1" dirty="0">
                <a:solidFill>
                  <a:srgbClr val="4B5563"/>
                </a:solidFill>
                <a:latin typeface="Noto Sans JP" pitchFamily="34" charset="0"/>
                <a:ea typeface="Noto Sans JP" pitchFamily="34" charset="-122"/>
                <a:cs typeface="Noto Sans JP" pitchFamily="34" charset="-120"/>
              </a:rPr>
              <a:t>本文をコピー</a:t>
            </a:r>
            <a:endParaRPr lang="en-US" sz="900" dirty="0"/>
          </a:p>
        </p:txBody>
      </p:sp>
      <p:sp>
        <p:nvSpPr>
          <p:cNvPr id="25" name="Text 17"/>
          <p:cNvSpPr txBox="1"/>
          <p:nvPr/>
        </p:nvSpPr>
        <p:spPr>
          <a:xfrm>
            <a:off x="847649" y="2219249"/>
            <a:ext cx="324612" cy="162763"/>
          </a:xfrm>
          <a:prstGeom prst="rect">
            <a:avLst/>
          </a:prstGeom>
          <a:noFill/>
          <a:ln/>
        </p:spPr>
        <p:txBody>
          <a:bodyPr wrap="square" lIns="0" tIns="0" rIns="0" bIns="0" rtlCol="0" anchor="ctr"/>
          <a:lstStyle/>
          <a:p>
            <a:pPr algn="l" indent="0" marL="0">
              <a:buNone/>
            </a:pPr>
            <a:r>
              <a:rPr lang="en-US" sz="900" b="1" dirty="0">
                <a:solidFill>
                  <a:srgbClr val="9CA3AF"/>
                </a:solidFill>
                <a:latin typeface="Noto Sans JP" pitchFamily="34" charset="0"/>
                <a:ea typeface="Noto Sans JP" pitchFamily="34" charset="-122"/>
                <a:cs typeface="Noto Sans JP" pitchFamily="34" charset="-120"/>
              </a:rPr>
              <a:t>件名</a:t>
            </a:r>
            <a:endParaRPr lang="en-US" sz="900" dirty="0"/>
          </a:p>
        </p:txBody>
      </p:sp>
      <p:sp>
        <p:nvSpPr>
          <p:cNvPr id="26" name="Shape 18"/>
          <p:cNvSpPr/>
          <p:nvPr/>
        </p:nvSpPr>
        <p:spPr>
          <a:xfrm>
            <a:off x="847649" y="2686507"/>
            <a:ext cx="6696151" cy="9144"/>
          </a:xfrm>
          <a:prstGeom prst="rect">
            <a:avLst/>
          </a:prstGeom>
          <a:solidFill>
            <a:srgbClr val="F3F4F6"/>
          </a:solidFill>
          <a:ln/>
        </p:spPr>
      </p:sp>
      <p:sp>
        <p:nvSpPr>
          <p:cNvPr id="27" name="Text 19"/>
          <p:cNvSpPr txBox="1"/>
          <p:nvPr/>
        </p:nvSpPr>
        <p:spPr>
          <a:xfrm>
            <a:off x="847649" y="2419502"/>
            <a:ext cx="4205326" cy="191110"/>
          </a:xfrm>
          <a:prstGeom prst="rect">
            <a:avLst/>
          </a:prstGeom>
          <a:noFill/>
          <a:ln/>
        </p:spPr>
        <p:txBody>
          <a:bodyPr wrap="square" lIns="0" tIns="0" rIns="0" bIns="0" rtlCol="0" anchor="ctr"/>
          <a:lstStyle/>
          <a:p>
            <a:pPr algn="l" indent="0" marL="0">
              <a:buNone/>
            </a:pPr>
            <a:r>
              <a:rPr lang="en-US" sz="1000" b="1" dirty="0">
                <a:solidFill>
                  <a:srgbClr val="1F2937"/>
                </a:solidFill>
                <a:latin typeface="Noto Sans JP" pitchFamily="34" charset="0"/>
                <a:ea typeface="Noto Sans JP" pitchFamily="34" charset="-122"/>
                <a:cs typeface="Noto Sans JP" pitchFamily="34" charset="-120"/>
              </a:rPr>
              <a:t>【分析レポート】Siena渋谷様の集客状況に関する独自調査のご共有</a:t>
            </a:r>
            <a:endParaRPr lang="en-US" sz="1000" dirty="0"/>
          </a:p>
        </p:txBody>
      </p:sp>
      <p:sp>
        <p:nvSpPr>
          <p:cNvPr id="28" name="Text 20"/>
          <p:cNvSpPr txBox="1"/>
          <p:nvPr/>
        </p:nvSpPr>
        <p:spPr>
          <a:xfrm>
            <a:off x="847649" y="2857500"/>
            <a:ext cx="6758330" cy="171450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〇〇様 突然のご連絡失礼いたします。 株式会社リクルート ホットペッパービューティー担当の〇〇と申します。 この度、渋谷エリアの美容室市場調査を行う中で、 Siena渋谷様の独自性（トレンド×ケアの両立）に大変魅力を感じ、 勝手ながら周辺競合店との比較分析を行わせていただきました。 分析の結果、貴店の強みをより活かせる「空白の市場ポジション」が見つかりましたので、 ご興味があれば情報提供させていただけないでしょうか。 ▼分析レポートの要点 1. 渋谷エリアにおける貴店のポジショニング優位性 2. 競合店がまだ着手していない「集客の穴場」について 3. 想定される新規集客数のシミュレーション まずは情報提供のみでも構いません。 お手すきの際に、本メールへの返信または下記までご連絡いただければ幸いです。 何卒よろしくお願い申し上げます。</a:t>
            </a:r>
            <a:endParaRPr lang="en-US" sz="1000" dirty="0"/>
          </a:p>
        </p:txBody>
      </p:sp>
      <p:sp>
        <p:nvSpPr>
          <p:cNvPr id="29" name="Shape 21"/>
          <p:cNvSpPr/>
          <p:nvPr/>
        </p:nvSpPr>
        <p:spPr>
          <a:xfrm>
            <a:off x="8001000" y="1505102"/>
            <a:ext cx="3581705" cy="4153205"/>
          </a:xfrm>
          <a:prstGeom prst="roundRect">
            <a:avLst>
              <a:gd name="adj" fmla="val 815"/>
            </a:avLst>
          </a:prstGeom>
          <a:no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30" name="Shape 22"/>
          <p:cNvSpPr/>
          <p:nvPr/>
        </p:nvSpPr>
        <p:spPr>
          <a:xfrm>
            <a:off x="8011058" y="1514246"/>
            <a:ext cx="3562502" cy="533095"/>
          </a:xfrm>
          <a:prstGeom prst="rect">
            <a:avLst/>
          </a:prstGeom>
          <a:solidFill>
            <a:srgbClr val="06C755"/>
          </a:solidFill>
          <a:ln/>
        </p:spPr>
      </p:sp>
      <p:pic>
        <p:nvPicPr>
          <p:cNvPr id="31" name="Image 6" descr="preencoded.png">    </p:cNvPr>
          <p:cNvPicPr>
            <a:picLocks noChangeAspect="1"/>
          </p:cNvPicPr>
          <p:nvPr/>
        </p:nvPicPr>
        <p:blipFill>
          <a:blip r:embed="rId7"/>
          <a:srcRect l="0" r="0" t="0" b="0"/>
          <a:stretch/>
        </p:blipFill>
        <p:spPr>
          <a:xfrm>
            <a:off x="8162849" y="1695298"/>
            <a:ext cx="171907" cy="171907"/>
          </a:xfrm>
          <a:prstGeom prst="rect">
            <a:avLst/>
          </a:prstGeom>
        </p:spPr>
      </p:pic>
      <p:sp>
        <p:nvSpPr>
          <p:cNvPr id="32" name="Text 23"/>
          <p:cNvSpPr txBox="1"/>
          <p:nvPr/>
        </p:nvSpPr>
        <p:spPr>
          <a:xfrm>
            <a:off x="8410651" y="1686154"/>
            <a:ext cx="795528"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LINE / SMS</a:t>
            </a:r>
            <a:endParaRPr lang="en-US" sz="1000" dirty="0"/>
          </a:p>
        </p:txBody>
      </p:sp>
      <p:pic>
        <p:nvPicPr>
          <p:cNvPr id="33" name="Image 7" descr="preencoded.png">    </p:cNvPr>
          <p:cNvPicPr>
            <a:picLocks noChangeAspect="1"/>
          </p:cNvPicPr>
          <p:nvPr/>
        </p:nvPicPr>
        <p:blipFill>
          <a:blip r:embed="rId8"/>
          <a:srcRect l="-7143" r="-7143" t="0" b="0"/>
          <a:stretch/>
        </p:blipFill>
        <p:spPr>
          <a:xfrm>
            <a:off x="10696651" y="1714500"/>
            <a:ext cx="152705" cy="152705"/>
          </a:xfrm>
          <a:prstGeom prst="rect">
            <a:avLst/>
          </a:prstGeom>
        </p:spPr>
      </p:pic>
      <p:sp>
        <p:nvSpPr>
          <p:cNvPr id="34" name="Text 24"/>
          <p:cNvSpPr txBox="1"/>
          <p:nvPr/>
        </p:nvSpPr>
        <p:spPr>
          <a:xfrm>
            <a:off x="10886846" y="1666951"/>
            <a:ext cx="581558"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コピー</a:t>
            </a:r>
            <a:endParaRPr lang="en-US" sz="1200" dirty="0"/>
          </a:p>
        </p:txBody>
      </p:sp>
      <p:sp>
        <p:nvSpPr>
          <p:cNvPr id="35" name="Shape 25"/>
          <p:cNvSpPr/>
          <p:nvPr/>
        </p:nvSpPr>
        <p:spPr>
          <a:xfrm>
            <a:off x="8239658" y="2200046"/>
            <a:ext cx="3181198" cy="1429207"/>
          </a:xfrm>
          <a:prstGeom prst="roundRect">
            <a:avLst>
              <a:gd name="adj" fmla="val 3412"/>
            </a:avLst>
          </a:prstGeom>
          <a:solidFill>
            <a:srgbClr val="FFFFFF"/>
          </a:solidFill>
          <a:ln/>
          <a:effectLst>
            <a:outerShdw sx="100000" sy="100000" kx="0" ky="0" algn="bl" rotWithShape="0" blurRad="12700" dist="12700" dir="16200000">
              <a:srgbClr val="000000">
                <a:alpha val="75000"/>
              </a:srgbClr>
            </a:outerShdw>
          </a:effectLst>
        </p:spPr>
      </p:sp>
      <p:sp>
        <p:nvSpPr>
          <p:cNvPr id="36" name="Text 26"/>
          <p:cNvSpPr txBox="1"/>
          <p:nvPr/>
        </p:nvSpPr>
        <p:spPr>
          <a:xfrm>
            <a:off x="8353958" y="2324405"/>
            <a:ext cx="2962656" cy="905256"/>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Siena渋谷 〇〇様 ホットペッパービューティーの〇〇です。 先日お話しした「渋谷エリアの競合分析データ」がまとまりました。貴店に有利な市場データが出ておりますので、共有させてください。 ご都合の良い日時はありますか？</a:t>
            </a:r>
            <a:endParaRPr lang="en-US" sz="900" dirty="0"/>
          </a:p>
        </p:txBody>
      </p:sp>
      <p:sp>
        <p:nvSpPr>
          <p:cNvPr id="37" name="Text 27"/>
          <p:cNvSpPr txBox="1"/>
          <p:nvPr/>
        </p:nvSpPr>
        <p:spPr>
          <a:xfrm>
            <a:off x="10925251" y="3281782"/>
            <a:ext cx="495605" cy="228600"/>
          </a:xfrm>
          <a:prstGeom prst="rect">
            <a:avLst/>
          </a:prstGeom>
          <a:noFill/>
          <a:ln/>
        </p:spPr>
        <p:txBody>
          <a:bodyPr wrap="square" lIns="0" tIns="0" rIns="0" bIns="0" rtlCol="0" anchor="ctr"/>
          <a:lstStyle/>
          <a:p>
            <a:pPr algn="r" indent="0" marL="0">
              <a:buNone/>
            </a:pPr>
            <a:r>
              <a:rPr lang="en-US" sz="1200" dirty="0">
                <a:solidFill>
                  <a:srgbClr val="9CA3AF"/>
                </a:solidFill>
                <a:latin typeface="Noto Sans JP" pitchFamily="34" charset="0"/>
                <a:ea typeface="Noto Sans JP" pitchFamily="34" charset="-122"/>
                <a:cs typeface="Noto Sans JP" pitchFamily="34" charset="-120"/>
              </a:rPr>
              <a:t>10:00</a:t>
            </a:r>
            <a:endParaRPr lang="en-US" sz="1200" dirty="0"/>
          </a:p>
        </p:txBody>
      </p:sp>
      <p:sp>
        <p:nvSpPr>
          <p:cNvPr id="38" name="Shape 28"/>
          <p:cNvSpPr/>
          <p:nvPr/>
        </p:nvSpPr>
        <p:spPr>
          <a:xfrm>
            <a:off x="8001000" y="5810098"/>
            <a:ext cx="3581705" cy="819302"/>
          </a:xfrm>
          <a:prstGeom prst="roundRect">
            <a:avLst>
              <a:gd name="adj" fmla="val 10382"/>
            </a:avLst>
          </a:prstGeom>
          <a:solidFill>
            <a:srgbClr val="FFFBEB"/>
          </a:solidFill>
          <a:ln w="12700">
            <a:solidFill>
              <a:srgbClr val="FEF3C7"/>
            </a:solidFill>
            <a:prstDash val="solid"/>
          </a:ln>
        </p:spPr>
      </p:sp>
      <p:pic>
        <p:nvPicPr>
          <p:cNvPr id="39" name="Image 8" descr="preencoded.png">    </p:cNvPr>
          <p:cNvPicPr>
            <a:picLocks noChangeAspect="1"/>
          </p:cNvPicPr>
          <p:nvPr/>
        </p:nvPicPr>
        <p:blipFill>
          <a:blip r:embed="rId9"/>
          <a:srcRect l="0" r="0" t="0" b="0"/>
          <a:stretch/>
        </p:blipFill>
        <p:spPr>
          <a:xfrm>
            <a:off x="8162849" y="5995721"/>
            <a:ext cx="114300" cy="114300"/>
          </a:xfrm>
          <a:prstGeom prst="rect">
            <a:avLst/>
          </a:prstGeom>
        </p:spPr>
      </p:pic>
      <p:sp>
        <p:nvSpPr>
          <p:cNvPr id="40" name="Text 29"/>
          <p:cNvSpPr txBox="1"/>
          <p:nvPr/>
        </p:nvSpPr>
        <p:spPr>
          <a:xfrm>
            <a:off x="8315554" y="5962802"/>
            <a:ext cx="553212" cy="162763"/>
          </a:xfrm>
          <a:prstGeom prst="rect">
            <a:avLst/>
          </a:prstGeom>
          <a:noFill/>
          <a:ln/>
        </p:spPr>
        <p:txBody>
          <a:bodyPr wrap="square" lIns="0" tIns="0" rIns="0" bIns="0" rtlCol="0" anchor="ctr"/>
          <a:lstStyle/>
          <a:p>
            <a:pPr algn="l" indent="0" marL="0">
              <a:buNone/>
            </a:pPr>
            <a:r>
              <a:rPr lang="en-US" sz="900" b="1" dirty="0">
                <a:solidFill>
                  <a:srgbClr val="92400E"/>
                </a:solidFill>
                <a:latin typeface="Noto Sans JP" pitchFamily="34" charset="0"/>
                <a:ea typeface="Noto Sans JP" pitchFamily="34" charset="-122"/>
                <a:cs typeface="Noto Sans JP" pitchFamily="34" charset="-120"/>
              </a:rPr>
              <a:t>ポイント</a:t>
            </a:r>
            <a:endParaRPr lang="en-US" sz="900" dirty="0"/>
          </a:p>
        </p:txBody>
      </p:sp>
      <p:sp>
        <p:nvSpPr>
          <p:cNvPr id="41" name="Text 30"/>
          <p:cNvSpPr txBox="1"/>
          <p:nvPr/>
        </p:nvSpPr>
        <p:spPr>
          <a:xfrm>
            <a:off x="8162849" y="6152998"/>
            <a:ext cx="3343961" cy="314554"/>
          </a:xfrm>
          <a:prstGeom prst="rect">
            <a:avLst/>
          </a:prstGeom>
          <a:noFill/>
          <a:ln/>
        </p:spPr>
        <p:txBody>
          <a:bodyPr wrap="square" lIns="0" tIns="0" rIns="0" bIns="0" rtlCol="0" anchor="ctr"/>
          <a:lstStyle/>
          <a:p>
            <a:pPr algn="l" indent="0" marL="0">
              <a:buNone/>
            </a:pPr>
            <a:r>
              <a:rPr lang="en-US" sz="900" dirty="0">
                <a:solidFill>
                  <a:srgbClr val="B45309"/>
                </a:solidFill>
                <a:latin typeface="Noto Sans JP" pitchFamily="34" charset="0"/>
                <a:ea typeface="Noto Sans JP" pitchFamily="34" charset="-122"/>
                <a:cs typeface="Noto Sans JP" pitchFamily="34" charset="-120"/>
              </a:rPr>
              <a:t>「勝手に分析した」という熱量と、「良い結果が出た」というポジティブなフックで興味を喚起します。</a:t>
            </a:r>
            <a:endParaRPr lang="en-US" sz="900" dirty="0"/>
          </a:p>
        </p:txBody>
      </p:sp>
      <p:sp>
        <p:nvSpPr>
          <p:cNvPr id="42" name="Shape 31"/>
          <p:cNvSpPr/>
          <p:nvPr/>
        </p:nvSpPr>
        <p:spPr>
          <a:xfrm>
            <a:off x="0" y="0"/>
            <a:ext cx="12191695" cy="609905"/>
          </a:xfrm>
          <a:prstGeom prst="rect">
            <a:avLst/>
          </a:prstGeom>
          <a:solidFill>
            <a:srgbClr val="FFFFFF"/>
          </a:solidFill>
          <a:ln/>
        </p:spPr>
      </p:sp>
      <p:sp>
        <p:nvSpPr>
          <p:cNvPr id="43" name="Shape 32"/>
          <p:cNvSpPr/>
          <p:nvPr/>
        </p:nvSpPr>
        <p:spPr>
          <a:xfrm>
            <a:off x="0" y="600761"/>
            <a:ext cx="12191695" cy="9144"/>
          </a:xfrm>
          <a:prstGeom prst="rect">
            <a:avLst/>
          </a:prstGeom>
          <a:solidFill>
            <a:srgbClr val="F3F4F6"/>
          </a:solidFill>
          <a:ln/>
        </p:spPr>
      </p:sp>
      <p:sp>
        <p:nvSpPr>
          <p:cNvPr id="44" name="Shape 33"/>
          <p:cNvSpPr/>
          <p:nvPr/>
        </p:nvSpPr>
        <p:spPr>
          <a:xfrm>
            <a:off x="609905" y="147218"/>
            <a:ext cx="304495" cy="304495"/>
          </a:xfrm>
          <a:prstGeom prst="roundRect">
            <a:avLst>
              <a:gd name="adj" fmla="val 56306"/>
            </a:avLst>
          </a:prstGeom>
          <a:solidFill>
            <a:srgbClr val="1F2937"/>
          </a:solidFill>
          <a:ln/>
        </p:spPr>
      </p:sp>
      <p:pic>
        <p:nvPicPr>
          <p:cNvPr id="45" name="Image 9" descr="preencoded.png">    </p:cNvPr>
          <p:cNvPicPr>
            <a:picLocks noChangeAspect="1"/>
          </p:cNvPicPr>
          <p:nvPr/>
        </p:nvPicPr>
        <p:blipFill>
          <a:blip r:embed="rId10"/>
          <a:srcRect l="0" r="0" t="0" b="0"/>
          <a:stretch/>
        </p:blipFill>
        <p:spPr>
          <a:xfrm>
            <a:off x="694944" y="233172"/>
            <a:ext cx="133502" cy="133502"/>
          </a:xfrm>
          <a:prstGeom prst="rect">
            <a:avLst/>
          </a:prstGeom>
        </p:spPr>
      </p:pic>
      <p:sp>
        <p:nvSpPr>
          <p:cNvPr id="46" name="Shape 34"/>
          <p:cNvSpPr/>
          <p:nvPr/>
        </p:nvSpPr>
        <p:spPr>
          <a:xfrm>
            <a:off x="9063533" y="185623"/>
            <a:ext cx="543154" cy="228600"/>
          </a:xfrm>
          <a:prstGeom prst="roundRect">
            <a:avLst>
              <a:gd name="adj" fmla="val 66667"/>
            </a:avLst>
          </a:prstGeom>
          <a:solidFill>
            <a:srgbClr val="F3F4F6"/>
          </a:solidFill>
          <a:ln/>
        </p:spPr>
      </p:sp>
      <p:sp>
        <p:nvSpPr>
          <p:cNvPr id="47" name="Text 35"/>
          <p:cNvSpPr txBox="1"/>
          <p:nvPr/>
        </p:nvSpPr>
        <p:spPr>
          <a:xfrm>
            <a:off x="990295" y="204826"/>
            <a:ext cx="1405433"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EMAIL TEMPLATES</a:t>
            </a:r>
            <a:endParaRPr lang="en-US" sz="1000" dirty="0"/>
          </a:p>
        </p:txBody>
      </p:sp>
      <p:sp>
        <p:nvSpPr>
          <p:cNvPr id="48" name="Text 36"/>
          <p:cNvSpPr txBox="1"/>
          <p:nvPr/>
        </p:nvSpPr>
        <p:spPr>
          <a:xfrm>
            <a:off x="9177833" y="213970"/>
            <a:ext cx="400507" cy="162763"/>
          </a:xfrm>
          <a:prstGeom prst="rect">
            <a:avLst/>
          </a:prstGeom>
          <a:noFill/>
          <a:ln/>
        </p:spPr>
        <p:txBody>
          <a:bodyPr wrap="square" lIns="0" tIns="0" rIns="0" bIns="0" rtlCol="0" anchor="ctr"/>
          <a:lstStyle/>
          <a:p>
            <a:pPr algn="l" indent="0" marL="0">
              <a:buNone/>
            </a:pPr>
            <a:r>
              <a:rPr lang="en-US" sz="900" b="1" dirty="0">
                <a:solidFill>
                  <a:srgbClr val="6B7280"/>
                </a:solidFill>
                <a:latin typeface="Noto Sans JP" pitchFamily="34" charset="0"/>
                <a:ea typeface="Noto Sans JP" pitchFamily="34" charset="-122"/>
                <a:cs typeface="Noto Sans JP" pitchFamily="34" charset="-120"/>
              </a:rPr>
              <a:t>TOOL</a:t>
            </a:r>
            <a:endParaRPr lang="en-US" sz="900" dirty="0"/>
          </a:p>
        </p:txBody>
      </p:sp>
      <p:sp>
        <p:nvSpPr>
          <p:cNvPr id="49" name="Text 37"/>
          <p:cNvSpPr txBox="1"/>
          <p:nvPr/>
        </p:nvSpPr>
        <p:spPr>
          <a:xfrm>
            <a:off x="9715500" y="204826"/>
            <a:ext cx="1967789"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アポイント獲得メール文面生成</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0" y="761695"/>
            <a:ext cx="12191695" cy="6096305"/>
          </a:xfrm>
          <a:prstGeom prst="rect">
            <a:avLst/>
          </a:prstGeom>
          <a:solidFill>
            <a:srgbClr val="F9FAFB"/>
          </a:solidFill>
          <a:ln/>
        </p:spPr>
      </p:sp>
      <p:sp>
        <p:nvSpPr>
          <p:cNvPr id="5" name="Text 3"/>
          <p:cNvSpPr txBox="1"/>
          <p:nvPr/>
        </p:nvSpPr>
        <p:spPr>
          <a:xfrm>
            <a:off x="609905" y="1047902"/>
            <a:ext cx="2686507" cy="333756"/>
          </a:xfrm>
          <a:prstGeom prst="rect">
            <a:avLst/>
          </a:prstGeom>
          <a:noFill/>
          <a:ln/>
        </p:spPr>
        <p:txBody>
          <a:bodyPr wrap="square" lIns="0" tIns="0" rIns="0" bIns="0" rtlCol="0" anchor="ctr"/>
          <a:lstStyle/>
          <a:p>
            <a:pPr algn="l" indent="0" marL="0">
              <a:buNone/>
            </a:pPr>
            <a:r>
              <a:rPr lang="en-US" sz="1800" b="1" dirty="0">
                <a:solidFill>
                  <a:srgbClr val="1F2937"/>
                </a:solidFill>
                <a:latin typeface="Noto Sans JP" pitchFamily="34" charset="0"/>
                <a:ea typeface="Noto Sans JP" pitchFamily="34" charset="-122"/>
                <a:cs typeface="Noto Sans JP" pitchFamily="34" charset="-120"/>
              </a:rPr>
              <a:t>分析データの出典と定義</a:t>
            </a:r>
            <a:endParaRPr lang="en-US" sz="1800" dirty="0"/>
          </a:p>
        </p:txBody>
      </p:sp>
      <p:sp>
        <p:nvSpPr>
          <p:cNvPr id="6" name="Text 4"/>
          <p:cNvSpPr txBox="1"/>
          <p:nvPr/>
        </p:nvSpPr>
        <p:spPr>
          <a:xfrm>
            <a:off x="609905" y="1447495"/>
            <a:ext cx="5558638"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本提案書で使用しているベンチマークデータおよび市場分析の根拠情報は以下の通りです。</a:t>
            </a:r>
            <a:endParaRPr lang="en-US" sz="1000" dirty="0"/>
          </a:p>
        </p:txBody>
      </p:sp>
      <p:sp>
        <p:nvSpPr>
          <p:cNvPr id="7" name="Text 5"/>
          <p:cNvSpPr txBox="1"/>
          <p:nvPr/>
        </p:nvSpPr>
        <p:spPr>
          <a:xfrm>
            <a:off x="609905" y="1638605"/>
            <a:ext cx="33009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詳細な数値確認や最新情報の照会にご活用ください。</a:t>
            </a:r>
            <a:endParaRPr lang="en-US" sz="1000" dirty="0"/>
          </a:p>
        </p:txBody>
      </p:sp>
      <p:sp>
        <p:nvSpPr>
          <p:cNvPr id="8" name="Shape 6"/>
          <p:cNvSpPr/>
          <p:nvPr/>
        </p:nvSpPr>
        <p:spPr>
          <a:xfrm>
            <a:off x="9475013" y="1067105"/>
            <a:ext cx="2115007" cy="323698"/>
          </a:xfrm>
          <a:prstGeom prst="roundRect">
            <a:avLst>
              <a:gd name="adj" fmla="val 66467"/>
            </a:avLst>
          </a:prstGeom>
          <a:solidFill>
            <a:srgbClr val="FFF0E9"/>
          </a:solidFill>
          <a:ln w="12700">
            <a:solidFill>
              <a:srgbClr val="FF6B35"/>
            </a:solidFill>
            <a:prstDash val="solid"/>
          </a:ln>
        </p:spPr>
      </p:sp>
      <p:pic>
        <p:nvPicPr>
          <p:cNvPr id="9" name="Image 0" descr="preencoded.png">    </p:cNvPr>
          <p:cNvPicPr>
            <a:picLocks noChangeAspect="1"/>
          </p:cNvPicPr>
          <p:nvPr/>
        </p:nvPicPr>
        <p:blipFill>
          <a:blip r:embed="rId1"/>
          <a:srcRect l="0" r="0" t="-43" b="-43"/>
          <a:stretch/>
        </p:blipFill>
        <p:spPr>
          <a:xfrm>
            <a:off x="9636862" y="1152144"/>
            <a:ext cx="133502" cy="152705"/>
          </a:xfrm>
          <a:prstGeom prst="rect">
            <a:avLst/>
          </a:prstGeom>
        </p:spPr>
      </p:pic>
      <p:sp>
        <p:nvSpPr>
          <p:cNvPr id="10" name="Text 7"/>
          <p:cNvSpPr txBox="1"/>
          <p:nvPr/>
        </p:nvSpPr>
        <p:spPr>
          <a:xfrm>
            <a:off x="9847174" y="1143000"/>
            <a:ext cx="1666951" cy="162763"/>
          </a:xfrm>
          <a:prstGeom prst="rect">
            <a:avLst/>
          </a:prstGeom>
          <a:noFill/>
          <a:ln/>
        </p:spPr>
        <p:txBody>
          <a:bodyPr wrap="square" lIns="0" tIns="0" rIns="0" bIns="0" rtlCol="0" anchor="ctr"/>
          <a:lstStyle/>
          <a:p>
            <a:pPr algn="l" indent="0" marL="0">
              <a:buNone/>
            </a:pPr>
            <a:r>
              <a:rPr lang="en-US" sz="900" b="1" dirty="0">
                <a:solidFill>
                  <a:srgbClr val="374151"/>
                </a:solidFill>
                <a:latin typeface="Noto Sans JP" pitchFamily="34" charset="0"/>
                <a:ea typeface="Noto Sans JP" pitchFamily="34" charset="-122"/>
                <a:cs typeface="Noto Sans JP" pitchFamily="34" charset="-120"/>
              </a:rPr>
              <a:t>データ取得日： 2026年1月3日</a:t>
            </a:r>
            <a:endParaRPr lang="en-US" sz="900" dirty="0"/>
          </a:p>
        </p:txBody>
      </p:sp>
      <p:sp>
        <p:nvSpPr>
          <p:cNvPr id="11" name="Shape 8"/>
          <p:cNvSpPr/>
          <p:nvPr/>
        </p:nvSpPr>
        <p:spPr>
          <a:xfrm>
            <a:off x="609905" y="2057400"/>
            <a:ext cx="5333695" cy="2143354"/>
          </a:xfrm>
          <a:prstGeom prst="roundRect">
            <a:avLst>
              <a:gd name="adj" fmla="val 2275"/>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sp>
        <p:nvSpPr>
          <p:cNvPr id="12" name="Shape 9"/>
          <p:cNvSpPr/>
          <p:nvPr/>
        </p:nvSpPr>
        <p:spPr>
          <a:xfrm>
            <a:off x="619049" y="2066544"/>
            <a:ext cx="5315407" cy="428854"/>
          </a:xfrm>
          <a:prstGeom prst="rect">
            <a:avLst/>
          </a:prstGeom>
          <a:solidFill>
            <a:srgbClr val="F9FAFB"/>
          </a:solidFill>
          <a:ln/>
        </p:spPr>
      </p:sp>
      <p:sp>
        <p:nvSpPr>
          <p:cNvPr id="13" name="Shape 10"/>
          <p:cNvSpPr/>
          <p:nvPr/>
        </p:nvSpPr>
        <p:spPr>
          <a:xfrm>
            <a:off x="619049" y="2486254"/>
            <a:ext cx="5315407" cy="9144"/>
          </a:xfrm>
          <a:prstGeom prst="rect">
            <a:avLst/>
          </a:prstGeom>
          <a:solidFill>
            <a:srgbClr val="E5E7EB"/>
          </a:solidFill>
          <a:ln/>
        </p:spPr>
      </p:sp>
      <p:pic>
        <p:nvPicPr>
          <p:cNvPr id="14" name="Image 1" descr="preencoded.png">    </p:cNvPr>
          <p:cNvPicPr>
            <a:picLocks noChangeAspect="1"/>
          </p:cNvPicPr>
          <p:nvPr/>
        </p:nvPicPr>
        <p:blipFill>
          <a:blip r:embed="rId2"/>
          <a:srcRect l="-837" r="-837" t="0" b="0"/>
          <a:stretch/>
        </p:blipFill>
        <p:spPr>
          <a:xfrm>
            <a:off x="771754" y="2210105"/>
            <a:ext cx="152705" cy="133502"/>
          </a:xfrm>
          <a:prstGeom prst="rect">
            <a:avLst/>
          </a:prstGeom>
        </p:spPr>
      </p:pic>
      <p:sp>
        <p:nvSpPr>
          <p:cNvPr id="15" name="Text 11"/>
          <p:cNvSpPr txBox="1"/>
          <p:nvPr/>
        </p:nvSpPr>
        <p:spPr>
          <a:xfrm>
            <a:off x="1000354" y="2180844"/>
            <a:ext cx="1567282"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ベンチマークサロン情報</a:t>
            </a:r>
            <a:endParaRPr lang="en-US" sz="1000" dirty="0"/>
          </a:p>
        </p:txBody>
      </p:sp>
      <p:sp>
        <p:nvSpPr>
          <p:cNvPr id="16" name="Shape 12"/>
          <p:cNvSpPr/>
          <p:nvPr/>
        </p:nvSpPr>
        <p:spPr>
          <a:xfrm>
            <a:off x="619049" y="2495398"/>
            <a:ext cx="1218895" cy="418795"/>
          </a:xfrm>
          <a:prstGeom prst="rect">
            <a:avLst/>
          </a:prstGeom>
          <a:solidFill>
            <a:srgbClr val="F9FAFB"/>
          </a:solidFill>
          <a:ln/>
        </p:spPr>
      </p:sp>
      <p:sp>
        <p:nvSpPr>
          <p:cNvPr id="17" name="Shape 13"/>
          <p:cNvSpPr/>
          <p:nvPr/>
        </p:nvSpPr>
        <p:spPr>
          <a:xfrm>
            <a:off x="619049" y="2894990"/>
            <a:ext cx="1218895" cy="19202"/>
          </a:xfrm>
          <a:prstGeom prst="rect">
            <a:avLst/>
          </a:prstGeom>
          <a:solidFill>
            <a:srgbClr val="E5E7EB"/>
          </a:solidFill>
          <a:ln/>
        </p:spPr>
      </p:sp>
      <p:sp>
        <p:nvSpPr>
          <p:cNvPr id="18" name="Text 14"/>
          <p:cNvSpPr txBox="1"/>
          <p:nvPr/>
        </p:nvSpPr>
        <p:spPr>
          <a:xfrm>
            <a:off x="733349" y="2613355"/>
            <a:ext cx="5532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サロン名</a:t>
            </a:r>
            <a:endParaRPr lang="en-US" sz="900" dirty="0"/>
          </a:p>
        </p:txBody>
      </p:sp>
      <p:sp>
        <p:nvSpPr>
          <p:cNvPr id="19" name="Shape 15"/>
          <p:cNvSpPr/>
          <p:nvPr/>
        </p:nvSpPr>
        <p:spPr>
          <a:xfrm>
            <a:off x="1837944" y="2905049"/>
            <a:ext cx="4095598" cy="9144"/>
          </a:xfrm>
          <a:prstGeom prst="rect">
            <a:avLst/>
          </a:prstGeom>
          <a:solidFill>
            <a:srgbClr val="E5E7EB"/>
          </a:solidFill>
          <a:ln/>
        </p:spPr>
      </p:sp>
      <p:sp>
        <p:nvSpPr>
          <p:cNvPr id="20" name="Text 16"/>
          <p:cNvSpPr txBox="1"/>
          <p:nvPr/>
        </p:nvSpPr>
        <p:spPr>
          <a:xfrm>
            <a:off x="1952244" y="2609698"/>
            <a:ext cx="1186891" cy="181051"/>
          </a:xfrm>
          <a:prstGeom prst="rect">
            <a:avLst/>
          </a:prstGeom>
          <a:noFill/>
          <a:ln/>
        </p:spPr>
        <p:txBody>
          <a:bodyPr wrap="square" lIns="0" tIns="0" rIns="0" bIns="0" rtlCol="0" anchor="ctr"/>
          <a:lstStyle/>
          <a:p>
            <a:pPr algn="l" indent="0" marL="0">
              <a:buNone/>
            </a:pPr>
            <a:r>
              <a:rPr lang="en-US" sz="900" b="1" dirty="0">
                <a:solidFill>
                  <a:srgbClr val="1F2937"/>
                </a:solidFill>
                <a:latin typeface="Noto Sans JP" pitchFamily="34" charset="0"/>
                <a:ea typeface="Noto Sans JP" pitchFamily="34" charset="-122"/>
                <a:cs typeface="Noto Sans JP" pitchFamily="34" charset="-120"/>
              </a:rPr>
              <a:t>シエナ 渋谷 (Siena)</a:t>
            </a:r>
            <a:endParaRPr lang="en-US" sz="900" dirty="0"/>
          </a:p>
        </p:txBody>
      </p:sp>
      <p:sp>
        <p:nvSpPr>
          <p:cNvPr id="21" name="Shape 17"/>
          <p:cNvSpPr/>
          <p:nvPr/>
        </p:nvSpPr>
        <p:spPr>
          <a:xfrm>
            <a:off x="619049" y="2911450"/>
            <a:ext cx="1218895" cy="428854"/>
          </a:xfrm>
          <a:prstGeom prst="rect">
            <a:avLst/>
          </a:prstGeom>
          <a:solidFill>
            <a:srgbClr val="F9FAFB"/>
          </a:solidFill>
          <a:ln/>
        </p:spPr>
      </p:sp>
      <p:sp>
        <p:nvSpPr>
          <p:cNvPr id="22" name="Shape 18"/>
          <p:cNvSpPr/>
          <p:nvPr/>
        </p:nvSpPr>
        <p:spPr>
          <a:xfrm>
            <a:off x="619049" y="3321101"/>
            <a:ext cx="1218895" cy="19202"/>
          </a:xfrm>
          <a:prstGeom prst="rect">
            <a:avLst/>
          </a:prstGeom>
          <a:solidFill>
            <a:srgbClr val="E5E7EB"/>
          </a:solidFill>
          <a:ln/>
        </p:spPr>
      </p:sp>
      <p:sp>
        <p:nvSpPr>
          <p:cNvPr id="23" name="Text 19"/>
          <p:cNvSpPr txBox="1"/>
          <p:nvPr/>
        </p:nvSpPr>
        <p:spPr>
          <a:xfrm>
            <a:off x="733349" y="3036722"/>
            <a:ext cx="5532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掲載URL</a:t>
            </a:r>
            <a:endParaRPr lang="en-US" sz="900" dirty="0"/>
          </a:p>
        </p:txBody>
      </p:sp>
      <p:sp>
        <p:nvSpPr>
          <p:cNvPr id="24" name="Shape 20"/>
          <p:cNvSpPr/>
          <p:nvPr/>
        </p:nvSpPr>
        <p:spPr>
          <a:xfrm>
            <a:off x="1837944" y="3331159"/>
            <a:ext cx="4095598" cy="9144"/>
          </a:xfrm>
          <a:prstGeom prst="rect">
            <a:avLst/>
          </a:prstGeom>
          <a:solidFill>
            <a:srgbClr val="E5E7EB"/>
          </a:solidFill>
          <a:ln/>
        </p:spPr>
      </p:sp>
      <p:sp>
        <p:nvSpPr>
          <p:cNvPr id="25" name="Text 21"/>
          <p:cNvSpPr txBox="1"/>
          <p:nvPr/>
        </p:nvSpPr>
        <p:spPr>
          <a:xfrm>
            <a:off x="1952244" y="3031236"/>
            <a:ext cx="2644445" cy="181051"/>
          </a:xfrm>
          <a:prstGeom prst="rect">
            <a:avLst/>
          </a:prstGeom>
          <a:noFill/>
          <a:ln/>
        </p:spPr>
        <p:txBody>
          <a:bodyPr wrap="square" lIns="0" tIns="0" rIns="0" bIns="0" rtlCol="0" anchor="ctr"/>
          <a:lstStyle/>
          <a:p>
            <a:pPr algn="l" indent="0" marL="0">
              <a:buNone/>
            </a:pPr>
            <a:r>
              <a:rPr lang="en-US" sz="900" dirty="0">
                <a:solidFill>
                  <a:srgbClr val="3B82F6"/>
                </a:solidFill>
                <a:latin typeface="Noto Sans JP" pitchFamily="34" charset="0"/>
                <a:ea typeface="Noto Sans JP" pitchFamily="34" charset="-122"/>
                <a:cs typeface="Noto Sans JP" pitchFamily="34" charset="-120"/>
              </a:rPr>
              <a:t>https://beauty.hotpepper.jp/slnH000366568/</a:t>
            </a:r>
            <a:endParaRPr lang="en-US" sz="900" dirty="0"/>
          </a:p>
        </p:txBody>
      </p:sp>
      <p:sp>
        <p:nvSpPr>
          <p:cNvPr id="26" name="Shape 22"/>
          <p:cNvSpPr/>
          <p:nvPr/>
        </p:nvSpPr>
        <p:spPr>
          <a:xfrm>
            <a:off x="619049" y="3332988"/>
            <a:ext cx="1218895" cy="428854"/>
          </a:xfrm>
          <a:prstGeom prst="rect">
            <a:avLst/>
          </a:prstGeom>
          <a:solidFill>
            <a:srgbClr val="F9FAFB"/>
          </a:solidFill>
          <a:ln/>
        </p:spPr>
      </p:sp>
      <p:sp>
        <p:nvSpPr>
          <p:cNvPr id="27" name="Shape 23"/>
          <p:cNvSpPr/>
          <p:nvPr/>
        </p:nvSpPr>
        <p:spPr>
          <a:xfrm>
            <a:off x="619049" y="3742639"/>
            <a:ext cx="1218895" cy="19202"/>
          </a:xfrm>
          <a:prstGeom prst="rect">
            <a:avLst/>
          </a:prstGeom>
          <a:solidFill>
            <a:srgbClr val="E5E7EB"/>
          </a:solidFill>
          <a:ln/>
        </p:spPr>
      </p:sp>
      <p:sp>
        <p:nvSpPr>
          <p:cNvPr id="28" name="Text 24"/>
          <p:cNvSpPr txBox="1"/>
          <p:nvPr/>
        </p:nvSpPr>
        <p:spPr>
          <a:xfrm>
            <a:off x="733349" y="3457346"/>
            <a:ext cx="6675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エリア区分</a:t>
            </a:r>
            <a:endParaRPr lang="en-US" sz="900" dirty="0"/>
          </a:p>
        </p:txBody>
      </p:sp>
      <p:sp>
        <p:nvSpPr>
          <p:cNvPr id="29" name="Shape 25"/>
          <p:cNvSpPr/>
          <p:nvPr/>
        </p:nvSpPr>
        <p:spPr>
          <a:xfrm>
            <a:off x="1837944" y="3752698"/>
            <a:ext cx="4095598" cy="9144"/>
          </a:xfrm>
          <a:prstGeom prst="rect">
            <a:avLst/>
          </a:prstGeom>
          <a:solidFill>
            <a:srgbClr val="E5E7EB"/>
          </a:solidFill>
          <a:ln/>
        </p:spPr>
      </p:sp>
      <p:sp>
        <p:nvSpPr>
          <p:cNvPr id="30" name="Text 26"/>
          <p:cNvSpPr txBox="1"/>
          <p:nvPr/>
        </p:nvSpPr>
        <p:spPr>
          <a:xfrm>
            <a:off x="1952244" y="3451860"/>
            <a:ext cx="1559052" cy="181051"/>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渋谷・青山・表参道・原宿</a:t>
            </a:r>
            <a:endParaRPr lang="en-US" sz="900" dirty="0"/>
          </a:p>
        </p:txBody>
      </p:sp>
      <p:sp>
        <p:nvSpPr>
          <p:cNvPr id="31" name="Shape 27"/>
          <p:cNvSpPr/>
          <p:nvPr/>
        </p:nvSpPr>
        <p:spPr>
          <a:xfrm>
            <a:off x="619049" y="3753612"/>
            <a:ext cx="1218895" cy="418795"/>
          </a:xfrm>
          <a:prstGeom prst="rect">
            <a:avLst/>
          </a:prstGeom>
          <a:solidFill>
            <a:srgbClr val="F9FAFB"/>
          </a:solidFill>
          <a:ln/>
        </p:spPr>
      </p:sp>
      <p:sp>
        <p:nvSpPr>
          <p:cNvPr id="32" name="Shape 28"/>
          <p:cNvSpPr/>
          <p:nvPr/>
        </p:nvSpPr>
        <p:spPr>
          <a:xfrm>
            <a:off x="619049" y="4153205"/>
            <a:ext cx="1218895" cy="19202"/>
          </a:xfrm>
          <a:prstGeom prst="rect">
            <a:avLst/>
          </a:prstGeom>
          <a:solidFill>
            <a:srgbClr val="E5E7EB"/>
          </a:solidFill>
          <a:ln/>
        </p:spPr>
      </p:sp>
      <p:sp>
        <p:nvSpPr>
          <p:cNvPr id="33" name="Text 29"/>
          <p:cNvSpPr txBox="1"/>
          <p:nvPr/>
        </p:nvSpPr>
        <p:spPr>
          <a:xfrm>
            <a:off x="733349" y="3877970"/>
            <a:ext cx="781812" cy="162763"/>
          </a:xfrm>
          <a:prstGeom prst="rect">
            <a:avLst/>
          </a:prstGeom>
          <a:noFill/>
          <a:ln/>
        </p:spPr>
        <p:txBody>
          <a:bodyPr wrap="square" lIns="0" tIns="0" rIns="0" bIns="0" rtlCol="0" anchor="ctr"/>
          <a:lstStyle/>
          <a:p>
            <a:pPr algn="l" indent="0" marL="0">
              <a:buNone/>
            </a:pPr>
            <a:r>
              <a:rPr lang="en-US" sz="900" b="1" dirty="0">
                <a:solidFill>
                  <a:srgbClr val="4B5563"/>
                </a:solidFill>
                <a:latin typeface="Noto Sans JP" pitchFamily="34" charset="0"/>
                <a:ea typeface="Noto Sans JP" pitchFamily="34" charset="-122"/>
                <a:cs typeface="Noto Sans JP" pitchFamily="34" charset="-120"/>
              </a:rPr>
              <a:t>主要カテゴリ</a:t>
            </a:r>
            <a:endParaRPr lang="en-US" sz="900" dirty="0"/>
          </a:p>
        </p:txBody>
      </p:sp>
      <p:sp>
        <p:nvSpPr>
          <p:cNvPr id="34" name="Text 30"/>
          <p:cNvSpPr txBox="1"/>
          <p:nvPr/>
        </p:nvSpPr>
        <p:spPr>
          <a:xfrm>
            <a:off x="1952244" y="3874313"/>
            <a:ext cx="2606040" cy="181051"/>
          </a:xfrm>
          <a:prstGeom prst="rect">
            <a:avLst/>
          </a:prstGeom>
          <a:noFill/>
          <a:ln/>
        </p:spPr>
        <p:txBody>
          <a:bodyPr wrap="square" lIns="0" tIns="0" rIns="0" bIns="0" rtlCol="0" anchor="ctr"/>
          <a:lstStyle/>
          <a:p>
            <a:pPr algn="l" indent="0" marL="0">
              <a:buNone/>
            </a:pPr>
            <a:r>
              <a:rPr lang="en-US" sz="900" dirty="0">
                <a:solidFill>
                  <a:srgbClr val="1F2937"/>
                </a:solidFill>
                <a:latin typeface="Noto Sans JP" pitchFamily="34" charset="0"/>
                <a:ea typeface="Noto Sans JP" pitchFamily="34" charset="-122"/>
                <a:cs typeface="Noto Sans JP" pitchFamily="34" charset="-120"/>
              </a:rPr>
              <a:t>デザインカラー / 髪質改善 / メンズカジュアル</a:t>
            </a:r>
            <a:endParaRPr lang="en-US" sz="900" dirty="0"/>
          </a:p>
        </p:txBody>
      </p:sp>
      <p:sp>
        <p:nvSpPr>
          <p:cNvPr id="35" name="Shape 31"/>
          <p:cNvSpPr/>
          <p:nvPr/>
        </p:nvSpPr>
        <p:spPr>
          <a:xfrm>
            <a:off x="609905" y="4420210"/>
            <a:ext cx="5333695" cy="2762402"/>
          </a:xfrm>
          <a:prstGeom prst="roundRect">
            <a:avLst>
              <a:gd name="adj" fmla="val 137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36" name="Image 2" descr="preencoded.png">    </p:cNvPr>
          <p:cNvPicPr>
            <a:picLocks noChangeAspect="1"/>
          </p:cNvPicPr>
          <p:nvPr/>
        </p:nvPicPr>
        <p:blipFill>
          <a:blip r:embed="rId3"/>
          <a:srcRect l="0" r="0" t="-1100" b="-1100"/>
          <a:stretch/>
        </p:blipFill>
        <p:spPr>
          <a:xfrm>
            <a:off x="809244" y="4648810"/>
            <a:ext cx="114300" cy="133502"/>
          </a:xfrm>
          <a:prstGeom prst="rect">
            <a:avLst/>
          </a:prstGeom>
        </p:spPr>
      </p:pic>
      <p:sp>
        <p:nvSpPr>
          <p:cNvPr id="37" name="Text 32"/>
          <p:cNvSpPr txBox="1"/>
          <p:nvPr/>
        </p:nvSpPr>
        <p:spPr>
          <a:xfrm>
            <a:off x="1000354" y="4620463"/>
            <a:ext cx="1034186"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比較指標の定義</a:t>
            </a:r>
            <a:endParaRPr lang="en-US" sz="1000" dirty="0"/>
          </a:p>
        </p:txBody>
      </p:sp>
      <p:sp>
        <p:nvSpPr>
          <p:cNvPr id="38" name="Text 33"/>
          <p:cNvSpPr txBox="1"/>
          <p:nvPr/>
        </p:nvSpPr>
        <p:spPr>
          <a:xfrm>
            <a:off x="809244" y="4925873"/>
            <a:ext cx="5048402"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平均単価 各サロンの主要クーポン価格（上位3件）とメニュー定価の中央値から算出した推定値であり、実際の客単価とは異なる場合があります。</a:t>
            </a:r>
            <a:endParaRPr lang="en-US" sz="1200" dirty="0"/>
          </a:p>
        </p:txBody>
      </p:sp>
      <p:sp>
        <p:nvSpPr>
          <p:cNvPr id="39" name="Text 34"/>
          <p:cNvSpPr txBox="1"/>
          <p:nvPr/>
        </p:nvSpPr>
        <p:spPr>
          <a:xfrm>
            <a:off x="809244" y="5725973"/>
            <a:ext cx="5048402"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競合範囲 「徒歩圏内」はGoogle Maps基準で徒歩5分以内、「商圏」は電車移動を含めた30分圏内の主要商業エリア（代官山・銀座等）を指します。</a:t>
            </a:r>
            <a:endParaRPr lang="en-US" sz="1200" dirty="0"/>
          </a:p>
        </p:txBody>
      </p:sp>
      <p:sp>
        <p:nvSpPr>
          <p:cNvPr id="40" name="Text 35"/>
          <p:cNvSpPr txBox="1"/>
          <p:nvPr/>
        </p:nvSpPr>
        <p:spPr>
          <a:xfrm>
            <a:off x="809244" y="6526073"/>
            <a:ext cx="504840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トレンド性 掲載スタイル写真の更新頻度、および「イルミナ」「韓国風」等のトレンドキーワードの含有率に基づき独自にスコアリング。</a:t>
            </a:r>
            <a:endParaRPr lang="en-US" sz="1200" dirty="0"/>
          </a:p>
        </p:txBody>
      </p:sp>
      <p:sp>
        <p:nvSpPr>
          <p:cNvPr id="41" name="Shape 36"/>
          <p:cNvSpPr/>
          <p:nvPr/>
        </p:nvSpPr>
        <p:spPr>
          <a:xfrm>
            <a:off x="6248095" y="2057400"/>
            <a:ext cx="5333695" cy="2915107"/>
          </a:xfrm>
          <a:prstGeom prst="roundRect">
            <a:avLst>
              <a:gd name="adj" fmla="val 1230"/>
            </a:avLst>
          </a:prstGeom>
          <a:solidFill>
            <a:srgbClr val="FFFFFF"/>
          </a:solidFill>
          <a:ln w="12700">
            <a:solidFill>
              <a:srgbClr val="E5E7EB"/>
            </a:solidFill>
            <a:prstDash val="solid"/>
          </a:ln>
          <a:effectLst>
            <a:outerShdw sx="100000" sy="100000" kx="0" ky="0" algn="bl" rotWithShape="0" blurRad="12700" dist="12700" dir="16200000">
              <a:srgbClr val="000000">
                <a:alpha val="75000"/>
              </a:srgbClr>
            </a:outerShdw>
          </a:effectLst>
        </p:spPr>
      </p:sp>
      <p:pic>
        <p:nvPicPr>
          <p:cNvPr id="42" name="Image 3" descr="preencoded.png">    </p:cNvPr>
          <p:cNvPicPr>
            <a:picLocks noChangeAspect="1"/>
          </p:cNvPicPr>
          <p:nvPr/>
        </p:nvPicPr>
        <p:blipFill>
          <a:blip r:embed="rId4"/>
          <a:srcRect l="0" r="0" t="-1100" b="-1100"/>
          <a:stretch/>
        </p:blipFill>
        <p:spPr>
          <a:xfrm>
            <a:off x="6448349" y="2286000"/>
            <a:ext cx="114300" cy="133502"/>
          </a:xfrm>
          <a:prstGeom prst="rect">
            <a:avLst/>
          </a:prstGeom>
        </p:spPr>
      </p:pic>
      <p:sp>
        <p:nvSpPr>
          <p:cNvPr id="43" name="Text 37"/>
          <p:cNvSpPr txBox="1"/>
          <p:nvPr/>
        </p:nvSpPr>
        <p:spPr>
          <a:xfrm>
            <a:off x="6638544" y="2257654"/>
            <a:ext cx="2233879" cy="191110"/>
          </a:xfrm>
          <a:prstGeom prst="rect">
            <a:avLst/>
          </a:prstGeom>
          <a:noFill/>
          <a:ln/>
        </p:spPr>
        <p:txBody>
          <a:bodyPr wrap="square" lIns="0" tIns="0" rIns="0" bIns="0" rtlCol="0" anchor="ctr"/>
          <a:lstStyle/>
          <a:p>
            <a:pPr algn="l" indent="0" marL="0">
              <a:buNone/>
            </a:pPr>
            <a:r>
              <a:rPr lang="en-US" sz="1000" b="1" dirty="0">
                <a:solidFill>
                  <a:srgbClr val="374151"/>
                </a:solidFill>
                <a:latin typeface="Noto Sans JP" pitchFamily="34" charset="0"/>
                <a:ea typeface="Noto Sans JP" pitchFamily="34" charset="-122"/>
                <a:cs typeface="Noto Sans JP" pitchFamily="34" charset="-120"/>
              </a:rPr>
              <a:t>主要クーポン原文（分析元データ）</a:t>
            </a:r>
            <a:endParaRPr lang="en-US" sz="1000" dirty="0"/>
          </a:p>
        </p:txBody>
      </p:sp>
      <p:sp>
        <p:nvSpPr>
          <p:cNvPr id="44" name="Shape 38"/>
          <p:cNvSpPr/>
          <p:nvPr/>
        </p:nvSpPr>
        <p:spPr>
          <a:xfrm>
            <a:off x="6448349" y="2562149"/>
            <a:ext cx="4934102" cy="1828800"/>
          </a:xfrm>
          <a:prstGeom prst="roundRect">
            <a:avLst>
              <a:gd name="adj" fmla="val 1563"/>
            </a:avLst>
          </a:prstGeom>
          <a:solidFill>
            <a:srgbClr val="FFFFFF"/>
          </a:solidFill>
          <a:ln w="12700">
            <a:solidFill>
              <a:srgbClr val="CBD5E1"/>
            </a:solidFill>
            <a:prstDash val="solid"/>
          </a:ln>
        </p:spPr>
      </p:sp>
      <p:sp>
        <p:nvSpPr>
          <p:cNvPr id="45" name="Text 39"/>
          <p:cNvSpPr txBox="1"/>
          <p:nvPr/>
        </p:nvSpPr>
        <p:spPr>
          <a:xfrm>
            <a:off x="6553505" y="2676449"/>
            <a:ext cx="1937614"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&gt; COUPON_ID: CP00000006052837</a:t>
            </a:r>
            <a:endParaRPr lang="en-US" sz="800" dirty="0"/>
          </a:p>
        </p:txBody>
      </p:sp>
      <p:sp>
        <p:nvSpPr>
          <p:cNvPr id="46" name="Text 40"/>
          <p:cNvSpPr txBox="1"/>
          <p:nvPr/>
        </p:nvSpPr>
        <p:spPr>
          <a:xfrm>
            <a:off x="6553505" y="2902306"/>
            <a:ext cx="2690165"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【新規】イルミナカラー+最新.3STEPトリートメント</a:t>
            </a:r>
            <a:endParaRPr lang="en-US" sz="800" dirty="0"/>
          </a:p>
        </p:txBody>
      </p:sp>
      <p:sp>
        <p:nvSpPr>
          <p:cNvPr id="47" name="Text 41"/>
          <p:cNvSpPr txBox="1"/>
          <p:nvPr/>
        </p:nvSpPr>
        <p:spPr>
          <a:xfrm>
            <a:off x="6553505" y="3128162"/>
            <a:ext cx="1557223"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Price: ¥10,500 → ¥6,400</a:t>
            </a:r>
            <a:endParaRPr lang="en-US" sz="800" dirty="0"/>
          </a:p>
        </p:txBody>
      </p:sp>
      <p:sp>
        <p:nvSpPr>
          <p:cNvPr id="48" name="Text 42"/>
          <p:cNvSpPr txBox="1"/>
          <p:nvPr/>
        </p:nvSpPr>
        <p:spPr>
          <a:xfrm>
            <a:off x="6553505" y="3353105"/>
            <a:ext cx="2566721"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Cond: 指定なし / 全員 / hot pepperを見た！</a:t>
            </a:r>
            <a:endParaRPr lang="en-US" sz="800" dirty="0"/>
          </a:p>
        </p:txBody>
      </p:sp>
      <p:sp>
        <p:nvSpPr>
          <p:cNvPr id="49" name="Text 43"/>
          <p:cNvSpPr txBox="1"/>
          <p:nvPr/>
        </p:nvSpPr>
        <p:spPr>
          <a:xfrm>
            <a:off x="6553505" y="3654857"/>
            <a:ext cx="1937614"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&gt; COUPON_ID: CP00000006052862</a:t>
            </a:r>
            <a:endParaRPr lang="en-US" sz="800" dirty="0"/>
          </a:p>
        </p:txBody>
      </p:sp>
      <p:sp>
        <p:nvSpPr>
          <p:cNvPr id="50" name="Text 44"/>
          <p:cNvSpPr txBox="1"/>
          <p:nvPr/>
        </p:nvSpPr>
        <p:spPr>
          <a:xfrm>
            <a:off x="6553505" y="3880714"/>
            <a:ext cx="2700223"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【新規】艶々ハイトーンカラー ケアブリーチ+カラー</a:t>
            </a:r>
            <a:endParaRPr lang="en-US" sz="800" dirty="0"/>
          </a:p>
        </p:txBody>
      </p:sp>
      <p:sp>
        <p:nvSpPr>
          <p:cNvPr id="51" name="Text 45"/>
          <p:cNvSpPr txBox="1"/>
          <p:nvPr/>
        </p:nvSpPr>
        <p:spPr>
          <a:xfrm>
            <a:off x="6553505" y="4106570"/>
            <a:ext cx="1623974"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Price: ¥15,500 → ¥12,900</a:t>
            </a:r>
            <a:endParaRPr lang="en-US" sz="800" dirty="0"/>
          </a:p>
        </p:txBody>
      </p:sp>
      <p:sp>
        <p:nvSpPr>
          <p:cNvPr id="52" name="Text 46"/>
          <p:cNvSpPr txBox="1"/>
          <p:nvPr/>
        </p:nvSpPr>
        <p:spPr>
          <a:xfrm>
            <a:off x="6553505" y="4332427"/>
            <a:ext cx="2499970"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Cond: 指定なし / 全員 / hotpepperを見た！</a:t>
            </a:r>
            <a:endParaRPr lang="en-US" sz="800" dirty="0"/>
          </a:p>
        </p:txBody>
      </p:sp>
      <p:sp>
        <p:nvSpPr>
          <p:cNvPr id="53" name="Text 47"/>
          <p:cNvSpPr txBox="1"/>
          <p:nvPr/>
        </p:nvSpPr>
        <p:spPr>
          <a:xfrm>
            <a:off x="6553505" y="4634179"/>
            <a:ext cx="1937614"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&gt; COUPON_ID: CP00000007706622</a:t>
            </a:r>
            <a:endParaRPr lang="en-US" sz="800" dirty="0"/>
          </a:p>
        </p:txBody>
      </p:sp>
      <p:sp>
        <p:nvSpPr>
          <p:cNvPr id="54" name="Text 48"/>
          <p:cNvSpPr txBox="1"/>
          <p:nvPr/>
        </p:nvSpPr>
        <p:spPr>
          <a:xfrm>
            <a:off x="6553505" y="4859122"/>
            <a:ext cx="2461565"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【平日限定！】カット＋カラー＋トリートメント</a:t>
            </a:r>
            <a:endParaRPr lang="en-US" sz="800" dirty="0"/>
          </a:p>
        </p:txBody>
      </p:sp>
      <p:sp>
        <p:nvSpPr>
          <p:cNvPr id="55" name="Text 49"/>
          <p:cNvSpPr txBox="1"/>
          <p:nvPr/>
        </p:nvSpPr>
        <p:spPr>
          <a:xfrm>
            <a:off x="6553505" y="5084978"/>
            <a:ext cx="1557223"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Price: ¥12,500 → ¥5,900</a:t>
            </a:r>
            <a:endParaRPr lang="en-US" sz="800" dirty="0"/>
          </a:p>
        </p:txBody>
      </p:sp>
      <p:sp>
        <p:nvSpPr>
          <p:cNvPr id="56" name="Text 50"/>
          <p:cNvSpPr txBox="1"/>
          <p:nvPr/>
        </p:nvSpPr>
        <p:spPr>
          <a:xfrm>
            <a:off x="6553505" y="5310835"/>
            <a:ext cx="2280514" cy="114300"/>
          </a:xfrm>
          <a:prstGeom prst="rect">
            <a:avLst/>
          </a:prstGeom>
          <a:noFill/>
          <a:ln/>
        </p:spPr>
        <p:txBody>
          <a:bodyPr wrap="square" lIns="0" tIns="0" rIns="0" bIns="0" rtlCol="0" anchor="ctr"/>
          <a:lstStyle/>
          <a:p>
            <a:pPr algn="l" indent="0" marL="0">
              <a:buNone/>
            </a:pPr>
            <a:r>
              <a:rPr lang="en-US" sz="800" dirty="0">
                <a:solidFill>
                  <a:srgbClr val="64748B"/>
                </a:solidFill>
                <a:latin typeface="Courier New" pitchFamily="34" charset="0"/>
                <a:ea typeface="Courier New" pitchFamily="34" charset="-122"/>
                <a:cs typeface="Courier New" pitchFamily="34" charset="-120"/>
              </a:rPr>
              <a:t>Cond: 平日12時～21時 / 全員 / 併用不可</a:t>
            </a:r>
            <a:endParaRPr lang="en-US" sz="800" dirty="0"/>
          </a:p>
        </p:txBody>
      </p:sp>
      <p:sp>
        <p:nvSpPr>
          <p:cNvPr id="57" name="Text 51"/>
          <p:cNvSpPr txBox="1"/>
          <p:nvPr/>
        </p:nvSpPr>
        <p:spPr>
          <a:xfrm>
            <a:off x="7419442" y="4543654"/>
            <a:ext cx="4086454" cy="228600"/>
          </a:xfrm>
          <a:prstGeom prst="rect">
            <a:avLst/>
          </a:prstGeom>
          <a:noFill/>
          <a:ln/>
        </p:spPr>
        <p:txBody>
          <a:bodyPr wrap="square" lIns="0" tIns="0" rIns="0" bIns="0" rtlCol="0" anchor="ctr"/>
          <a:lstStyle/>
          <a:p>
            <a:pPr algn="r" indent="0" marL="0">
              <a:buNone/>
            </a:pPr>
            <a:r>
              <a:rPr lang="en-US" sz="1200" dirty="0">
                <a:solidFill>
                  <a:srgbClr val="9CA3AF"/>
                </a:solidFill>
                <a:latin typeface="Noto Sans JP" pitchFamily="34" charset="0"/>
                <a:ea typeface="Noto Sans JP" pitchFamily="34" charset="-122"/>
                <a:cs typeface="Noto Sans JP" pitchFamily="34" charset="-120"/>
              </a:rPr>
              <a:t>※原文ママ引用。レイアウト都合上、一部改行等は調整。</a:t>
            </a:r>
            <a:endParaRPr lang="en-US" sz="1200" dirty="0"/>
          </a:p>
        </p:txBody>
      </p:sp>
      <p:sp>
        <p:nvSpPr>
          <p:cNvPr id="58" name="Shape 52"/>
          <p:cNvSpPr/>
          <p:nvPr/>
        </p:nvSpPr>
        <p:spPr>
          <a:xfrm>
            <a:off x="6248095" y="5201107"/>
            <a:ext cx="5333695" cy="914400"/>
          </a:xfrm>
          <a:prstGeom prst="roundRect">
            <a:avLst>
              <a:gd name="adj" fmla="val 12500"/>
            </a:avLst>
          </a:prstGeom>
          <a:solidFill>
            <a:srgbClr val="EFF6FF"/>
          </a:solidFill>
          <a:ln w="25400">
            <a:solidFill>
              <a:srgbClr val="BFDBFE"/>
            </a:solidFill>
            <a:prstDash val="solid"/>
          </a:ln>
        </p:spPr>
      </p:sp>
      <p:sp>
        <p:nvSpPr>
          <p:cNvPr id="59" name="Shape 53"/>
          <p:cNvSpPr/>
          <p:nvPr/>
        </p:nvSpPr>
        <p:spPr>
          <a:xfrm>
            <a:off x="6420002" y="5105095"/>
            <a:ext cx="1076249" cy="267005"/>
          </a:xfrm>
          <a:prstGeom prst="roundRect">
            <a:avLst>
              <a:gd name="adj" fmla="val 48924"/>
            </a:avLst>
          </a:prstGeom>
          <a:solidFill>
            <a:srgbClr val="3B82F6"/>
          </a:solidFill>
          <a:ln/>
        </p:spPr>
      </p:sp>
      <p:sp>
        <p:nvSpPr>
          <p:cNvPr id="60" name="Text 54"/>
          <p:cNvSpPr txBox="1"/>
          <p:nvPr/>
        </p:nvSpPr>
        <p:spPr>
          <a:xfrm>
            <a:off x="6495898" y="5124298"/>
            <a:ext cx="1038758"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編集用エリア</a:t>
            </a:r>
            <a:endParaRPr lang="en-US" sz="1200" dirty="0"/>
          </a:p>
        </p:txBody>
      </p:sp>
      <p:sp>
        <p:nvSpPr>
          <p:cNvPr id="61" name="Shape 55"/>
          <p:cNvSpPr/>
          <p:nvPr/>
        </p:nvSpPr>
        <p:spPr>
          <a:xfrm>
            <a:off x="6458407" y="5467198"/>
            <a:ext cx="333756" cy="381305"/>
          </a:xfrm>
          <a:prstGeom prst="roundRect">
            <a:avLst>
              <a:gd name="adj" fmla="val 273973"/>
            </a:avLst>
          </a:prstGeom>
          <a:solidFill>
            <a:srgbClr val="DBEAFE"/>
          </a:solidFill>
          <a:ln/>
        </p:spPr>
      </p:sp>
      <p:pic>
        <p:nvPicPr>
          <p:cNvPr id="62" name="Image 4" descr="preencoded.png">    </p:cNvPr>
          <p:cNvPicPr>
            <a:picLocks noChangeAspect="1"/>
          </p:cNvPicPr>
          <p:nvPr/>
        </p:nvPicPr>
        <p:blipFill>
          <a:blip r:embed="rId5"/>
          <a:srcRect l="0" r="0" t="-100" b="-100"/>
          <a:stretch/>
        </p:blipFill>
        <p:spPr>
          <a:xfrm>
            <a:off x="6564478" y="5581498"/>
            <a:ext cx="114300" cy="152705"/>
          </a:xfrm>
          <a:prstGeom prst="rect">
            <a:avLst/>
          </a:prstGeom>
        </p:spPr>
      </p:pic>
      <p:sp>
        <p:nvSpPr>
          <p:cNvPr id="63" name="Text 56"/>
          <p:cNvSpPr txBox="1"/>
          <p:nvPr/>
        </p:nvSpPr>
        <p:spPr>
          <a:xfrm>
            <a:off x="6899148" y="5410505"/>
            <a:ext cx="1167689" cy="191110"/>
          </a:xfrm>
          <a:prstGeom prst="rect">
            <a:avLst/>
          </a:prstGeom>
          <a:noFill/>
          <a:ln/>
        </p:spPr>
        <p:txBody>
          <a:bodyPr wrap="square" lIns="0" tIns="0" rIns="0" bIns="0" rtlCol="0" anchor="ctr"/>
          <a:lstStyle/>
          <a:p>
            <a:pPr algn="l" indent="0" marL="0">
              <a:buNone/>
            </a:pPr>
            <a:r>
              <a:rPr lang="en-US" sz="1000" b="1" dirty="0">
                <a:solidFill>
                  <a:srgbClr val="1E40AF"/>
                </a:solidFill>
                <a:latin typeface="Noto Sans JP" pitchFamily="34" charset="0"/>
                <a:ea typeface="Noto Sans JP" pitchFamily="34" charset="-122"/>
                <a:cs typeface="Noto Sans JP" pitchFamily="34" charset="-120"/>
              </a:rPr>
              <a:t>実データ差替え欄</a:t>
            </a:r>
            <a:endParaRPr lang="en-US" sz="1000" dirty="0"/>
          </a:p>
        </p:txBody>
      </p:sp>
      <p:sp>
        <p:nvSpPr>
          <p:cNvPr id="64" name="Text 57"/>
          <p:cNvSpPr txBox="1"/>
          <p:nvPr/>
        </p:nvSpPr>
        <p:spPr>
          <a:xfrm>
            <a:off x="6899148" y="5591556"/>
            <a:ext cx="4315054" cy="314554"/>
          </a:xfrm>
          <a:prstGeom prst="rect">
            <a:avLst/>
          </a:prstGeom>
          <a:noFill/>
          <a:ln/>
        </p:spPr>
        <p:txBody>
          <a:bodyPr wrap="square" lIns="0" tIns="0" rIns="0" bIns="0" rtlCol="0" anchor="ctr"/>
          <a:lstStyle/>
          <a:p>
            <a:pPr algn="l" indent="0" marL="0">
              <a:buNone/>
            </a:pPr>
            <a:r>
              <a:rPr lang="en-US" sz="900" dirty="0">
                <a:solidFill>
                  <a:srgbClr val="2563EB"/>
                </a:solidFill>
                <a:latin typeface="Noto Sans JP" pitchFamily="34" charset="0"/>
                <a:ea typeface="Noto Sans JP" pitchFamily="34" charset="-122"/>
                <a:cs typeface="Noto Sans JP" pitchFamily="34" charset="-120"/>
              </a:rPr>
              <a:t>クライアント提示用の生データや、追加のリサーチ資料がある場合はここに貼り付けてください。</a:t>
            </a:r>
            <a:endParaRPr lang="en-US" sz="900" dirty="0"/>
          </a:p>
        </p:txBody>
      </p:sp>
      <p:pic>
        <p:nvPicPr>
          <p:cNvPr id="65" name="Image 5" descr="preencoded.png">    </p:cNvPr>
          <p:cNvPicPr>
            <a:picLocks noChangeAspect="1"/>
          </p:cNvPicPr>
          <p:nvPr/>
        </p:nvPicPr>
        <p:blipFill>
          <a:blip r:embed="rId6"/>
          <a:srcRect l="-1648" r="-1648" t="0" b="0"/>
          <a:stretch/>
        </p:blipFill>
        <p:spPr>
          <a:xfrm>
            <a:off x="11201400" y="5562295"/>
            <a:ext cx="171907" cy="190195"/>
          </a:xfrm>
          <a:prstGeom prst="rect">
            <a:avLst/>
          </a:prstGeom>
        </p:spPr>
      </p:pic>
      <p:sp>
        <p:nvSpPr>
          <p:cNvPr id="66" name="Text 58"/>
          <p:cNvSpPr txBox="1"/>
          <p:nvPr/>
        </p:nvSpPr>
        <p:spPr>
          <a:xfrm>
            <a:off x="6248095" y="6353251"/>
            <a:ext cx="1038758" cy="228600"/>
          </a:xfrm>
          <a:prstGeom prst="rect">
            <a:avLst/>
          </a:prstGeom>
          <a:noFill/>
          <a:ln/>
        </p:spPr>
        <p:txBody>
          <a:bodyPr wrap="square" lIns="0" tIns="0" rIns="0" bIns="0" rtlCol="0" anchor="ctr"/>
          <a:lstStyle/>
          <a:p>
            <a:pPr algn="l" indent="0" marL="0">
              <a:buNone/>
            </a:pPr>
            <a:r>
              <a:rPr lang="en-US" sz="1200" dirty="0">
                <a:solidFill>
                  <a:srgbClr val="9CA3AF"/>
                </a:solidFill>
                <a:latin typeface="Noto Sans JP" pitchFamily="34" charset="0"/>
                <a:ea typeface="Noto Sans JP" pitchFamily="34" charset="-122"/>
                <a:cs typeface="Noto Sans JP" pitchFamily="34" charset="-120"/>
              </a:rPr>
              <a:t>【免責事項】</a:t>
            </a:r>
            <a:endParaRPr lang="en-US" sz="1200" dirty="0"/>
          </a:p>
        </p:txBody>
      </p:sp>
      <p:sp>
        <p:nvSpPr>
          <p:cNvPr id="67" name="Text 59"/>
          <p:cNvSpPr txBox="1"/>
          <p:nvPr/>
        </p:nvSpPr>
        <p:spPr>
          <a:xfrm>
            <a:off x="6248095" y="6601054"/>
            <a:ext cx="5448910" cy="972007"/>
          </a:xfrm>
          <a:prstGeom prst="rect">
            <a:avLst/>
          </a:prstGeom>
          <a:noFill/>
          <a:ln/>
        </p:spPr>
        <p:txBody>
          <a:bodyPr wrap="square" lIns="0" tIns="0" rIns="0" bIns="0" rtlCol="0" anchor="ctr"/>
          <a:lstStyle/>
          <a:p>
            <a:pPr algn="l" indent="0" marL="0">
              <a:buNone/>
            </a:pPr>
            <a:r>
              <a:rPr lang="en-US" sz="1200" dirty="0">
                <a:solidFill>
                  <a:srgbClr val="9CA3AF"/>
                </a:solidFill>
                <a:latin typeface="Noto Sans JP" pitchFamily="34" charset="0"/>
                <a:ea typeface="Noto Sans JP" pitchFamily="34" charset="-122"/>
                <a:cs typeface="Noto Sans JP" pitchFamily="34" charset="-120"/>
              </a:rPr>
              <a:t>本資料に記載されている他社サロンの価格・メニュー情報は、上記取得日時点での公開情報に基づくものです。各サロンの戦略変更等により、現在の情報と異なる場合があります。施策実行の際は、必ず最新の掲載状況をご確認ください。</a:t>
            </a:r>
            <a:endParaRPr lang="en-US" sz="1200" dirty="0"/>
          </a:p>
        </p:txBody>
      </p:sp>
      <p:sp>
        <p:nvSpPr>
          <p:cNvPr id="68" name="Shape 60"/>
          <p:cNvSpPr/>
          <p:nvPr/>
        </p:nvSpPr>
        <p:spPr>
          <a:xfrm>
            <a:off x="0" y="0"/>
            <a:ext cx="12191695" cy="761695"/>
          </a:xfrm>
          <a:prstGeom prst="rect">
            <a:avLst/>
          </a:prstGeom>
          <a:solidFill>
            <a:srgbClr val="FFFFFF"/>
          </a:solidFill>
          <a:ln/>
        </p:spPr>
      </p:sp>
      <p:sp>
        <p:nvSpPr>
          <p:cNvPr id="69" name="Shape 61"/>
          <p:cNvSpPr/>
          <p:nvPr/>
        </p:nvSpPr>
        <p:spPr>
          <a:xfrm>
            <a:off x="0" y="752551"/>
            <a:ext cx="12191695" cy="9144"/>
          </a:xfrm>
          <a:prstGeom prst="rect">
            <a:avLst/>
          </a:prstGeom>
          <a:solidFill>
            <a:srgbClr val="F3F4F6"/>
          </a:solidFill>
          <a:ln/>
        </p:spPr>
      </p:sp>
      <p:sp>
        <p:nvSpPr>
          <p:cNvPr id="70" name="Shape 62"/>
          <p:cNvSpPr/>
          <p:nvPr/>
        </p:nvSpPr>
        <p:spPr>
          <a:xfrm>
            <a:off x="609905" y="224028"/>
            <a:ext cx="304495" cy="304495"/>
          </a:xfrm>
          <a:prstGeom prst="roundRect">
            <a:avLst>
              <a:gd name="adj" fmla="val 56306"/>
            </a:avLst>
          </a:prstGeom>
          <a:solidFill>
            <a:srgbClr val="1F2937"/>
          </a:solidFill>
          <a:ln/>
        </p:spPr>
      </p:sp>
      <p:pic>
        <p:nvPicPr>
          <p:cNvPr id="71" name="Image 6" descr="preencoded.png">    </p:cNvPr>
          <p:cNvPicPr>
            <a:picLocks noChangeAspect="1"/>
          </p:cNvPicPr>
          <p:nvPr/>
        </p:nvPicPr>
        <p:blipFill>
          <a:blip r:embed="rId7"/>
          <a:srcRect l="0" r="0" t="-1100" b="-1100"/>
          <a:stretch/>
        </p:blipFill>
        <p:spPr>
          <a:xfrm>
            <a:off x="705002" y="309982"/>
            <a:ext cx="114300" cy="133502"/>
          </a:xfrm>
          <a:prstGeom prst="rect">
            <a:avLst/>
          </a:prstGeom>
        </p:spPr>
      </p:pic>
      <p:sp>
        <p:nvSpPr>
          <p:cNvPr id="72" name="Text 63"/>
          <p:cNvSpPr txBox="1"/>
          <p:nvPr/>
        </p:nvSpPr>
        <p:spPr>
          <a:xfrm>
            <a:off x="990295" y="280721"/>
            <a:ext cx="1938528" cy="191110"/>
          </a:xfrm>
          <a:prstGeom prst="rect">
            <a:avLst/>
          </a:prstGeom>
          <a:noFill/>
          <a:ln/>
        </p:spPr>
        <p:txBody>
          <a:bodyPr wrap="square" lIns="0" tIns="0" rIns="0" bIns="0" rtlCol="0" anchor="ctr"/>
          <a:lstStyle/>
          <a:p>
            <a:pPr algn="l" indent="0" marL="0">
              <a:buNone/>
            </a:pPr>
            <a:r>
              <a:rPr lang="en-US" sz="1000" b="1" dirty="0">
                <a:solidFill>
                  <a:srgbClr val="6B7280"/>
                </a:solidFill>
                <a:latin typeface="Noto Sans JP" pitchFamily="34" charset="0"/>
                <a:ea typeface="Noto Sans JP" pitchFamily="34" charset="-122"/>
                <a:cs typeface="Noto Sans JP" pitchFamily="34" charset="-120"/>
              </a:rPr>
              <a:t>APPENDIX / DATA SOURCE</a:t>
            </a:r>
            <a:endParaRPr lang="en-US" sz="1000" dirty="0"/>
          </a:p>
        </p:txBody>
      </p:sp>
      <p:sp>
        <p:nvSpPr>
          <p:cNvPr id="73" name="Text 64"/>
          <p:cNvSpPr txBox="1"/>
          <p:nvPr/>
        </p:nvSpPr>
        <p:spPr>
          <a:xfrm>
            <a:off x="9982505" y="280721"/>
            <a:ext cx="1700784" cy="191110"/>
          </a:xfrm>
          <a:prstGeom prst="rect">
            <a:avLst/>
          </a:prstGeom>
          <a:noFill/>
          <a:ln/>
        </p:spPr>
        <p:txBody>
          <a:bodyPr wrap="square" lIns="0" tIns="0" rIns="0" bIns="0" rtlCol="0" anchor="ctr"/>
          <a:lstStyle/>
          <a:p>
            <a:pPr algn="l" indent="0" marL="0">
              <a:buNone/>
            </a:pPr>
            <a:r>
              <a:rPr lang="en-US" sz="1000" dirty="0">
                <a:solidFill>
                  <a:srgbClr val="9CA3AF"/>
                </a:solidFill>
                <a:latin typeface="Noto Sans JP" pitchFamily="34" charset="0"/>
                <a:ea typeface="Noto Sans JP" pitchFamily="34" charset="-122"/>
                <a:cs typeface="Noto Sans JP" pitchFamily="34" charset="-120"/>
              </a:rPr>
              <a:t>付録：根拠データ・引用元</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2026-01-03T08:43:51Z</dcterms:created>
  <dcterms:modified xsi:type="dcterms:W3CDTF">2026-01-03T08:43:51Z</dcterms:modified>
</cp:coreProperties>
</file>